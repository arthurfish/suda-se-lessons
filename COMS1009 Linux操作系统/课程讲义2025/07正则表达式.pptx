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8" r:id="rId2"/>
  </p:sldMasterIdLst>
  <p:handoutMasterIdLst>
    <p:handoutMasterId r:id="rId34"/>
  </p:handoutMasterIdLst>
  <p:sldIdLst>
    <p:sldId id="265" r:id="rId3"/>
    <p:sldId id="264" r:id="rId4"/>
    <p:sldId id="267" r:id="rId5"/>
    <p:sldId id="269" r:id="rId6"/>
    <p:sldId id="268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66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828"/>
    <a:srgbClr val="05617E"/>
    <a:srgbClr val="5E97A9"/>
    <a:srgbClr val="274661"/>
    <a:srgbClr val="616161"/>
    <a:srgbClr val="FF0000"/>
    <a:srgbClr val="2395B7"/>
    <a:srgbClr val="4EC3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192" y="4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8FA7E-513E-4B9D-81A9-0060BE3E85ED}" type="datetimeFigureOut">
              <a:rPr lang="zh-CN" altLang="en-US" smtClean="0"/>
              <a:t>2022/4/22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00DC3-0356-437B-AC97-1C933F055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7351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23999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30405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3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111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3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55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2340296" y="3084345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词法分析概述</a:t>
            </a:r>
            <a:endParaRPr lang="zh-CN" altLang="en-US" sz="32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520" y="2657862"/>
            <a:ext cx="1246874" cy="1246874"/>
          </a:xfrm>
          <a:prstGeom prst="rect">
            <a:avLst/>
          </a:prstGeom>
        </p:spPr>
      </p:pic>
      <p:sp>
        <p:nvSpPr>
          <p:cNvPr id="18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1265462" y="3084345"/>
            <a:ext cx="898898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2.1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8BB5813-1070-4730-AA08-0F92A7ED27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9206">
            <a:off x="7128311" y="-1432858"/>
            <a:ext cx="65178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2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905523" y="2149922"/>
            <a:ext cx="7159241" cy="1847402"/>
            <a:chOff x="905523" y="2149922"/>
            <a:chExt cx="7159241" cy="1847402"/>
          </a:xfrm>
        </p:grpSpPr>
        <p:sp>
          <p:nvSpPr>
            <p:cNvPr id="16" name="Multidocument 15"/>
            <p:cNvSpPr/>
            <p:nvPr/>
          </p:nvSpPr>
          <p:spPr>
            <a:xfrm>
              <a:off x="6352301" y="2149922"/>
              <a:ext cx="1712463" cy="1847402"/>
            </a:xfrm>
            <a:prstGeom prst="flowChartMultidocument">
              <a:avLst/>
            </a:prstGeom>
            <a:noFill/>
            <a:ln>
              <a:solidFill>
                <a:srgbClr val="5B9BD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500" dirty="0" smtClean="0">
                  <a:solidFill>
                    <a:srgbClr val="FFFFFF"/>
                  </a:solidFill>
                </a:rPr>
                <a:t>词法单元序列</a:t>
              </a:r>
              <a:endParaRPr lang="en-US" sz="2500" dirty="0">
                <a:solidFill>
                  <a:srgbClr val="FFFFFF"/>
                </a:solidFill>
              </a:endParaRPr>
            </a:p>
          </p:txBody>
        </p:sp>
        <p:sp>
          <p:nvSpPr>
            <p:cNvPr id="17" name="Multidocument 16"/>
            <p:cNvSpPr/>
            <p:nvPr/>
          </p:nvSpPr>
          <p:spPr>
            <a:xfrm>
              <a:off x="905523" y="2149922"/>
              <a:ext cx="1712463" cy="1847402"/>
            </a:xfrm>
            <a:prstGeom prst="flowChartMultidocument">
              <a:avLst/>
            </a:prstGeom>
            <a:noFill/>
            <a:ln>
              <a:solidFill>
                <a:srgbClr val="5B9BD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500" dirty="0" smtClean="0">
                  <a:solidFill>
                    <a:schemeClr val="bg1"/>
                  </a:solidFill>
                </a:rPr>
                <a:t>程序代码</a:t>
              </a:r>
              <a:endParaRPr lang="en-US" sz="2500" dirty="0">
                <a:solidFill>
                  <a:schemeClr val="bg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543091" y="2594079"/>
              <a:ext cx="1827910" cy="1135382"/>
            </a:xfrm>
            <a:prstGeom prst="rect">
              <a:avLst/>
            </a:prstGeom>
            <a:noFill/>
            <a:ln>
              <a:solidFill>
                <a:srgbClr val="5B9BD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500" dirty="0" smtClean="0">
                  <a:solidFill>
                    <a:srgbClr val="FFFFFF"/>
                  </a:solidFill>
                </a:rPr>
                <a:t>词法分析器</a:t>
              </a:r>
              <a:endParaRPr lang="en-US" sz="2500" dirty="0">
                <a:solidFill>
                  <a:srgbClr val="FFFFFF"/>
                </a:solidFill>
              </a:endParaRPr>
            </a:p>
          </p:txBody>
        </p:sp>
        <p:sp>
          <p:nvSpPr>
            <p:cNvPr id="19" name="Right Arrow 18"/>
            <p:cNvSpPr/>
            <p:nvPr/>
          </p:nvSpPr>
          <p:spPr>
            <a:xfrm>
              <a:off x="2617986" y="2998198"/>
              <a:ext cx="925105" cy="115462"/>
            </a:xfrm>
            <a:prstGeom prst="rightArrow">
              <a:avLst/>
            </a:prstGeom>
            <a:noFill/>
            <a:ln>
              <a:solidFill>
                <a:srgbClr val="5B9BD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5371001" y="3055929"/>
              <a:ext cx="925105" cy="115462"/>
            </a:xfrm>
            <a:prstGeom prst="rightArrow">
              <a:avLst/>
            </a:prstGeom>
            <a:noFill/>
            <a:ln>
              <a:solidFill>
                <a:srgbClr val="5B9BD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371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词法分析器的实现</a:t>
            </a:r>
            <a:endParaRPr lang="zh-CN" altLang="en-US" sz="26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151137" y="1345515"/>
            <a:ext cx="7322562" cy="477054"/>
            <a:chOff x="1151137" y="1345515"/>
            <a:chExt cx="7322562" cy="477054"/>
          </a:xfrm>
        </p:grpSpPr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863444FA-8FD6-4FAC-BFBB-AB2036156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886" y="1345515"/>
              <a:ext cx="7062813" cy="4770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手工编码实现法</a:t>
              </a:r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1137" y="1478944"/>
              <a:ext cx="259749" cy="259749"/>
            </a:xfrm>
            <a:prstGeom prst="rect">
              <a:avLst/>
            </a:prstGeom>
          </p:spPr>
        </p:pic>
      </p:grpSp>
      <p:grpSp>
        <p:nvGrpSpPr>
          <p:cNvPr id="8" name="Group 7"/>
          <p:cNvGrpSpPr/>
          <p:nvPr/>
        </p:nvGrpSpPr>
        <p:grpSpPr>
          <a:xfrm>
            <a:off x="1151137" y="3265119"/>
            <a:ext cx="7322562" cy="477054"/>
            <a:chOff x="1151137" y="3265119"/>
            <a:chExt cx="7322562" cy="477054"/>
          </a:xfrm>
        </p:grpSpPr>
        <p:sp>
          <p:nvSpPr>
            <p:cNvPr id="14" name="Rectangle 4">
              <a:extLst>
                <a:ext uri="{FF2B5EF4-FFF2-40B4-BE49-F238E27FC236}">
                  <a16:creationId xmlns:a16="http://schemas.microsoft.com/office/drawing/2014/main" id="{863444FA-8FD6-4FAC-BFBB-AB2036156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886" y="3265119"/>
              <a:ext cx="7062813" cy="4770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自动生成实现法</a:t>
              </a:r>
              <a:r>
                <a:rPr lang="en-US" altLang="zh-CN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(</a:t>
              </a:r>
              <a:r>
                <a: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词法分析器的生成器</a:t>
              </a:r>
              <a:r>
                <a:rPr lang="en-US" altLang="zh-CN" sz="2000" b="1" dirty="0" smtClean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) </a:t>
              </a:r>
              <a:endParaRPr lang="zh-CN" altLang="en-US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1137" y="3398548"/>
              <a:ext cx="259749" cy="259749"/>
            </a:xfrm>
            <a:prstGeom prst="rect">
              <a:avLst/>
            </a:prstGeom>
          </p:spPr>
        </p:pic>
      </p:grpSp>
      <p:grpSp>
        <p:nvGrpSpPr>
          <p:cNvPr id="5" name="Group 4"/>
          <p:cNvGrpSpPr/>
          <p:nvPr/>
        </p:nvGrpSpPr>
        <p:grpSpPr>
          <a:xfrm>
            <a:off x="1326154" y="1866215"/>
            <a:ext cx="6674847" cy="477054"/>
            <a:chOff x="1326154" y="1866215"/>
            <a:chExt cx="6674847" cy="477054"/>
          </a:xfrm>
        </p:grpSpPr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863444FA-8FD6-4FAC-BFBB-AB2036156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587" y="1866215"/>
              <a:ext cx="6450414" cy="4770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2000" b="1" dirty="0">
                  <a:solidFill>
                    <a:srgbClr val="FFFFFF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相对复杂</a:t>
              </a:r>
              <a:r>
                <a:rPr lang="en-US" altLang="zh-TW" sz="2000" b="1" dirty="0">
                  <a:solidFill>
                    <a:srgbClr val="FFFFFF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, </a:t>
              </a:r>
              <a:r>
                <a:rPr lang="zh-TW" altLang="en-US" sz="2000" b="1" dirty="0" smtClean="0">
                  <a:solidFill>
                    <a:srgbClr val="FFFFFF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容易出错</a:t>
              </a:r>
              <a:r>
                <a:rPr lang="en-US" altLang="zh-TW" sz="2000" b="1" dirty="0" smtClean="0">
                  <a:solidFill>
                    <a:srgbClr val="FFFFFF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;</a:t>
              </a:r>
              <a:endParaRPr lang="zh-CN" altLang="en-US" sz="2000" b="1" dirty="0">
                <a:solidFill>
                  <a:srgbClr val="FFFFFF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</p:txBody>
        </p:sp>
        <p:pic>
          <p:nvPicPr>
            <p:cNvPr id="16" name="图片 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6154" y="2081303"/>
              <a:ext cx="118663" cy="118663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>
            <a:off x="1313454" y="2386915"/>
            <a:ext cx="6674847" cy="477054"/>
            <a:chOff x="1313454" y="2386915"/>
            <a:chExt cx="6674847" cy="477054"/>
          </a:xfrm>
        </p:grpSpPr>
        <p:sp>
          <p:nvSpPr>
            <p:cNvPr id="17" name="Rectangle 4">
              <a:extLst>
                <a:ext uri="{FF2B5EF4-FFF2-40B4-BE49-F238E27FC236}">
                  <a16:creationId xmlns:a16="http://schemas.microsoft.com/office/drawing/2014/main" id="{863444FA-8FD6-4FAC-BFBB-AB2036156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7887" y="2386915"/>
              <a:ext cx="6450414" cy="4770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2000" b="1" dirty="0">
                  <a:solidFill>
                    <a:srgbClr val="FFFFFF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目前非常流行的</a:t>
              </a:r>
              <a:r>
                <a:rPr lang="zh-TW" altLang="en-US" sz="2000" b="1" dirty="0" smtClean="0">
                  <a:solidFill>
                    <a:srgbClr val="FFFFFF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方法</a:t>
              </a:r>
              <a:r>
                <a:rPr lang="en-US" altLang="zh-TW" sz="2000" b="1" dirty="0" smtClean="0">
                  <a:solidFill>
                    <a:srgbClr val="FFFFFF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.</a:t>
              </a:r>
              <a:endParaRPr lang="zh-CN" altLang="en-US" sz="2000" b="1" dirty="0">
                <a:solidFill>
                  <a:srgbClr val="FFFFFF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</p:txBody>
        </p:sp>
        <p:pic>
          <p:nvPicPr>
            <p:cNvPr id="18" name="图片 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3454" y="2602003"/>
              <a:ext cx="118663" cy="118663"/>
            </a:xfrm>
            <a:prstGeom prst="rect">
              <a:avLst/>
            </a:prstGeom>
          </p:spPr>
        </p:pic>
      </p:grpSp>
      <p:grpSp>
        <p:nvGrpSpPr>
          <p:cNvPr id="9" name="Group 8"/>
          <p:cNvGrpSpPr/>
          <p:nvPr/>
        </p:nvGrpSpPr>
        <p:grpSpPr>
          <a:xfrm>
            <a:off x="1415054" y="3809315"/>
            <a:ext cx="6674847" cy="477054"/>
            <a:chOff x="1415054" y="3809315"/>
            <a:chExt cx="6674847" cy="477054"/>
          </a:xfrm>
        </p:grpSpPr>
        <p:sp>
          <p:nvSpPr>
            <p:cNvPr id="21" name="Rectangle 4">
              <a:extLst>
                <a:ext uri="{FF2B5EF4-FFF2-40B4-BE49-F238E27FC236}">
                  <a16:creationId xmlns:a16="http://schemas.microsoft.com/office/drawing/2014/main" id="{863444FA-8FD6-4FAC-BFBB-AB2036156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487" y="3809315"/>
              <a:ext cx="6450414" cy="4770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2000" b="1" dirty="0">
                  <a:solidFill>
                    <a:srgbClr val="FFFFFF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相对简单</a:t>
              </a:r>
              <a:r>
                <a:rPr lang="en-US" altLang="zh-TW" sz="2000" b="1" dirty="0">
                  <a:solidFill>
                    <a:srgbClr val="FFFFFF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, </a:t>
              </a:r>
              <a:r>
                <a:rPr lang="zh-TW" altLang="en-US" sz="2000" b="1" dirty="0">
                  <a:solidFill>
                    <a:srgbClr val="FFFFFF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代码量</a:t>
              </a:r>
              <a:r>
                <a:rPr lang="zh-TW" altLang="en-US" sz="2000" b="1" dirty="0" smtClean="0">
                  <a:solidFill>
                    <a:srgbClr val="FFFFFF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少</a:t>
              </a:r>
              <a:r>
                <a:rPr lang="en-US" altLang="zh-TW" sz="2000" b="1" dirty="0" smtClean="0">
                  <a:solidFill>
                    <a:srgbClr val="FFFFFF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;</a:t>
              </a:r>
              <a:endParaRPr lang="zh-CN" altLang="en-US" sz="2000" b="1" dirty="0">
                <a:solidFill>
                  <a:srgbClr val="FFFFFF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</p:txBody>
        </p:sp>
        <p:pic>
          <p:nvPicPr>
            <p:cNvPr id="22" name="图片 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5054" y="4024403"/>
              <a:ext cx="118663" cy="118663"/>
            </a:xfrm>
            <a:prstGeom prst="rect">
              <a:avLst/>
            </a:prstGeom>
          </p:spPr>
        </p:pic>
      </p:grpSp>
      <p:grpSp>
        <p:nvGrpSpPr>
          <p:cNvPr id="19" name="Group 18"/>
          <p:cNvGrpSpPr/>
          <p:nvPr/>
        </p:nvGrpSpPr>
        <p:grpSpPr>
          <a:xfrm>
            <a:off x="1402354" y="4330015"/>
            <a:ext cx="6674847" cy="477054"/>
            <a:chOff x="1402354" y="4330015"/>
            <a:chExt cx="6674847" cy="477054"/>
          </a:xfrm>
        </p:grpSpPr>
        <p:sp>
          <p:nvSpPr>
            <p:cNvPr id="23" name="Rectangle 4">
              <a:extLst>
                <a:ext uri="{FF2B5EF4-FFF2-40B4-BE49-F238E27FC236}">
                  <a16:creationId xmlns:a16="http://schemas.microsoft.com/office/drawing/2014/main" id="{863444FA-8FD6-4FAC-BFBB-AB2036156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6787" y="4330015"/>
              <a:ext cx="6450414" cy="4770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2000" b="1" dirty="0">
                  <a:solidFill>
                    <a:srgbClr val="FFFFFF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细节难控制</a:t>
              </a:r>
              <a:r>
                <a:rPr lang="en-US" altLang="zh-TW" sz="2000" b="1" dirty="0">
                  <a:solidFill>
                    <a:srgbClr val="FFFFFF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.</a:t>
              </a:r>
              <a:endParaRPr lang="zh-CN" altLang="en-US" sz="2000" b="1" dirty="0">
                <a:solidFill>
                  <a:srgbClr val="FFFFFF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</p:txBody>
        </p:sp>
        <p:pic>
          <p:nvPicPr>
            <p:cNvPr id="24" name="图片 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2354" y="4545103"/>
              <a:ext cx="118663" cy="1186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530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43219" y="2349380"/>
            <a:ext cx="10462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rgbClr val="FFFFFF"/>
                </a:solidFill>
              </a:rPr>
              <a:t>生成器</a:t>
            </a:r>
            <a:endParaRPr lang="en-US" sz="2000" dirty="0">
              <a:solidFill>
                <a:srgbClr val="FFFFFF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151137" y="3949015"/>
            <a:ext cx="7322562" cy="477054"/>
            <a:chOff x="1151137" y="3949015"/>
            <a:chExt cx="7322562" cy="477054"/>
          </a:xfrm>
        </p:grpSpPr>
        <p:sp>
          <p:nvSpPr>
            <p:cNvPr id="26" name="Rectangle 4">
              <a:extLst>
                <a:ext uri="{FF2B5EF4-FFF2-40B4-BE49-F238E27FC236}">
                  <a16:creationId xmlns:a16="http://schemas.microsoft.com/office/drawing/2014/main" id="{863444FA-8FD6-4FAC-BFBB-AB2036156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886" y="3949015"/>
              <a:ext cx="7062813" cy="4770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b="1" dirty="0" smtClean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生成器</a:t>
              </a:r>
              <a:endParaRPr lang="zh-CN" altLang="en-US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</p:txBody>
        </p:sp>
        <p:pic>
          <p:nvPicPr>
            <p:cNvPr id="27" name="图片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1137" y="4082444"/>
              <a:ext cx="259749" cy="259749"/>
            </a:xfrm>
            <a:prstGeom prst="rect">
              <a:avLst/>
            </a:prstGeom>
          </p:spPr>
        </p:pic>
      </p:grpSp>
      <p:grpSp>
        <p:nvGrpSpPr>
          <p:cNvPr id="8" name="Group 7"/>
          <p:cNvGrpSpPr/>
          <p:nvPr/>
        </p:nvGrpSpPr>
        <p:grpSpPr>
          <a:xfrm>
            <a:off x="1326154" y="4469715"/>
            <a:ext cx="6674847" cy="477054"/>
            <a:chOff x="1326154" y="4469715"/>
            <a:chExt cx="6674847" cy="477054"/>
          </a:xfrm>
        </p:grpSpPr>
        <p:sp>
          <p:nvSpPr>
            <p:cNvPr id="28" name="Rectangle 4">
              <a:extLst>
                <a:ext uri="{FF2B5EF4-FFF2-40B4-BE49-F238E27FC236}">
                  <a16:creationId xmlns:a16="http://schemas.microsoft.com/office/drawing/2014/main" id="{863444FA-8FD6-4FAC-BFBB-AB2036156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587" y="4469715"/>
              <a:ext cx="6450414" cy="4770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TW" sz="2000" b="1" dirty="0">
                  <a:solidFill>
                    <a:srgbClr val="FFFFFF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lex, flex, jlex, ply</a:t>
              </a:r>
              <a:r>
                <a:rPr lang="zh-TW" altLang="en-US" sz="2000" b="1" dirty="0" smtClean="0">
                  <a:solidFill>
                    <a:srgbClr val="FFFFFF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等</a:t>
              </a:r>
              <a:r>
                <a:rPr lang="en-US" altLang="zh-TW" sz="2000" b="1" dirty="0" smtClean="0">
                  <a:solidFill>
                    <a:srgbClr val="FFFFFF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.</a:t>
              </a:r>
              <a:endParaRPr lang="zh-CN" altLang="en-US" sz="2000" b="1" dirty="0">
                <a:solidFill>
                  <a:srgbClr val="FFFFFF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</p:txBody>
        </p:sp>
        <p:pic>
          <p:nvPicPr>
            <p:cNvPr id="29" name="图片 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6154" y="4684803"/>
              <a:ext cx="118663" cy="118663"/>
            </a:xfrm>
            <a:prstGeom prst="rect">
              <a:avLst/>
            </a:prstGeom>
          </p:spPr>
        </p:pic>
      </p:grpSp>
      <p:grpSp>
        <p:nvGrpSpPr>
          <p:cNvPr id="5" name="Group 4"/>
          <p:cNvGrpSpPr/>
          <p:nvPr/>
        </p:nvGrpSpPr>
        <p:grpSpPr>
          <a:xfrm>
            <a:off x="846611" y="1803400"/>
            <a:ext cx="7230590" cy="1447800"/>
            <a:chOff x="846611" y="1803400"/>
            <a:chExt cx="7230590" cy="1447800"/>
          </a:xfrm>
        </p:grpSpPr>
        <p:sp>
          <p:nvSpPr>
            <p:cNvPr id="10" name="Multidocument 9"/>
            <p:cNvSpPr/>
            <p:nvPr/>
          </p:nvSpPr>
          <p:spPr>
            <a:xfrm>
              <a:off x="846611" y="1808915"/>
              <a:ext cx="1426689" cy="1442285"/>
            </a:xfrm>
            <a:prstGeom prst="flowChartMultidocument">
              <a:avLst/>
            </a:prstGeom>
            <a:noFill/>
            <a:ln>
              <a:solidFill>
                <a:srgbClr val="5B9BD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rgbClr val="FFFFFF"/>
                  </a:solidFill>
                </a:rPr>
                <a:t>规范</a:t>
              </a:r>
              <a:r>
                <a:rPr lang="zh-CN" altLang="en-US" sz="2000" dirty="0">
                  <a:solidFill>
                    <a:srgbClr val="FFFFFF"/>
                  </a:solidFill>
                </a:rPr>
                <a:t>声明</a:t>
              </a:r>
              <a:endParaRPr lang="en-US" sz="2000" dirty="0">
                <a:solidFill>
                  <a:srgbClr val="FFFFFF"/>
                </a:solidFill>
              </a:endParaRP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2320450" y="2389328"/>
              <a:ext cx="1154469" cy="211682"/>
            </a:xfrm>
            <a:prstGeom prst="rightArrow">
              <a:avLst/>
            </a:prstGeom>
            <a:noFill/>
            <a:ln>
              <a:solidFill>
                <a:srgbClr val="5B9BD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4993441" y="2483997"/>
              <a:ext cx="1154469" cy="211682"/>
            </a:xfrm>
            <a:prstGeom prst="rightArrow">
              <a:avLst/>
            </a:prstGeom>
            <a:noFill/>
            <a:ln>
              <a:solidFill>
                <a:srgbClr val="5B9BD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5" name="Cube 24"/>
            <p:cNvSpPr/>
            <p:nvPr/>
          </p:nvSpPr>
          <p:spPr>
            <a:xfrm>
              <a:off x="6198711" y="1876767"/>
              <a:ext cx="1878490" cy="1272833"/>
            </a:xfrm>
            <a:prstGeom prst="cube">
              <a:avLst/>
            </a:prstGeom>
            <a:noFill/>
            <a:ln>
              <a:solidFill>
                <a:srgbClr val="5B9BD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rgbClr val="FFFFFF"/>
                  </a:solidFill>
                </a:rPr>
                <a:t>词法分析器</a:t>
              </a:r>
              <a:endParaRPr lang="en-US" sz="2000" dirty="0">
                <a:solidFill>
                  <a:srgbClr val="FFFFFF"/>
                </a:solidFill>
              </a:endParaRPr>
            </a:p>
          </p:txBody>
        </p:sp>
        <p:sp>
          <p:nvSpPr>
            <p:cNvPr id="4" name="8-Point Star 3"/>
            <p:cNvSpPr/>
            <p:nvPr/>
          </p:nvSpPr>
          <p:spPr>
            <a:xfrm>
              <a:off x="3721100" y="1803400"/>
              <a:ext cx="1193800" cy="1422400"/>
            </a:xfrm>
            <a:prstGeom prst="star8">
              <a:avLst/>
            </a:prstGeom>
            <a:noFill/>
            <a:ln>
              <a:solidFill>
                <a:srgbClr val="5B9BD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1910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42155" y="974047"/>
            <a:ext cx="7731544" cy="4969554"/>
            <a:chOff x="742155" y="974047"/>
            <a:chExt cx="7731544" cy="4969554"/>
          </a:xfrm>
        </p:grpSpPr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3B55418E-936A-4DE7-9B13-99121C820250}"/>
                </a:ext>
              </a:extLst>
            </p:cNvPr>
            <p:cNvSpPr txBox="1">
              <a:spLocks/>
            </p:cNvSpPr>
            <p:nvPr/>
          </p:nvSpPr>
          <p:spPr>
            <a:xfrm>
              <a:off x="742155" y="974047"/>
              <a:ext cx="5778843" cy="393908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600" b="1" dirty="0" smtClean="0">
                  <a:solidFill>
                    <a:schemeClr val="bg1">
                      <a:lumMod val="9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词法单元、模式、词素</a:t>
              </a:r>
              <a:endParaRPr lang="zh-CN" altLang="en-U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1151137" y="1345515"/>
              <a:ext cx="7322562" cy="477054"/>
              <a:chOff x="1151137" y="1345515"/>
              <a:chExt cx="7322562" cy="477054"/>
            </a:xfrm>
          </p:grpSpPr>
          <p:sp>
            <p:nvSpPr>
              <p:cNvPr id="11" name="Rectangle 4">
                <a:extLst>
                  <a:ext uri="{FF2B5EF4-FFF2-40B4-BE49-F238E27FC236}">
                    <a16:creationId xmlns:a16="http://schemas.microsoft.com/office/drawing/2014/main" id="{863444FA-8FD6-4FAC-BFBB-AB2036156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0886" y="1345515"/>
                <a:ext cx="7062813" cy="4770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2000" b="1" dirty="0">
                    <a:solidFill>
                      <a:srgbClr val="FFFF00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模式</a:t>
                </a:r>
                <a:r>
                  <a:rPr lang="en-US" altLang="zh-CN" sz="2000" b="1" dirty="0">
                    <a:solidFill>
                      <a:srgbClr val="FFFF00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: </a:t>
                </a:r>
                <a:r>
                  <a:rPr lang="zh-CN" altLang="en-US" sz="2000" b="1" dirty="0">
                    <a:solidFill>
                      <a:srgbClr val="FFFF00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描述了一个词法单元的词素可能具有的形式</a:t>
                </a:r>
                <a:r>
                  <a:rPr lang="en-US" altLang="zh-CN" sz="2000" b="1" dirty="0">
                    <a:solidFill>
                      <a:srgbClr val="FFFF00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.</a:t>
                </a:r>
                <a:endParaRPr lang="zh-CN" altLang="en-US" sz="2000" b="1" dirty="0">
                  <a:solidFill>
                    <a:srgbClr val="FFFF00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endParaRPr>
              </a:p>
            </p:txBody>
          </p:sp>
          <p:pic>
            <p:nvPicPr>
              <p:cNvPr id="12" name="图片 1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1137" y="1478944"/>
                <a:ext cx="259749" cy="259749"/>
              </a:xfrm>
              <a:prstGeom prst="rect">
                <a:avLst/>
              </a:prstGeom>
            </p:spPr>
          </p:pic>
        </p:grpSp>
        <p:graphicFrame>
          <p:nvGraphicFramePr>
            <p:cNvPr id="16" name="表格 3"/>
            <p:cNvGraphicFramePr/>
            <p:nvPr>
              <p:extLst>
                <p:ext uri="{D42A27DB-BD31-4B8C-83A1-F6EECF244321}">
                  <p14:modId xmlns:p14="http://schemas.microsoft.com/office/powerpoint/2010/main" val="1462047324"/>
                </p:ext>
              </p:extLst>
            </p:nvPr>
          </p:nvGraphicFramePr>
          <p:xfrm>
            <a:off x="797744" y="2416820"/>
            <a:ext cx="7254055" cy="3526781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1754956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59548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903616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468157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2400" dirty="0" smtClean="0"/>
                          <a:t>词法单元</a:t>
                        </a:r>
                        <a:endPara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2400" dirty="0" smtClean="0"/>
                          <a:t>模式</a:t>
                        </a:r>
                        <a:r>
                          <a:rPr lang="en-US" altLang="zh-CN" sz="2400" dirty="0" smtClean="0"/>
                          <a:t>(</a:t>
                        </a:r>
                        <a:r>
                          <a:rPr lang="zh-CN" altLang="en-US" sz="2400" dirty="0" smtClean="0"/>
                          <a:t>非形式描述</a:t>
                        </a:r>
                        <a:r>
                          <a:rPr lang="en-US" altLang="zh-CN" sz="2400" dirty="0" smtClean="0"/>
                          <a:t>)</a:t>
                        </a:r>
                        <a:endPara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2400" dirty="0" smtClean="0"/>
                          <a:t>词素示例</a:t>
                        </a:r>
                        <a:endParaRPr lang="zh-CN" altLang="en-US" sz="2400" dirty="0">
                          <a:latin typeface="楷体" panose="02010609060101010101" pitchFamily="49" charset="-122"/>
                          <a:ea typeface="楷体" panose="02010609060101010101" pitchFamily="49" charset="-122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05736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2000" dirty="0"/>
                          <a:t>if</a:t>
                        </a:r>
                        <a:endParaRPr lang="en-US" alt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2000" dirty="0"/>
                          <a:t>字符 </a:t>
                        </a:r>
                        <a:r>
                          <a:rPr lang="en-US" altLang="zh-CN" sz="2000" dirty="0" err="1"/>
                          <a:t>i</a:t>
                        </a:r>
                        <a:r>
                          <a:rPr lang="zh-CN" altLang="en-US" sz="2000" dirty="0"/>
                          <a:t>，</a:t>
                        </a:r>
                        <a:r>
                          <a:rPr lang="en-US" altLang="zh-CN" sz="2000" dirty="0"/>
                          <a:t>f</a:t>
                        </a:r>
                        <a:endParaRPr lang="en-US" alt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2000" dirty="0"/>
                          <a:t>if</a:t>
                        </a:r>
                        <a:endParaRPr lang="en-US" alt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05736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2000" dirty="0"/>
                          <a:t>for</a:t>
                        </a:r>
                        <a:endParaRPr lang="en-US" alt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2000"/>
                          <a:t>字符 </a:t>
                        </a:r>
                        <a:r>
                          <a:rPr lang="en-US" altLang="zh-CN" sz="2000"/>
                          <a:t>f</a:t>
                        </a:r>
                        <a:r>
                          <a:rPr lang="zh-CN" altLang="en-US" sz="2000"/>
                          <a:t>，</a:t>
                        </a:r>
                        <a:r>
                          <a:rPr lang="en-US" altLang="zh-CN" sz="2000"/>
                          <a:t>o</a:t>
                        </a:r>
                        <a:r>
                          <a:rPr lang="zh-CN" altLang="en-US" sz="2000"/>
                          <a:t>，</a:t>
                        </a:r>
                        <a:r>
                          <a:rPr lang="en-US" altLang="zh-CN" sz="2000"/>
                          <a:t>r</a:t>
                        </a:r>
                        <a:endParaRPr lang="en-US" altLang="zh-CN" sz="20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2000" dirty="0"/>
                          <a:t>for</a:t>
                        </a:r>
                        <a:endParaRPr lang="en-US" alt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05736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2000" dirty="0" smtClean="0"/>
                          <a:t>comparison</a:t>
                        </a:r>
                        <a:endParaRPr lang="en-US" alt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2000" dirty="0"/>
                          <a:t>&lt; </a:t>
                        </a:r>
                        <a:r>
                          <a:rPr lang="zh-CN" altLang="en-US" sz="2000" dirty="0"/>
                          <a:t>或 </a:t>
                        </a:r>
                        <a:r>
                          <a:rPr lang="en-US" altLang="zh-CN" sz="2000" dirty="0"/>
                          <a:t>&lt;= </a:t>
                        </a:r>
                        <a:r>
                          <a:rPr lang="zh-CN" altLang="en-US" sz="2000" dirty="0"/>
                          <a:t>或 </a:t>
                        </a:r>
                        <a:r>
                          <a:rPr lang="en-US" altLang="zh-CN" sz="2000" dirty="0"/>
                          <a:t>= </a:t>
                        </a:r>
                        <a:r>
                          <a:rPr lang="zh-CN" altLang="en-US" sz="2000" dirty="0"/>
                          <a:t>或 …</a:t>
                        </a:r>
                        <a:endPara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2000" dirty="0"/>
                          <a:t>&lt;</a:t>
                        </a:r>
                        <a:r>
                          <a:rPr lang="zh-CN" altLang="en-US" sz="2000" dirty="0"/>
                          <a:t>，</a:t>
                        </a:r>
                        <a:r>
                          <a:rPr lang="en-US" altLang="zh-CN" sz="2000" dirty="0"/>
                          <a:t>&lt;=</a:t>
                        </a:r>
                        <a:r>
                          <a:rPr lang="zh-CN" altLang="en-US" sz="2000" dirty="0" smtClean="0"/>
                          <a:t>，</a:t>
                        </a:r>
                        <a:r>
                          <a:rPr lang="en-US" altLang="zh-CN" sz="2000" dirty="0" smtClean="0"/>
                          <a:t>!=</a:t>
                        </a:r>
                        <a:r>
                          <a:rPr lang="zh-CN" altLang="en-US" sz="2000" dirty="0" smtClean="0"/>
                          <a:t>，</a:t>
                        </a:r>
                        <a:r>
                          <a:rPr lang="zh-CN" altLang="en-US" sz="2000" dirty="0"/>
                          <a:t>…</a:t>
                        </a:r>
                        <a:endPara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05736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2000"/>
                          <a:t>id</a:t>
                        </a:r>
                        <a:endParaRPr lang="en-US" altLang="zh-CN" sz="20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2000" dirty="0"/>
                          <a:t>由字母开头的字母数字串</a:t>
                        </a:r>
                        <a:endPara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2000" dirty="0" smtClean="0"/>
                          <a:t>pi</a:t>
                        </a:r>
                        <a:r>
                          <a:rPr lang="zh-CN" altLang="en-US" sz="2000" dirty="0" smtClean="0"/>
                          <a:t>，</a:t>
                        </a:r>
                        <a:r>
                          <a:rPr lang="en-US" altLang="zh-CN" sz="2000" dirty="0" smtClean="0"/>
                          <a:t>score</a:t>
                        </a:r>
                        <a:r>
                          <a:rPr lang="zh-CN" altLang="en-US" sz="2000" dirty="0" smtClean="0"/>
                          <a:t>，</a:t>
                        </a:r>
                        <a:r>
                          <a:rPr lang="en-US" altLang="zh-CN" sz="2000" dirty="0" smtClean="0"/>
                          <a:t>D2</a:t>
                        </a:r>
                        <a:endParaRPr lang="en-US" alt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717840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2000" dirty="0"/>
                          <a:t>number</a:t>
                        </a:r>
                        <a:endParaRPr lang="en-US" alt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2000" dirty="0"/>
                          <a:t>任何数值常数</a:t>
                        </a:r>
                        <a:endPara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2000" dirty="0"/>
                          <a:t>3.1</a:t>
                        </a:r>
                        <a:r>
                          <a:rPr lang="zh-CN" altLang="en-US" sz="2000" dirty="0"/>
                          <a:t>，</a:t>
                        </a:r>
                        <a:r>
                          <a:rPr lang="en-US" altLang="zh-CN" sz="2000" dirty="0"/>
                          <a:t>10</a:t>
                        </a:r>
                        <a:r>
                          <a:rPr lang="zh-CN" altLang="en-US" sz="2000" dirty="0"/>
                          <a:t>，</a:t>
                        </a:r>
                        <a:r>
                          <a:rPr lang="en-US" altLang="zh-CN" sz="2000" dirty="0"/>
                          <a:t>2.8E12</a:t>
                        </a:r>
                        <a:endParaRPr lang="en-US" alt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717840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2000" dirty="0"/>
                          <a:t>literal</a:t>
                        </a:r>
                        <a:endParaRPr lang="en-US" alt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2000" dirty="0"/>
                          <a:t>引号</a:t>
                        </a:r>
                        <a:r>
                          <a:rPr lang="en-US" altLang="zh-CN" sz="2000" dirty="0"/>
                          <a:t>“</a:t>
                        </a:r>
                        <a:r>
                          <a:rPr lang="zh-CN" altLang="en-US" sz="2000" dirty="0"/>
                          <a:t>和</a:t>
                        </a:r>
                        <a:r>
                          <a:rPr lang="en-US" altLang="zh-CN" sz="2000" dirty="0"/>
                          <a:t>”</a:t>
                        </a:r>
                        <a:r>
                          <a:rPr lang="zh-CN" altLang="en-US" sz="2000" dirty="0"/>
                          <a:t>之间任意不含引号本身的字符串</a:t>
                        </a:r>
                        <a:endParaRPr lang="zh-CN" altLang="en-US" sz="2000" dirty="0">
                          <a:latin typeface="楷体" panose="02010609060101010101" pitchFamily="49" charset="-122"/>
                          <a:ea typeface="楷体" panose="02010609060101010101" pitchFamily="49" charset="-122"/>
                        </a:endParaRP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sz="2000" dirty="0" smtClean="0"/>
                          <a:t>“core dumped”</a:t>
                        </a:r>
                        <a:endParaRPr lang="en-US" altLang="zh-CN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endParaRP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20513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正则式</a:t>
            </a:r>
            <a:endParaRPr lang="zh-CN" altLang="en-US" sz="26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151137" y="1345515"/>
            <a:ext cx="7322562" cy="477054"/>
            <a:chOff x="1151137" y="1345515"/>
            <a:chExt cx="7322562" cy="477054"/>
          </a:xfrm>
        </p:grpSpPr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863444FA-8FD6-4FAC-BFBB-AB2036156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886" y="1345515"/>
              <a:ext cx="7062813" cy="4770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b="1" dirty="0" smtClean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正则表达式、正规表达式（</a:t>
              </a:r>
              <a:r>
                <a:rPr lang="en-US" altLang="zh-CN" sz="2000" b="1" dirty="0" smtClean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regular expression</a:t>
              </a:r>
              <a:r>
                <a:rPr lang="zh-CN" altLang="en-US" sz="2000" b="1" dirty="0" smtClean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）</a:t>
              </a:r>
              <a:endParaRPr lang="zh-CN" altLang="en-US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1137" y="1478944"/>
              <a:ext cx="259749" cy="259749"/>
            </a:xfrm>
            <a:prstGeom prst="rect">
              <a:avLst/>
            </a:prstGeom>
          </p:spPr>
        </p:pic>
      </p:grpSp>
      <p:grpSp>
        <p:nvGrpSpPr>
          <p:cNvPr id="5" name="Group 4"/>
          <p:cNvGrpSpPr/>
          <p:nvPr/>
        </p:nvGrpSpPr>
        <p:grpSpPr>
          <a:xfrm>
            <a:off x="1113037" y="2096719"/>
            <a:ext cx="7322562" cy="477054"/>
            <a:chOff x="1113037" y="2096719"/>
            <a:chExt cx="7322562" cy="477054"/>
          </a:xfrm>
        </p:grpSpPr>
        <p:sp>
          <p:nvSpPr>
            <p:cNvPr id="14" name="Rectangle 4">
              <a:extLst>
                <a:ext uri="{FF2B5EF4-FFF2-40B4-BE49-F238E27FC236}">
                  <a16:creationId xmlns:a16="http://schemas.microsoft.com/office/drawing/2014/main" id="{863444FA-8FD6-4FAC-BFBB-AB2036156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2786" y="2096719"/>
              <a:ext cx="7062813" cy="4770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每个正规式</a:t>
              </a:r>
              <a:r>
                <a:rPr lang="en-US" altLang="zh-CN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r</a:t>
              </a:r>
              <a:r>
                <a: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对应一个</a:t>
              </a:r>
              <a:r>
                <a:rPr lang="zh-CN" altLang="en-US" sz="2000" b="1" dirty="0">
                  <a:solidFill>
                    <a:srgbClr val="FFFF00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正则集</a:t>
              </a:r>
              <a:r>
                <a: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或</a:t>
              </a:r>
              <a:r>
                <a:rPr lang="zh-CN" altLang="en-US" sz="2000" b="1" dirty="0">
                  <a:solidFill>
                    <a:srgbClr val="FFFF00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正则语言</a:t>
              </a:r>
              <a:r>
                <a:rPr lang="en-US" altLang="zh-CN" sz="2000" b="1" dirty="0">
                  <a:solidFill>
                    <a:srgbClr val="FFFF00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L(r)</a:t>
              </a:r>
              <a:r>
                <a: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。</a:t>
              </a: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3037" y="2230148"/>
              <a:ext cx="259749" cy="2597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3864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is-I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给定</a:t>
            </a:r>
            <a:r>
              <a:rPr lang="zh-CN" altLang="is-IS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字母表</a:t>
            </a:r>
            <a:r>
              <a:rPr lang="el-GR" altLang="zh-TW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Σ </a:t>
            </a:r>
            <a:r>
              <a:rPr lang="is-IS" altLang="zh-CN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={</a:t>
            </a:r>
            <a:r>
              <a:rPr lang="is-IS" altLang="zh-CN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c1, c2, …, cn}:</a:t>
            </a:r>
            <a:endParaRPr lang="zh-CN" altLang="en-US" sz="26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16" name="表格 3"/>
          <p:cNvGraphicFramePr/>
          <p:nvPr>
            <p:extLst>
              <p:ext uri="{D42A27DB-BD31-4B8C-83A1-F6EECF244321}">
                <p14:modId xmlns:p14="http://schemas.microsoft.com/office/powerpoint/2010/main" val="1137116130"/>
              </p:ext>
            </p:extLst>
          </p:nvPr>
        </p:nvGraphicFramePr>
        <p:xfrm>
          <a:off x="750492" y="1584558"/>
          <a:ext cx="7496348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正则集</a:t>
                      </a: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正则语言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zh-CN" altLang="en-US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</a:t>
                      </a: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75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is-I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给定</a:t>
            </a:r>
            <a:r>
              <a:rPr lang="zh-CN" altLang="is-IS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字母表</a:t>
            </a:r>
            <a:r>
              <a:rPr lang="el-GR" altLang="zh-TW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Σ </a:t>
            </a:r>
            <a:r>
              <a:rPr lang="is-IS" altLang="zh-CN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={</a:t>
            </a:r>
            <a:r>
              <a:rPr lang="is-IS" altLang="zh-CN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c1, c2, …, cn}:</a:t>
            </a:r>
            <a:endParaRPr lang="zh-CN" altLang="en-US" sz="26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16" name="表格 3"/>
          <p:cNvGraphicFramePr/>
          <p:nvPr>
            <p:extLst>
              <p:ext uri="{D42A27DB-BD31-4B8C-83A1-F6EECF244321}">
                <p14:modId xmlns:p14="http://schemas.microsoft.com/office/powerpoint/2010/main" val="1763042398"/>
              </p:ext>
            </p:extLst>
          </p:nvPr>
        </p:nvGraphicFramePr>
        <p:xfrm>
          <a:off x="750492" y="1584558"/>
          <a:ext cx="7496348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正则集</a:t>
                      </a: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正则语言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zh-CN" altLang="en-US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</a:t>
                      </a: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{c}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</a:t>
                      </a:r>
                      <a:r>
                        <a:rPr lang="en-US" altLang="zh-CN" sz="2000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 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99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is-I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给定</a:t>
            </a:r>
            <a:r>
              <a:rPr lang="zh-CN" altLang="is-IS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字母表</a:t>
            </a:r>
            <a:r>
              <a:rPr lang="el-GR" altLang="zh-TW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Σ </a:t>
            </a:r>
            <a:r>
              <a:rPr lang="is-IS" altLang="zh-CN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={</a:t>
            </a:r>
            <a:r>
              <a:rPr lang="is-IS" altLang="zh-CN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c1, c2, …, cn}:</a:t>
            </a:r>
            <a:endParaRPr lang="zh-CN" altLang="en-US" sz="26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16" name="表格 3"/>
          <p:cNvGraphicFramePr/>
          <p:nvPr>
            <p:extLst>
              <p:ext uri="{D42A27DB-BD31-4B8C-83A1-F6EECF244321}">
                <p14:modId xmlns:p14="http://schemas.microsoft.com/office/powerpoint/2010/main" val="4036373063"/>
              </p:ext>
            </p:extLst>
          </p:nvPr>
        </p:nvGraphicFramePr>
        <p:xfrm>
          <a:off x="750492" y="1584558"/>
          <a:ext cx="7496348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正则集</a:t>
                      </a: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正则语言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zh-CN" altLang="en-US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</a:t>
                      </a: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{c}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</a:t>
                      </a:r>
                      <a:r>
                        <a:rPr lang="en-US" altLang="zh-CN" sz="2000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 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843755" y="2891747"/>
            <a:ext cx="7093745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假设</a:t>
            </a: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</a:t>
            </a:r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和</a:t>
            </a: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</a:t>
            </a:r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是正则式，则以下也是正则式</a:t>
            </a: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 </a:t>
            </a:r>
            <a:endParaRPr lang="zh-CN" altLang="en-US" sz="20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12059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is-I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给定</a:t>
            </a:r>
            <a:r>
              <a:rPr lang="zh-CN" altLang="is-IS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字母表</a:t>
            </a:r>
            <a:r>
              <a:rPr lang="el-GR" altLang="zh-TW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Σ </a:t>
            </a:r>
            <a:r>
              <a:rPr lang="is-IS" altLang="zh-CN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={</a:t>
            </a:r>
            <a:r>
              <a:rPr lang="is-IS" altLang="zh-CN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c1, c2, …, cn}:</a:t>
            </a:r>
            <a:endParaRPr lang="zh-CN" altLang="en-US" sz="26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16" name="表格 3"/>
          <p:cNvGraphicFramePr/>
          <p:nvPr>
            <p:extLst>
              <p:ext uri="{D42A27DB-BD31-4B8C-83A1-F6EECF244321}">
                <p14:modId xmlns:p14="http://schemas.microsoft.com/office/powerpoint/2010/main" val="619546266"/>
              </p:ext>
            </p:extLst>
          </p:nvPr>
        </p:nvGraphicFramePr>
        <p:xfrm>
          <a:off x="750492" y="1584558"/>
          <a:ext cx="7496348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正则集</a:t>
                      </a: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正则语言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zh-CN" altLang="en-US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</a:t>
                      </a: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{c}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</a:t>
                      </a:r>
                      <a:r>
                        <a:rPr lang="en-US" altLang="zh-CN" sz="2000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 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843755" y="2891747"/>
            <a:ext cx="7093745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假设</a:t>
            </a: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</a:t>
            </a:r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和</a:t>
            </a: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</a:t>
            </a:r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是正则式，则以下也是正则式</a:t>
            </a: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 </a:t>
            </a:r>
            <a:endParaRPr lang="zh-CN" altLang="en-US" sz="20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9" name="表格 3"/>
          <p:cNvGraphicFramePr/>
          <p:nvPr>
            <p:extLst>
              <p:ext uri="{D42A27DB-BD31-4B8C-83A1-F6EECF244321}">
                <p14:modId xmlns:p14="http://schemas.microsoft.com/office/powerpoint/2010/main" val="3080487616"/>
              </p:ext>
            </p:extLst>
          </p:nvPr>
        </p:nvGraphicFramePr>
        <p:xfrm>
          <a:off x="763192" y="3243784"/>
          <a:ext cx="7496348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27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r </a:t>
                      </a:r>
                      <a:r>
                        <a:rPr lang="en-US" altLang="zh-CN" sz="2000" b="0" dirty="0">
                          <a:sym typeface="Symbol" panose="05050102010706020507" pitchFamily="18" charset="2"/>
                        </a:rPr>
                        <a:t>| </a:t>
                      </a: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s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sym typeface="Symbol" panose="05050102010706020507" pitchFamily="18" charset="2"/>
                        </a:rPr>
                        <a:t>L(r)∪L(s) 	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sym typeface="Symbol" panose="05050102010706020507" pitchFamily="18" charset="2"/>
                        </a:rPr>
                        <a:t>或运算</a:t>
                      </a: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 (</a:t>
                      </a:r>
                      <a:r>
                        <a:rPr lang="zh-CN" altLang="en-US" sz="2000" b="0" dirty="0" smtClean="0">
                          <a:sym typeface="Symbol" panose="05050102010706020507" pitchFamily="18" charset="2"/>
                        </a:rPr>
                        <a:t>选择运算</a:t>
                      </a: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)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261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is-I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给定</a:t>
            </a:r>
            <a:r>
              <a:rPr lang="zh-CN" altLang="is-IS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字母表</a:t>
            </a:r>
            <a:r>
              <a:rPr lang="el-GR" altLang="zh-TW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Σ </a:t>
            </a:r>
            <a:r>
              <a:rPr lang="is-IS" altLang="zh-CN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={</a:t>
            </a:r>
            <a:r>
              <a:rPr lang="is-IS" altLang="zh-CN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c1, c2, …, cn}:</a:t>
            </a:r>
            <a:endParaRPr lang="zh-CN" altLang="en-US" sz="26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16" name="表格 3"/>
          <p:cNvGraphicFramePr/>
          <p:nvPr>
            <p:extLst>
              <p:ext uri="{D42A27DB-BD31-4B8C-83A1-F6EECF244321}">
                <p14:modId xmlns:p14="http://schemas.microsoft.com/office/powerpoint/2010/main" val="3174535366"/>
              </p:ext>
            </p:extLst>
          </p:nvPr>
        </p:nvGraphicFramePr>
        <p:xfrm>
          <a:off x="750492" y="1584558"/>
          <a:ext cx="7496348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正则集</a:t>
                      </a: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正则语言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zh-CN" altLang="en-US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</a:t>
                      </a: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{c}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</a:t>
                      </a:r>
                      <a:r>
                        <a:rPr lang="en-US" altLang="zh-CN" sz="2000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 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843755" y="2891747"/>
            <a:ext cx="7093745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假设</a:t>
            </a: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</a:t>
            </a:r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和</a:t>
            </a: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</a:t>
            </a:r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是正则式，则以下也是正则式</a:t>
            </a: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 </a:t>
            </a:r>
            <a:endParaRPr lang="zh-CN" altLang="en-US" sz="20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9" name="表格 3"/>
          <p:cNvGraphicFramePr/>
          <p:nvPr>
            <p:extLst>
              <p:ext uri="{D42A27DB-BD31-4B8C-83A1-F6EECF244321}">
                <p14:modId xmlns:p14="http://schemas.microsoft.com/office/powerpoint/2010/main" val="1850265487"/>
              </p:ext>
            </p:extLst>
          </p:nvPr>
        </p:nvGraphicFramePr>
        <p:xfrm>
          <a:off x="763192" y="3243784"/>
          <a:ext cx="7496348" cy="792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27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r </a:t>
                      </a:r>
                      <a:r>
                        <a:rPr lang="en-US" altLang="zh-CN" sz="2000" b="0" dirty="0">
                          <a:sym typeface="Symbol" panose="05050102010706020507" pitchFamily="18" charset="2"/>
                        </a:rPr>
                        <a:t>| </a:t>
                      </a: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s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>
                          <a:sym typeface="Symbol" panose="05050102010706020507" pitchFamily="18" charset="2"/>
                        </a:rPr>
                        <a:t>L(r)∪L(s) 	</a:t>
                      </a:r>
                      <a:endParaRPr lang="en-US" altLang="zh-CN" sz="2000" b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sym typeface="Symbol" panose="05050102010706020507" pitchFamily="18" charset="2"/>
                        </a:rPr>
                        <a:t>或运算</a:t>
                      </a: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 (</a:t>
                      </a:r>
                      <a:r>
                        <a:rPr lang="zh-CN" altLang="en-US" sz="2000" b="0" dirty="0" smtClean="0">
                          <a:sym typeface="Symbol" panose="05050102010706020507" pitchFamily="18" charset="2"/>
                        </a:rPr>
                        <a:t>选择运算</a:t>
                      </a: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)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dirty="0" err="1" smtClean="0">
                          <a:sym typeface="Symbol" panose="05050102010706020507" pitchFamily="18" charset="2"/>
                        </a:rPr>
                        <a:t>rs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dirty="0">
                          <a:sym typeface="Symbol" panose="05050102010706020507" pitchFamily="18" charset="2"/>
                        </a:rPr>
                        <a:t>L(r)L(s)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dirty="0" smtClean="0">
                          <a:sym typeface="Symbol" panose="05050102010706020507" pitchFamily="18" charset="2"/>
                        </a:rPr>
                        <a:t>连接运算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2981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is-I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给定</a:t>
            </a:r>
            <a:r>
              <a:rPr lang="zh-CN" altLang="is-IS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字母表</a:t>
            </a:r>
            <a:r>
              <a:rPr lang="el-GR" altLang="zh-TW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Σ </a:t>
            </a:r>
            <a:r>
              <a:rPr lang="is-IS" altLang="zh-CN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={</a:t>
            </a:r>
            <a:r>
              <a:rPr lang="is-IS" altLang="zh-CN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c1, c2, …, cn}:</a:t>
            </a:r>
            <a:endParaRPr lang="zh-CN" altLang="en-US" sz="26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16" name="表格 3"/>
          <p:cNvGraphicFramePr/>
          <p:nvPr>
            <p:extLst>
              <p:ext uri="{D42A27DB-BD31-4B8C-83A1-F6EECF244321}">
                <p14:modId xmlns:p14="http://schemas.microsoft.com/office/powerpoint/2010/main" val="3036746780"/>
              </p:ext>
            </p:extLst>
          </p:nvPr>
        </p:nvGraphicFramePr>
        <p:xfrm>
          <a:off x="750492" y="1584558"/>
          <a:ext cx="7496348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正则集</a:t>
                      </a: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正则语言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zh-CN" altLang="en-US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</a:t>
                      </a: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{c}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</a:t>
                      </a:r>
                      <a:r>
                        <a:rPr lang="en-US" altLang="zh-CN" sz="2000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 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843755" y="2891747"/>
            <a:ext cx="7093745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假设</a:t>
            </a: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</a:t>
            </a:r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和</a:t>
            </a: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</a:t>
            </a:r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是正则式，则以下也是正则式</a:t>
            </a: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 </a:t>
            </a:r>
            <a:endParaRPr lang="zh-CN" altLang="en-US" sz="20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9" name="表格 3"/>
          <p:cNvGraphicFramePr/>
          <p:nvPr>
            <p:extLst>
              <p:ext uri="{D42A27DB-BD31-4B8C-83A1-F6EECF244321}">
                <p14:modId xmlns:p14="http://schemas.microsoft.com/office/powerpoint/2010/main" val="980883735"/>
              </p:ext>
            </p:extLst>
          </p:nvPr>
        </p:nvGraphicFramePr>
        <p:xfrm>
          <a:off x="763192" y="3243784"/>
          <a:ext cx="7496348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27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r </a:t>
                      </a:r>
                      <a:r>
                        <a:rPr lang="en-US" altLang="zh-CN" sz="2000" b="0" dirty="0">
                          <a:sym typeface="Symbol" panose="05050102010706020507" pitchFamily="18" charset="2"/>
                        </a:rPr>
                        <a:t>| </a:t>
                      </a: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s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>
                          <a:sym typeface="Symbol" panose="05050102010706020507" pitchFamily="18" charset="2"/>
                        </a:rPr>
                        <a:t>L(r)∪L(s) 	</a:t>
                      </a:r>
                      <a:endParaRPr lang="en-US" altLang="zh-CN" sz="2000" b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sym typeface="Symbol" panose="05050102010706020507" pitchFamily="18" charset="2"/>
                        </a:rPr>
                        <a:t>或运算</a:t>
                      </a: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 (</a:t>
                      </a:r>
                      <a:r>
                        <a:rPr lang="zh-CN" altLang="en-US" sz="2000" b="0" dirty="0" smtClean="0">
                          <a:sym typeface="Symbol" panose="05050102010706020507" pitchFamily="18" charset="2"/>
                        </a:rPr>
                        <a:t>选择运算</a:t>
                      </a: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)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dirty="0" err="1" smtClean="0">
                          <a:sym typeface="Symbol" panose="05050102010706020507" pitchFamily="18" charset="2"/>
                        </a:rPr>
                        <a:t>rs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>
                          <a:sym typeface="Symbol" panose="05050102010706020507" pitchFamily="18" charset="2"/>
                        </a:rPr>
                        <a:t>L(r)L(s)</a:t>
                      </a:r>
                      <a:endParaRPr lang="en-US" altLang="zh-CN" sz="2000" b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dirty="0" smtClean="0">
                          <a:sym typeface="Symbol" panose="05050102010706020507" pitchFamily="18" charset="2"/>
                        </a:rPr>
                        <a:t>连接运算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dirty="0" smtClean="0"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US" altLang="zh-CN" sz="2000" baseline="30000" dirty="0" smtClean="0">
                          <a:sym typeface="Symbol" panose="05050102010706020507" pitchFamily="18" charset="2"/>
                        </a:rPr>
                        <a:t>*</a:t>
                      </a:r>
                      <a:r>
                        <a:rPr lang="en-US" altLang="zh-CN" sz="2000" dirty="0">
                          <a:sym typeface="Symbol" panose="05050102010706020507" pitchFamily="18" charset="2"/>
                        </a:rPr>
                        <a:t>	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dirty="0" smtClean="0">
                          <a:sym typeface="Symbol" panose="05050102010706020507" pitchFamily="18" charset="2"/>
                        </a:rPr>
                        <a:t>L(r)</a:t>
                      </a:r>
                      <a:r>
                        <a:rPr lang="en-US" altLang="zh-CN" sz="2000" baseline="30000" dirty="0" smtClean="0">
                          <a:sym typeface="Symbol" panose="05050102010706020507" pitchFamily="18" charset="2"/>
                        </a:rPr>
                        <a:t>*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dirty="0" smtClean="0">
                          <a:sym typeface="Symbol" panose="05050102010706020507" pitchFamily="18" charset="2"/>
                        </a:rPr>
                        <a:t>闭包运算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139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is-I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给定</a:t>
            </a:r>
            <a:r>
              <a:rPr lang="zh-CN" altLang="is-IS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字母表</a:t>
            </a:r>
            <a:r>
              <a:rPr lang="el-GR" altLang="zh-TW" sz="28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Σ </a:t>
            </a:r>
            <a:r>
              <a:rPr lang="is-IS" altLang="zh-CN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={</a:t>
            </a:r>
            <a:r>
              <a:rPr lang="is-IS" altLang="zh-CN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c1, c2, …, cn}:</a:t>
            </a:r>
            <a:endParaRPr lang="zh-CN" altLang="en-US" sz="26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16" name="表格 3"/>
          <p:cNvGraphicFramePr/>
          <p:nvPr>
            <p:extLst>
              <p:ext uri="{D42A27DB-BD31-4B8C-83A1-F6EECF244321}">
                <p14:modId xmlns:p14="http://schemas.microsoft.com/office/powerpoint/2010/main" val="3412723406"/>
              </p:ext>
            </p:extLst>
          </p:nvPr>
        </p:nvGraphicFramePr>
        <p:xfrm>
          <a:off x="750492" y="1584558"/>
          <a:ext cx="7496348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正则集</a:t>
                      </a: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正则语言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zh-CN" altLang="en-US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</a:t>
                      </a: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{c}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</a:t>
                      </a:r>
                      <a:r>
                        <a:rPr lang="en-US" altLang="zh-CN" sz="2000" b="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 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 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843755" y="2891747"/>
            <a:ext cx="7093745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假设</a:t>
            </a: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</a:t>
            </a:r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和</a:t>
            </a: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</a:t>
            </a:r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是正则式，则以下也是正则式</a:t>
            </a: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 </a:t>
            </a:r>
            <a:endParaRPr lang="zh-CN" altLang="en-US" sz="20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9" name="表格 3"/>
          <p:cNvGraphicFramePr/>
          <p:nvPr>
            <p:extLst>
              <p:ext uri="{D42A27DB-BD31-4B8C-83A1-F6EECF244321}">
                <p14:modId xmlns:p14="http://schemas.microsoft.com/office/powerpoint/2010/main" val="719591723"/>
              </p:ext>
            </p:extLst>
          </p:nvPr>
        </p:nvGraphicFramePr>
        <p:xfrm>
          <a:off x="763192" y="3243784"/>
          <a:ext cx="7496348" cy="1584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27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r </a:t>
                      </a:r>
                      <a:r>
                        <a:rPr lang="en-US" altLang="zh-CN" sz="2000" b="0" dirty="0">
                          <a:sym typeface="Symbol" panose="05050102010706020507" pitchFamily="18" charset="2"/>
                        </a:rPr>
                        <a:t>| </a:t>
                      </a: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s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>
                          <a:sym typeface="Symbol" panose="05050102010706020507" pitchFamily="18" charset="2"/>
                        </a:rPr>
                        <a:t>L(r)∪L(s) 	</a:t>
                      </a:r>
                      <a:endParaRPr lang="en-US" altLang="zh-CN" sz="2000" b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sym typeface="Symbol" panose="05050102010706020507" pitchFamily="18" charset="2"/>
                        </a:rPr>
                        <a:t>或运算</a:t>
                      </a: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 (</a:t>
                      </a:r>
                      <a:r>
                        <a:rPr lang="zh-CN" altLang="en-US" sz="2000" b="0" dirty="0" smtClean="0">
                          <a:sym typeface="Symbol" panose="05050102010706020507" pitchFamily="18" charset="2"/>
                        </a:rPr>
                        <a:t>选择运算</a:t>
                      </a: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)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dirty="0" err="1" smtClean="0">
                          <a:sym typeface="Symbol" panose="05050102010706020507" pitchFamily="18" charset="2"/>
                        </a:rPr>
                        <a:t>rs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>
                          <a:sym typeface="Symbol" panose="05050102010706020507" pitchFamily="18" charset="2"/>
                        </a:rPr>
                        <a:t>L(r)L(s)</a:t>
                      </a:r>
                      <a:endParaRPr lang="en-US" altLang="zh-CN" sz="2000" b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dirty="0" smtClean="0">
                          <a:sym typeface="Symbol" panose="05050102010706020507" pitchFamily="18" charset="2"/>
                        </a:rPr>
                        <a:t>连接运算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dirty="0" smtClean="0"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US" altLang="zh-CN" sz="2000" baseline="30000" dirty="0" smtClean="0">
                          <a:sym typeface="Symbol" panose="05050102010706020507" pitchFamily="18" charset="2"/>
                        </a:rPr>
                        <a:t>*</a:t>
                      </a:r>
                      <a:r>
                        <a:rPr lang="en-US" altLang="zh-CN" sz="2000" dirty="0">
                          <a:sym typeface="Symbol" panose="05050102010706020507" pitchFamily="18" charset="2"/>
                        </a:rPr>
                        <a:t>	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dirty="0" smtClean="0">
                          <a:sym typeface="Symbol" panose="05050102010706020507" pitchFamily="18" charset="2"/>
                        </a:rPr>
                        <a:t>L(r)</a:t>
                      </a:r>
                      <a:r>
                        <a:rPr lang="en-US" altLang="zh-CN" sz="2000" baseline="30000" dirty="0" smtClean="0">
                          <a:sym typeface="Symbol" panose="05050102010706020507" pitchFamily="18" charset="2"/>
                        </a:rPr>
                        <a:t>*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dirty="0" smtClean="0">
                          <a:sym typeface="Symbol" panose="05050102010706020507" pitchFamily="18" charset="2"/>
                        </a:rPr>
                        <a:t>闭包运算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dirty="0" smtClean="0">
                          <a:sym typeface="Symbol" panose="05050102010706020507" pitchFamily="18" charset="2"/>
                        </a:rPr>
                        <a:t>(r</a:t>
                      </a:r>
                      <a:r>
                        <a:rPr lang="en-US" altLang="zh-CN" sz="2000" dirty="0">
                          <a:sym typeface="Symbol" panose="05050102010706020507" pitchFamily="18" charset="2"/>
                        </a:rPr>
                        <a:t>)	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>
                          <a:sym typeface="Symbol" panose="05050102010706020507" pitchFamily="18" charset="2"/>
                        </a:rPr>
                        <a:t>L(r) </a:t>
                      </a:r>
                      <a:endParaRPr lang="en-US" altLang="zh-CN" sz="2000" b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dirty="0" smtClean="0">
                          <a:sym typeface="Symbol" panose="05050102010706020507" pitchFamily="18" charset="2"/>
                        </a:rPr>
                        <a:t>括号运算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031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843755" y="2891747"/>
            <a:ext cx="7093745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假设</a:t>
            </a: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</a:t>
            </a:r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和</a:t>
            </a: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</a:t>
            </a:r>
            <a:r>
              <a:rPr lang="zh-CN" altLang="en-US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是正则式，则以下也是正则式</a:t>
            </a: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 </a:t>
            </a:r>
            <a:endParaRPr lang="zh-CN" altLang="en-US" sz="20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9" name="表格 3"/>
          <p:cNvGraphicFramePr/>
          <p:nvPr>
            <p:extLst>
              <p:ext uri="{D42A27DB-BD31-4B8C-83A1-F6EECF244321}">
                <p14:modId xmlns:p14="http://schemas.microsoft.com/office/powerpoint/2010/main" val="3336767247"/>
              </p:ext>
            </p:extLst>
          </p:nvPr>
        </p:nvGraphicFramePr>
        <p:xfrm>
          <a:off x="763192" y="3243784"/>
          <a:ext cx="7496348" cy="15849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27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r </a:t>
                      </a:r>
                      <a:r>
                        <a:rPr lang="en-US" altLang="zh-CN" sz="2000" b="0" dirty="0">
                          <a:sym typeface="Symbol" panose="05050102010706020507" pitchFamily="18" charset="2"/>
                        </a:rPr>
                        <a:t>| </a:t>
                      </a: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s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sym typeface="Symbol" panose="05050102010706020507" pitchFamily="18" charset="2"/>
                        </a:rPr>
                        <a:t>L(r)∪L(s) 	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sym typeface="Symbol" panose="05050102010706020507" pitchFamily="18" charset="2"/>
                        </a:rPr>
                        <a:t>或运算</a:t>
                      </a: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 (</a:t>
                      </a:r>
                      <a:r>
                        <a:rPr lang="zh-CN" altLang="en-US" sz="2000" b="0" dirty="0" smtClean="0">
                          <a:sym typeface="Symbol" panose="05050102010706020507" pitchFamily="18" charset="2"/>
                        </a:rPr>
                        <a:t>选择运算</a:t>
                      </a:r>
                      <a:r>
                        <a:rPr lang="en-US" altLang="zh-CN" sz="2000" b="0" dirty="0" smtClean="0">
                          <a:sym typeface="Symbol" panose="05050102010706020507" pitchFamily="18" charset="2"/>
                        </a:rPr>
                        <a:t>)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dirty="0" err="1" smtClean="0">
                          <a:sym typeface="Symbol" panose="05050102010706020507" pitchFamily="18" charset="2"/>
                        </a:rPr>
                        <a:t>rs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>
                          <a:sym typeface="Symbol" panose="05050102010706020507" pitchFamily="18" charset="2"/>
                        </a:rPr>
                        <a:t>L(r)L(s)</a:t>
                      </a:r>
                      <a:endParaRPr lang="en-US" altLang="zh-CN" sz="2000" b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dirty="0" smtClean="0">
                          <a:sym typeface="Symbol" panose="05050102010706020507" pitchFamily="18" charset="2"/>
                        </a:rPr>
                        <a:t>连接运算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dirty="0" smtClean="0"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US" altLang="zh-CN" sz="2000" baseline="30000" dirty="0" smtClean="0">
                          <a:sym typeface="Symbol" panose="05050102010706020507" pitchFamily="18" charset="2"/>
                        </a:rPr>
                        <a:t>*</a:t>
                      </a:r>
                      <a:r>
                        <a:rPr lang="en-US" altLang="zh-CN" sz="2000" dirty="0">
                          <a:sym typeface="Symbol" panose="05050102010706020507" pitchFamily="18" charset="2"/>
                        </a:rPr>
                        <a:t>	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dirty="0" smtClean="0">
                          <a:sym typeface="Symbol" panose="05050102010706020507" pitchFamily="18" charset="2"/>
                        </a:rPr>
                        <a:t>L(r)</a:t>
                      </a:r>
                      <a:r>
                        <a:rPr lang="en-US" altLang="zh-CN" sz="2000" baseline="30000" dirty="0" smtClean="0">
                          <a:sym typeface="Symbol" panose="05050102010706020507" pitchFamily="18" charset="2"/>
                        </a:rPr>
                        <a:t>*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dirty="0" smtClean="0">
                          <a:sym typeface="Symbol" panose="05050102010706020507" pitchFamily="18" charset="2"/>
                        </a:rPr>
                        <a:t>闭包运算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dirty="0" smtClean="0">
                          <a:sym typeface="Symbol" panose="05050102010706020507" pitchFamily="18" charset="2"/>
                        </a:rPr>
                        <a:t>(r</a:t>
                      </a:r>
                      <a:r>
                        <a:rPr lang="en-US" altLang="zh-CN" sz="2000" dirty="0">
                          <a:sym typeface="Symbol" panose="05050102010706020507" pitchFamily="18" charset="2"/>
                        </a:rPr>
                        <a:t>)	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>
                          <a:sym typeface="Symbol" panose="05050102010706020507" pitchFamily="18" charset="2"/>
                        </a:rPr>
                        <a:t>L(r) </a:t>
                      </a:r>
                      <a:endParaRPr lang="en-US" altLang="zh-CN" sz="2000" b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dirty="0" smtClean="0">
                          <a:sym typeface="Symbol" panose="05050102010706020507" pitchFamily="18" charset="2"/>
                        </a:rPr>
                        <a:t>括号运算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 bwMode="auto">
          <a:xfrm>
            <a:off x="712390" y="1458925"/>
            <a:ext cx="6475732" cy="10156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括号运算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()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优先级最高</a:t>
            </a:r>
            <a:r>
              <a:rPr lang="en-US" altLang="zh-CN" sz="2000" dirty="0" smtClean="0">
                <a:latin typeface="Arial" charset="0"/>
              </a:rPr>
              <a:t>;      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闭包运算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* 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优先级最高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Arial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连接运算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</a:t>
            </a:r>
            <a:r>
              <a:rPr lang="zh-CN" altLang="en-US" sz="2000" dirty="0" smtClean="0">
                <a:latin typeface="Arial" charset="0"/>
              </a:rPr>
              <a:t>优先级次之</a:t>
            </a:r>
            <a:r>
              <a:rPr lang="en-US" altLang="zh-CN" sz="2000" dirty="0" smtClean="0">
                <a:latin typeface="Arial" charset="0"/>
              </a:rPr>
              <a:t>;        </a:t>
            </a:r>
            <a:r>
              <a:rPr lang="zh-CN" altLang="en-US" sz="2000" dirty="0" smtClean="0">
                <a:latin typeface="Arial" charset="0"/>
              </a:rPr>
              <a:t>选择运算</a:t>
            </a:r>
            <a:r>
              <a:rPr lang="en-US" altLang="zh-CN" sz="2000" dirty="0" smtClean="0">
                <a:latin typeface="Arial" charset="0"/>
              </a:rPr>
              <a:t> | </a:t>
            </a:r>
            <a:r>
              <a:rPr lang="zh-CN" altLang="en-US" sz="2000" dirty="0" smtClean="0">
                <a:latin typeface="Arial" charset="0"/>
              </a:rPr>
              <a:t>优先级最低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5585" y="995891"/>
            <a:ext cx="9180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i="1" dirty="0" smtClean="0">
                <a:solidFill>
                  <a:schemeClr val="bg1">
                    <a:lumMod val="95000"/>
                  </a:schemeClr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a b</a:t>
            </a:r>
            <a:r>
              <a:rPr lang="en-US" altLang="zh-CN" sz="2000" baseline="30000" dirty="0" smtClean="0">
                <a:solidFill>
                  <a:schemeClr val="bg1">
                    <a:lumMod val="95000"/>
                  </a:schemeClr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* </a:t>
            </a:r>
            <a:r>
              <a:rPr lang="en-US" altLang="zh-CN" sz="2000" dirty="0" smtClean="0">
                <a:solidFill>
                  <a:schemeClr val="bg1">
                    <a:lumMod val="95000"/>
                  </a:schemeClr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| </a:t>
            </a:r>
            <a:r>
              <a:rPr lang="en-US" altLang="zh-CN" sz="2000" i="1" dirty="0">
                <a:solidFill>
                  <a:schemeClr val="bg1">
                    <a:lumMod val="95000"/>
                  </a:schemeClr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c</a:t>
            </a:r>
            <a:r>
              <a:rPr lang="en-US" altLang="zh-CN" sz="2000" dirty="0">
                <a:solidFill>
                  <a:schemeClr val="bg1">
                    <a:lumMod val="95000"/>
                  </a:schemeClr>
                </a:solidFill>
                <a:latin typeface="Times New Roman"/>
                <a:cs typeface="Times New Roman"/>
                <a:sym typeface="Symbol" panose="05050102010706020507" pitchFamily="18" charset="2"/>
              </a:rPr>
              <a:t> </a:t>
            </a:r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81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is-I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给定</a:t>
            </a:r>
            <a:r>
              <a:rPr lang="zh-CN" altLang="is-IS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字母表</a:t>
            </a:r>
            <a:r>
              <a:rPr lang="el-GR" altLang="zh-TW" sz="24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Σ </a:t>
            </a:r>
            <a:r>
              <a:rPr lang="is-IS" altLang="zh-CN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={a, b}</a:t>
            </a:r>
            <a:r>
              <a:rPr lang="is-IS" altLang="zh-CN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</a:t>
            </a:r>
            <a:endParaRPr lang="zh-CN" altLang="en-US" sz="26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16" name="表格 3"/>
          <p:cNvGraphicFramePr/>
          <p:nvPr>
            <p:extLst>
              <p:ext uri="{D42A27DB-BD31-4B8C-83A1-F6EECF244321}">
                <p14:modId xmlns:p14="http://schemas.microsoft.com/office/powerpoint/2010/main" val="1340191446"/>
              </p:ext>
            </p:extLst>
          </p:nvPr>
        </p:nvGraphicFramePr>
        <p:xfrm>
          <a:off x="750492" y="1584558"/>
          <a:ext cx="7496348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正则集</a:t>
                      </a: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正则语言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err="1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a|b</a:t>
                      </a:r>
                      <a:endParaRPr lang="zh-CN" altLang="en-US" sz="2000" b="0" dirty="0"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a,</a:t>
                      </a:r>
                      <a:r>
                        <a:rPr lang="en-US" altLang="zh-CN" sz="2000" b="0" baseline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b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945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is-I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给定</a:t>
            </a:r>
            <a:r>
              <a:rPr lang="zh-CN" altLang="is-IS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字母表</a:t>
            </a:r>
            <a:r>
              <a:rPr lang="el-GR" altLang="zh-TW" sz="24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Σ </a:t>
            </a:r>
            <a:r>
              <a:rPr lang="is-IS" altLang="zh-CN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={a, b}</a:t>
            </a:r>
            <a:r>
              <a:rPr lang="is-IS" altLang="zh-CN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</a:t>
            </a:r>
            <a:endParaRPr lang="zh-CN" altLang="en-US" sz="26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16" name="表格 3"/>
          <p:cNvGraphicFramePr/>
          <p:nvPr>
            <p:extLst>
              <p:ext uri="{D42A27DB-BD31-4B8C-83A1-F6EECF244321}">
                <p14:modId xmlns:p14="http://schemas.microsoft.com/office/powerpoint/2010/main" val="141346264"/>
              </p:ext>
            </p:extLst>
          </p:nvPr>
        </p:nvGraphicFramePr>
        <p:xfrm>
          <a:off x="750492" y="1584558"/>
          <a:ext cx="7496348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正则集</a:t>
                      </a: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正则语言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err="1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a|b</a:t>
                      </a:r>
                      <a:endParaRPr lang="zh-CN" altLang="en-US" sz="2000" b="0" dirty="0"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a,</a:t>
                      </a:r>
                      <a:r>
                        <a:rPr lang="en-US" altLang="zh-CN" sz="2000" b="0" baseline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b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zh-CN" sz="2000" b="0" dirty="0" err="1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a|b</a:t>
                      </a:r>
                      <a:r>
                        <a:rPr lang="en-US" altLang="zh-CN" sz="2000" b="0" dirty="0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)(</a:t>
                      </a:r>
                      <a:r>
                        <a:rPr lang="en-US" altLang="zh-CN" sz="2000" b="0" dirty="0" err="1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a|b</a:t>
                      </a:r>
                      <a:r>
                        <a:rPr lang="en-US" altLang="zh-CN" sz="2000" b="0" dirty="0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  <a:endParaRPr lang="zh-CN" altLang="en-US" sz="2000" b="0" dirty="0"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aa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ba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bb}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492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is-I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给定</a:t>
            </a:r>
            <a:r>
              <a:rPr lang="zh-CN" altLang="is-IS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字母表</a:t>
            </a:r>
            <a:r>
              <a:rPr lang="el-GR" altLang="zh-TW" sz="24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Σ </a:t>
            </a:r>
            <a:r>
              <a:rPr lang="is-IS" altLang="zh-CN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={a, b}</a:t>
            </a:r>
            <a:r>
              <a:rPr lang="is-IS" altLang="zh-CN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</a:t>
            </a:r>
            <a:endParaRPr lang="zh-CN" altLang="en-US" sz="26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16" name="表格 3"/>
          <p:cNvGraphicFramePr/>
          <p:nvPr>
            <p:extLst>
              <p:ext uri="{D42A27DB-BD31-4B8C-83A1-F6EECF244321}">
                <p14:modId xmlns:p14="http://schemas.microsoft.com/office/powerpoint/2010/main" val="1912248720"/>
              </p:ext>
            </p:extLst>
          </p:nvPr>
        </p:nvGraphicFramePr>
        <p:xfrm>
          <a:off x="750492" y="1584558"/>
          <a:ext cx="749634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正则集</a:t>
                      </a: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正则语言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err="1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a|b</a:t>
                      </a:r>
                      <a:endParaRPr lang="zh-CN" altLang="en-US" sz="2000" b="0" dirty="0"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a,</a:t>
                      </a:r>
                      <a:r>
                        <a:rPr lang="en-US" altLang="zh-CN" sz="2000" b="0" baseline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b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zh-CN" sz="2000" b="0" dirty="0" err="1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a|b</a:t>
                      </a:r>
                      <a:r>
                        <a:rPr lang="en-US" altLang="zh-CN" sz="2000" b="0" dirty="0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)(</a:t>
                      </a:r>
                      <a:r>
                        <a:rPr lang="en-US" altLang="zh-CN" sz="2000" b="0" dirty="0" err="1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a|b</a:t>
                      </a:r>
                      <a:r>
                        <a:rPr lang="en-US" altLang="zh-CN" sz="2000" b="0" dirty="0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  <a:endParaRPr lang="zh-CN" altLang="en-US" sz="2000" b="0" dirty="0"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aa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ba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bb}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err="1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aa|ab|ba|bb</a:t>
                      </a:r>
                      <a:endParaRPr lang="zh-CN" altLang="en-US" sz="2000" b="0" dirty="0"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aa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ba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bb}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883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is-I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给定</a:t>
            </a:r>
            <a:r>
              <a:rPr lang="zh-CN" altLang="is-IS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字母表</a:t>
            </a:r>
            <a:r>
              <a:rPr lang="el-GR" altLang="zh-TW" sz="24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Σ </a:t>
            </a:r>
            <a:r>
              <a:rPr lang="is-IS" altLang="zh-CN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={a, b}</a:t>
            </a:r>
            <a:r>
              <a:rPr lang="is-IS" altLang="zh-CN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</a:t>
            </a:r>
            <a:endParaRPr lang="zh-CN" altLang="en-US" sz="26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16" name="表格 3"/>
          <p:cNvGraphicFramePr/>
          <p:nvPr>
            <p:extLst>
              <p:ext uri="{D42A27DB-BD31-4B8C-83A1-F6EECF244321}">
                <p14:modId xmlns:p14="http://schemas.microsoft.com/office/powerpoint/2010/main" val="4172207537"/>
              </p:ext>
            </p:extLst>
          </p:nvPr>
        </p:nvGraphicFramePr>
        <p:xfrm>
          <a:off x="750492" y="1584558"/>
          <a:ext cx="7496348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正则集</a:t>
                      </a: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正则语言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err="1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a|b</a:t>
                      </a:r>
                      <a:endParaRPr lang="zh-CN" altLang="en-US" sz="2000" b="0" dirty="0"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a,</a:t>
                      </a:r>
                      <a:r>
                        <a:rPr lang="en-US" altLang="zh-CN" sz="2000" b="0" baseline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b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zh-CN" sz="2000" b="0" dirty="0" err="1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a|b</a:t>
                      </a:r>
                      <a:r>
                        <a:rPr lang="en-US" altLang="zh-CN" sz="2000" b="0" dirty="0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)(</a:t>
                      </a:r>
                      <a:r>
                        <a:rPr lang="en-US" altLang="zh-CN" sz="2000" b="0" dirty="0" err="1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a|b</a:t>
                      </a:r>
                      <a:r>
                        <a:rPr lang="en-US" altLang="zh-CN" sz="2000" b="0" dirty="0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  <a:endParaRPr lang="zh-CN" altLang="en-US" sz="2000" b="0" dirty="0"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aa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ba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bb}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err="1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aa|ab|ba|bb</a:t>
                      </a:r>
                      <a:endParaRPr lang="zh-CN" altLang="en-US" sz="2000" b="0" dirty="0"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aa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ba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bb}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a*</a:t>
                      </a:r>
                      <a:endParaRPr lang="zh-CN" altLang="en-US" sz="2000" b="0" dirty="0"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zh-CN" altLang="en-US" sz="2000" b="0" dirty="0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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,</a:t>
                      </a:r>
                      <a:r>
                        <a:rPr lang="en-US" altLang="zh-CN" sz="2000" b="0" baseline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a, </a:t>
                      </a:r>
                      <a:r>
                        <a:rPr lang="en-US" altLang="zh-CN" sz="2000" b="0" baseline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aa</a:t>
                      </a:r>
                      <a:r>
                        <a:rPr lang="en-US" altLang="zh-CN" sz="2000" b="0" baseline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, </a:t>
                      </a:r>
                      <a:r>
                        <a:rPr lang="en-US" altLang="zh-CN" sz="2000" b="0" baseline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aaa</a:t>
                      </a:r>
                      <a:r>
                        <a:rPr lang="en-US" altLang="zh-CN" sz="2000" b="0" baseline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, </a:t>
                      </a:r>
                      <a:r>
                        <a:rPr lang="is-IS" altLang="zh-CN" sz="2000" b="0" baseline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…}</a:t>
                      </a:r>
                      <a:endParaRPr lang="zh-CN" altLang="en-US" sz="2000" b="0" dirty="0" smtClean="0"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由字母</a:t>
                      </a: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</a:t>
                      </a: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构成的所有子串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914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is-I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给定</a:t>
            </a:r>
            <a:r>
              <a:rPr lang="zh-CN" altLang="is-IS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字母表</a:t>
            </a:r>
            <a:r>
              <a:rPr lang="el-GR" altLang="zh-TW" sz="24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Σ </a:t>
            </a:r>
            <a:r>
              <a:rPr lang="is-IS" altLang="zh-CN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={a, b}</a:t>
            </a:r>
            <a:r>
              <a:rPr lang="is-IS" altLang="zh-CN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:</a:t>
            </a:r>
            <a:endParaRPr lang="zh-CN" altLang="en-US" sz="26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16" name="表格 3"/>
          <p:cNvGraphicFramePr/>
          <p:nvPr>
            <p:extLst>
              <p:ext uri="{D42A27DB-BD31-4B8C-83A1-F6EECF244321}">
                <p14:modId xmlns:p14="http://schemas.microsoft.com/office/powerpoint/2010/main" val="1748233699"/>
              </p:ext>
            </p:extLst>
          </p:nvPr>
        </p:nvGraphicFramePr>
        <p:xfrm>
          <a:off x="750492" y="1584558"/>
          <a:ext cx="749634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正则集</a:t>
                      </a: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正则语言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err="1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a|b</a:t>
                      </a:r>
                      <a:endParaRPr lang="zh-CN" altLang="en-US" sz="2000" b="0" dirty="0"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a,</a:t>
                      </a:r>
                      <a:r>
                        <a:rPr lang="en-US" altLang="zh-CN" sz="2000" b="0" baseline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b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}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zh-CN" sz="2000" b="0" dirty="0" err="1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a|b</a:t>
                      </a:r>
                      <a:r>
                        <a:rPr lang="en-US" altLang="zh-CN" sz="2000" b="0" dirty="0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)(</a:t>
                      </a:r>
                      <a:r>
                        <a:rPr lang="en-US" altLang="zh-CN" sz="2000" b="0" dirty="0" err="1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a|b</a:t>
                      </a:r>
                      <a:r>
                        <a:rPr lang="en-US" altLang="zh-CN" sz="2000" b="0" dirty="0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  <a:endParaRPr lang="zh-CN" altLang="en-US" sz="2000" b="0" dirty="0"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aa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ba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bb}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err="1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aa|ab|ba|bb</a:t>
                      </a:r>
                      <a:endParaRPr lang="zh-CN" altLang="en-US" sz="2000" b="0" dirty="0"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aa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ba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, bb}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a*</a:t>
                      </a:r>
                      <a:endParaRPr lang="zh-CN" altLang="en-US" sz="2000" b="0" dirty="0"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zh-CN" altLang="en-US" sz="2000" b="0" dirty="0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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,</a:t>
                      </a:r>
                      <a:r>
                        <a:rPr lang="en-US" altLang="zh-CN" sz="2000" b="0" baseline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a, </a:t>
                      </a:r>
                      <a:r>
                        <a:rPr lang="en-US" altLang="zh-CN" sz="2000" b="0" baseline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aa</a:t>
                      </a:r>
                      <a:r>
                        <a:rPr lang="en-US" altLang="zh-CN" sz="2000" b="0" baseline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, </a:t>
                      </a:r>
                      <a:r>
                        <a:rPr lang="en-US" altLang="zh-CN" sz="2000" b="0" baseline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aaa</a:t>
                      </a:r>
                      <a:r>
                        <a:rPr lang="en-US" altLang="zh-CN" sz="2000" b="0" baseline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, </a:t>
                      </a:r>
                      <a:r>
                        <a:rPr lang="is-IS" altLang="zh-CN" sz="2000" b="0" baseline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…}</a:t>
                      </a:r>
                      <a:endParaRPr lang="zh-CN" altLang="en-US" sz="2000" b="0" dirty="0" smtClean="0"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由字母</a:t>
                      </a: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</a:t>
                      </a: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构成的所有子串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zh-CN" sz="2000" b="0" dirty="0" err="1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a|b</a:t>
                      </a:r>
                      <a:r>
                        <a:rPr lang="en-US" altLang="zh-CN" sz="2000" b="0" dirty="0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)*</a:t>
                      </a:r>
                      <a:endParaRPr lang="zh-CN" altLang="en-US" sz="2000" b="0" dirty="0"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{</a:t>
                      </a:r>
                      <a:r>
                        <a:rPr lang="zh-CN" altLang="en-US" sz="2000" b="0" dirty="0" smtClean="0"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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,</a:t>
                      </a:r>
                      <a:r>
                        <a:rPr lang="en-US" altLang="zh-CN" sz="2000" b="0" baseline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a, b, </a:t>
                      </a:r>
                      <a:r>
                        <a:rPr lang="en-US" altLang="zh-CN" sz="2000" b="0" baseline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aa</a:t>
                      </a:r>
                      <a:r>
                        <a:rPr lang="en-US" altLang="zh-CN" sz="2000" b="0" baseline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, </a:t>
                      </a:r>
                      <a:r>
                        <a:rPr lang="en-US" altLang="zh-CN" sz="2000" b="0" baseline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ab</a:t>
                      </a:r>
                      <a:r>
                        <a:rPr lang="en-US" altLang="zh-CN" sz="2000" b="0" baseline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, </a:t>
                      </a:r>
                      <a:r>
                        <a:rPr lang="en-US" altLang="zh-CN" sz="2000" b="0" baseline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ba</a:t>
                      </a:r>
                      <a:r>
                        <a:rPr lang="en-US" altLang="zh-CN" sz="2000" b="0" baseline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, bb, </a:t>
                      </a:r>
                      <a:r>
                        <a:rPr lang="is-IS" altLang="zh-CN" sz="2000" b="0" baseline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…}</a:t>
                      </a:r>
                      <a:endParaRPr lang="zh-CN" altLang="en-US" sz="2000" b="0" dirty="0" smtClean="0"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由字母</a:t>
                      </a: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</a:t>
                      </a: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和</a:t>
                      </a: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b</a:t>
                      </a: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构成的所有子串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39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graphicFrame>
        <p:nvGraphicFramePr>
          <p:cNvPr id="8" name="内容占位符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6682032"/>
              </p:ext>
            </p:extLst>
          </p:nvPr>
        </p:nvGraphicFramePr>
        <p:xfrm>
          <a:off x="802376" y="1099936"/>
          <a:ext cx="7480935" cy="3789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9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5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公理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r | s = s |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| 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是可交换的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r | (s | t) = (r | s) |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| </a:t>
                      </a:r>
                      <a:r>
                        <a:rPr lang="zh-CN" altLang="en-US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是可结合的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(rs) t = r (st)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连接是可结合的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r  (s | t) = rs | rt</a:t>
                      </a:r>
                    </a:p>
                    <a:p>
                      <a:pPr algn="l">
                        <a:buNone/>
                      </a:pPr>
                      <a:r>
                        <a:rPr lang="en-US" altLang="zh-CN" sz="20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(s | t)  r = sr | tr</a:t>
                      </a:r>
                      <a:endParaRPr lang="en-US" altLang="zh-CN" sz="2000" b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90000"/>
                        </a:lnSpc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连接对 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| 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是可分配的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ε</a:t>
                      </a: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r = r</a:t>
                      </a:r>
                    </a:p>
                    <a:p>
                      <a:pPr algn="l">
                        <a:buNone/>
                      </a:pP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r</a:t>
                      </a:r>
                      <a:r>
                        <a:rPr lang="zh-CN" altLang="en-US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ε </a:t>
                      </a: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90000"/>
                        </a:lnSpc>
                        <a:buNone/>
                      </a:pPr>
                      <a:r>
                        <a:rPr lang="zh-CN" altLang="en-US" sz="200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ε 是连接的恒等元素</a:t>
                      </a:r>
                      <a:endParaRPr lang="zh-CN" altLang="en-US" sz="2000" b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r</a:t>
                      </a:r>
                      <a:r>
                        <a:rPr lang="en-US" altLang="zh-CN" sz="2000" b="0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*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 (r | 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ε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  <a:r>
                        <a:rPr lang="en-US" altLang="zh-CN" sz="2000" b="0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*</a:t>
                      </a:r>
                      <a:endParaRPr lang="en-US" altLang="zh-CN" sz="2000" b="0" dirty="0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闭包中一定包含 ε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(r</a:t>
                      </a:r>
                      <a:r>
                        <a:rPr lang="en-US" altLang="zh-CN" sz="2000" b="0" baseline="3000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*</a:t>
                      </a:r>
                      <a:r>
                        <a:rPr lang="en-US" altLang="zh-CN" sz="2000" b="0" baseline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)</a:t>
                      </a:r>
                      <a:r>
                        <a:rPr lang="en-US" altLang="zh-CN" sz="2000" b="0" baseline="3000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*</a:t>
                      </a:r>
                      <a:r>
                        <a:rPr lang="en-US" altLang="zh-CN" sz="2000" b="0" dirty="0" smtClean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= r</a:t>
                      </a:r>
                      <a:r>
                        <a:rPr lang="en-US" altLang="zh-CN" sz="2000" b="0" baseline="30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*</a:t>
                      </a:r>
                      <a:endParaRPr lang="en-US" altLang="zh-CN" sz="2000" b="0" dirty="0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* 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是幂等的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0891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正则定义</a:t>
            </a:r>
            <a:r>
              <a:rPr lang="zh-CN" altLang="en-US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的例子</a:t>
            </a:r>
            <a:endParaRPr lang="zh-CN" altLang="en-US" sz="26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151137" y="1345515"/>
            <a:ext cx="7322562" cy="477054"/>
            <a:chOff x="1151137" y="1345515"/>
            <a:chExt cx="7322562" cy="477054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863444FA-8FD6-4FAC-BFBB-AB2036156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886" y="1345515"/>
              <a:ext cx="7062813" cy="4770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C</a:t>
              </a:r>
              <a:r>
                <a: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语言的关键字</a:t>
              </a:r>
              <a:r>
                <a:rPr lang="en-US" altLang="zh-CN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, </a:t>
              </a:r>
              <a:r>
                <a: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如</a:t>
              </a:r>
              <a:r>
                <a:rPr lang="en-US" altLang="zh-CN" sz="2000" b="1" i="1" dirty="0">
                  <a:solidFill>
                    <a:srgbClr val="FFFF00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if</a:t>
              </a:r>
              <a:r>
                <a:rPr lang="en-US" altLang="zh-CN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, </a:t>
              </a:r>
              <a:r>
                <a:rPr lang="en-US" altLang="zh-CN" sz="2000" b="1" i="1" dirty="0">
                  <a:solidFill>
                    <a:srgbClr val="FFFF00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else</a:t>
              </a:r>
              <a:r>
                <a: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等</a:t>
              </a:r>
              <a:r>
                <a:rPr lang="en-US" altLang="zh-CN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, </a:t>
              </a:r>
              <a:r>
                <a: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如何用正则式表示</a:t>
              </a:r>
              <a:r>
                <a:rPr lang="en-US" altLang="zh-CN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?</a:t>
              </a:r>
              <a:endParaRPr lang="zh-CN" altLang="en-US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</p:txBody>
        </p:sp>
        <p:pic>
          <p:nvPicPr>
            <p:cNvPr id="9" name="图片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1137" y="1478944"/>
              <a:ext cx="259749" cy="2597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0435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正则定义</a:t>
            </a:r>
            <a:r>
              <a:rPr lang="zh-CN" altLang="en-US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的例子</a:t>
            </a:r>
            <a:endParaRPr lang="zh-CN" altLang="en-US" sz="26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151137" y="1345515"/>
            <a:ext cx="7322562" cy="477054"/>
            <a:chOff x="1151137" y="1345515"/>
            <a:chExt cx="7322562" cy="477054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863444FA-8FD6-4FAC-BFBB-AB2036156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886" y="1345515"/>
              <a:ext cx="7062813" cy="4770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C</a:t>
              </a:r>
              <a:r>
                <a: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语言的关键字</a:t>
              </a:r>
              <a:r>
                <a:rPr lang="en-US" altLang="zh-CN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, </a:t>
              </a:r>
              <a:r>
                <a: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如</a:t>
              </a:r>
              <a:r>
                <a:rPr lang="en-US" altLang="zh-CN" sz="2000" b="1" i="1" dirty="0">
                  <a:solidFill>
                    <a:srgbClr val="FFFF00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if</a:t>
              </a:r>
              <a:r>
                <a:rPr lang="en-US" altLang="zh-CN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, </a:t>
              </a:r>
              <a:r>
                <a:rPr lang="en-US" altLang="zh-CN" sz="2000" b="1" i="1" dirty="0">
                  <a:solidFill>
                    <a:srgbClr val="FFFF00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else</a:t>
              </a:r>
              <a:r>
                <a: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等</a:t>
              </a:r>
              <a:r>
                <a:rPr lang="en-US" altLang="zh-CN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, </a:t>
              </a:r>
              <a:r>
                <a: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如何用正则式表示</a:t>
              </a:r>
              <a:r>
                <a:rPr lang="en-US" altLang="zh-CN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?</a:t>
              </a:r>
              <a:endParaRPr lang="zh-CN" altLang="en-US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</p:txBody>
        </p:sp>
        <p:pic>
          <p:nvPicPr>
            <p:cNvPr id="9" name="图片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1137" y="1478944"/>
              <a:ext cx="259749" cy="259749"/>
            </a:xfrm>
            <a:prstGeom prst="rect">
              <a:avLst/>
            </a:prstGeom>
          </p:spPr>
        </p:pic>
      </p:grpSp>
      <p:sp>
        <p:nvSpPr>
          <p:cNvPr id="11" name="Rectangle 4">
            <a:extLst>
              <a:ext uri="{FF2B5EF4-FFF2-40B4-BE49-F238E27FC236}">
                <a16:creationId xmlns:a16="http://schemas.microsoft.com/office/drawing/2014/main" id="{863444FA-8FD6-4FAC-BFBB-AB2036156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5186" y="2107515"/>
            <a:ext cx="706281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l-GR" altLang="zh-TW" sz="20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Σ</a:t>
            </a:r>
            <a:r>
              <a:rPr lang="en-US" altLang="zh-CN" sz="2000" b="1" dirty="0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r>
              <a:rPr lang="en-US" altLang="zh-CN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= ASCII</a:t>
            </a:r>
            <a:r>
              <a:rPr lang="zh-CN" altLang="en-US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字符集</a:t>
            </a:r>
          </a:p>
        </p:txBody>
      </p:sp>
      <p:graphicFrame>
        <p:nvGraphicFramePr>
          <p:cNvPr id="12" name="表格 3"/>
          <p:cNvGraphicFramePr/>
          <p:nvPr>
            <p:extLst>
              <p:ext uri="{D42A27DB-BD31-4B8C-83A1-F6EECF244321}">
                <p14:modId xmlns:p14="http://schemas.microsoft.com/office/powerpoint/2010/main" val="3796334162"/>
              </p:ext>
            </p:extLst>
          </p:nvPr>
        </p:nvGraphicFramePr>
        <p:xfrm>
          <a:off x="1626792" y="2775818"/>
          <a:ext cx="455931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9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正则集</a:t>
                      </a: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正则语言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solidFill>
                            <a:srgbClr val="FF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i</a:t>
                      </a:r>
                      <a:r>
                        <a:rPr lang="en-US" altLang="zh-CN" sz="2000" b="0" dirty="0" smtClean="0">
                          <a:solidFill>
                            <a:srgbClr val="0000FF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f</a:t>
                      </a:r>
                      <a:endParaRPr lang="zh-CN" altLang="en-US" sz="2000" b="0" dirty="0">
                        <a:solidFill>
                          <a:srgbClr val="0000FF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{if}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solidFill>
                            <a:srgbClr val="FF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e</a:t>
                      </a:r>
                      <a:r>
                        <a:rPr lang="en-US" altLang="zh-CN" sz="2000" b="0" dirty="0" smtClean="0">
                          <a:solidFill>
                            <a:srgbClr val="0000FF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l</a:t>
                      </a:r>
                      <a:r>
                        <a:rPr lang="en-US" altLang="zh-CN" sz="2000" b="0" dirty="0" smtClean="0">
                          <a:solidFill>
                            <a:srgbClr val="008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s</a:t>
                      </a: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e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{else}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84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42155" y="974047"/>
            <a:ext cx="7731544" cy="1248631"/>
            <a:chOff x="742155" y="974047"/>
            <a:chExt cx="7731544" cy="1248631"/>
          </a:xfrm>
        </p:grpSpPr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3B55418E-936A-4DE7-9B13-99121C820250}"/>
                </a:ext>
              </a:extLst>
            </p:cNvPr>
            <p:cNvSpPr txBox="1">
              <a:spLocks/>
            </p:cNvSpPr>
            <p:nvPr/>
          </p:nvSpPr>
          <p:spPr>
            <a:xfrm>
              <a:off x="742155" y="974047"/>
              <a:ext cx="5778843" cy="393908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600" b="1" dirty="0">
                  <a:solidFill>
                    <a:schemeClr val="bg1">
                      <a:lumMod val="9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正则定义</a:t>
              </a:r>
              <a:r>
                <a:rPr lang="zh-CN" altLang="en-US" sz="2600" b="1" dirty="0" smtClean="0">
                  <a:solidFill>
                    <a:schemeClr val="bg1">
                      <a:lumMod val="9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的例子</a:t>
              </a:r>
              <a:endParaRPr lang="zh-CN" altLang="en-U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1151137" y="1345515"/>
              <a:ext cx="7322562" cy="877163"/>
              <a:chOff x="1151137" y="1345515"/>
              <a:chExt cx="7322562" cy="877163"/>
            </a:xfrm>
          </p:grpSpPr>
          <p:sp>
            <p:nvSpPr>
              <p:cNvPr id="8" name="Rectangle 4">
                <a:extLst>
                  <a:ext uri="{FF2B5EF4-FFF2-40B4-BE49-F238E27FC236}">
                    <a16:creationId xmlns:a16="http://schemas.microsoft.com/office/drawing/2014/main" id="{863444FA-8FD6-4FAC-BFBB-AB2036156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0886" y="1345515"/>
                <a:ext cx="7062813" cy="8771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TW" sz="2000" b="1" dirty="0">
                    <a:solidFill>
                      <a:schemeClr val="bg1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C</a:t>
                </a:r>
                <a:r>
                  <a:rPr lang="zh-TW" altLang="en-US" sz="2000" b="1" dirty="0">
                    <a:solidFill>
                      <a:schemeClr val="bg1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语言的</a:t>
                </a:r>
                <a:r>
                  <a:rPr lang="zh-TW" altLang="en-US" sz="2000" b="1" dirty="0">
                    <a:solidFill>
                      <a:srgbClr val="FFFF00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标识符</a:t>
                </a:r>
                <a:r>
                  <a:rPr lang="zh-TW" altLang="en-US" sz="2000" b="1" dirty="0">
                    <a:solidFill>
                      <a:schemeClr val="bg1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是字母、下划线开头，后接</a:t>
                </a:r>
                <a:r>
                  <a:rPr lang="en-US" altLang="zh-TW" sz="2000" b="1" dirty="0">
                    <a:solidFill>
                      <a:schemeClr val="bg1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0</a:t>
                </a:r>
                <a:r>
                  <a:rPr lang="zh-TW" altLang="en-US" sz="2000" b="1" dirty="0">
                    <a:solidFill>
                      <a:schemeClr val="bg1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个或多个字母、数字或下划线组成的串。</a:t>
                </a:r>
                <a:endPara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endParaRPr>
              </a:p>
            </p:txBody>
          </p:sp>
          <p:pic>
            <p:nvPicPr>
              <p:cNvPr id="9" name="图片 1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1137" y="1478944"/>
                <a:ext cx="259749" cy="25974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11461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151137" y="1345515"/>
            <a:ext cx="7322562" cy="477054"/>
            <a:chOff x="1151137" y="1345515"/>
            <a:chExt cx="7322562" cy="477054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863444FA-8FD6-4FAC-BFBB-AB2036156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886" y="1345515"/>
              <a:ext cx="7062813" cy="4770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对正则式命名，使表示简洁</a:t>
              </a:r>
            </a:p>
          </p:txBody>
        </p:sp>
        <p:pic>
          <p:nvPicPr>
            <p:cNvPr id="9" name="图片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1137" y="1478944"/>
              <a:ext cx="259749" cy="259749"/>
            </a:xfrm>
            <a:prstGeom prst="rect">
              <a:avLst/>
            </a:prstGeom>
          </p:spPr>
        </p:pic>
      </p:grpSp>
      <p:sp>
        <p:nvSpPr>
          <p:cNvPr id="11" name="Rectangle 4">
            <a:extLst>
              <a:ext uri="{FF2B5EF4-FFF2-40B4-BE49-F238E27FC236}">
                <a16:creationId xmlns:a16="http://schemas.microsoft.com/office/drawing/2014/main" id="{863444FA-8FD6-4FAC-BFBB-AB2036156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6286" y="2031315"/>
            <a:ext cx="7062813" cy="1677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hr-HR" altLang="zh-CN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d</a:t>
            </a:r>
            <a:r>
              <a:rPr lang="hr-HR" altLang="zh-CN" sz="2000" b="1" baseline="-25000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1</a:t>
            </a:r>
            <a:r>
              <a:rPr lang="hr-HR" altLang="zh-CN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r>
              <a:rPr lang="zh-TW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→</a:t>
            </a:r>
            <a:r>
              <a:rPr lang="hr-HR" altLang="zh-CN" sz="2000" b="1" dirty="0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r>
              <a:rPr lang="hr-HR" altLang="zh-CN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r</a:t>
            </a:r>
            <a:r>
              <a:rPr lang="hr-HR" altLang="zh-CN" sz="2000" b="1" baseline="-25000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1</a:t>
            </a:r>
          </a:p>
          <a:p>
            <a:pPr>
              <a:lnSpc>
                <a:spcPct val="130000"/>
              </a:lnSpc>
            </a:pPr>
            <a:r>
              <a:rPr lang="hr-HR" altLang="zh-CN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d</a:t>
            </a:r>
            <a:r>
              <a:rPr lang="hr-HR" altLang="zh-CN" sz="2000" b="1" baseline="-25000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2</a:t>
            </a:r>
            <a:r>
              <a:rPr lang="hr-HR" altLang="zh-CN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r>
              <a:rPr lang="zh-TW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→</a:t>
            </a:r>
            <a:r>
              <a:rPr lang="hr-HR" altLang="zh-CN" sz="2000" b="1" dirty="0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r>
              <a:rPr lang="hr-HR" altLang="zh-CN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r</a:t>
            </a:r>
            <a:r>
              <a:rPr lang="hr-HR" altLang="zh-CN" sz="2000" b="1" baseline="-25000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2</a:t>
            </a:r>
          </a:p>
          <a:p>
            <a:pPr>
              <a:lnSpc>
                <a:spcPct val="130000"/>
              </a:lnSpc>
            </a:pPr>
            <a:r>
              <a:rPr lang="hr-HR" altLang="zh-CN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. . .</a:t>
            </a:r>
          </a:p>
          <a:p>
            <a:pPr>
              <a:lnSpc>
                <a:spcPct val="130000"/>
              </a:lnSpc>
            </a:pPr>
            <a:r>
              <a:rPr lang="hr-HR" altLang="zh-CN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d</a:t>
            </a:r>
            <a:r>
              <a:rPr lang="hr-HR" altLang="zh-CN" sz="2000" b="1" baseline="-25000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n</a:t>
            </a:r>
            <a:r>
              <a:rPr lang="hr-HR" altLang="zh-CN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r>
              <a:rPr lang="zh-TW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→</a:t>
            </a:r>
            <a:r>
              <a:rPr lang="hr-HR" altLang="zh-CN" sz="2000" b="1" dirty="0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r>
              <a:rPr lang="hr-HR" altLang="zh-CN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r</a:t>
            </a:r>
            <a:r>
              <a:rPr lang="hr-HR" altLang="zh-CN" sz="2000" b="1" baseline="-25000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163837" y="3822015"/>
            <a:ext cx="7322562" cy="477054"/>
            <a:chOff x="1163837" y="3822015"/>
            <a:chExt cx="7322562" cy="477054"/>
          </a:xfrm>
        </p:grpSpPr>
        <p:sp>
          <p:nvSpPr>
            <p:cNvPr id="12" name="Rectangle 4">
              <a:extLst>
                <a:ext uri="{FF2B5EF4-FFF2-40B4-BE49-F238E27FC236}">
                  <a16:creationId xmlns:a16="http://schemas.microsoft.com/office/drawing/2014/main" id="{863444FA-8FD6-4FAC-BFBB-AB2036156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3586" y="3822015"/>
              <a:ext cx="7062813" cy="4770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各个 </a:t>
              </a:r>
              <a:r>
                <a:rPr lang="en-US" altLang="zh-CN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d</a:t>
              </a:r>
              <a:r>
                <a:rPr lang="en-US" altLang="zh-CN" sz="2000" b="1" baseline="-25000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i</a:t>
              </a:r>
              <a:r>
                <a:rPr lang="en-US" altLang="zh-CN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</a:t>
              </a:r>
              <a:r>
                <a: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的名字都不同</a:t>
              </a:r>
            </a:p>
          </p:txBody>
        </p:sp>
        <p:pic>
          <p:nvPicPr>
            <p:cNvPr id="13" name="图片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3837" y="3955444"/>
              <a:ext cx="259749" cy="259749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>
            <a:off x="1176537" y="4545915"/>
            <a:ext cx="7322562" cy="492443"/>
            <a:chOff x="1176537" y="4545915"/>
            <a:chExt cx="7322562" cy="492443"/>
          </a:xfrm>
        </p:grpSpPr>
        <p:sp>
          <p:nvSpPr>
            <p:cNvPr id="14" name="Rectangle 4">
              <a:extLst>
                <a:ext uri="{FF2B5EF4-FFF2-40B4-BE49-F238E27FC236}">
                  <a16:creationId xmlns:a16="http://schemas.microsoft.com/office/drawing/2014/main" id="{863444FA-8FD6-4FAC-BFBB-AB2036156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286" y="4545915"/>
              <a:ext cx="7062813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每个 </a:t>
              </a:r>
              <a:r>
                <a:rPr lang="en-US" altLang="zh-TW" sz="2000" b="1" dirty="0" err="1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r</a:t>
              </a:r>
              <a:r>
                <a:rPr lang="en-US" altLang="zh-TW" sz="2000" b="1" baseline="-25000" dirty="0" err="1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i</a:t>
              </a:r>
              <a:r>
                <a:rPr lang="en-US" altLang="zh-TW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</a:t>
              </a:r>
              <a:r>
                <a:rPr lang="zh-TW" altLang="en-US" sz="2000" b="1" dirty="0" smtClean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都是 </a:t>
              </a:r>
              <a:r>
                <a:rPr lang="el-GR" altLang="zh-TW" sz="20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Microsoft JhengHei Light" panose="020B0304030504040204" pitchFamily="34" charset="-120"/>
                  <a:cs typeface="Times New Roman" panose="02020603050405020304" pitchFamily="18" charset="0"/>
                </a:rPr>
                <a:t>Σ</a:t>
              </a:r>
              <a:r>
                <a:rPr lang="zh-TW" altLang="en-US" sz="20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Microsoft JhengHei Light" panose="020B03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bg1"/>
                  </a:solidFill>
                  <a:sym typeface="Symbol" panose="05050102010706020507" pitchFamily="18" charset="2"/>
                </a:rPr>
                <a:t>∪</a:t>
              </a:r>
              <a:r>
                <a:rPr lang="en-US" altLang="zh-TW" sz="2000" b="1" dirty="0" smtClean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{d</a:t>
              </a:r>
              <a:r>
                <a:rPr lang="en-US" altLang="zh-TW" sz="2000" b="1" baseline="-25000" dirty="0" smtClean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1</a:t>
              </a:r>
              <a:r>
                <a:rPr lang="en-US" altLang="zh-TW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, d</a:t>
              </a:r>
              <a:r>
                <a:rPr lang="en-US" altLang="zh-TW" sz="2000" b="1" baseline="-25000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2</a:t>
              </a:r>
              <a:r>
                <a:rPr lang="en-US" altLang="zh-TW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, …, d</a:t>
              </a:r>
              <a:r>
                <a:rPr lang="en-US" altLang="zh-TW" sz="2000" b="1" baseline="-25000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i-1</a:t>
              </a:r>
              <a:r>
                <a:rPr lang="en-US" altLang="zh-TW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 </a:t>
              </a:r>
              <a:r>
                <a:rPr lang="en-US" altLang="zh-TW" sz="2000" b="1" dirty="0" smtClean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} </a:t>
              </a:r>
              <a:r>
                <a:rPr lang="zh-TW" altLang="en-US" sz="2000" b="1" dirty="0" smtClean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上</a:t>
              </a:r>
              <a:r>
                <a:rPr lang="zh-TW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rPr>
                <a:t>的正则式</a:t>
              </a:r>
              <a:endParaRPr lang="zh-CN" altLang="en-US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endParaRPr>
            </a:p>
          </p:txBody>
        </p:sp>
        <p:pic>
          <p:nvPicPr>
            <p:cNvPr id="15" name="图片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6537" y="4679344"/>
              <a:ext cx="259749" cy="2597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622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42155" y="974047"/>
            <a:ext cx="7731544" cy="1248631"/>
            <a:chOff x="742155" y="974047"/>
            <a:chExt cx="7731544" cy="1248631"/>
          </a:xfrm>
        </p:grpSpPr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3B55418E-936A-4DE7-9B13-99121C820250}"/>
                </a:ext>
              </a:extLst>
            </p:cNvPr>
            <p:cNvSpPr txBox="1">
              <a:spLocks/>
            </p:cNvSpPr>
            <p:nvPr/>
          </p:nvSpPr>
          <p:spPr>
            <a:xfrm>
              <a:off x="742155" y="974047"/>
              <a:ext cx="5778843" cy="393908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600" b="1" dirty="0">
                  <a:solidFill>
                    <a:schemeClr val="bg1">
                      <a:lumMod val="9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正则定义</a:t>
              </a:r>
              <a:r>
                <a:rPr lang="zh-CN" altLang="en-US" sz="2600" b="1" dirty="0" smtClean="0">
                  <a:solidFill>
                    <a:schemeClr val="bg1">
                      <a:lumMod val="9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的例子</a:t>
              </a:r>
              <a:endParaRPr lang="zh-CN" altLang="en-U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1151137" y="1345515"/>
              <a:ext cx="7322562" cy="877163"/>
              <a:chOff x="1151137" y="1345515"/>
              <a:chExt cx="7322562" cy="877163"/>
            </a:xfrm>
          </p:grpSpPr>
          <p:sp>
            <p:nvSpPr>
              <p:cNvPr id="8" name="Rectangle 4">
                <a:extLst>
                  <a:ext uri="{FF2B5EF4-FFF2-40B4-BE49-F238E27FC236}">
                    <a16:creationId xmlns:a16="http://schemas.microsoft.com/office/drawing/2014/main" id="{863444FA-8FD6-4FAC-BFBB-AB2036156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0886" y="1345515"/>
                <a:ext cx="7062813" cy="8771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TW" sz="2000" b="1" dirty="0">
                    <a:solidFill>
                      <a:schemeClr val="bg1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C</a:t>
                </a:r>
                <a:r>
                  <a:rPr lang="zh-TW" altLang="en-US" sz="2000" b="1" dirty="0">
                    <a:solidFill>
                      <a:schemeClr val="bg1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语言的</a:t>
                </a:r>
                <a:r>
                  <a:rPr lang="zh-TW" altLang="en-US" sz="2000" b="1" dirty="0">
                    <a:solidFill>
                      <a:srgbClr val="FFFF00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标识符</a:t>
                </a:r>
                <a:r>
                  <a:rPr lang="zh-TW" altLang="en-US" sz="2000" b="1" dirty="0">
                    <a:solidFill>
                      <a:schemeClr val="bg1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是字母、下划线开头，后接</a:t>
                </a:r>
                <a:r>
                  <a:rPr lang="en-US" altLang="zh-TW" sz="2000" b="1" dirty="0">
                    <a:solidFill>
                      <a:schemeClr val="bg1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0</a:t>
                </a:r>
                <a:r>
                  <a:rPr lang="zh-TW" altLang="en-US" sz="2000" b="1" dirty="0">
                    <a:solidFill>
                      <a:schemeClr val="bg1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个或多个字母、数字或下划线组成的串。</a:t>
                </a:r>
                <a:endPara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endParaRPr>
              </a:p>
            </p:txBody>
          </p:sp>
          <p:pic>
            <p:nvPicPr>
              <p:cNvPr id="9" name="图片 1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1137" y="1478944"/>
                <a:ext cx="259749" cy="259749"/>
              </a:xfrm>
              <a:prstGeom prst="rect">
                <a:avLst/>
              </a:prstGeom>
            </p:spPr>
          </p:pic>
        </p:grpSp>
      </p:grpSp>
      <p:sp>
        <p:nvSpPr>
          <p:cNvPr id="11" name="Rectangle 4">
            <a:extLst>
              <a:ext uri="{FF2B5EF4-FFF2-40B4-BE49-F238E27FC236}">
                <a16:creationId xmlns:a16="http://schemas.microsoft.com/office/drawing/2014/main" id="{863444FA-8FD6-4FAC-BFBB-AB2036156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9786" y="2348815"/>
            <a:ext cx="706281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hr-HR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letter_ </a:t>
            </a:r>
            <a:r>
              <a:rPr lang="en-US" altLang="zh-CN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sym typeface="Wingdings" panose="05000000000000000000" pitchFamily="2" charset="2"/>
              </a:rPr>
              <a:t></a:t>
            </a:r>
            <a:r>
              <a:rPr lang="hr-HR" altLang="zh-TW" sz="2000" b="1" dirty="0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r>
              <a:rPr lang="hr-HR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A | B | … | Z | a | b | … | z | _ </a:t>
            </a:r>
            <a:endParaRPr lang="zh-CN" altLang="en-US" sz="2000" b="1" dirty="0">
              <a:solidFill>
                <a:schemeClr val="bg1"/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863444FA-8FD6-4FAC-BFBB-AB2036156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5186" y="3123515"/>
            <a:ext cx="706281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hr-HR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digit </a:t>
            </a:r>
            <a:r>
              <a:rPr lang="en-US" altLang="zh-CN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sym typeface="Wingdings" panose="05000000000000000000" pitchFamily="2" charset="2"/>
              </a:rPr>
              <a:t></a:t>
            </a:r>
            <a:r>
              <a:rPr lang="hr-HR" altLang="zh-TW" sz="2000" b="1" dirty="0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 </a:t>
            </a:r>
            <a:r>
              <a:rPr lang="hr-HR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0 | 1 | … | 9</a:t>
            </a:r>
            <a:endParaRPr lang="zh-CN" altLang="en-US" sz="2000" b="1" dirty="0">
              <a:solidFill>
                <a:schemeClr val="bg1"/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863444FA-8FD6-4FAC-BFBB-AB2036156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3286" y="3847415"/>
            <a:ext cx="706281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id </a:t>
            </a:r>
            <a:r>
              <a:rPr lang="en-US" altLang="zh-CN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sym typeface="Wingdings" panose="05000000000000000000" pitchFamily="2" charset="2"/>
              </a:rPr>
              <a:t></a:t>
            </a:r>
            <a:r>
              <a:rPr lang="en-US" altLang="zh-TW" sz="2000" b="1" dirty="0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 </a:t>
            </a:r>
            <a:r>
              <a:rPr lang="en-US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letter_ ( letter_  | digit )</a:t>
            </a:r>
            <a:r>
              <a:rPr lang="en-US" altLang="zh-TW" sz="2000" b="1" baseline="30000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*</a:t>
            </a:r>
            <a:r>
              <a:rPr lang="en-US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endParaRPr lang="zh-CN" altLang="en-US" sz="2000" b="1" dirty="0">
              <a:solidFill>
                <a:schemeClr val="bg1"/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512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正则表达式扩展：元字符</a:t>
            </a:r>
          </a:p>
        </p:txBody>
      </p:sp>
      <p:graphicFrame>
        <p:nvGraphicFramePr>
          <p:cNvPr id="14" name="内容占位符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1094496"/>
              </p:ext>
            </p:extLst>
          </p:nvPr>
        </p:nvGraphicFramePr>
        <p:xfrm>
          <a:off x="733744" y="1734820"/>
          <a:ext cx="7406956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2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4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代码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说明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.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匹配除换行符以外的</a:t>
                      </a:r>
                      <a:r>
                        <a:rPr lang="zh-CN" altLang="en-US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任意字符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\</a:t>
                      </a:r>
                      <a:r>
                        <a:rPr lang="en-US" altLang="zh-CN" sz="2000" b="0" dirty="0" smtClean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w</a:t>
                      </a:r>
                      <a:endParaRPr lang="en-US" altLang="zh-CN" sz="2000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匹配</a:t>
                      </a:r>
                      <a:r>
                        <a:rPr lang="zh-CN" altLang="en-US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字母或数字或下划线或汉字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\s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匹配任意的</a:t>
                      </a:r>
                      <a:r>
                        <a:rPr lang="zh-CN" altLang="en-US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空白符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	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\d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匹配数字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\b	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匹配单词的</a:t>
                      </a:r>
                      <a:r>
                        <a:rPr lang="zh-CN" altLang="en-US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开始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或</a:t>
                      </a:r>
                      <a:r>
                        <a:rPr lang="zh-CN" altLang="en-US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结束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^	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匹配字符串的</a:t>
                      </a:r>
                      <a:r>
                        <a:rPr lang="zh-CN" altLang="en-US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开始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$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匹配字符串的</a:t>
                      </a:r>
                      <a:r>
                        <a:rPr lang="zh-CN" altLang="en-US" sz="200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结束 </a:t>
                      </a:r>
                      <a:endParaRPr lang="zh-CN" alt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1376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正则表达式扩展</a:t>
            </a:r>
            <a:r>
              <a:rPr lang="zh-CN" altLang="en-US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：反义</a:t>
            </a:r>
            <a:endParaRPr lang="zh-CN" altLang="en-US" sz="26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8" name="内容占位符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3858690"/>
              </p:ext>
            </p:extLst>
          </p:nvPr>
        </p:nvGraphicFramePr>
        <p:xfrm>
          <a:off x="746444" y="1722120"/>
          <a:ext cx="7419656" cy="4122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1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代码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说明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9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\W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匹配任意</a:t>
                      </a:r>
                      <a:r>
                        <a:rPr lang="zh-CN" altLang="en-US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不是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字母、数字、下划线的字符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9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\S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匹配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任意</a:t>
                      </a:r>
                      <a:r>
                        <a:rPr lang="zh-CN" altLang="en-US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不是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空白符的字符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	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9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\D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匹配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任意</a:t>
                      </a:r>
                      <a:r>
                        <a:rPr lang="zh-CN" altLang="en-US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+mn-ea"/>
                        </a:rPr>
                        <a:t>非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数字的字符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9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\B	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匹配</a:t>
                      </a:r>
                      <a:r>
                        <a:rPr lang="zh-CN" altLang="en-US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不是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单词开头或结束的位置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9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[</a:t>
                      </a:r>
                      <a:r>
                        <a:rPr lang="en-US" altLang="zh-CN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^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xy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]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	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匹配除了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x</a:t>
                      </a:r>
                      <a:r>
                        <a:rPr lang="zh-CN" altLang="en-US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和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y</a:t>
                      </a:r>
                      <a:r>
                        <a:rPr lang="zh-CN" altLang="en-US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以外的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任意字符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9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[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xy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]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643574777"/>
                  </a:ext>
                </a:extLst>
              </a:tr>
              <a:tr h="4109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[:digit:]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2657674413"/>
                  </a:ext>
                </a:extLst>
              </a:tr>
              <a:tr h="4109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[:space:]</a:t>
                      </a: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3379486436"/>
                  </a:ext>
                </a:extLst>
              </a:tr>
              <a:tr h="4109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sz="2000" b="0" dirty="0"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 smtClean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POSIX</a:t>
                      </a:r>
                      <a:r>
                        <a:rPr lang="zh-CN" altLang="en-US" sz="2000" b="0" dirty="0" smtClean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标准</a:t>
                      </a:r>
                      <a:endParaRPr lang="zh-CN" altLang="en-US" sz="2000" b="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485872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107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正则表达式扩展</a:t>
            </a:r>
            <a:r>
              <a:rPr lang="zh-CN" altLang="en-US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：反义</a:t>
            </a:r>
            <a:endParaRPr lang="zh-CN" altLang="en-US" sz="26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9" name="内容占位符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2701509"/>
              </p:ext>
            </p:extLst>
          </p:nvPr>
        </p:nvGraphicFramePr>
        <p:xfrm>
          <a:off x="746444" y="1684020"/>
          <a:ext cx="7406956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7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代码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说明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*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重复零次或更多次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+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重复一次或更多次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？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重复零次或一次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{n}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重复 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n 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次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{n,}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重复 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n 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次或更多次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{</a:t>
                      </a:r>
                      <a:r>
                        <a:rPr lang="en-US" altLang="zh-CN" sz="2000" b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n,m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重复 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n 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到 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m 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次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706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5455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742155" y="974047"/>
            <a:ext cx="5778843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6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正则表达式扩展：贪婪与懒惰</a:t>
            </a:r>
            <a:endParaRPr lang="zh-CN" altLang="en-US" sz="26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8" name="内容占位符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7592633"/>
              </p:ext>
            </p:extLst>
          </p:nvPr>
        </p:nvGraphicFramePr>
        <p:xfrm>
          <a:off x="746444" y="1684020"/>
          <a:ext cx="7406956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7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代码</a:t>
                      </a:r>
                      <a:endParaRPr lang="zh-CN" altLang="zh-CN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说明</a:t>
                      </a:r>
                      <a:endParaRPr lang="zh-CN" altLang="en-US" sz="2000" b="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*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？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重复任意次，</a:t>
                      </a:r>
                      <a:r>
                        <a:rPr lang="zh-CN" altLang="en-US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但尽可能少重复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+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？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重复一次或更多次，</a:t>
                      </a:r>
                      <a:r>
                        <a:rPr lang="zh-CN" altLang="en-US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但尽可能少重复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？？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重复 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0 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次或 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1 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次，但尽可能少重复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{</a:t>
                      </a:r>
                      <a:r>
                        <a:rPr lang="en-US" altLang="zh-CN" sz="2000" b="0" dirty="0" err="1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n,m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}?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重复 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n 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到 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m 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次，但尽可能少重复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{n,}?</a:t>
                      </a:r>
                    </a:p>
                  </a:txBody>
                  <a:tcPr marL="109458" marR="109458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重复 </a:t>
                      </a:r>
                      <a:r>
                        <a:rPr lang="en-US" altLang="zh-CN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n </a:t>
                      </a:r>
                      <a:r>
                        <a:rPr lang="zh-CN" altLang="en-US" sz="2000" b="0" dirty="0"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次以上，但尽可能少重复</a:t>
                      </a:r>
                    </a:p>
                  </a:txBody>
                  <a:tcPr marL="109458" marR="10945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550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41" y="130809"/>
            <a:ext cx="7909010" cy="661468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3026929-2557-4D0D-B70C-A102476451FB}"/>
              </a:ext>
            </a:extLst>
          </p:cNvPr>
          <p:cNvSpPr/>
          <p:nvPr/>
        </p:nvSpPr>
        <p:spPr>
          <a:xfrm>
            <a:off x="1870885" y="203199"/>
            <a:ext cx="47953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 algn="ctr">
              <a:spcBef>
                <a:spcPct val="20000"/>
              </a:spcBef>
              <a:buClr>
                <a:schemeClr val="accent3"/>
              </a:buClr>
              <a:defRPr/>
            </a:pPr>
            <a:r>
              <a:rPr lang="en-US" altLang="zh-CN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2.1.3</a:t>
            </a:r>
            <a:r>
              <a:rPr lang="zh-CN" altLang="en-US" sz="2000" b="1" dirty="0" smtClean="0">
                <a:latin typeface="Microsoft JhengHei" panose="020B0604030504040204" pitchFamily="34" charset="-120"/>
                <a:ea typeface="Microsoft JhengHei" panose="020B0604030504040204" pitchFamily="34" charset="-120"/>
                <a:sym typeface="inpin heiti" panose="00000500000000000000" pitchFamily="2" charset="-122"/>
              </a:rPr>
              <a:t>正则式 </a:t>
            </a:r>
            <a:endParaRPr lang="en-US" altLang="zh-CN" sz="2000" b="1" dirty="0">
              <a:latin typeface="Microsoft JhengHei" panose="020B0604030504040204" pitchFamily="34" charset="-120"/>
              <a:ea typeface="Microsoft JhengHei" panose="020B0604030504040204" pitchFamily="34" charset="-120"/>
              <a:sym typeface="inpin heiti" panose="00000500000000000000" pitchFamily="2" charset="-122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42155" y="974047"/>
            <a:ext cx="7731544" cy="848522"/>
            <a:chOff x="742155" y="974047"/>
            <a:chExt cx="7731544" cy="848522"/>
          </a:xfrm>
        </p:grpSpPr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3B55418E-936A-4DE7-9B13-99121C820250}"/>
                </a:ext>
              </a:extLst>
            </p:cNvPr>
            <p:cNvSpPr txBox="1">
              <a:spLocks/>
            </p:cNvSpPr>
            <p:nvPr/>
          </p:nvSpPr>
          <p:spPr>
            <a:xfrm>
              <a:off x="742155" y="974047"/>
              <a:ext cx="5778843" cy="393908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600" b="1" dirty="0">
                  <a:solidFill>
                    <a:schemeClr val="bg1">
                      <a:lumMod val="9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正则定义</a:t>
              </a:r>
              <a:r>
                <a:rPr lang="zh-CN" altLang="en-US" sz="2600" b="1" dirty="0" smtClean="0">
                  <a:solidFill>
                    <a:schemeClr val="bg1">
                      <a:lumMod val="9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的例子</a:t>
              </a:r>
              <a:endParaRPr lang="zh-CN" altLang="en-US" sz="2600" b="1" dirty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1151137" y="1345515"/>
              <a:ext cx="7322562" cy="477054"/>
              <a:chOff x="1151137" y="1345515"/>
              <a:chExt cx="7322562" cy="477054"/>
            </a:xfrm>
          </p:grpSpPr>
          <p:sp>
            <p:nvSpPr>
              <p:cNvPr id="8" name="Rectangle 4">
                <a:extLst>
                  <a:ext uri="{FF2B5EF4-FFF2-40B4-BE49-F238E27FC236}">
                    <a16:creationId xmlns:a16="http://schemas.microsoft.com/office/drawing/2014/main" id="{863444FA-8FD6-4FAC-BFBB-AB2036156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0886" y="1345515"/>
                <a:ext cx="7062813" cy="4770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TW" altLang="en-US" sz="2000" b="1" dirty="0">
                    <a:solidFill>
                      <a:schemeClr val="bg1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无符号数</a:t>
                </a:r>
                <a:r>
                  <a:rPr lang="zh-TW" altLang="en-US" sz="2000" b="1" dirty="0" smtClean="0">
                    <a:solidFill>
                      <a:schemeClr val="bg1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集合</a:t>
                </a:r>
                <a:r>
                  <a:rPr lang="en-US" altLang="zh-TW" sz="2000" b="1" dirty="0" smtClean="0">
                    <a:solidFill>
                      <a:schemeClr val="bg1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, </a:t>
                </a:r>
                <a:r>
                  <a:rPr lang="zh-TW" altLang="en-US" sz="2000" b="1" dirty="0" smtClean="0">
                    <a:solidFill>
                      <a:schemeClr val="bg1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例</a:t>
                </a:r>
                <a:r>
                  <a:rPr lang="en-US" altLang="zh-TW" sz="2000" b="1" dirty="0" smtClean="0">
                    <a:solidFill>
                      <a:schemeClr val="bg1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1946, 11.28, 63E8, 1.99E</a:t>
                </a:r>
                <a:r>
                  <a:rPr lang="en-US" altLang="zh-TW" sz="2000" b="1" dirty="0">
                    <a:solidFill>
                      <a:schemeClr val="bg1"/>
                    </a:solidFill>
                    <a:latin typeface="Microsoft JhengHei Light" panose="020B0304030504040204" pitchFamily="34" charset="-120"/>
                    <a:ea typeface="Microsoft JhengHei Light" panose="020B0304030504040204" pitchFamily="34" charset="-120"/>
                  </a:rPr>
                  <a:t>6</a:t>
                </a:r>
                <a:endParaRPr lang="zh-CN" altLang="en-US" sz="2000" b="1" dirty="0">
                  <a:solidFill>
                    <a:schemeClr val="bg1"/>
                  </a:solidFill>
                  <a:latin typeface="Microsoft JhengHei Light" panose="020B0304030504040204" pitchFamily="34" charset="-120"/>
                  <a:ea typeface="Microsoft JhengHei Light" panose="020B0304030504040204" pitchFamily="34" charset="-120"/>
                </a:endParaRPr>
              </a:p>
            </p:txBody>
          </p:sp>
          <p:pic>
            <p:nvPicPr>
              <p:cNvPr id="9" name="图片 11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1137" y="1478944"/>
                <a:ext cx="259749" cy="259749"/>
              </a:xfrm>
              <a:prstGeom prst="rect">
                <a:avLst/>
              </a:prstGeom>
            </p:spPr>
          </p:pic>
        </p:grpSp>
      </p:grpSp>
      <p:sp>
        <p:nvSpPr>
          <p:cNvPr id="11" name="Rectangle 4">
            <a:extLst>
              <a:ext uri="{FF2B5EF4-FFF2-40B4-BE49-F238E27FC236}">
                <a16:creationId xmlns:a16="http://schemas.microsoft.com/office/drawing/2014/main" id="{863444FA-8FD6-4FAC-BFBB-AB2036156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9786" y="1878915"/>
            <a:ext cx="706281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hr-HR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digit </a:t>
            </a:r>
            <a:r>
              <a:rPr lang="zh-TW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→</a:t>
            </a:r>
            <a:r>
              <a:rPr lang="hr-HR" altLang="zh-TW" sz="2000" b="1" dirty="0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r>
              <a:rPr lang="hr-HR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0 | 1 | … | 9</a:t>
            </a:r>
            <a:endParaRPr lang="zh-CN" altLang="en-US" sz="2000" b="1" dirty="0">
              <a:solidFill>
                <a:schemeClr val="bg1"/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863444FA-8FD6-4FAC-BFBB-AB2036156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386" y="2475815"/>
            <a:ext cx="706281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digits </a:t>
            </a:r>
            <a:r>
              <a:rPr lang="zh-TW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→</a:t>
            </a:r>
            <a:r>
              <a:rPr lang="en-US" altLang="zh-TW" sz="2000" b="1" dirty="0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r>
              <a:rPr lang="en-US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digit digit</a:t>
            </a:r>
            <a:r>
              <a:rPr lang="en-US" altLang="zh-TW" sz="2000" b="1" baseline="30000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*</a:t>
            </a:r>
            <a:endParaRPr lang="zh-CN" altLang="en-US" sz="2000" b="1" baseline="30000" dirty="0">
              <a:solidFill>
                <a:schemeClr val="bg1"/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863444FA-8FD6-4FAC-BFBB-AB2036156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8986" y="3199715"/>
            <a:ext cx="706281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TW" sz="2000" b="1" dirty="0" err="1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optional_fraction</a:t>
            </a:r>
            <a:r>
              <a:rPr lang="en-US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r>
              <a:rPr lang="zh-TW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→</a:t>
            </a:r>
            <a:r>
              <a:rPr lang="en-US" altLang="zh-TW" sz="2000" b="1" dirty="0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r>
              <a:rPr lang="en-US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.digits | </a:t>
            </a:r>
            <a:r>
              <a:rPr lang="el-GR" altLang="zh-TW" sz="2000" b="1" dirty="0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ε</a:t>
            </a:r>
            <a:endParaRPr lang="zh-CN" altLang="en-US" sz="2000" b="1" dirty="0">
              <a:solidFill>
                <a:schemeClr val="bg1"/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863444FA-8FD6-4FAC-BFBB-AB2036156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8986" y="3822015"/>
            <a:ext cx="706281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hr-HR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optional_exponent </a:t>
            </a:r>
            <a:r>
              <a:rPr lang="zh-TW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→</a:t>
            </a:r>
            <a:r>
              <a:rPr lang="hr-HR" altLang="zh-TW" sz="2000" b="1" dirty="0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r>
              <a:rPr lang="hr-HR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( E ( + | </a:t>
            </a:r>
            <a:r>
              <a:rPr lang="en-US" altLang="zh-TW" sz="2000" b="1" dirty="0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-</a:t>
            </a:r>
            <a:r>
              <a:rPr lang="hr-HR" altLang="zh-TW" sz="2000" b="1" dirty="0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r>
              <a:rPr lang="hr-HR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| </a:t>
            </a:r>
            <a:r>
              <a:rPr lang="el-GR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ε</a:t>
            </a:r>
            <a:r>
              <a:rPr lang="hr-HR" altLang="zh-TW" sz="2000" b="1" dirty="0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r>
              <a:rPr lang="hr-HR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) digits ) | </a:t>
            </a:r>
            <a:r>
              <a:rPr lang="el-GR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ε</a:t>
            </a:r>
            <a:endParaRPr lang="zh-CN" altLang="en-US" sz="2000" b="1" dirty="0">
              <a:solidFill>
                <a:schemeClr val="bg1"/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863444FA-8FD6-4FAC-BFBB-AB2036156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8986" y="4545915"/>
            <a:ext cx="706281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number </a:t>
            </a:r>
            <a:r>
              <a:rPr lang="zh-TW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→</a:t>
            </a:r>
            <a:r>
              <a:rPr lang="en-US" altLang="zh-TW" sz="2000" b="1" dirty="0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r>
              <a:rPr lang="en-US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digits optional_fraction optional_exponent</a:t>
            </a:r>
            <a:endParaRPr lang="en-US" altLang="zh-TW" sz="2000" b="1" dirty="0" smtClean="0">
              <a:solidFill>
                <a:schemeClr val="bg1"/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863444FA-8FD6-4FAC-BFBB-AB2036156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1686" y="5307915"/>
            <a:ext cx="706281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TW" altLang="en-US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简化表示：</a:t>
            </a:r>
            <a:r>
              <a:rPr lang="en-US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number </a:t>
            </a:r>
            <a:r>
              <a:rPr lang="zh-TW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Microsoft JhengHei Light" panose="020B0304030504040204" pitchFamily="34" charset="-120"/>
                <a:cs typeface="Times New Roman" panose="02020603050405020304" pitchFamily="18" charset="0"/>
              </a:rPr>
              <a:t>→</a:t>
            </a:r>
            <a:r>
              <a:rPr lang="en-US" altLang="zh-TW" sz="2000" b="1" dirty="0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 </a:t>
            </a:r>
            <a:r>
              <a:rPr lang="en-US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digit+ (.digit+)? (E</a:t>
            </a:r>
            <a:r>
              <a:rPr lang="en-US" altLang="zh-TW" sz="2000" b="1" dirty="0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(+|-)? </a:t>
            </a:r>
            <a:r>
              <a:rPr lang="en-US" altLang="zh-TW" sz="2000" b="1" dirty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digit+)?</a:t>
            </a:r>
          </a:p>
        </p:txBody>
      </p:sp>
    </p:spTree>
    <p:extLst>
      <p:ext uri="{BB962C8B-B14F-4D97-AF65-F5344CB8AC3E}">
        <p14:creationId xmlns:p14="http://schemas.microsoft.com/office/powerpoint/2010/main" val="228735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AB7EB0F-0DE9-42D5-A6ED-BEF8956A2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0"/>
            <a:ext cx="5200650" cy="520065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E4D0BC1-E1FA-4021-8F32-BD53E57601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648" y="2281880"/>
            <a:ext cx="6304656" cy="2512542"/>
          </a:xfrm>
          <a:prstGeom prst="rect">
            <a:avLst/>
          </a:prstGeom>
          <a:effectLst/>
        </p:spPr>
      </p:pic>
      <p:sp>
        <p:nvSpPr>
          <p:cNvPr id="16" name="标题 1">
            <a:extLst>
              <a:ext uri="{FF2B5EF4-FFF2-40B4-BE49-F238E27FC236}">
                <a16:creationId xmlns:a16="http://schemas.microsoft.com/office/drawing/2014/main" id="{3B55418E-936A-4DE7-9B13-99121C820250}"/>
              </a:ext>
            </a:extLst>
          </p:cNvPr>
          <p:cNvSpPr txBox="1">
            <a:spLocks/>
          </p:cNvSpPr>
          <p:nvPr/>
        </p:nvSpPr>
        <p:spPr>
          <a:xfrm>
            <a:off x="3755936" y="3084345"/>
            <a:ext cx="2231704" cy="3939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200" b="1" dirty="0" smtClean="0">
                <a:solidFill>
                  <a:schemeClr val="bg1">
                    <a:lumMod val="9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编译原理</a:t>
            </a:r>
            <a:endParaRPr lang="zh-CN" altLang="en-US" sz="3200" b="1" dirty="0">
              <a:solidFill>
                <a:schemeClr val="bg1">
                  <a:lumMod val="95000"/>
                </a:schemeClr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863444FA-8FD6-4FAC-BFBB-AB2036156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8976" y="3697396"/>
            <a:ext cx="2285625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b="1" dirty="0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苏州</a:t>
            </a:r>
            <a:r>
              <a:rPr lang="zh-CN" altLang="en-US" sz="2000" b="1" smtClean="0">
                <a:solidFill>
                  <a:schemeClr val="bg1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大学   李军辉</a:t>
            </a:r>
            <a:endParaRPr lang="zh-CN" altLang="en-US" sz="2000" b="1" dirty="0">
              <a:solidFill>
                <a:schemeClr val="bg1"/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065" y="2856953"/>
            <a:ext cx="1322060" cy="133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927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</p:bldLst>
  </p:timing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</TotalTime>
  <Words>1638</Words>
  <Application>Microsoft Office PowerPoint</Application>
  <PresentationFormat>宽屏</PresentationFormat>
  <Paragraphs>352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3" baseType="lpstr">
      <vt:lpstr>inpin heiti</vt:lpstr>
      <vt:lpstr>Microsoft JhengHei</vt:lpstr>
      <vt:lpstr>Microsoft JhengHei Light</vt:lpstr>
      <vt:lpstr>楷体</vt:lpstr>
      <vt:lpstr>宋体</vt:lpstr>
      <vt:lpstr>Arial</vt:lpstr>
      <vt:lpstr>Calibri</vt:lpstr>
      <vt:lpstr>Symbol</vt:lpstr>
      <vt:lpstr>Times New Roman</vt:lpstr>
      <vt:lpstr>Wingdings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nlp404</cp:lastModifiedBy>
  <cp:revision>209</cp:revision>
  <dcterms:created xsi:type="dcterms:W3CDTF">2019-10-18T01:39:30Z</dcterms:created>
  <dcterms:modified xsi:type="dcterms:W3CDTF">2022-04-22T05:48:11Z</dcterms:modified>
</cp:coreProperties>
</file>