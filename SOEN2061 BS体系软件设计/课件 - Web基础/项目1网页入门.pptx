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1"/>
  </p:sldMasterIdLst>
  <p:notesMasterIdLst>
    <p:notesMasterId r:id="rId14"/>
  </p:notesMasterIdLst>
  <p:sldIdLst>
    <p:sldId id="423" r:id="rId2"/>
    <p:sldId id="427" r:id="rId3"/>
    <p:sldId id="428" r:id="rId4"/>
    <p:sldId id="429" r:id="rId5"/>
    <p:sldId id="578" r:id="rId6"/>
    <p:sldId id="577" r:id="rId7"/>
    <p:sldId id="579" r:id="rId8"/>
    <p:sldId id="516" r:id="rId9"/>
    <p:sldId id="580" r:id="rId10"/>
    <p:sldId id="581" r:id="rId11"/>
    <p:sldId id="582" r:id="rId12"/>
    <p:sldId id="583" r:id="rId13"/>
  </p:sldIdLst>
  <p:sldSz cx="12160250" cy="6840538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92125" indent="-349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85838" indent="-7143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477963" indent="-10636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971675" indent="-1428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38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33CCCC"/>
    <a:srgbClr val="99CCFF"/>
    <a:srgbClr val="00CCFF"/>
    <a:srgbClr val="00FFFF"/>
    <a:srgbClr val="FFFF99"/>
    <a:srgbClr val="FFFF00"/>
    <a:srgbClr val="66FFFF"/>
    <a:srgbClr val="D5D3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02" autoAdjust="0"/>
    <p:restoredTop sz="87262" autoAdjust="0"/>
  </p:normalViewPr>
  <p:slideViewPr>
    <p:cSldViewPr>
      <p:cViewPr varScale="1">
        <p:scale>
          <a:sx n="106" d="100"/>
          <a:sy n="106" d="100"/>
        </p:scale>
        <p:origin x="76" y="176"/>
      </p:cViewPr>
      <p:guideLst>
        <p:guide orient="horz" pos="2155"/>
        <p:guide pos="383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u" userId="213e45b8a479442b" providerId="LiveId" clId="{199869BE-A2B9-4EE7-977C-EDC6E9882380}"/>
  </pc:docChgLst>
  <pc:docChgLst>
    <pc:chgData userId="213e45b8a479442b" providerId="LiveId" clId="{AB82E85E-70BD-47C6-B549-5031565B68D7}"/>
    <pc:docChg chg="modSld">
      <pc:chgData name="" userId="213e45b8a479442b" providerId="LiveId" clId="{AB82E85E-70BD-47C6-B549-5031565B68D7}" dt="2024-05-23T13:49:18.273" v="5" actId="12"/>
      <pc:docMkLst>
        <pc:docMk/>
      </pc:docMkLst>
      <pc:sldChg chg="addSp delSp modSp">
        <pc:chgData name="" userId="213e45b8a479442b" providerId="LiveId" clId="{AB82E85E-70BD-47C6-B549-5031565B68D7}" dt="2024-05-23T13:49:18.273" v="5" actId="12"/>
        <pc:sldMkLst>
          <pc:docMk/>
          <pc:sldMk cId="3808723899" sldId="577"/>
        </pc:sldMkLst>
        <pc:spChg chg="mod">
          <ac:chgData name="" userId="213e45b8a479442b" providerId="LiveId" clId="{AB82E85E-70BD-47C6-B549-5031565B68D7}" dt="2024-05-23T13:49:18.273" v="5" actId="12"/>
          <ac:spMkLst>
            <pc:docMk/>
            <pc:sldMk cId="3808723899" sldId="577"/>
            <ac:spMk id="3" creationId="{FC3DE994-F8E6-4715-916B-9859E1A19738}"/>
          </ac:spMkLst>
        </pc:spChg>
        <pc:graphicFrameChg chg="add del mod">
          <ac:chgData name="" userId="213e45b8a479442b" providerId="LiveId" clId="{AB82E85E-70BD-47C6-B549-5031565B68D7}" dt="2024-05-23T13:48:50.053" v="1" actId="1032"/>
          <ac:graphicFrameMkLst>
            <pc:docMk/>
            <pc:sldMk cId="3808723899" sldId="577"/>
            <ac:graphicFrameMk id="4" creationId="{CF75DBF5-54D5-4AA0-8190-9F97C422CCB7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6D314487-0CE3-481E-A6CD-359E0D2485E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433179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9212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85838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477963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971675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46467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5761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0547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3482" algn="l" defTabSz="98587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2026" y="2125012"/>
            <a:ext cx="10336213" cy="14662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4038" y="3876308"/>
            <a:ext cx="8512175" cy="1748137"/>
          </a:xfrm>
        </p:spPr>
        <p:txBody>
          <a:bodyPr/>
          <a:lstStyle>
            <a:lvl1pPr marL="0" indent="0" algn="ctr">
              <a:buNone/>
              <a:defRPr/>
            </a:lvl1pPr>
            <a:lvl2pPr marL="492948" indent="0" algn="ctr">
              <a:buNone/>
              <a:defRPr/>
            </a:lvl2pPr>
            <a:lvl3pPr marL="985898" indent="0" algn="ctr">
              <a:buNone/>
              <a:defRPr/>
            </a:lvl3pPr>
            <a:lvl4pPr marL="1478845" indent="0" algn="ctr">
              <a:buNone/>
              <a:defRPr/>
            </a:lvl4pPr>
            <a:lvl5pPr marL="1971795" indent="0" algn="ctr">
              <a:buNone/>
              <a:defRPr/>
            </a:lvl5pPr>
            <a:lvl6pPr marL="2464745" indent="0" algn="ctr">
              <a:buNone/>
              <a:defRPr/>
            </a:lvl6pPr>
            <a:lvl7pPr marL="2957693" indent="0" algn="ctr">
              <a:buNone/>
              <a:defRPr/>
            </a:lvl7pPr>
            <a:lvl8pPr marL="3450642" indent="0" algn="ctr">
              <a:buNone/>
              <a:defRPr/>
            </a:lvl8pPr>
            <a:lvl9pPr marL="394359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64794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78205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0580" y="4395683"/>
            <a:ext cx="10336213" cy="1358607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0580" y="2899314"/>
            <a:ext cx="10336213" cy="1496367"/>
          </a:xfrm>
        </p:spPr>
        <p:txBody>
          <a:bodyPr anchor="b"/>
          <a:lstStyle>
            <a:lvl1pPr marL="0" indent="0">
              <a:buNone/>
              <a:defRPr sz="2100"/>
            </a:lvl1pPr>
            <a:lvl2pPr marL="492948" indent="0">
              <a:buNone/>
              <a:defRPr sz="1900"/>
            </a:lvl2pPr>
            <a:lvl3pPr marL="985898" indent="0">
              <a:buNone/>
              <a:defRPr sz="1700"/>
            </a:lvl3pPr>
            <a:lvl4pPr marL="1478845" indent="0">
              <a:buNone/>
              <a:defRPr sz="1500"/>
            </a:lvl4pPr>
            <a:lvl5pPr marL="1971795" indent="0">
              <a:buNone/>
              <a:defRPr sz="1500"/>
            </a:lvl5pPr>
            <a:lvl6pPr marL="2464745" indent="0">
              <a:buNone/>
              <a:defRPr sz="1500"/>
            </a:lvl6pPr>
            <a:lvl7pPr marL="2957693" indent="0">
              <a:buNone/>
              <a:defRPr sz="1500"/>
            </a:lvl7pPr>
            <a:lvl8pPr marL="3450642" indent="0">
              <a:buNone/>
              <a:defRPr sz="1500"/>
            </a:lvl8pPr>
            <a:lvl9pPr marL="394359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05034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369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5131" y="1748139"/>
            <a:ext cx="5218773" cy="4256335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75862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0" y="273940"/>
            <a:ext cx="10944225" cy="114009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014" y="1531208"/>
            <a:ext cx="537288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014" y="2169338"/>
            <a:ext cx="537288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7259" y="1531208"/>
            <a:ext cx="5374999" cy="638134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2948" indent="0">
              <a:buNone/>
              <a:defRPr sz="2100" b="1"/>
            </a:lvl2pPr>
            <a:lvl3pPr marL="985898" indent="0">
              <a:buNone/>
              <a:defRPr sz="1900" b="1"/>
            </a:lvl3pPr>
            <a:lvl4pPr marL="1478845" indent="0">
              <a:buNone/>
              <a:defRPr sz="1700" b="1"/>
            </a:lvl4pPr>
            <a:lvl5pPr marL="1971795" indent="0">
              <a:buNone/>
              <a:defRPr sz="1700" b="1"/>
            </a:lvl5pPr>
            <a:lvl6pPr marL="2464745" indent="0">
              <a:buNone/>
              <a:defRPr sz="1700" b="1"/>
            </a:lvl6pPr>
            <a:lvl7pPr marL="2957693" indent="0">
              <a:buNone/>
              <a:defRPr sz="1700" b="1"/>
            </a:lvl7pPr>
            <a:lvl8pPr marL="3450642" indent="0">
              <a:buNone/>
              <a:defRPr sz="1700" b="1"/>
            </a:lvl8pPr>
            <a:lvl9pPr marL="3943590" indent="0">
              <a:buNone/>
              <a:defRPr sz="17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7259" y="2169338"/>
            <a:ext cx="5374999" cy="3941227"/>
          </a:xfrm>
        </p:spPr>
        <p:txBody>
          <a:bodyPr/>
          <a:lstStyle>
            <a:lvl1pPr>
              <a:defRPr sz="2600"/>
            </a:lvl1pPr>
            <a:lvl2pPr>
              <a:defRPr sz="21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73633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79120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5251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027" y="272356"/>
            <a:ext cx="4000638" cy="1159092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54326" y="272361"/>
            <a:ext cx="6797918" cy="5838210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8027" y="1431451"/>
            <a:ext cx="4000638" cy="4679120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9152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3494" y="4788380"/>
            <a:ext cx="7296150" cy="565296"/>
          </a:xfrm>
        </p:spPr>
        <p:txBody>
          <a:bodyPr/>
          <a:lstStyle>
            <a:lvl1pPr algn="l">
              <a:defRPr sz="21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3494" y="611219"/>
            <a:ext cx="7296150" cy="4104323"/>
          </a:xfrm>
        </p:spPr>
        <p:txBody>
          <a:bodyPr/>
          <a:lstStyle>
            <a:lvl1pPr marL="0" indent="0">
              <a:buNone/>
              <a:defRPr sz="3500"/>
            </a:lvl1pPr>
            <a:lvl2pPr marL="492948" indent="0">
              <a:buNone/>
              <a:defRPr sz="3000"/>
            </a:lvl2pPr>
            <a:lvl3pPr marL="985898" indent="0">
              <a:buNone/>
              <a:defRPr sz="2600"/>
            </a:lvl3pPr>
            <a:lvl4pPr marL="1478845" indent="0">
              <a:buNone/>
              <a:defRPr sz="2100"/>
            </a:lvl4pPr>
            <a:lvl5pPr marL="1971795" indent="0">
              <a:buNone/>
              <a:defRPr sz="2100"/>
            </a:lvl5pPr>
            <a:lvl6pPr marL="2464745" indent="0">
              <a:buNone/>
              <a:defRPr sz="2100"/>
            </a:lvl6pPr>
            <a:lvl7pPr marL="2957693" indent="0">
              <a:buNone/>
              <a:defRPr sz="2100"/>
            </a:lvl7pPr>
            <a:lvl8pPr marL="3450642" indent="0">
              <a:buNone/>
              <a:defRPr sz="2100"/>
            </a:lvl8pPr>
            <a:lvl9pPr marL="3943590" indent="0">
              <a:buNone/>
              <a:defRPr sz="21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3494" y="5353683"/>
            <a:ext cx="7296150" cy="802814"/>
          </a:xfrm>
        </p:spPr>
        <p:txBody>
          <a:bodyPr/>
          <a:lstStyle>
            <a:lvl1pPr marL="0" indent="0">
              <a:buNone/>
              <a:defRPr sz="1500"/>
            </a:lvl1pPr>
            <a:lvl2pPr marL="492948" indent="0">
              <a:buNone/>
              <a:defRPr sz="1300"/>
            </a:lvl2pPr>
            <a:lvl3pPr marL="985898" indent="0">
              <a:buNone/>
              <a:defRPr sz="1100"/>
            </a:lvl3pPr>
            <a:lvl4pPr marL="1478845" indent="0">
              <a:buNone/>
              <a:defRPr sz="1000"/>
            </a:lvl4pPr>
            <a:lvl5pPr marL="1971795" indent="0">
              <a:buNone/>
              <a:defRPr sz="1000"/>
            </a:lvl5pPr>
            <a:lvl6pPr marL="2464745" indent="0">
              <a:buNone/>
              <a:defRPr sz="1000"/>
            </a:lvl6pPr>
            <a:lvl7pPr marL="2957693" indent="0">
              <a:buNone/>
              <a:defRPr sz="1000"/>
            </a:lvl7pPr>
            <a:lvl8pPr marL="3450642" indent="0">
              <a:buNone/>
              <a:defRPr sz="1000"/>
            </a:lvl8pPr>
            <a:lvl9pPr marL="394359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81641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304169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42310" y="304024"/>
            <a:ext cx="2662166" cy="570044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3686" y="304024"/>
            <a:ext cx="7785939" cy="570044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792878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4238" y="304032"/>
            <a:ext cx="10640219" cy="121292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753683" y="1748139"/>
            <a:ext cx="10640219" cy="4256335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3518206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4067" y="298329"/>
            <a:ext cx="10641057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2895" y="1049338"/>
            <a:ext cx="10641055" cy="5100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8587" tIns="49294" rIns="98587" bIns="4929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0984" y="906463"/>
            <a:ext cx="10582968" cy="107950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33CCCC"/>
          </a:solidFill>
          <a:ln w="9525">
            <a:solidFill>
              <a:srgbClr val="33CCCC"/>
            </a:solidFill>
            <a:round/>
            <a:headEnd/>
            <a:tailEnd/>
          </a:ln>
        </p:spPr>
        <p:txBody>
          <a:bodyPr lIns="98587" tIns="49294" rIns="98587" bIns="49294"/>
          <a:lstStyle/>
          <a:p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宋体" panose="02010600030101010101" pitchFamily="2" charset="-122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9294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85898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47884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971795" algn="l" rtl="0" fontAlgn="base">
        <a:spcBef>
          <a:spcPct val="0"/>
        </a:spcBef>
        <a:spcAft>
          <a:spcPct val="0"/>
        </a:spcAft>
        <a:defRPr sz="41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506427" indent="-50642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200">
          <a:solidFill>
            <a:schemeClr val="tx1"/>
          </a:solidFill>
          <a:latin typeface="宋体" panose="02010600030101010101" pitchFamily="2" charset="-122"/>
          <a:ea typeface="+mn-ea"/>
          <a:cs typeface="+mn-cs"/>
        </a:defRPr>
      </a:lvl1pPr>
      <a:lvl2pPr marL="977927" indent="-469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800">
          <a:solidFill>
            <a:schemeClr val="tx1"/>
          </a:solidFill>
          <a:latin typeface="宋体" panose="02010600030101010101" pitchFamily="2" charset="-122"/>
          <a:ea typeface="+mn-ea"/>
        </a:defRPr>
      </a:lvl2pPr>
      <a:lvl3pPr marL="1406564" indent="-425462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500">
          <a:solidFill>
            <a:schemeClr val="tx1"/>
          </a:solidFill>
          <a:latin typeface="宋体" panose="02010600030101010101" pitchFamily="2" charset="-122"/>
          <a:ea typeface="+mn-ea"/>
        </a:defRPr>
      </a:lvl3pPr>
      <a:lvl4pPr marL="1825675" indent="-417524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4pPr>
      <a:lvl5pPr marL="2257487" indent="-428637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宋体" panose="02010600030101010101" pitchFamily="2" charset="-122"/>
          <a:ea typeface="+mn-ea"/>
        </a:defRPr>
      </a:lvl5pPr>
      <a:lvl6pPr marL="2750588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6pPr>
      <a:lvl7pPr marL="3243535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7pPr>
      <a:lvl8pPr marL="373648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8pPr>
      <a:lvl9pPr marL="4229433" indent="-42962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1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294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5898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788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179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4745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57693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0642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3590" algn="l" defTabSz="985898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项目</a:t>
            </a:r>
            <a:r>
              <a:rPr lang="en-US" altLang="zh-CN" b="1" dirty="0"/>
              <a:t>1 </a:t>
            </a:r>
            <a:r>
              <a:rPr lang="zh-CN" altLang="en-US" b="1" dirty="0"/>
              <a:t>网页入门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E336E7-1B7A-4CD3-8250-6D8126346509}"/>
              </a:ext>
            </a:extLst>
          </p:cNvPr>
          <p:cNvSpPr/>
          <p:nvPr/>
        </p:nvSpPr>
        <p:spPr>
          <a:xfrm>
            <a:off x="751533" y="323925"/>
            <a:ext cx="36193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前端开发与项目实践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97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06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网页入门</a:t>
            </a:r>
          </a:p>
        </p:txBody>
      </p:sp>
      <p:sp>
        <p:nvSpPr>
          <p:cNvPr id="8" name="Text Box 7">
            <a:hlinkClick r:id="rId2" action="ppaction://hlinksldjump"/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1-1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基本概念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>
            <a:hlinkClick r:id="rId3" action="ppaction://hlinksldjump"/>
            <a:extLst>
              <a:ext uri="{FF2B5EF4-FFF2-40B4-BE49-F238E27FC236}">
                <a16:creationId xmlns:a16="http://schemas.microsoft.com/office/drawing/2014/main" id="{30F0AC51-4500-404D-B030-4FE49D08C651}"/>
              </a:ext>
            </a:extLst>
          </p:cNvPr>
          <p:cNvSpPr/>
          <p:nvPr/>
        </p:nvSpPr>
        <p:spPr>
          <a:xfrm>
            <a:off x="767706" y="1991242"/>
            <a:ext cx="43380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800"/>
              </a:spcBef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 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1-2 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制作第一个页面</a:t>
            </a:r>
            <a:endParaRPr lang="en-US" altLang="zh-CN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663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7344649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项目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网页入门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23414B-884D-44D2-950C-D69CAF6027EC}"/>
              </a:ext>
            </a:extLst>
          </p:cNvPr>
          <p:cNvSpPr/>
          <p:nvPr/>
        </p:nvSpPr>
        <p:spPr>
          <a:xfrm>
            <a:off x="5430391" y="1259766"/>
            <a:ext cx="40334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本项目将介绍如何制作网页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18C01-AC85-4E74-B6C9-A4967A0A45EF}"/>
              </a:ext>
            </a:extLst>
          </p:cNvPr>
          <p:cNvSpPr/>
          <p:nvPr/>
        </p:nvSpPr>
        <p:spPr>
          <a:xfrm>
            <a:off x="5430391" y="1755899"/>
            <a:ext cx="6338366" cy="11339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网站相关技术的基本概念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Times New Roman" panose="02020603050405020304" pitchFamily="18" charset="0"/>
              <a:buChar char="⁕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网页开发工具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B4A61B-1058-4112-A6CF-0FCCFD2C4035}"/>
              </a:ext>
            </a:extLst>
          </p:cNvPr>
          <p:cNvSpPr/>
          <p:nvPr/>
        </p:nvSpPr>
        <p:spPr>
          <a:xfrm>
            <a:off x="5430391" y="3490983"/>
            <a:ext cx="6080125" cy="24929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主要知识点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endParaRPr lang="en-US" altLang="zh-CN" sz="2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627063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</p:txBody>
      </p:sp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305941" y="1229078"/>
            <a:ext cx="512445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66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HTML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287846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Hyper Text Mark-up Language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，超文本标记语言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是一种用来描述网页的通用的标记语言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开发工具：记事本、</a:t>
            </a:r>
            <a:r>
              <a:rPr lang="en-US" altLang="zh-CN" sz="2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Frontpage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Dreamweaver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Hbuilder</a:t>
            </a:r>
            <a:b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        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Visual Studio Code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生成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.</a:t>
            </a:r>
            <a:r>
              <a:rPr lang="en-US" altLang="zh-CN" sz="2400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htm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(l)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的网页文件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运行环境：安装了浏览器的操作系统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HTML5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W3C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WHATWG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合作，产生的新一代超文本标记语言</a:t>
            </a:r>
          </a:p>
        </p:txBody>
      </p:sp>
    </p:spTree>
    <p:extLst>
      <p:ext uri="{BB962C8B-B14F-4D97-AF65-F5344CB8AC3E}">
        <p14:creationId xmlns:p14="http://schemas.microsoft.com/office/powerpoint/2010/main" val="2378383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CSS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0437473" cy="27757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Cascading Style Sheets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，层叠样式表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是一种网页新技术，用于精确控制页面布局、文本、颜色、背景、边框</a:t>
            </a:r>
            <a:b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和其他页面效果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CSS 3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则是</a:t>
            </a: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CSS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的最新标准，被拆分成不同的模块，并增加了许多新的特性</a:t>
            </a:r>
            <a:b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</a:b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和选择器类型</a:t>
            </a:r>
          </a:p>
        </p:txBody>
      </p:sp>
    </p:spTree>
    <p:extLst>
      <p:ext uri="{BB962C8B-B14F-4D97-AF65-F5344CB8AC3E}">
        <p14:creationId xmlns:p14="http://schemas.microsoft.com/office/powerpoint/2010/main" val="2986951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1-1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基本概念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JavaScript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11376832" cy="44377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是一种基于对象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(Object)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和事件驱动</a:t>
            </a:r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(Event-Driven)</a:t>
            </a:r>
            <a:r>
              <a:rPr lang="zh-CN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并具有安全性能的脚本语言</a:t>
            </a:r>
            <a:endParaRPr lang="en-US" altLang="zh-CN" sz="2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运行在客户端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JavaScript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特点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脚本语言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基于对象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简单性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动态性</a:t>
            </a:r>
            <a:endParaRPr lang="en-US" altLang="zh-CN" sz="2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  </a:t>
            </a:r>
            <a:r>
              <a:rPr lang="zh-CN" altLang="en-US" sz="2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跨平台性</a:t>
            </a:r>
          </a:p>
        </p:txBody>
      </p:sp>
    </p:spTree>
    <p:extLst>
      <p:ext uri="{BB962C8B-B14F-4D97-AF65-F5344CB8AC3E}">
        <p14:creationId xmlns:p14="http://schemas.microsoft.com/office/powerpoint/2010/main" val="3808723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制作第一个页面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Visual Studio Code</a:t>
            </a:r>
            <a:r>
              <a:rPr lang="zh-CN" altLang="en-US" sz="2800" b="1" dirty="0">
                <a:solidFill>
                  <a:srgbClr val="0000FF"/>
                </a:solidFill>
              </a:rPr>
              <a:t>介绍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Visual Studio Code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是微软公司开发的一款轻量级、功能强大的源代码编辑器，支持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C++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、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Python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等多个语种的开发，并且可以运行在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Windows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Mac OS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以及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等多个平台上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官方网站（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https://code.visualstudio.com/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144623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制作第一个页面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Visual Studio Code</a:t>
            </a:r>
            <a:r>
              <a:rPr lang="zh-CN" altLang="en-US" sz="2800" b="1" dirty="0">
                <a:solidFill>
                  <a:srgbClr val="0000FF"/>
                </a:solidFill>
              </a:rPr>
              <a:t>介绍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975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b="1" dirty="0"/>
              <a:t>Visual Studio Code</a:t>
            </a:r>
            <a:r>
              <a:rPr lang="zh-CN" altLang="zh-CN" b="1" dirty="0"/>
              <a:t>工作界面</a:t>
            </a:r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00637" y="2365591"/>
            <a:ext cx="9458336" cy="4402432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100637" y="2634373"/>
            <a:ext cx="298968" cy="3954247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spcAft>
                <a:spcPts val="0"/>
              </a:spcAft>
            </a:pPr>
            <a:r>
              <a:rPr lang="en-US" altLang="zh-CN" sz="1600" b="1" kern="100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endParaRPr lang="zh-CN" sz="16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688637" y="2365591"/>
            <a:ext cx="13681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</a:rPr>
              <a:t>①</a:t>
            </a:r>
            <a:r>
              <a:rPr lang="zh-CN" altLang="zh-CN" dirty="0"/>
              <a:t>活动栏</a:t>
            </a:r>
            <a:endParaRPr lang="en-US" altLang="zh-CN" dirty="0"/>
          </a:p>
          <a:p>
            <a:r>
              <a:rPr lang="zh-CN" altLang="en-US" dirty="0">
                <a:latin typeface="宋体" panose="02010600030101010101" pitchFamily="2" charset="-122"/>
              </a:rPr>
              <a:t>②</a:t>
            </a:r>
            <a:r>
              <a:rPr lang="zh-CN" altLang="zh-CN" dirty="0"/>
              <a:t>侧边栏</a:t>
            </a:r>
            <a:endParaRPr lang="en-US" altLang="zh-CN" dirty="0"/>
          </a:p>
          <a:p>
            <a:r>
              <a:rPr lang="zh-CN" altLang="en-US" dirty="0">
                <a:latin typeface="宋体" panose="02010600030101010101" pitchFamily="2" charset="-122"/>
              </a:rPr>
              <a:t>③</a:t>
            </a:r>
            <a:r>
              <a:rPr lang="zh-CN" altLang="zh-CN" dirty="0"/>
              <a:t>编辑区</a:t>
            </a:r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  <a:r>
              <a:rPr lang="zh-CN" altLang="zh-CN" dirty="0"/>
              <a:t>面板区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宋体" panose="02010600030101010101" pitchFamily="2" charset="-122"/>
              </a:rPr>
              <a:t>⑤</a:t>
            </a:r>
            <a:r>
              <a:rPr lang="zh-CN" altLang="zh-CN" dirty="0"/>
              <a:t>状态栏</a:t>
            </a:r>
          </a:p>
        </p:txBody>
      </p:sp>
      <p:sp>
        <p:nvSpPr>
          <p:cNvPr id="11" name="矩形 10"/>
          <p:cNvSpPr/>
          <p:nvPr/>
        </p:nvSpPr>
        <p:spPr>
          <a:xfrm>
            <a:off x="1471489" y="2628181"/>
            <a:ext cx="1440284" cy="3954247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b="1" kern="100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②</a:t>
            </a:r>
            <a:endParaRPr lang="zh-CN" sz="16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983657" y="2628182"/>
            <a:ext cx="7488956" cy="2160240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b="1" kern="100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③</a:t>
            </a:r>
            <a:endParaRPr lang="zh-CN" sz="16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983657" y="4911941"/>
            <a:ext cx="7488956" cy="1670487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zh-CN" altLang="en-US" sz="1600" b="1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④</a:t>
            </a:r>
            <a:endParaRPr lang="zh-CN" sz="1600" b="1" kern="100" dirty="0"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100637" y="6619050"/>
            <a:ext cx="9458336" cy="185595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altLang="zh-CN" sz="1600" b="1" kern="100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⑤</a:t>
            </a:r>
            <a:endParaRPr lang="zh-CN" sz="16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350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制作第一个页面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Visual Studio Code</a:t>
            </a:r>
            <a:r>
              <a:rPr lang="zh-CN" altLang="en-US" sz="2800" b="1" dirty="0">
                <a:solidFill>
                  <a:srgbClr val="0000FF"/>
                </a:solidFill>
              </a:rPr>
              <a:t>介绍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b="1" dirty="0"/>
              <a:t>Visual Studio Code</a:t>
            </a:r>
            <a:r>
              <a:rPr lang="zh-CN" altLang="en-US" b="1" dirty="0"/>
              <a:t>中文语言包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b="1" dirty="0"/>
              <a:t>Visual Studio Code</a:t>
            </a:r>
            <a:r>
              <a:rPr lang="zh-CN" altLang="en-US" b="1" dirty="0"/>
              <a:t>提供多种语言的工作界面，默认是英文环境，可以通过内置的插件功能在线下载官方提供的语言包。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中文语言包安装步骤：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）点击活动栏的插件管理按钮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（</a:t>
            </a:r>
            <a:r>
              <a:rPr lang="en-US" altLang="zh-CN" b="1" dirty="0"/>
              <a:t>2</a:t>
            </a:r>
            <a:r>
              <a:rPr lang="zh-CN" altLang="en-US" b="1" dirty="0"/>
              <a:t>）在顶部搜索框中输入“</a:t>
            </a:r>
            <a:r>
              <a:rPr lang="en-US" altLang="zh-CN" b="1" dirty="0" err="1"/>
              <a:t>chinese</a:t>
            </a:r>
            <a:r>
              <a:rPr lang="en-US" altLang="zh-CN" b="1" dirty="0"/>
              <a:t>”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（</a:t>
            </a:r>
            <a:r>
              <a:rPr lang="en-US" altLang="zh-CN" b="1" dirty="0"/>
              <a:t>3</a:t>
            </a:r>
            <a:r>
              <a:rPr lang="zh-CN" altLang="en-US" b="1" dirty="0"/>
              <a:t>）在搜索结果中，点击“</a:t>
            </a:r>
            <a:r>
              <a:rPr lang="en-US" altLang="zh-CN" b="1" dirty="0"/>
              <a:t>Chinese(Simplified) </a:t>
            </a:r>
            <a:r>
              <a:rPr lang="en-US" altLang="zh-CN" b="1" dirty="0" err="1"/>
              <a:t>Lanuage</a:t>
            </a:r>
            <a:r>
              <a:rPr lang="en-US" altLang="zh-CN" b="1" dirty="0"/>
              <a:t>”</a:t>
            </a:r>
            <a:r>
              <a:rPr lang="zh-CN" altLang="en-US" b="1" dirty="0"/>
              <a:t>条目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（</a:t>
            </a:r>
            <a:r>
              <a:rPr lang="en-US" altLang="zh-CN" b="1" dirty="0"/>
              <a:t>4</a:t>
            </a:r>
            <a:r>
              <a:rPr lang="zh-CN" altLang="en-US" b="1" dirty="0"/>
              <a:t>）点击编辑区“</a:t>
            </a:r>
            <a:r>
              <a:rPr lang="en-US" altLang="zh-CN" b="1" dirty="0"/>
              <a:t>install”</a:t>
            </a:r>
            <a:r>
              <a:rPr lang="zh-CN" altLang="en-US" b="1" dirty="0"/>
              <a:t>按钮，下载安装</a:t>
            </a:r>
            <a:r>
              <a:rPr lang="en-US" altLang="zh-CN" b="1" dirty="0"/>
              <a:t>Visual Studio Code</a:t>
            </a:r>
            <a:r>
              <a:rPr lang="zh-CN" altLang="en-US" b="1" dirty="0"/>
              <a:t>中文语言包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（</a:t>
            </a:r>
            <a:r>
              <a:rPr lang="en-US" altLang="zh-CN" b="1" dirty="0"/>
              <a:t>5</a:t>
            </a:r>
            <a:r>
              <a:rPr lang="zh-CN" altLang="en-US" b="1" dirty="0"/>
              <a:t>）安装完成点击“</a:t>
            </a:r>
            <a:r>
              <a:rPr lang="en-US" altLang="zh-CN" b="1" dirty="0"/>
              <a:t>Restart Now”</a:t>
            </a:r>
            <a:r>
              <a:rPr lang="zh-CN" altLang="en-US" b="1" dirty="0"/>
              <a:t>按钮重启软件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453" y="3492277"/>
            <a:ext cx="2562225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465" y="2916213"/>
            <a:ext cx="5267325" cy="2400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7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制作第一个页面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Visual Studio Code</a:t>
            </a:r>
            <a:r>
              <a:rPr lang="zh-CN" altLang="en-US" sz="2800" b="1" dirty="0">
                <a:solidFill>
                  <a:srgbClr val="0000FF"/>
                </a:solidFill>
              </a:rPr>
              <a:t>介绍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b="1" dirty="0"/>
              <a:t>Visual Studio Code</a:t>
            </a:r>
            <a:r>
              <a:rPr lang="zh-CN" altLang="en-US" b="1" dirty="0"/>
              <a:t>运行网页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b="1" dirty="0"/>
              <a:t>(1)Web</a:t>
            </a:r>
            <a:r>
              <a:rPr lang="zh-CN" altLang="en-US" b="1" dirty="0"/>
              <a:t>服务器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b="1" dirty="0"/>
              <a:t>Visual Studio Code</a:t>
            </a:r>
            <a:r>
              <a:rPr lang="zh-CN" altLang="en-US" b="1" dirty="0"/>
              <a:t>提供了一个具有实时加载功能的小型服务器插件“</a:t>
            </a:r>
            <a:r>
              <a:rPr lang="en-US" altLang="zh-CN" b="1" dirty="0"/>
              <a:t>live server</a:t>
            </a:r>
            <a:r>
              <a:rPr lang="en-US" altLang="zh-CN" b="1" dirty="0">
                <a:latin typeface="宋体" panose="02010600030101010101" pitchFamily="2" charset="-122"/>
              </a:rPr>
              <a:t>”</a:t>
            </a:r>
            <a:r>
              <a:rPr lang="zh-CN" altLang="en-US" b="1" dirty="0"/>
              <a:t>，可以用它来运行前端静态文件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安装</a:t>
            </a:r>
            <a:r>
              <a:rPr lang="en-US" altLang="zh-CN" b="1" dirty="0"/>
              <a:t>live server</a:t>
            </a:r>
            <a:r>
              <a:rPr lang="zh-CN" altLang="en-US" b="1" dirty="0"/>
              <a:t>插件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配置服务器</a:t>
            </a:r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828871" y="4825111"/>
            <a:ext cx="7488832" cy="12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915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制作第一个页面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b="1" dirty="0">
                <a:solidFill>
                  <a:srgbClr val="0000FF"/>
                </a:solidFill>
              </a:rPr>
              <a:t>Visual Studio Code</a:t>
            </a:r>
            <a:r>
              <a:rPr lang="zh-CN" altLang="en-US" sz="2800" b="1" dirty="0">
                <a:solidFill>
                  <a:srgbClr val="0000FF"/>
                </a:solidFill>
              </a:rPr>
              <a:t>介绍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en-US" altLang="zh-CN" b="1" dirty="0"/>
              <a:t>Visual Studio Code</a:t>
            </a:r>
            <a:r>
              <a:rPr lang="zh-CN" altLang="en-US" b="1" dirty="0"/>
              <a:t>运行网页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en-US" altLang="zh-CN" b="1" dirty="0"/>
              <a:t>(2)</a:t>
            </a:r>
            <a:r>
              <a:rPr lang="zh-CN" altLang="en-US" b="1" dirty="0"/>
              <a:t>浏览器插件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安装插件“</a:t>
            </a:r>
            <a:r>
              <a:rPr lang="en-US" altLang="zh-CN" b="1" dirty="0"/>
              <a:t>open in browser”</a:t>
            </a:r>
            <a:r>
              <a:rPr lang="zh-CN" altLang="en-US" b="1" dirty="0"/>
              <a:t>，安装完成后，在页面文件任意位置上单击鼠标右键，此时弹出的菜单中多了两个选项：</a:t>
            </a:r>
            <a:r>
              <a:rPr lang="en-US" altLang="zh-CN" b="1" dirty="0"/>
              <a:t>【Open In Default Browser】</a:t>
            </a:r>
            <a:r>
              <a:rPr lang="zh-CN" altLang="en-US" b="1" dirty="0"/>
              <a:t>和</a:t>
            </a:r>
            <a:r>
              <a:rPr lang="en-US" altLang="zh-CN" b="1" dirty="0"/>
              <a:t>【Open in Other Browser】</a:t>
            </a:r>
          </a:p>
          <a:p>
            <a:pPr>
              <a:lnSpc>
                <a:spcPct val="150000"/>
              </a:lnSpc>
              <a:buClr>
                <a:schemeClr val="accent6"/>
              </a:buClr>
            </a:pP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修改默认浏览器：</a:t>
            </a:r>
            <a:endParaRPr lang="en-US" altLang="zh-CN" b="1" dirty="0"/>
          </a:p>
          <a:p>
            <a:pPr>
              <a:lnSpc>
                <a:spcPct val="150000"/>
              </a:lnSpc>
              <a:buClr>
                <a:schemeClr val="accent6"/>
              </a:buClr>
            </a:pPr>
            <a:r>
              <a:rPr lang="zh-CN" altLang="en-US" b="1" dirty="0"/>
              <a:t>打开</a:t>
            </a:r>
            <a:r>
              <a:rPr lang="en-US" altLang="zh-CN" b="1" dirty="0"/>
              <a:t>【</a:t>
            </a:r>
            <a:r>
              <a:rPr lang="zh-CN" altLang="en-US" b="1" dirty="0"/>
              <a:t>文件</a:t>
            </a:r>
            <a:r>
              <a:rPr lang="en-US" altLang="zh-CN" b="1" dirty="0"/>
              <a:t>】</a:t>
            </a:r>
            <a:r>
              <a:rPr lang="zh-CN" altLang="en-US" b="1" dirty="0"/>
              <a:t>菜单</a:t>
            </a:r>
            <a:r>
              <a:rPr lang="en-US" altLang="zh-CN" b="1" dirty="0"/>
              <a:t>-【</a:t>
            </a:r>
            <a:r>
              <a:rPr lang="zh-CN" altLang="en-US" b="1" dirty="0"/>
              <a:t>首选项</a:t>
            </a:r>
            <a:r>
              <a:rPr lang="en-US" altLang="zh-CN" b="1" dirty="0"/>
              <a:t>】-</a:t>
            </a:r>
            <a:r>
              <a:rPr lang="zh-CN" altLang="en-US" b="1" dirty="0"/>
              <a:t>设置；在弹出的设置窗口的搜索栏中输入“</a:t>
            </a:r>
            <a:r>
              <a:rPr lang="en-US" altLang="zh-CN" b="1" dirty="0"/>
              <a:t>open in browser”</a:t>
            </a:r>
            <a:r>
              <a:rPr lang="zh-CN" altLang="en-US" b="1" dirty="0"/>
              <a:t>；在显示的</a:t>
            </a:r>
            <a:r>
              <a:rPr lang="en-US" altLang="zh-CN" b="1" dirty="0"/>
              <a:t>Open-in-browser</a:t>
            </a:r>
            <a:r>
              <a:rPr lang="zh-CN" altLang="en-US" b="1" dirty="0"/>
              <a:t>：</a:t>
            </a:r>
            <a:r>
              <a:rPr lang="en-US" altLang="zh-CN" b="1" dirty="0"/>
              <a:t>Default</a:t>
            </a:r>
            <a:r>
              <a:rPr lang="zh-CN" altLang="en-US" b="1" dirty="0"/>
              <a:t>选项中输入默认浏览器名称</a:t>
            </a:r>
            <a:endParaRPr lang="en-US" altLang="zh-CN" b="1" dirty="0"/>
          </a:p>
        </p:txBody>
      </p:sp>
      <p:pic>
        <p:nvPicPr>
          <p:cNvPr id="5" name="图片 4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09" r="10226"/>
          <a:stretch/>
        </p:blipFill>
        <p:spPr bwMode="auto">
          <a:xfrm>
            <a:off x="9591979" y="2364103"/>
            <a:ext cx="2448273" cy="31451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5960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8EE31-F44C-4034-8407-4C756F657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533" y="251917"/>
            <a:ext cx="8856984" cy="627061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</a:t>
            </a:r>
            <a:r>
              <a:rPr lang="en-US" altLang="zh-CN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1-2 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制作第一个页面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36177B38-43AB-4398-968B-448F8F0E5F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06" y="1169891"/>
            <a:ext cx="7776864" cy="53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8587" tIns="49294" rIns="98587" bIns="4929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marL="457200" indent="-457200" algn="just" eaLnBrk="1" hangingPunct="1"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</a:rPr>
              <a:t>制作</a:t>
            </a:r>
            <a:r>
              <a:rPr lang="en-US" altLang="zh-CN" sz="2800" b="1" dirty="0">
                <a:solidFill>
                  <a:srgbClr val="0000FF"/>
                </a:solidFill>
              </a:rPr>
              <a:t>HelloWorld</a:t>
            </a:r>
            <a:r>
              <a:rPr lang="zh-CN" altLang="en-US" sz="2800" b="1" dirty="0">
                <a:solidFill>
                  <a:srgbClr val="0000FF"/>
                </a:solidFill>
              </a:rPr>
              <a:t>页面</a:t>
            </a:r>
            <a:endParaRPr lang="en-US" altLang="zh-CN" sz="2800" b="1" dirty="0">
              <a:solidFill>
                <a:srgbClr val="0000FF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DE994-F8E6-4715-916B-9859E1A19738}"/>
              </a:ext>
            </a:extLst>
          </p:cNvPr>
          <p:cNvSpPr/>
          <p:nvPr/>
        </p:nvSpPr>
        <p:spPr>
          <a:xfrm>
            <a:off x="798253" y="1813023"/>
            <a:ext cx="86662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b="1" dirty="0"/>
              <a:t>创建项目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b="1" dirty="0"/>
              <a:t>创建页面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b="1" dirty="0"/>
              <a:t>编辑页面</a:t>
            </a:r>
            <a:endParaRPr lang="en-US" altLang="zh-CN" b="1" dirty="0"/>
          </a:p>
          <a:p>
            <a:pPr marL="342900" indent="-342900">
              <a:lnSpc>
                <a:spcPct val="150000"/>
              </a:lnSpc>
              <a:buClr>
                <a:schemeClr val="accent6"/>
              </a:buClr>
              <a:buFont typeface="Wingdings" panose="05000000000000000000" pitchFamily="2" charset="2"/>
              <a:buChar char="ü"/>
            </a:pPr>
            <a:r>
              <a:rPr lang="zh-CN" altLang="en-US" b="1" dirty="0"/>
              <a:t>运行页面</a:t>
            </a:r>
            <a:endParaRPr lang="en-US" altLang="zh-CN" b="1" dirty="0"/>
          </a:p>
        </p:txBody>
      </p:sp>
      <p:pic>
        <p:nvPicPr>
          <p:cNvPr id="5" name="图片 4"/>
          <p:cNvPicPr/>
          <p:nvPr/>
        </p:nvPicPr>
        <p:blipFill rotWithShape="1">
          <a:blip r:embed="rId2"/>
          <a:srcRect b="29827"/>
          <a:stretch/>
        </p:blipFill>
        <p:spPr bwMode="auto">
          <a:xfrm>
            <a:off x="3559845" y="1956018"/>
            <a:ext cx="3096344" cy="20403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图片 5"/>
          <p:cNvPicPr/>
          <p:nvPr/>
        </p:nvPicPr>
        <p:blipFill>
          <a:blip r:embed="rId3"/>
          <a:stretch>
            <a:fillRect/>
          </a:stretch>
        </p:blipFill>
        <p:spPr>
          <a:xfrm>
            <a:off x="3559845" y="1956017"/>
            <a:ext cx="3744416" cy="376850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829" y="1611967"/>
            <a:ext cx="7228571" cy="5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324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16204</TotalTime>
  <Words>629</Words>
  <Application>Microsoft Office PowerPoint</Application>
  <PresentationFormat>自定义</PresentationFormat>
  <Paragraphs>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黑体</vt:lpstr>
      <vt:lpstr>宋体</vt:lpstr>
      <vt:lpstr>微软雅黑</vt:lpstr>
      <vt:lpstr>Arial</vt:lpstr>
      <vt:lpstr>Times New Roman</vt:lpstr>
      <vt:lpstr>Verdana</vt:lpstr>
      <vt:lpstr>Wingdings</vt:lpstr>
      <vt:lpstr>Profile</vt:lpstr>
      <vt:lpstr>项目1 网页入门</vt:lpstr>
      <vt:lpstr>项目1 网页入门</vt:lpstr>
      <vt:lpstr>项目1 网页入门</vt:lpstr>
      <vt:lpstr>任务1-1 基本概念</vt:lpstr>
      <vt:lpstr>任务1-1 基本概念</vt:lpstr>
      <vt:lpstr>任务1-1 基本概念</vt:lpstr>
      <vt:lpstr>任务1-2 制作第一个页面</vt:lpstr>
      <vt:lpstr>任务1-2 制作第一个页面</vt:lpstr>
      <vt:lpstr>任务1-2 制作第一个页面</vt:lpstr>
      <vt:lpstr>任务1-2 制作第一个页面</vt:lpstr>
      <vt:lpstr>任务1-2 制作第一个页面</vt:lpstr>
      <vt:lpstr>任务1-2 制作第一个页面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项目4 企业网站首页</dc:title>
  <dc:subject>Web前端开发与项目实践</dc:subject>
  <dc:creator/>
  <cp:lastModifiedBy>John Hu</cp:lastModifiedBy>
  <cp:revision>1450</cp:revision>
  <dcterms:created xsi:type="dcterms:W3CDTF">2008-02-14T05:21:14Z</dcterms:created>
  <dcterms:modified xsi:type="dcterms:W3CDTF">2024-05-23T13:49:19Z</dcterms:modified>
</cp:coreProperties>
</file>