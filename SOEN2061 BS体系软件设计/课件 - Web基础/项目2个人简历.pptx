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26"/>
  </p:notesMasterIdLst>
  <p:sldIdLst>
    <p:sldId id="423" r:id="rId2"/>
    <p:sldId id="427" r:id="rId3"/>
    <p:sldId id="428" r:id="rId4"/>
    <p:sldId id="429" r:id="rId5"/>
    <p:sldId id="577" r:id="rId6"/>
    <p:sldId id="516" r:id="rId7"/>
    <p:sldId id="588" r:id="rId8"/>
    <p:sldId id="589" r:id="rId9"/>
    <p:sldId id="517" r:id="rId10"/>
    <p:sldId id="578" r:id="rId11"/>
    <p:sldId id="579" r:id="rId12"/>
    <p:sldId id="580" r:id="rId13"/>
    <p:sldId id="590" r:id="rId14"/>
    <p:sldId id="581" r:id="rId15"/>
    <p:sldId id="582" r:id="rId16"/>
    <p:sldId id="592" r:id="rId17"/>
    <p:sldId id="583" r:id="rId18"/>
    <p:sldId id="518" r:id="rId19"/>
    <p:sldId id="584" r:id="rId20"/>
    <p:sldId id="585" r:id="rId21"/>
    <p:sldId id="591" r:id="rId22"/>
    <p:sldId id="586" r:id="rId23"/>
    <p:sldId id="587" r:id="rId24"/>
    <p:sldId id="514" r:id="rId25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3B2C1"/>
    <a:srgbClr val="0000FF"/>
    <a:srgbClr val="33CCCC"/>
    <a:srgbClr val="99CCFF"/>
    <a:srgbClr val="00CCFF"/>
    <a:srgbClr val="00FFFF"/>
    <a:srgbClr val="FFFF99"/>
    <a:srgbClr val="FFFF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2" autoAdjust="0"/>
    <p:restoredTop sz="85662" autoAdjust="0"/>
  </p:normalViewPr>
  <p:slideViewPr>
    <p:cSldViewPr>
      <p:cViewPr varScale="1">
        <p:scale>
          <a:sx n="75" d="100"/>
          <a:sy n="75" d="100"/>
        </p:scale>
        <p:origin x="60" y="72"/>
      </p:cViewPr>
      <p:guideLst>
        <p:guide orient="horz" pos="2155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" userId="213e45b8a479442b" providerId="LiveId" clId="{9CD4122D-EDE6-4E4F-8C90-3C9D90FBF066}"/>
  </pc:docChgLst>
  <pc:docChgLst>
    <pc:chgData userId="213e45b8a479442b" providerId="LiveId" clId="{04931FB9-87AE-4318-B9EF-E61A9D7A62E1}"/>
    <pc:docChg chg="undo custSel addSld modSld">
      <pc:chgData name="" userId="213e45b8a479442b" providerId="LiveId" clId="{04931FB9-87AE-4318-B9EF-E61A9D7A62E1}" dt="2024-07-23T12:46:54.111" v="24" actId="478"/>
      <pc:docMkLst>
        <pc:docMk/>
      </pc:docMkLst>
      <pc:sldChg chg="addSp delSp modSp delAnim modAnim">
        <pc:chgData name="" userId="213e45b8a479442b" providerId="LiveId" clId="{04931FB9-87AE-4318-B9EF-E61A9D7A62E1}" dt="2024-07-23T12:46:37.032" v="18"/>
        <pc:sldMkLst>
          <pc:docMk/>
          <pc:sldMk cId="1291939989" sldId="582"/>
        </pc:sldMkLst>
        <pc:spChg chg="mod">
          <ac:chgData name="" userId="213e45b8a479442b" providerId="LiveId" clId="{04931FB9-87AE-4318-B9EF-E61A9D7A62E1}" dt="2024-07-23T12:45:54.862" v="4" actId="1076"/>
          <ac:spMkLst>
            <pc:docMk/>
            <pc:sldMk cId="1291939989" sldId="582"/>
            <ac:spMk id="6" creationId="{FC3DE994-F8E6-4715-916B-9859E1A19738}"/>
          </ac:spMkLst>
        </pc:spChg>
        <pc:spChg chg="del mod">
          <ac:chgData name="" userId="213e45b8a479442b" providerId="LiveId" clId="{04931FB9-87AE-4318-B9EF-E61A9D7A62E1}" dt="2024-07-23T12:45:57.065" v="5" actId="478"/>
          <ac:spMkLst>
            <pc:docMk/>
            <pc:sldMk cId="1291939989" sldId="582"/>
            <ac:spMk id="12" creationId="{FC3DE994-F8E6-4715-916B-9859E1A19738}"/>
          </ac:spMkLst>
        </pc:spChg>
        <pc:graphicFrameChg chg="del">
          <ac:chgData name="" userId="213e45b8a479442b" providerId="LiveId" clId="{04931FB9-87AE-4318-B9EF-E61A9D7A62E1}" dt="2024-07-23T12:45:46.102" v="2" actId="478"/>
          <ac:graphicFrameMkLst>
            <pc:docMk/>
            <pc:sldMk cId="1291939989" sldId="582"/>
            <ac:graphicFrameMk id="11" creationId="{646BD325-B6C6-44F0-A4EA-B1E6F6F01D32}"/>
          </ac:graphicFrameMkLst>
        </pc:graphicFrameChg>
        <pc:picChg chg="del">
          <ac:chgData name="" userId="213e45b8a479442b" providerId="LiveId" clId="{04931FB9-87AE-4318-B9EF-E61A9D7A62E1}" dt="2024-07-23T12:45:52.023" v="3" actId="478"/>
          <ac:picMkLst>
            <pc:docMk/>
            <pc:sldMk cId="1291939989" sldId="582"/>
            <ac:picMk id="10" creationId="{00000000-0000-0000-0000-000000000000}"/>
          </ac:picMkLst>
        </pc:picChg>
        <pc:picChg chg="add">
          <ac:chgData name="" userId="213e45b8a479442b" providerId="LiveId" clId="{04931FB9-87AE-4318-B9EF-E61A9D7A62E1}" dt="2024-07-23T12:46:37.032" v="18"/>
          <ac:picMkLst>
            <pc:docMk/>
            <pc:sldMk cId="1291939989" sldId="582"/>
            <ac:picMk id="13" creationId="{9CAF4B5D-411D-4434-885C-DADE342366EA}"/>
          </ac:picMkLst>
        </pc:picChg>
        <pc:picChg chg="del mod">
          <ac:chgData name="" userId="213e45b8a479442b" providerId="LiveId" clId="{04931FB9-87AE-4318-B9EF-E61A9D7A62E1}" dt="2024-07-23T12:46:36.828" v="17" actId="478"/>
          <ac:picMkLst>
            <pc:docMk/>
            <pc:sldMk cId="1291939989" sldId="582"/>
            <ac:picMk id="14" creationId="{00000000-0000-0000-0000-000000000000}"/>
          </ac:picMkLst>
        </pc:picChg>
      </pc:sldChg>
      <pc:sldChg chg="addSp delSp modSp add addAnim delAnim">
        <pc:chgData name="" userId="213e45b8a479442b" providerId="LiveId" clId="{04931FB9-87AE-4318-B9EF-E61A9D7A62E1}" dt="2024-07-23T12:46:54.111" v="24" actId="478"/>
        <pc:sldMkLst>
          <pc:docMk/>
          <pc:sldMk cId="2124003126" sldId="592"/>
        </pc:sldMkLst>
        <pc:spChg chg="add del">
          <ac:chgData name="" userId="213e45b8a479442b" providerId="LiveId" clId="{04931FB9-87AE-4318-B9EF-E61A9D7A62E1}" dt="2024-07-23T12:46:44.271" v="20" actId="478"/>
          <ac:spMkLst>
            <pc:docMk/>
            <pc:sldMk cId="2124003126" sldId="592"/>
            <ac:spMk id="6" creationId="{FC3DE994-F8E6-4715-916B-9859E1A19738}"/>
          </ac:spMkLst>
        </pc:spChg>
        <pc:spChg chg="mod">
          <ac:chgData name="" userId="213e45b8a479442b" providerId="LiveId" clId="{04931FB9-87AE-4318-B9EF-E61A9D7A62E1}" dt="2024-07-23T12:46:42.321" v="19" actId="1076"/>
          <ac:spMkLst>
            <pc:docMk/>
            <pc:sldMk cId="2124003126" sldId="592"/>
            <ac:spMk id="12" creationId="{FC3DE994-F8E6-4715-916B-9859E1A19738}"/>
          </ac:spMkLst>
        </pc:spChg>
        <pc:graphicFrameChg chg="del">
          <ac:chgData name="" userId="213e45b8a479442b" providerId="LiveId" clId="{04931FB9-87AE-4318-B9EF-E61A9D7A62E1}" dt="2024-07-23T12:46:48.936" v="22" actId="478"/>
          <ac:graphicFrameMkLst>
            <pc:docMk/>
            <pc:sldMk cId="2124003126" sldId="592"/>
            <ac:graphicFrameMk id="5" creationId="{646BD325-B6C6-44F0-A4EA-B1E6F6F01D32}"/>
          </ac:graphicFrameMkLst>
        </pc:graphicFrameChg>
        <pc:graphicFrameChg chg="add del mod">
          <ac:chgData name="" userId="213e45b8a479442b" providerId="LiveId" clId="{04931FB9-87AE-4318-B9EF-E61A9D7A62E1}" dt="2024-07-23T12:46:52.593" v="23" actId="1076"/>
          <ac:graphicFrameMkLst>
            <pc:docMk/>
            <pc:sldMk cId="2124003126" sldId="592"/>
            <ac:graphicFrameMk id="11" creationId="{646BD325-B6C6-44F0-A4EA-B1E6F6F01D32}"/>
          </ac:graphicFrameMkLst>
        </pc:graphicFrameChg>
        <pc:picChg chg="add del">
          <ac:chgData name="" userId="213e45b8a479442b" providerId="LiveId" clId="{04931FB9-87AE-4318-B9EF-E61A9D7A62E1}" dt="2024-07-23T12:46:54.111" v="24" actId="478"/>
          <ac:picMkLst>
            <pc:docMk/>
            <pc:sldMk cId="2124003126" sldId="592"/>
            <ac:picMk id="10" creationId="{00000000-0000-0000-0000-000000000000}"/>
          </ac:picMkLst>
        </pc:picChg>
      </pc:sldChg>
    </pc:docChg>
  </pc:docChgLst>
  <pc:docChgLst>
    <pc:chgData userId="213e45b8a479442b" providerId="LiveId" clId="{FE6F7776-671C-4058-8F51-8528E33E5B2A}"/>
  </pc:docChgLst>
  <pc:docChgLst>
    <pc:chgData userId="213e45b8a479442b" providerId="LiveId" clId="{4D8713A2-1675-4EEE-A094-CB6F26AC360B}"/>
  </pc:docChgLst>
  <pc:docChgLst>
    <pc:chgData userId="213e45b8a479442b" providerId="LiveId" clId="{73020AD2-B94B-46F8-961A-B54216E43954}"/>
    <pc:docChg chg="modSld">
      <pc:chgData name="" userId="213e45b8a479442b" providerId="LiveId" clId="{73020AD2-B94B-46F8-961A-B54216E43954}" dt="2024-05-28T06:00:48.770" v="44" actId="20577"/>
      <pc:docMkLst>
        <pc:docMk/>
      </pc:docMkLst>
      <pc:sldChg chg="modSp">
        <pc:chgData name="" userId="213e45b8a479442b" providerId="LiveId" clId="{73020AD2-B94B-46F8-961A-B54216E43954}" dt="2024-05-28T06:00:48.770" v="44" actId="20577"/>
        <pc:sldMkLst>
          <pc:docMk/>
          <pc:sldMk cId="1610846766" sldId="514"/>
        </pc:sldMkLst>
        <pc:spChg chg="mod">
          <ac:chgData name="" userId="213e45b8a479442b" providerId="LiveId" clId="{73020AD2-B94B-46F8-961A-B54216E43954}" dt="2024-05-28T06:00:48.770" v="44" actId="20577"/>
          <ac:spMkLst>
            <pc:docMk/>
            <pc:sldMk cId="1610846766" sldId="514"/>
            <ac:spMk id="6" creationId="{41030CB7-09CD-4D65-AFC0-92183B1414E7}"/>
          </ac:spMkLst>
        </pc:spChg>
      </pc:sldChg>
      <pc:sldChg chg="modSp">
        <pc:chgData name="" userId="213e45b8a479442b" providerId="LiveId" clId="{73020AD2-B94B-46F8-961A-B54216E43954}" dt="2024-05-23T13:49:53.820" v="1" actId="1076"/>
        <pc:sldMkLst>
          <pc:docMk/>
          <pc:sldMk cId="1324105622" sldId="579"/>
        </pc:sldMkLst>
        <pc:spChg chg="mod">
          <ac:chgData name="" userId="213e45b8a479442b" providerId="LiveId" clId="{73020AD2-B94B-46F8-961A-B54216E43954}" dt="2024-05-23T13:49:53.820" v="1" actId="1076"/>
          <ac:spMkLst>
            <pc:docMk/>
            <pc:sldMk cId="1324105622" sldId="579"/>
            <ac:spMk id="6" creationId="{FC3DE994-F8E6-4715-916B-9859E1A19738}"/>
          </ac:spMkLst>
        </pc:spChg>
      </pc:sldChg>
      <pc:sldChg chg="modSp">
        <pc:chgData name="" userId="213e45b8a479442b" providerId="LiveId" clId="{73020AD2-B94B-46F8-961A-B54216E43954}" dt="2024-05-23T13:50:05.937" v="3" actId="404"/>
        <pc:sldMkLst>
          <pc:docMk/>
          <pc:sldMk cId="1291939989" sldId="582"/>
        </pc:sldMkLst>
        <pc:spChg chg="mod">
          <ac:chgData name="" userId="213e45b8a479442b" providerId="LiveId" clId="{73020AD2-B94B-46F8-961A-B54216E43954}" dt="2024-05-23T13:50:01.392" v="2" actId="1076"/>
          <ac:spMkLst>
            <pc:docMk/>
            <pc:sldMk cId="1291939989" sldId="582"/>
            <ac:spMk id="12" creationId="{FC3DE994-F8E6-4715-916B-9859E1A19738}"/>
          </ac:spMkLst>
        </pc:spChg>
        <pc:graphicFrameChg chg="modGraphic">
          <ac:chgData name="" userId="213e45b8a479442b" providerId="LiveId" clId="{73020AD2-B94B-46F8-961A-B54216E43954}" dt="2024-05-23T13:50:05.937" v="3" actId="404"/>
          <ac:graphicFrameMkLst>
            <pc:docMk/>
            <pc:sldMk cId="1291939989" sldId="582"/>
            <ac:graphicFrameMk id="11" creationId="{646BD325-B6C6-44F0-A4EA-B1E6F6F01D32}"/>
          </ac:graphicFrameMkLst>
        </pc:graphicFrameChg>
      </pc:sldChg>
    </pc:docChg>
  </pc:docChgLst>
  <pc:docChgLst>
    <pc:chgData userId="213e45b8a479442b" providerId="LiveId" clId="{0C2797AA-115E-404E-8A4E-088081DE6C30}"/>
  </pc:docChgLst>
  <pc:docChgLst>
    <pc:chgData name="John Hu" userId="213e45b8a479442b" providerId="LiveId" clId="{D95433FB-F15C-0C48-B608-5BA9089AB91D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746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070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6687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5042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27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项目</a:t>
            </a:r>
            <a:r>
              <a:rPr lang="en-US" altLang="zh-CN" b="1" dirty="0"/>
              <a:t>2 </a:t>
            </a:r>
            <a:r>
              <a:rPr lang="zh-CN" altLang="en-US" b="1" dirty="0"/>
              <a:t>个人简历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E336E7-1B7A-4CD3-8250-6D8126346509}"/>
              </a:ext>
            </a:extLst>
          </p:cNvPr>
          <p:cNvSpPr/>
          <p:nvPr/>
        </p:nvSpPr>
        <p:spPr>
          <a:xfrm>
            <a:off x="751533" y="323925"/>
            <a:ext cx="3619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前端开发与项目实践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个人简历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2-1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基本概念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71862CDD-5569-42EE-888F-FE14A8B6C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755005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2-2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文本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7">
            <a:hlinkClick r:id="rId3" action="ppaction://hlinksldjump"/>
            <a:extLst>
              <a:ext uri="{FF2B5EF4-FFF2-40B4-BE49-F238E27FC236}">
                <a16:creationId xmlns:a16="http://schemas.microsoft.com/office/drawing/2014/main" id="{E79B7543-45E8-4D49-B91F-3C63C7F03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2339562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2-3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图像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7">
            <a:hlinkClick r:id="rId4" action="ppaction://hlinksldjump"/>
            <a:extLst>
              <a:ext uri="{FF2B5EF4-FFF2-40B4-BE49-F238E27FC236}">
                <a16:creationId xmlns:a16="http://schemas.microsoft.com/office/drawing/2014/main" id="{4B9F2FBF-1371-4B40-9B03-86306983E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364" y="2895694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2-4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表格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3B1299FF-0F73-4F58-8710-2E298CF9D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364" y="3450852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2-5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个人简历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个人简历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3414B-884D-44D2-950C-D69CAF6027EC}"/>
              </a:ext>
            </a:extLst>
          </p:cNvPr>
          <p:cNvSpPr/>
          <p:nvPr/>
        </p:nvSpPr>
        <p:spPr>
          <a:xfrm>
            <a:off x="5430391" y="1259766"/>
            <a:ext cx="5283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本项目将介绍如何制作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个人简历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页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面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18C01-AC85-4E74-B6C9-A4967A0A45EF}"/>
              </a:ext>
            </a:extLst>
          </p:cNvPr>
          <p:cNvSpPr/>
          <p:nvPr/>
        </p:nvSpPr>
        <p:spPr>
          <a:xfrm>
            <a:off x="5430391" y="1755899"/>
            <a:ext cx="63383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基本概念</a:t>
            </a: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网页中网页元素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——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文本、图像、表格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4A61B-1058-4112-A6CF-0FCCFD2C4035}"/>
              </a:ext>
            </a:extLst>
          </p:cNvPr>
          <p:cNvSpPr/>
          <p:nvPr/>
        </p:nvSpPr>
        <p:spPr>
          <a:xfrm>
            <a:off x="5430391" y="2935084"/>
            <a:ext cx="6080125" cy="38779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主要知识点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标签、属性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文档结构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头部标签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书写规范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文本标签及其属性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图象标签及其属性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表格标签及其属性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/>
          <p:nvPr/>
        </p:nvPicPr>
        <p:blipFill rotWithShape="1">
          <a:blip r:embed="rId2"/>
          <a:srcRect l="2731" r="3067"/>
          <a:stretch/>
        </p:blipFill>
        <p:spPr>
          <a:xfrm>
            <a:off x="437196" y="1123817"/>
            <a:ext cx="4968552" cy="569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6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HTML</a:t>
            </a:r>
            <a:r>
              <a:rPr lang="zh-CN" altLang="en-US" sz="2800" b="1" dirty="0">
                <a:solidFill>
                  <a:srgbClr val="0000FF"/>
                </a:solidFill>
              </a:rPr>
              <a:t>标签和属性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11240578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83502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描述网页元素，通过“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&lt;”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和“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&gt;”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将标签名称包含起来，形如“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标签名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&gt;”</a:t>
            </a:r>
          </a:p>
          <a:p>
            <a:pPr marL="83502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网页标签有两类：闭合标签和自闭合标签</a:t>
            </a:r>
            <a:b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闭合标签是有一对标签（起始标签和结束标签）组成，元素内容包含在其中</a:t>
            </a:r>
            <a:b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如“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&lt;p&gt;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这是一个段落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&lt;/p&gt;”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自闭合标签是不包含元素内容的标签，所以它不需要结束标签，如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br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/&gt;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38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HTML</a:t>
            </a:r>
            <a:r>
              <a:rPr lang="zh-CN" altLang="en-US" sz="2800" b="1" dirty="0">
                <a:solidFill>
                  <a:srgbClr val="0000FF"/>
                </a:solidFill>
              </a:rPr>
              <a:t>标签和属性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9847568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属性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83502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用以描述元素特征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83502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属性通常写在起始标签后面，以“属性名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="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属性值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"”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的方式表示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83502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多个属性以空格间隔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83502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lvl="1" indent="0"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img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2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src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= "img01.jpg" /&gt;</a:t>
            </a:r>
          </a:p>
        </p:txBody>
      </p:sp>
    </p:spTree>
    <p:extLst>
      <p:ext uri="{BB962C8B-B14F-4D97-AF65-F5344CB8AC3E}">
        <p14:creationId xmlns:p14="http://schemas.microsoft.com/office/powerpoint/2010/main" val="866135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HTML</a:t>
            </a:r>
            <a:r>
              <a:rPr lang="zh-CN" altLang="en-US" sz="2800" b="1" dirty="0">
                <a:solidFill>
                  <a:srgbClr val="0000FF"/>
                </a:solidFill>
              </a:rPr>
              <a:t>文档结构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5200171" y="1791280"/>
            <a:ext cx="86662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&lt;!DOCTYPE&gt;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&lt;html&gt;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&lt;head&gt;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&lt;title&gt;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&lt;body&gt;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689372"/>
              </p:ext>
            </p:extLst>
          </p:nvPr>
        </p:nvGraphicFramePr>
        <p:xfrm>
          <a:off x="803576" y="1908101"/>
          <a:ext cx="3404341" cy="22322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40434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23224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&lt;!DOCTYPE html&gt;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&lt;html&gt;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&lt;head&gt;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&lt;title&gt;&lt;/title&gt;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&lt;/head&gt;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&lt;body&gt;&lt;/body&gt;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&lt;/html&gt;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350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HTML</a:t>
            </a:r>
            <a:r>
              <a:rPr lang="zh-CN" altLang="en-US" sz="2800" b="1" dirty="0">
                <a:solidFill>
                  <a:srgbClr val="0000FF"/>
                </a:solidFill>
              </a:rPr>
              <a:t>头部标签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6" y="1700329"/>
            <a:ext cx="8666248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&lt;meta&gt;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&lt;meta&gt;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标签用于描述文档的元数据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26810"/>
              </p:ext>
            </p:extLst>
          </p:nvPr>
        </p:nvGraphicFramePr>
        <p:xfrm>
          <a:off x="1111573" y="3239206"/>
          <a:ext cx="3404341" cy="396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40434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&lt;meta charset="utf-8"/&gt;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572" y="4060557"/>
            <a:ext cx="8322381" cy="238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195" y="4060557"/>
            <a:ext cx="8331758" cy="24560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80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HTML</a:t>
            </a:r>
            <a:r>
              <a:rPr lang="zh-CN" altLang="en-US" sz="2800" b="1" dirty="0">
                <a:solidFill>
                  <a:srgbClr val="0000FF"/>
                </a:solidFill>
              </a:rPr>
              <a:t>头部标签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6" y="1700329"/>
            <a:ext cx="8666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&lt;style&gt;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&lt;style&gt;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标签用于描述页面元素的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CSS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样式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61385"/>
              </p:ext>
            </p:extLst>
          </p:nvPr>
        </p:nvGraphicFramePr>
        <p:xfrm>
          <a:off x="1039565" y="2909055"/>
          <a:ext cx="4320480" cy="3749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&lt;style type="text/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css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"&gt;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h1 {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font-family: 'Times New Roman';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font-size: 12pt;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font-weight: bolder;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}</a:t>
                      </a:r>
                    </a:p>
                    <a:p>
                      <a:pPr algn="l"/>
                      <a:r>
                        <a:rPr kumimoji="1" lang="en-US" altLang="zh-CN" sz="20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p {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font-family: '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楷体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';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font-size: 10pt;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color: blue;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}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&lt;/style&gt;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101" y="2894065"/>
            <a:ext cx="5688632" cy="2902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5866771" y="2905405"/>
            <a:ext cx="5685961" cy="28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HTML</a:t>
            </a:r>
            <a:r>
              <a:rPr lang="zh-CN" altLang="en-US" sz="2800" b="1" dirty="0">
                <a:solidFill>
                  <a:srgbClr val="0000FF"/>
                </a:solidFill>
              </a:rPr>
              <a:t>头部标签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6" y="1700329"/>
            <a:ext cx="86662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&lt;link&gt;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&lt;link&gt;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标签用于链接外部文件，通常主要用于链接外部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CSS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样式表文件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876722"/>
              </p:ext>
            </p:extLst>
          </p:nvPr>
        </p:nvGraphicFramePr>
        <p:xfrm>
          <a:off x="1111572" y="3588853"/>
          <a:ext cx="6984777" cy="396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984777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&lt;link 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rel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="stylesheet" type="text/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css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href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css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/style.css"/&gt;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8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HTML</a:t>
            </a:r>
            <a:r>
              <a:rPr lang="zh-CN" altLang="en-US" sz="2800" b="1" dirty="0">
                <a:solidFill>
                  <a:srgbClr val="0000FF"/>
                </a:solidFill>
              </a:rPr>
              <a:t>书写规范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8489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标签和属性均使用小写字母表示，属性值使用双引号包含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标签对必须使用“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/”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标识闭合，自闭合标签可不添加“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/”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代码书写符合锯齿形书写规范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300668"/>
              </p:ext>
            </p:extLst>
          </p:nvPr>
        </p:nvGraphicFramePr>
        <p:xfrm>
          <a:off x="967557" y="3708301"/>
          <a:ext cx="3404341" cy="212196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40434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12196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&lt;div&gt;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&lt;p&gt;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&lt;a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href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="#"&gt;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超链接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&lt;/a&gt;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&lt;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&gt; 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&lt;/p&gt;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&lt;/div&gt;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66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文本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段落文本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8489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段落文本采用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&lt;p&gt;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标签来表示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一组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&lt;p&gt;&lt;/p&gt;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标签表示一个段落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段落标签是块元素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默认段落标签含有外边距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132334"/>
              </p:ext>
            </p:extLst>
          </p:nvPr>
        </p:nvGraphicFramePr>
        <p:xfrm>
          <a:off x="895548" y="3972908"/>
          <a:ext cx="7272809" cy="2834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27280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615713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&lt;body&gt;</a:t>
                      </a:r>
                      <a:endParaRPr lang="zh-CN" altLang="zh-CN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&lt;p&gt;</a:t>
                      </a:r>
                      <a:r>
                        <a:rPr lang="zh-CN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这是一个段落！这是一个段落！这是一个段落！这是一个段落！这是一个段落！这是一个段落！这是一个段落！这是一个段落！这是一个段落！这是一个段落！这是一个段落！这是一个段落！这是一个段落！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&lt;/p&gt;</a:t>
                      </a:r>
                      <a:endParaRPr lang="zh-CN" altLang="zh-CN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&lt;p&gt;</a:t>
                      </a:r>
                      <a:r>
                        <a:rPr lang="zh-CN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这是一个段落！这是一个段落！这是一个段落！这是一个段落！这是一个段落！这是一个段落！这是一个段落！这是一个段落！这是一个段落！这是一个段落！这是一个段落！这是一个段落！这是一个段落！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&lt;/p&gt;</a:t>
                      </a:r>
                      <a:endParaRPr lang="zh-CN" altLang="zh-CN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&lt;/body&gt;</a:t>
                      </a:r>
                      <a:endParaRPr kumimoji="1" lang="en-US" altLang="zh-CN" sz="18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248348" y="6281232"/>
            <a:ext cx="920009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2-1</a:t>
            </a:r>
          </a:p>
        </p:txBody>
      </p:sp>
      <p:pic>
        <p:nvPicPr>
          <p:cNvPr id="9" name="图片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444" y="3972908"/>
            <a:ext cx="3218313" cy="230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310" y="1148308"/>
            <a:ext cx="3252579" cy="273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05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文本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标题文本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8489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标题文本是拥有一定大小的加粗文本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标题文本采用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&lt;h1&gt; ~ &lt;h6&gt;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这六个标签来表示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默认标题标签含有外边距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928140"/>
              </p:ext>
            </p:extLst>
          </p:nvPr>
        </p:nvGraphicFramePr>
        <p:xfrm>
          <a:off x="967557" y="4240261"/>
          <a:ext cx="3384377" cy="23083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384377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308324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&lt;body&gt;</a:t>
                      </a:r>
                      <a:endParaRPr lang="zh-CN" altLang="zh-CN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&lt;h1&gt;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标题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1&lt;/h1&gt;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&lt;h2&gt;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标题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2&lt;/h2&gt;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&lt;h3&gt;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标题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3&lt;/h3&gt;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&lt;h4&gt;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标题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4&lt;/h4&gt;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&lt;h5&gt;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标题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5&lt;/h5&gt;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&lt;h6&gt;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标题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6&lt;/h6&gt;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&lt;/body&gt;</a:t>
                      </a:r>
                      <a:endParaRPr kumimoji="1" lang="en-US" altLang="zh-CN" sz="18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3551520"/>
            <a:ext cx="11150571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2-2</a:t>
            </a:r>
          </a:p>
        </p:txBody>
      </p:sp>
      <p:pic>
        <p:nvPicPr>
          <p:cNvPr id="10" name="图片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045" y="3792385"/>
            <a:ext cx="2439516" cy="30159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3775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文本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超链接标签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8489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超链接是联系各站点间、同一个网站内网页间、网页内的一个重要纽带，它将不同空间独立的元素组织在一起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&lt;a&gt;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标签表示超链接，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href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属性描述链宿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757130"/>
              </p:ext>
            </p:extLst>
          </p:nvPr>
        </p:nvGraphicFramePr>
        <p:xfrm>
          <a:off x="3055789" y="3454655"/>
          <a:ext cx="4752528" cy="4761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476152">
                <a:tc>
                  <a:txBody>
                    <a:bodyPr/>
                    <a:lstStyle/>
                    <a:p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&lt;a </a:t>
                      </a:r>
                      <a:r>
                        <a:rPr kumimoji="1" lang="en-US" altLang="zh-CN" sz="2200" b="1" kern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href</a:t>
                      </a:r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="#"&gt;</a:t>
                      </a:r>
                      <a:r>
                        <a:rPr kumimoji="1" lang="zh-CN" altLang="en-US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文本</a:t>
                      </a:r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&lt;/a&gt;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577051"/>
              </p:ext>
            </p:extLst>
          </p:nvPr>
        </p:nvGraphicFramePr>
        <p:xfrm>
          <a:off x="3055789" y="4068341"/>
          <a:ext cx="4752528" cy="4761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476152">
                <a:tc>
                  <a:txBody>
                    <a:bodyPr/>
                    <a:lstStyle/>
                    <a:p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&lt;a </a:t>
                      </a:r>
                      <a:r>
                        <a:rPr kumimoji="1" lang="en-US" altLang="zh-CN" sz="2200" b="1" kern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href</a:t>
                      </a:r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="#"&gt;&lt;p&gt;</a:t>
                      </a:r>
                      <a:r>
                        <a:rPr kumimoji="1" lang="zh-CN" altLang="en-US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段落</a:t>
                      </a:r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&lt;/p&gt;&lt;/a&gt;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441386"/>
              </p:ext>
            </p:extLst>
          </p:nvPr>
        </p:nvGraphicFramePr>
        <p:xfrm>
          <a:off x="3055789" y="4673295"/>
          <a:ext cx="7177068" cy="4761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17706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476152">
                <a:tc>
                  <a:txBody>
                    <a:bodyPr/>
                    <a:lstStyle/>
                    <a:p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&lt;a </a:t>
                      </a:r>
                      <a:r>
                        <a:rPr kumimoji="1" lang="en-US" altLang="zh-CN" sz="2200" b="1" kern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href</a:t>
                      </a:r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="#"&gt;&lt;</a:t>
                      </a:r>
                      <a:r>
                        <a:rPr kumimoji="1" lang="en-US" altLang="zh-CN" sz="2200" b="1" kern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200" b="1" kern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src</a:t>
                      </a:r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="view.jpg" alt="</a:t>
                      </a:r>
                      <a:r>
                        <a:rPr kumimoji="1" lang="zh-CN" altLang="en-US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风景</a:t>
                      </a:r>
                      <a:r>
                        <a:rPr kumimoji="1" lang="en-US" altLang="zh-CN" sz="22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"/&gt;&lt;/a&gt;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967557" y="3431095"/>
            <a:ext cx="208823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普通文本超链接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967557" y="4013272"/>
            <a:ext cx="208823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段落文本超链接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1471613" y="4567270"/>
            <a:ext cx="208823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图像超链接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05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文本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超链接标签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848923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超链接通常有四种状态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605692"/>
              </p:ext>
            </p:extLst>
          </p:nvPr>
        </p:nvGraphicFramePr>
        <p:xfrm>
          <a:off x="1001389" y="3081449"/>
          <a:ext cx="4752528" cy="23083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308324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&lt;body&gt;</a:t>
                      </a:r>
                      <a:endParaRPr lang="zh-CN" altLang="zh-CN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&lt;a&gt;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无作用超链接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/a&gt;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&lt;a 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href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="#"&gt;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未使用的超链接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&lt;/a&gt;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&lt;a 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href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="#"&gt;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已使用的超链接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&lt;/a&gt;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&lt;a 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href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="#"&gt;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活动的超链接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&lt;/a&gt;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&lt;/body&gt;</a:t>
                      </a:r>
                      <a:endParaRPr kumimoji="1" lang="en-US" altLang="zh-CN" sz="18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5366" y="2645189"/>
            <a:ext cx="17281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2-3</a:t>
            </a:r>
          </a:p>
        </p:txBody>
      </p:sp>
      <p:pic>
        <p:nvPicPr>
          <p:cNvPr id="9" name="图片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787" y="3033969"/>
            <a:ext cx="2021417" cy="23558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4907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文本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34" y="976724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列表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33234" y="1241943"/>
            <a:ext cx="98489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列表通常有两类：有序列表和无序列表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有序列表使用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ol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无序列表使用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ul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列表中的数据项则用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&lt;li&gt;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标签来表示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325818"/>
              </p:ext>
            </p:extLst>
          </p:nvPr>
        </p:nvGraphicFramePr>
        <p:xfrm>
          <a:off x="922168" y="3457258"/>
          <a:ext cx="4752528" cy="3383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308324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&lt;body&gt;</a:t>
                      </a:r>
                      <a:endParaRPr lang="zh-CN" altLang="zh-CN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&lt;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&lt;li&gt;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水果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&lt;li&gt;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蔬菜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&lt;li&gt;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肉类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&lt;/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&lt;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ol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&lt;li&gt;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水果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&lt;li&gt;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蔬菜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&lt;li&gt;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肉类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&lt;/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ol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 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&lt;/body&gt;</a:t>
                      </a:r>
                      <a:endParaRPr kumimoji="1" lang="en-US" altLang="zh-CN" sz="18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17591" y="3393948"/>
            <a:ext cx="118358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2-4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655" y="3457480"/>
            <a:ext cx="3121004" cy="276768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CAF4B5D-411D-4434-885C-DADE342366E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377" y="3451788"/>
            <a:ext cx="2519596" cy="32230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193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文本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34" y="976724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列表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33234" y="1241943"/>
            <a:ext cx="98489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列表通常有两类：有序列表和无序列表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有序列表使用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ol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无序列表使用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ul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列表中的数据项则用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&lt;li&gt;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标签来表示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655" y="3457480"/>
            <a:ext cx="3121004" cy="2767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479219"/>
              </p:ext>
            </p:extLst>
          </p:nvPr>
        </p:nvGraphicFramePr>
        <p:xfrm>
          <a:off x="1191862" y="3489765"/>
          <a:ext cx="4752528" cy="3261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308324">
                <a:tc>
                  <a:txBody>
                    <a:bodyPr/>
                    <a:lstStyle/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&lt;body&gt;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</a:t>
                      </a:r>
                      <a:r>
                        <a:rPr lang="en-US" altLang="zh-CN" sz="16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&lt;li&gt;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水果</a:t>
                      </a:r>
                    </a:p>
                    <a:p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CN" sz="16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&lt;li&gt;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桔子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&lt;li&gt;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苹果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&lt;li&gt;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葡萄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&lt;/</a:t>
                      </a:r>
                      <a:r>
                        <a:rPr lang="en-US" altLang="zh-CN" sz="16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&lt;/li&gt;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&lt;li&gt;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蔬菜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&lt;li&gt;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肉类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&lt;/li&gt;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&lt;/</a:t>
                      </a:r>
                      <a:r>
                        <a:rPr lang="en-US" altLang="zh-CN" sz="16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&lt;/body&gt;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17591" y="3489765"/>
            <a:ext cx="1183581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2-5</a:t>
            </a:r>
          </a:p>
        </p:txBody>
      </p:sp>
      <p:pic>
        <p:nvPicPr>
          <p:cNvPr id="14" name="图片 1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927" y="3481397"/>
            <a:ext cx="2365865" cy="25568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400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文本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格式化文本标签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6" y="1700329"/>
            <a:ext cx="47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加粗标签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612204"/>
              </p:ext>
            </p:extLst>
          </p:nvPr>
        </p:nvGraphicFramePr>
        <p:xfrm>
          <a:off x="895549" y="2798952"/>
          <a:ext cx="4752528" cy="1463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341397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&lt;body&gt;</a:t>
                      </a:r>
                      <a:endParaRPr lang="zh-CN" altLang="zh-CN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&lt;b&gt;b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标签加粗文本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&lt;/b&gt;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&lt;strong&gt;strong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标签加粗文本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&lt;/strong&gt;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&lt;/body&gt;</a:t>
                      </a:r>
                      <a:endParaRPr kumimoji="1" lang="en-US" altLang="zh-CN" sz="18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6" y="2165100"/>
            <a:ext cx="11150571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2-6</a:t>
            </a:r>
          </a:p>
        </p:txBody>
      </p:sp>
      <p:pic>
        <p:nvPicPr>
          <p:cNvPr id="10" name="图片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1" y="4572397"/>
            <a:ext cx="2471810" cy="79208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6728197" y="1700329"/>
            <a:ext cx="4758600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倾斜标签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722832"/>
              </p:ext>
            </p:extLst>
          </p:nvPr>
        </p:nvGraphicFramePr>
        <p:xfrm>
          <a:off x="6872213" y="2790536"/>
          <a:ext cx="4752528" cy="1463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341397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&lt;body&gt;</a:t>
                      </a:r>
                      <a:endParaRPr lang="zh-CN" altLang="zh-CN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标签倾斜文本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标签倾斜文本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&lt;/body&gt;</a:t>
                      </a:r>
                      <a:endParaRPr kumimoji="1" lang="en-US" altLang="zh-CN" sz="18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pic>
        <p:nvPicPr>
          <p:cNvPr id="14" name="图片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1" t="9386"/>
          <a:stretch>
            <a:fillRect/>
          </a:stretch>
        </p:blipFill>
        <p:spPr bwMode="auto">
          <a:xfrm>
            <a:off x="6904345" y="4572397"/>
            <a:ext cx="2344132" cy="10081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6728197" y="2212599"/>
            <a:ext cx="11150571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2-7</a:t>
            </a:r>
          </a:p>
        </p:txBody>
      </p:sp>
    </p:spTree>
    <p:extLst>
      <p:ext uri="{BB962C8B-B14F-4D97-AF65-F5344CB8AC3E}">
        <p14:creationId xmlns:p14="http://schemas.microsoft.com/office/powerpoint/2010/main" val="3944878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图像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图像概念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8" y="1752505"/>
            <a:ext cx="8666248" cy="222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网页中的图像通常分为普通图像和背景图像两类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图像格式：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JPEG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GIF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PNG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普通图像使用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img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img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图像标签包含两个必要的属性：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src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alt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50527"/>
              </p:ext>
            </p:extLst>
          </p:nvPr>
        </p:nvGraphicFramePr>
        <p:xfrm>
          <a:off x="730317" y="4500389"/>
          <a:ext cx="4752528" cy="134139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341397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&lt;body&gt;</a:t>
                      </a:r>
                      <a:endParaRPr lang="zh-CN" altLang="zh-CN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&lt;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src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="view.jpg" alt="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风景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"/&gt;</a:t>
                      </a:r>
                    </a:p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&lt;/body&gt;</a:t>
                      </a:r>
                      <a:endParaRPr kumimoji="1" lang="en-US" altLang="zh-CN" sz="18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30317" y="3904287"/>
            <a:ext cx="11150571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2-8</a:t>
            </a:r>
          </a:p>
        </p:txBody>
      </p:sp>
      <p:pic>
        <p:nvPicPr>
          <p:cNvPr id="10" name="图片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2"/>
          <a:stretch>
            <a:fillRect/>
          </a:stretch>
        </p:blipFill>
        <p:spPr bwMode="auto">
          <a:xfrm>
            <a:off x="6512173" y="3902132"/>
            <a:ext cx="178054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247" y="3873247"/>
            <a:ext cx="859155" cy="422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95795"/>
              </p:ext>
            </p:extLst>
          </p:nvPr>
        </p:nvGraphicFramePr>
        <p:xfrm>
          <a:off x="730317" y="6160081"/>
          <a:ext cx="6425166" cy="5666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42516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66684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src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="view.jpg" alt="</a:t>
                      </a:r>
                      <a:r>
                        <a:rPr lang="zh-CN" altLang="en-US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风景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" width="100" height="150"/&gt;</a:t>
                      </a:r>
                      <a:endParaRPr kumimoji="1" lang="en-US" altLang="zh-CN" sz="18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15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表格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布局单个表格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8" y="1752505"/>
            <a:ext cx="86662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一个表格由表格标题、表头、表格主体和表格页脚构成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表头、表格主体和表格页脚都可以由若干行构成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每行又由若干个单元格组成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57" y="3788219"/>
            <a:ext cx="3744416" cy="2224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8870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表格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布局单个表格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8" y="1752505"/>
            <a:ext cx="86662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表格使用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&lt;table&gt;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表格标题使用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capiton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表格行使用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tr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表格单元格使用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&lt;td&gt;/&lt;td&gt;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标签标识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057176"/>
              </p:ext>
            </p:extLst>
          </p:nvPr>
        </p:nvGraphicFramePr>
        <p:xfrm>
          <a:off x="7232253" y="1158337"/>
          <a:ext cx="3168352" cy="3657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341397">
                <a:tc>
                  <a:txBody>
                    <a:bodyPr/>
                    <a:lstStyle/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&lt;table&gt;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&lt;caption&gt;&lt;/caption&gt;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&lt;</a:t>
                      </a:r>
                      <a:r>
                        <a:rPr kumimoji="1" lang="en-US" altLang="zh-CN" sz="1800" b="1" kern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tr</a:t>
                      </a:r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  &lt;td&gt;&lt;/td&gt;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  &lt;td&gt;&lt;/td&gt;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1" lang="en-US" altLang="zh-CN" sz="1800" b="1" kern="12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&lt;td&gt;&lt;/td&gt;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&lt;/</a:t>
                      </a:r>
                      <a:r>
                        <a:rPr kumimoji="1" lang="en-US" altLang="zh-CN" sz="1800" b="1" kern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tr</a:t>
                      </a:r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&lt;</a:t>
                      </a:r>
                      <a:r>
                        <a:rPr kumimoji="1" lang="en-US" altLang="zh-CN" sz="1800" b="1" kern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tr</a:t>
                      </a:r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  &lt;td&gt;&lt;/td&gt;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  &lt;td&gt;&lt;/td&gt;</a:t>
                      </a:r>
                    </a:p>
                    <a:p>
                      <a:r>
                        <a:rPr kumimoji="1" lang="en-US" altLang="zh-CN" sz="1800" b="1" kern="12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&lt;td&gt;&lt;/td&gt;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&lt;/</a:t>
                      </a:r>
                      <a:r>
                        <a:rPr kumimoji="1" lang="en-US" altLang="zh-CN" sz="1800" b="1" kern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tr</a:t>
                      </a:r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kumimoji="1"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&lt;/table&gt;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411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表格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布局单个表格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8" y="1752505"/>
            <a:ext cx="86662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表头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thead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表格主体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tbody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表格页脚构成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capiton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标签表示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"/>
          <a:stretch/>
        </p:blipFill>
        <p:spPr bwMode="auto">
          <a:xfrm>
            <a:off x="1183581" y="3852317"/>
            <a:ext cx="4905221" cy="2542650"/>
          </a:xfrm>
          <a:prstGeom prst="rect">
            <a:avLst/>
          </a:prstGeom>
          <a:noFill/>
          <a:ln w="3175"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矩形 3"/>
          <p:cNvSpPr/>
          <p:nvPr/>
        </p:nvSpPr>
        <p:spPr>
          <a:xfrm>
            <a:off x="895549" y="4068341"/>
            <a:ext cx="5688632" cy="648072"/>
          </a:xfrm>
          <a:prstGeom prst="rect">
            <a:avLst/>
          </a:prstGeom>
          <a:solidFill>
            <a:srgbClr val="A3B2C1">
              <a:alpha val="52157"/>
            </a:srgb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200" b="1" dirty="0">
                <a:solidFill>
                  <a:srgbClr val="FF0000"/>
                </a:solidFill>
              </a:rPr>
              <a:t>                 表头    </a:t>
            </a:r>
          </a:p>
        </p:txBody>
      </p:sp>
      <p:sp>
        <p:nvSpPr>
          <p:cNvPr id="9" name="矩形 8"/>
          <p:cNvSpPr/>
          <p:nvPr/>
        </p:nvSpPr>
        <p:spPr>
          <a:xfrm>
            <a:off x="903195" y="4737863"/>
            <a:ext cx="5680986" cy="842646"/>
          </a:xfrm>
          <a:prstGeom prst="rect">
            <a:avLst/>
          </a:prstGeom>
          <a:solidFill>
            <a:srgbClr val="A3B2C1">
              <a:alpha val="52157"/>
            </a:srgb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200" b="1" dirty="0">
                <a:solidFill>
                  <a:srgbClr val="FF0000"/>
                </a:solidFill>
              </a:rPr>
              <a:t>                 表格主体    </a:t>
            </a:r>
          </a:p>
        </p:txBody>
      </p:sp>
      <p:sp>
        <p:nvSpPr>
          <p:cNvPr id="10" name="矩形 9"/>
          <p:cNvSpPr/>
          <p:nvPr/>
        </p:nvSpPr>
        <p:spPr>
          <a:xfrm>
            <a:off x="903195" y="5608562"/>
            <a:ext cx="5680986" cy="548011"/>
          </a:xfrm>
          <a:prstGeom prst="rect">
            <a:avLst/>
          </a:prstGeom>
          <a:solidFill>
            <a:srgbClr val="A3B2C1">
              <a:alpha val="52157"/>
            </a:srgb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200" b="1" dirty="0">
                <a:solidFill>
                  <a:srgbClr val="FF0000"/>
                </a:solidFill>
              </a:rPr>
              <a:t>                 表格页脚    </a:t>
            </a:r>
          </a:p>
        </p:txBody>
      </p:sp>
    </p:spTree>
    <p:extLst>
      <p:ext uri="{BB962C8B-B14F-4D97-AF65-F5344CB8AC3E}">
        <p14:creationId xmlns:p14="http://schemas.microsoft.com/office/powerpoint/2010/main" val="36025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表格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布局单个表格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8" y="1752505"/>
            <a:ext cx="8666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表格属性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534057"/>
              </p:ext>
            </p:extLst>
          </p:nvPr>
        </p:nvGraphicFramePr>
        <p:xfrm>
          <a:off x="967557" y="2399333"/>
          <a:ext cx="4944451" cy="303479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304365">
                  <a:extLst>
                    <a:ext uri="{9D8B030D-6E8A-4147-A177-3AD203B41FA5}">
                      <a16:colId xmlns:a16="http://schemas.microsoft.com/office/drawing/2014/main" val="728187769"/>
                    </a:ext>
                  </a:extLst>
                </a:gridCol>
                <a:gridCol w="1213362">
                  <a:extLst>
                    <a:ext uri="{9D8B030D-6E8A-4147-A177-3AD203B41FA5}">
                      <a16:colId xmlns:a16="http://schemas.microsoft.com/office/drawing/2014/main" val="2663083091"/>
                    </a:ext>
                  </a:extLst>
                </a:gridCol>
                <a:gridCol w="1213362">
                  <a:extLst>
                    <a:ext uri="{9D8B030D-6E8A-4147-A177-3AD203B41FA5}">
                      <a16:colId xmlns:a16="http://schemas.microsoft.com/office/drawing/2014/main" val="3302891870"/>
                    </a:ext>
                  </a:extLst>
                </a:gridCol>
                <a:gridCol w="1213362">
                  <a:extLst>
                    <a:ext uri="{9D8B030D-6E8A-4147-A177-3AD203B41FA5}">
                      <a16:colId xmlns:a16="http://schemas.microsoft.com/office/drawing/2014/main" val="2177081643"/>
                    </a:ext>
                  </a:extLst>
                </a:gridCol>
              </a:tblGrid>
              <a:tr h="298821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属性名称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HTML</a:t>
                      </a: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源码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属性名称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HTML</a:t>
                      </a: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源码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660219"/>
                  </a:ext>
                </a:extLst>
              </a:tr>
              <a:tr h="298821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表格</a:t>
                      </a: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边框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border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344881"/>
                  </a:ext>
                </a:extLst>
              </a:tr>
              <a:tr h="298821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height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class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926666"/>
                  </a:ext>
                </a:extLst>
              </a:tr>
              <a:tr h="298821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宽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width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背景颜色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bgcolor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66578"/>
                  </a:ext>
                </a:extLst>
              </a:tr>
              <a:tr h="298821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填充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cellpadding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背景图像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background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46546"/>
                  </a:ext>
                </a:extLst>
              </a:tr>
              <a:tr h="298821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间距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cellspacing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边框颜色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bordercolor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136494"/>
                  </a:ext>
                </a:extLst>
              </a:tr>
              <a:tr h="896464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对齐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1397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align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139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该属性有三个可选值：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left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（左对齐）、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right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（右对齐）、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center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（居中对齐），默认值为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left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701765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6656189" y="1754043"/>
            <a:ext cx="8666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单元格属性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878392"/>
              </p:ext>
            </p:extLst>
          </p:nvPr>
        </p:nvGraphicFramePr>
        <p:xfrm>
          <a:off x="6841347" y="2410001"/>
          <a:ext cx="5221818" cy="311467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420247">
                  <a:extLst>
                    <a:ext uri="{9D8B030D-6E8A-4147-A177-3AD203B41FA5}">
                      <a16:colId xmlns:a16="http://schemas.microsoft.com/office/drawing/2014/main" val="385265137"/>
                    </a:ext>
                  </a:extLst>
                </a:gridCol>
                <a:gridCol w="1206582">
                  <a:extLst>
                    <a:ext uri="{9D8B030D-6E8A-4147-A177-3AD203B41FA5}">
                      <a16:colId xmlns:a16="http://schemas.microsoft.com/office/drawing/2014/main" val="2294321828"/>
                    </a:ext>
                  </a:extLst>
                </a:gridCol>
                <a:gridCol w="1411868">
                  <a:extLst>
                    <a:ext uri="{9D8B030D-6E8A-4147-A177-3AD203B41FA5}">
                      <a16:colId xmlns:a16="http://schemas.microsoft.com/office/drawing/2014/main" val="2067415739"/>
                    </a:ext>
                  </a:extLst>
                </a:gridCol>
                <a:gridCol w="1183121">
                  <a:extLst>
                    <a:ext uri="{9D8B030D-6E8A-4147-A177-3AD203B41FA5}">
                      <a16:colId xmlns:a16="http://schemas.microsoft.com/office/drawing/2014/main" val="1488998320"/>
                    </a:ext>
                  </a:extLst>
                </a:gridCol>
              </a:tblGrid>
              <a:tr h="290188"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属性名称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HTML</a:t>
                      </a: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源码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属性名称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HTML</a:t>
                      </a: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源码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007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height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宽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width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21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背景颜色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bgcolor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背景图像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background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950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边框颜色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bordercolor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不换行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nowrap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549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水平合并单元格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rowspan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垂直合并单元格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colspan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508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水平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1397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align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1397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该属性有三个可选值：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left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（左对齐）、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right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（右对齐）、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center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（居中对齐），默认指为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left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142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垂直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139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valign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139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该属性有四个可选值：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top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（顶端）、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middle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（居中）、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bottom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（底部）、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baseline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（基线），默认指为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middle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648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09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表格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表格嵌套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7" y="1752505"/>
            <a:ext cx="95425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所谓表格嵌套即在一个表格的单元格中又包含了一个新的表格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表格嵌套一般不宜超过三层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760996" y="3680931"/>
            <a:ext cx="5214382" cy="297529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3075951"/>
            <a:ext cx="11150571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2-10</a:t>
            </a:r>
          </a:p>
        </p:txBody>
      </p:sp>
      <p:sp>
        <p:nvSpPr>
          <p:cNvPr id="4" name="流程图: 过程 3"/>
          <p:cNvSpPr/>
          <p:nvPr/>
        </p:nvSpPr>
        <p:spPr>
          <a:xfrm>
            <a:off x="6800205" y="3680931"/>
            <a:ext cx="4752528" cy="2975293"/>
          </a:xfrm>
          <a:prstGeom prst="flowChartProcess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800205" y="6084565"/>
            <a:ext cx="47525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4" idx="2"/>
          </p:cNvCxnSpPr>
          <p:nvPr/>
        </p:nvCxnSpPr>
        <p:spPr>
          <a:xfrm flipV="1">
            <a:off x="9176469" y="6084565"/>
            <a:ext cx="0" cy="571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流程图: 过程 12"/>
          <p:cNvSpPr/>
          <p:nvPr/>
        </p:nvSpPr>
        <p:spPr>
          <a:xfrm>
            <a:off x="6841737" y="3747693"/>
            <a:ext cx="4680000" cy="2264864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8312373" y="3747693"/>
            <a:ext cx="0" cy="22648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896549" y="3747693"/>
            <a:ext cx="0" cy="22648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91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个人简历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030CB7-09CD-4D65-AFC0-92183B1414E7}"/>
              </a:ext>
            </a:extLst>
          </p:cNvPr>
          <p:cNvSpPr/>
          <p:nvPr/>
        </p:nvSpPr>
        <p:spPr>
          <a:xfrm>
            <a:off x="751533" y="1833687"/>
            <a:ext cx="410445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个人简历是一个表格式的数据页面。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页面主要分为三部分：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①个人基本信息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②教育经历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③工作经历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具体实现</a:t>
            </a:r>
            <a:r>
              <a:rPr lang="zh-CN" altLang="en-US" b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请对照实践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PPT</a:t>
            </a:r>
            <a:endParaRPr lang="zh-CN" altLang="en-US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8E1FC958-4B26-4066-A7BF-16C99023E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1094913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页面分析</a:t>
            </a:r>
          </a:p>
        </p:txBody>
      </p:sp>
      <p:grpSp>
        <p:nvGrpSpPr>
          <p:cNvPr id="9" name="画布 1"/>
          <p:cNvGrpSpPr/>
          <p:nvPr/>
        </p:nvGrpSpPr>
        <p:grpSpPr>
          <a:xfrm>
            <a:off x="6240567" y="1111733"/>
            <a:ext cx="5274310" cy="5732145"/>
            <a:chOff x="0" y="0"/>
            <a:chExt cx="5274310" cy="5732145"/>
          </a:xfrm>
        </p:grpSpPr>
        <p:sp>
          <p:nvSpPr>
            <p:cNvPr id="10" name="矩形 9"/>
            <p:cNvSpPr/>
            <p:nvPr/>
          </p:nvSpPr>
          <p:spPr>
            <a:xfrm>
              <a:off x="0" y="0"/>
              <a:ext cx="5274310" cy="5732145"/>
            </a:xfrm>
            <a:prstGeom prst="rect">
              <a:avLst/>
            </a:prstGeom>
          </p:spPr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274310" cy="5696567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219075" y="37125"/>
              <a:ext cx="4851400" cy="1892300"/>
            </a:xfrm>
            <a:prstGeom prst="rect">
              <a:avLst/>
            </a:prstGeom>
            <a:noFill/>
            <a:ln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128270" algn="ctr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zh-CN" sz="16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18100" y="1970700"/>
              <a:ext cx="4851400" cy="1892300"/>
            </a:xfrm>
            <a:prstGeom prst="rect">
              <a:avLst/>
            </a:prstGeom>
            <a:noFill/>
            <a:ln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128270" algn="ctr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sz="16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218100" y="3895725"/>
              <a:ext cx="4851400" cy="1762125"/>
            </a:xfrm>
            <a:prstGeom prst="rect">
              <a:avLst/>
            </a:prstGeom>
            <a:noFill/>
            <a:ln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128270" algn="ctr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endParaRPr lang="zh-CN" sz="16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0846766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16654</TotalTime>
  <Words>1839</Words>
  <Application>Microsoft Office PowerPoint</Application>
  <PresentationFormat>自定义</PresentationFormat>
  <Paragraphs>305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黑体</vt:lpstr>
      <vt:lpstr>宋体</vt:lpstr>
      <vt:lpstr>微软雅黑</vt:lpstr>
      <vt:lpstr>Arial</vt:lpstr>
      <vt:lpstr>Times New Roman</vt:lpstr>
      <vt:lpstr>Verdana</vt:lpstr>
      <vt:lpstr>Wingdings</vt:lpstr>
      <vt:lpstr>Profile</vt:lpstr>
      <vt:lpstr>项目2 个人简历</vt:lpstr>
      <vt:lpstr>项目2 个人简历</vt:lpstr>
      <vt:lpstr>项目2 个人简历</vt:lpstr>
      <vt:lpstr>任务2-1 基本概念</vt:lpstr>
      <vt:lpstr>任务2-1 基本概念</vt:lpstr>
      <vt:lpstr>任务2-1 基本概念</vt:lpstr>
      <vt:lpstr>任务2-1 基本概念</vt:lpstr>
      <vt:lpstr>任务2-1 基本概念</vt:lpstr>
      <vt:lpstr>任务2-1 基本概念</vt:lpstr>
      <vt:lpstr>任务2-1 基本概念</vt:lpstr>
      <vt:lpstr>任务2-2 文本</vt:lpstr>
      <vt:lpstr>任务2-2 文本</vt:lpstr>
      <vt:lpstr>任务2-2 文本</vt:lpstr>
      <vt:lpstr>任务2-2 文本</vt:lpstr>
      <vt:lpstr>任务2-2 文本</vt:lpstr>
      <vt:lpstr>任务2-2 文本</vt:lpstr>
      <vt:lpstr>任务2-2 文本</vt:lpstr>
      <vt:lpstr>任务2-3 图像</vt:lpstr>
      <vt:lpstr>任务2-4 表格</vt:lpstr>
      <vt:lpstr>任务2-4 表格</vt:lpstr>
      <vt:lpstr>任务2-4 表格</vt:lpstr>
      <vt:lpstr>任务2-4 表格</vt:lpstr>
      <vt:lpstr>任务2-4 表格</vt:lpstr>
      <vt:lpstr>任务2-5 个人简历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项目4 企业网站首页</dc:title>
  <dc:subject>Web前端开发与项目实践</dc:subject>
  <cp:lastModifiedBy>John Hu</cp:lastModifiedBy>
  <cp:revision>1459</cp:revision>
  <dcterms:created xsi:type="dcterms:W3CDTF">2008-02-14T05:21:14Z</dcterms:created>
  <dcterms:modified xsi:type="dcterms:W3CDTF">2024-07-23T12:46:54Z</dcterms:modified>
</cp:coreProperties>
</file>