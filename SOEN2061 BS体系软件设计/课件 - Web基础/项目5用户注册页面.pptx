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47"/>
  </p:notesMasterIdLst>
  <p:sldIdLst>
    <p:sldId id="423" r:id="rId2"/>
    <p:sldId id="427" r:id="rId3"/>
    <p:sldId id="428" r:id="rId4"/>
    <p:sldId id="429" r:id="rId5"/>
    <p:sldId id="551" r:id="rId6"/>
    <p:sldId id="515" r:id="rId7"/>
    <p:sldId id="516" r:id="rId8"/>
    <p:sldId id="517" r:id="rId9"/>
    <p:sldId id="518" r:id="rId10"/>
    <p:sldId id="432" r:id="rId11"/>
    <p:sldId id="519" r:id="rId12"/>
    <p:sldId id="520" r:id="rId13"/>
    <p:sldId id="521" r:id="rId14"/>
    <p:sldId id="522" r:id="rId15"/>
    <p:sldId id="433" r:id="rId16"/>
    <p:sldId id="523" r:id="rId17"/>
    <p:sldId id="524" r:id="rId18"/>
    <p:sldId id="525" r:id="rId19"/>
    <p:sldId id="526" r:id="rId20"/>
    <p:sldId id="527" r:id="rId21"/>
    <p:sldId id="528" r:id="rId22"/>
    <p:sldId id="529" r:id="rId23"/>
    <p:sldId id="530" r:id="rId24"/>
    <p:sldId id="531" r:id="rId25"/>
    <p:sldId id="532" r:id="rId26"/>
    <p:sldId id="533" r:id="rId27"/>
    <p:sldId id="534" r:id="rId28"/>
    <p:sldId id="535" r:id="rId29"/>
    <p:sldId id="536" r:id="rId30"/>
    <p:sldId id="537" r:id="rId31"/>
    <p:sldId id="538" r:id="rId32"/>
    <p:sldId id="539" r:id="rId33"/>
    <p:sldId id="540" r:id="rId34"/>
    <p:sldId id="541" r:id="rId35"/>
    <p:sldId id="542" r:id="rId36"/>
    <p:sldId id="543" r:id="rId37"/>
    <p:sldId id="544" r:id="rId38"/>
    <p:sldId id="545" r:id="rId39"/>
    <p:sldId id="546" r:id="rId40"/>
    <p:sldId id="552" r:id="rId41"/>
    <p:sldId id="547" r:id="rId42"/>
    <p:sldId id="548" r:id="rId43"/>
    <p:sldId id="549" r:id="rId44"/>
    <p:sldId id="550" r:id="rId45"/>
    <p:sldId id="514" r:id="rId46"/>
  </p:sldIdLst>
  <p:sldSz cx="12160250" cy="6840538"/>
  <p:notesSz cx="6858000" cy="9144000"/>
  <p:defaultTextStyle>
    <a:defPPr>
      <a:defRPr lang="zh-CN"/>
    </a:defPPr>
    <a:lvl1pPr algn="l" rtl="0" fontAlgn="base">
      <a:spcBef>
        <a:spcPct val="0"/>
      </a:spcBef>
      <a:spcAft>
        <a:spcPct val="0"/>
      </a:spcAft>
      <a:defRPr kern="1200">
        <a:solidFill>
          <a:schemeClr val="tx1"/>
        </a:solidFill>
        <a:latin typeface="Verdana" pitchFamily="34" charset="0"/>
        <a:ea typeface="宋体" pitchFamily="2" charset="-122"/>
        <a:cs typeface="+mn-cs"/>
      </a:defRPr>
    </a:lvl1pPr>
    <a:lvl2pPr marL="492125" indent="-34925" algn="l" rtl="0" fontAlgn="base">
      <a:spcBef>
        <a:spcPct val="0"/>
      </a:spcBef>
      <a:spcAft>
        <a:spcPct val="0"/>
      </a:spcAft>
      <a:defRPr kern="1200">
        <a:solidFill>
          <a:schemeClr val="tx1"/>
        </a:solidFill>
        <a:latin typeface="Verdana" pitchFamily="34" charset="0"/>
        <a:ea typeface="宋体" pitchFamily="2" charset="-122"/>
        <a:cs typeface="+mn-cs"/>
      </a:defRPr>
    </a:lvl2pPr>
    <a:lvl3pPr marL="985838" indent="-71438" algn="l" rtl="0" fontAlgn="base">
      <a:spcBef>
        <a:spcPct val="0"/>
      </a:spcBef>
      <a:spcAft>
        <a:spcPct val="0"/>
      </a:spcAft>
      <a:defRPr kern="1200">
        <a:solidFill>
          <a:schemeClr val="tx1"/>
        </a:solidFill>
        <a:latin typeface="Verdana" pitchFamily="34" charset="0"/>
        <a:ea typeface="宋体" pitchFamily="2" charset="-122"/>
        <a:cs typeface="+mn-cs"/>
      </a:defRPr>
    </a:lvl3pPr>
    <a:lvl4pPr marL="1477963" indent="-106363" algn="l" rtl="0" fontAlgn="base">
      <a:spcBef>
        <a:spcPct val="0"/>
      </a:spcBef>
      <a:spcAft>
        <a:spcPct val="0"/>
      </a:spcAft>
      <a:defRPr kern="1200">
        <a:solidFill>
          <a:schemeClr val="tx1"/>
        </a:solidFill>
        <a:latin typeface="Verdana" pitchFamily="34" charset="0"/>
        <a:ea typeface="宋体" pitchFamily="2" charset="-122"/>
        <a:cs typeface="+mn-cs"/>
      </a:defRPr>
    </a:lvl4pPr>
    <a:lvl5pPr marL="1971675" indent="-142875" algn="l" rtl="0" fontAlgn="base">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55" userDrawn="1">
          <p15:clr>
            <a:srgbClr val="A4A3A4"/>
          </p15:clr>
        </p15:guide>
        <p15:guide id="2" pos="3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FF00"/>
    <a:srgbClr val="0000FF"/>
    <a:srgbClr val="000000"/>
    <a:srgbClr val="33CCCC"/>
    <a:srgbClr val="99CCFF"/>
    <a:srgbClr val="00CCFF"/>
    <a:srgbClr val="00FFFF"/>
    <a:srgbClr val="FFFF99"/>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65" autoAdjust="0"/>
    <p:restoredTop sz="94407" autoAdjust="0"/>
  </p:normalViewPr>
  <p:slideViewPr>
    <p:cSldViewPr>
      <p:cViewPr varScale="1">
        <p:scale>
          <a:sx n="84" d="100"/>
          <a:sy n="84" d="100"/>
        </p:scale>
        <p:origin x="60" y="300"/>
      </p:cViewPr>
      <p:guideLst>
        <p:guide orient="horz" pos="2155"/>
        <p:guide pos="3831"/>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 userId="213e45b8a479442b" providerId="LiveId" clId="{F44B9654-24B8-4085-86E0-CCBF883C7BF2}"/>
    <pc:docChg chg="undo custSel modSld">
      <pc:chgData name="John Hu" userId="213e45b8a479442b" providerId="LiveId" clId="{F44B9654-24B8-4085-86E0-CCBF883C7BF2}" dt="2024-03-22T03:42:24.697" v="2" actId="313"/>
      <pc:docMkLst>
        <pc:docMk/>
      </pc:docMkLst>
      <pc:sldChg chg="modSp mod">
        <pc:chgData name="John Hu" userId="213e45b8a479442b" providerId="LiveId" clId="{F44B9654-24B8-4085-86E0-CCBF883C7BF2}" dt="2024-03-22T03:42:24.697" v="2" actId="313"/>
        <pc:sldMkLst>
          <pc:docMk/>
          <pc:sldMk cId="3761588981" sldId="526"/>
        </pc:sldMkLst>
        <pc:spChg chg="mod">
          <ac:chgData name="John Hu" userId="213e45b8a479442b" providerId="LiveId" clId="{F44B9654-24B8-4085-86E0-CCBF883C7BF2}" dt="2024-03-22T03:42:24.697" v="2" actId="313"/>
          <ac:spMkLst>
            <pc:docMk/>
            <pc:sldMk cId="3761588981" sldId="526"/>
            <ac:spMk id="21" creationId="{AFCBC14D-F67B-47AE-8E07-85957C03C58A}"/>
          </ac:spMkLst>
        </pc:spChg>
      </pc:sldChg>
    </pc:docChg>
  </pc:docChgLst>
  <pc:docChgLst>
    <pc:chgData userId="213e45b8a479442b" providerId="LiveId" clId="{96C2074E-A815-444B-BCF4-D2AC1C142379}"/>
    <pc:docChg chg="undo custSel addSld modSld">
      <pc:chgData name="" userId="213e45b8a479442b" providerId="LiveId" clId="{96C2074E-A815-444B-BCF4-D2AC1C142379}" dt="2022-07-20T09:08:33.673" v="201" actId="20577"/>
      <pc:docMkLst>
        <pc:docMk/>
      </pc:docMkLst>
      <pc:sldChg chg="modSp">
        <pc:chgData name="" userId="213e45b8a479442b" providerId="LiveId" clId="{96C2074E-A815-444B-BCF4-D2AC1C142379}" dt="2022-07-19T08:10:40.013" v="114"/>
        <pc:sldMkLst>
          <pc:docMk/>
          <pc:sldMk cId="237209280" sldId="433"/>
        </pc:sldMkLst>
        <pc:spChg chg="mod">
          <ac:chgData name="" userId="213e45b8a479442b" providerId="LiveId" clId="{96C2074E-A815-444B-BCF4-D2AC1C142379}" dt="2022-07-19T08:10:40.013" v="114"/>
          <ac:spMkLst>
            <pc:docMk/>
            <pc:sldMk cId="237209280" sldId="433"/>
            <ac:spMk id="2" creationId="{5888EE31-F44C-4034-8407-4C756F65702C}"/>
          </ac:spMkLst>
        </pc:spChg>
      </pc:sldChg>
      <pc:sldChg chg="addSp delSp modSp">
        <pc:chgData name="" userId="213e45b8a479442b" providerId="LiveId" clId="{96C2074E-A815-444B-BCF4-D2AC1C142379}" dt="2022-07-19T06:47:27.314" v="97" actId="120"/>
        <pc:sldMkLst>
          <pc:docMk/>
          <pc:sldMk cId="1589386226" sldId="515"/>
        </pc:sldMkLst>
        <pc:spChg chg="mod">
          <ac:chgData name="" userId="213e45b8a479442b" providerId="LiveId" clId="{96C2074E-A815-444B-BCF4-D2AC1C142379}" dt="2022-07-19T06:47:12.812" v="92" actId="1076"/>
          <ac:spMkLst>
            <pc:docMk/>
            <pc:sldMk cId="1589386226" sldId="515"/>
            <ac:spMk id="3" creationId="{FC3DE994-F8E6-4715-916B-9859E1A19738}"/>
          </ac:spMkLst>
        </pc:spChg>
        <pc:spChg chg="add del mod">
          <ac:chgData name="" userId="213e45b8a479442b" providerId="LiveId" clId="{96C2074E-A815-444B-BCF4-D2AC1C142379}" dt="2022-07-19T06:47:09.861" v="91" actId="478"/>
          <ac:spMkLst>
            <pc:docMk/>
            <pc:sldMk cId="1589386226" sldId="515"/>
            <ac:spMk id="4" creationId="{2CA13FC6-0EE2-4A80-BF68-AAC0E8E52D48}"/>
          </ac:spMkLst>
        </pc:spChg>
        <pc:graphicFrameChg chg="mod modGraphic">
          <ac:chgData name="" userId="213e45b8a479442b" providerId="LiveId" clId="{96C2074E-A815-444B-BCF4-D2AC1C142379}" dt="2022-07-19T06:47:27.314" v="97" actId="120"/>
          <ac:graphicFrameMkLst>
            <pc:docMk/>
            <pc:sldMk cId="1589386226" sldId="515"/>
            <ac:graphicFrameMk id="5" creationId="{E40E7B15-C240-794E-B08C-33A6B891B2FC}"/>
          </ac:graphicFrameMkLst>
        </pc:graphicFrameChg>
        <pc:graphicFrameChg chg="add mod modGraphic">
          <ac:chgData name="" userId="213e45b8a479442b" providerId="LiveId" clId="{96C2074E-A815-444B-BCF4-D2AC1C142379}" dt="2022-07-19T06:47:14.884" v="93" actId="1076"/>
          <ac:graphicFrameMkLst>
            <pc:docMk/>
            <pc:sldMk cId="1589386226" sldId="515"/>
            <ac:graphicFrameMk id="6" creationId="{6A994AE9-40B7-437E-A02B-53BCB2D976AA}"/>
          </ac:graphicFrameMkLst>
        </pc:graphicFrameChg>
      </pc:sldChg>
      <pc:sldChg chg="modSp">
        <pc:chgData name="" userId="213e45b8a479442b" providerId="LiveId" clId="{96C2074E-A815-444B-BCF4-D2AC1C142379}" dt="2022-07-19T06:46:07.653" v="75"/>
        <pc:sldMkLst>
          <pc:docMk/>
          <pc:sldMk cId="1864960661" sldId="516"/>
        </pc:sldMkLst>
        <pc:graphicFrameChg chg="mod">
          <ac:chgData name="" userId="213e45b8a479442b" providerId="LiveId" clId="{96C2074E-A815-444B-BCF4-D2AC1C142379}" dt="2022-07-19T06:46:07.653" v="75"/>
          <ac:graphicFrameMkLst>
            <pc:docMk/>
            <pc:sldMk cId="1864960661" sldId="516"/>
            <ac:graphicFrameMk id="4" creationId="{040399B2-5E84-4045-B279-87DE05D9C0FD}"/>
          </ac:graphicFrameMkLst>
        </pc:graphicFrameChg>
      </pc:sldChg>
      <pc:sldChg chg="modSp">
        <pc:chgData name="" userId="213e45b8a479442b" providerId="LiveId" clId="{96C2074E-A815-444B-BCF4-D2AC1C142379}" dt="2022-07-19T07:15:40.343" v="113" actId="113"/>
        <pc:sldMkLst>
          <pc:docMk/>
          <pc:sldMk cId="3778418239" sldId="519"/>
        </pc:sldMkLst>
        <pc:graphicFrameChg chg="modGraphic">
          <ac:chgData name="" userId="213e45b8a479442b" providerId="LiveId" clId="{96C2074E-A815-444B-BCF4-D2AC1C142379}" dt="2022-07-19T07:15:40.343" v="113" actId="113"/>
          <ac:graphicFrameMkLst>
            <pc:docMk/>
            <pc:sldMk cId="3778418239" sldId="519"/>
            <ac:graphicFrameMk id="3" creationId="{55ED43C0-11C9-E941-94B0-F4EE59BFCB62}"/>
          </ac:graphicFrameMkLst>
        </pc:graphicFrameChg>
        <pc:graphicFrameChg chg="modGraphic">
          <ac:chgData name="" userId="213e45b8a479442b" providerId="LiveId" clId="{96C2074E-A815-444B-BCF4-D2AC1C142379}" dt="2022-07-19T07:15:38.118" v="112" actId="113"/>
          <ac:graphicFrameMkLst>
            <pc:docMk/>
            <pc:sldMk cId="3778418239" sldId="519"/>
            <ac:graphicFrameMk id="4" creationId="{4AEA6DAD-94D5-214C-A5DE-80DA0CEE4663}"/>
          </ac:graphicFrameMkLst>
        </pc:graphicFrameChg>
      </pc:sldChg>
      <pc:sldChg chg="modSp">
        <pc:chgData name="" userId="213e45b8a479442b" providerId="LiveId" clId="{96C2074E-A815-444B-BCF4-D2AC1C142379}" dt="2022-07-19T08:38:20.244" v="116" actId="207"/>
        <pc:sldMkLst>
          <pc:docMk/>
          <pc:sldMk cId="108287258" sldId="524"/>
        </pc:sldMkLst>
        <pc:graphicFrameChg chg="modGraphic">
          <ac:chgData name="" userId="213e45b8a479442b" providerId="LiveId" clId="{96C2074E-A815-444B-BCF4-D2AC1C142379}" dt="2022-07-19T08:38:20.244" v="116" actId="207"/>
          <ac:graphicFrameMkLst>
            <pc:docMk/>
            <pc:sldMk cId="108287258" sldId="524"/>
            <ac:graphicFrameMk id="3" creationId="{A9265CA5-BB31-4FC5-9970-7EAC81B0E345}"/>
          </ac:graphicFrameMkLst>
        </pc:graphicFrameChg>
      </pc:sldChg>
      <pc:sldChg chg="modSp">
        <pc:chgData name="" userId="213e45b8a479442b" providerId="LiveId" clId="{96C2074E-A815-444B-BCF4-D2AC1C142379}" dt="2022-07-19T08:43:21.684" v="118" actId="207"/>
        <pc:sldMkLst>
          <pc:docMk/>
          <pc:sldMk cId="2092204269" sldId="527"/>
        </pc:sldMkLst>
        <pc:graphicFrameChg chg="modGraphic">
          <ac:chgData name="" userId="213e45b8a479442b" providerId="LiveId" clId="{96C2074E-A815-444B-BCF4-D2AC1C142379}" dt="2022-07-19T08:43:21.684" v="118" actId="207"/>
          <ac:graphicFrameMkLst>
            <pc:docMk/>
            <pc:sldMk cId="2092204269" sldId="527"/>
            <ac:graphicFrameMk id="3" creationId="{A9265CA5-BB31-4FC5-9970-7EAC81B0E345}"/>
          </ac:graphicFrameMkLst>
        </pc:graphicFrameChg>
      </pc:sldChg>
      <pc:sldChg chg="modSp">
        <pc:chgData name="" userId="213e45b8a479442b" providerId="LiveId" clId="{96C2074E-A815-444B-BCF4-D2AC1C142379}" dt="2022-07-19T08:54:52.725" v="126" actId="1076"/>
        <pc:sldMkLst>
          <pc:docMk/>
          <pc:sldMk cId="4052517712" sldId="528"/>
        </pc:sldMkLst>
        <pc:spChg chg="mod">
          <ac:chgData name="" userId="213e45b8a479442b" providerId="LiveId" clId="{96C2074E-A815-444B-BCF4-D2AC1C142379}" dt="2022-07-19T08:54:52.725" v="126" actId="1076"/>
          <ac:spMkLst>
            <pc:docMk/>
            <pc:sldMk cId="4052517712" sldId="528"/>
            <ac:spMk id="3" creationId="{8D789764-95FA-4BD1-A5E7-9776E2BEBC7E}"/>
          </ac:spMkLst>
        </pc:spChg>
        <pc:picChg chg="mod">
          <ac:chgData name="" userId="213e45b8a479442b" providerId="LiveId" clId="{96C2074E-A815-444B-BCF4-D2AC1C142379}" dt="2022-07-19T08:50:33.488" v="119" actId="1076"/>
          <ac:picMkLst>
            <pc:docMk/>
            <pc:sldMk cId="4052517712" sldId="528"/>
            <ac:picMk id="7" creationId="{1D79D624-D96D-4A29-8630-FC1B1BA0F6CB}"/>
          </ac:picMkLst>
        </pc:picChg>
      </pc:sldChg>
      <pc:sldChg chg="modSp">
        <pc:chgData name="" userId="213e45b8a479442b" providerId="LiveId" clId="{96C2074E-A815-444B-BCF4-D2AC1C142379}" dt="2022-07-19T08:57:47.580" v="130" actId="20577"/>
        <pc:sldMkLst>
          <pc:docMk/>
          <pc:sldMk cId="3528919265" sldId="530"/>
        </pc:sldMkLst>
        <pc:graphicFrameChg chg="modGraphic">
          <ac:chgData name="" userId="213e45b8a479442b" providerId="LiveId" clId="{96C2074E-A815-444B-BCF4-D2AC1C142379}" dt="2022-07-19T08:57:47.580" v="130" actId="20577"/>
          <ac:graphicFrameMkLst>
            <pc:docMk/>
            <pc:sldMk cId="3528919265" sldId="530"/>
            <ac:graphicFrameMk id="6" creationId="{3961A1B0-5AC9-4620-A8A1-D2153FE8A2B7}"/>
          </ac:graphicFrameMkLst>
        </pc:graphicFrameChg>
      </pc:sldChg>
      <pc:sldChg chg="modSp">
        <pc:chgData name="" userId="213e45b8a479442b" providerId="LiveId" clId="{96C2074E-A815-444B-BCF4-D2AC1C142379}" dt="2022-07-19T09:22:38.462" v="133" actId="207"/>
        <pc:sldMkLst>
          <pc:docMk/>
          <pc:sldMk cId="2459498849" sldId="531"/>
        </pc:sldMkLst>
        <pc:graphicFrameChg chg="modGraphic">
          <ac:chgData name="" userId="213e45b8a479442b" providerId="LiveId" clId="{96C2074E-A815-444B-BCF4-D2AC1C142379}" dt="2022-07-19T09:22:38.462" v="133" actId="207"/>
          <ac:graphicFrameMkLst>
            <pc:docMk/>
            <pc:sldMk cId="2459498849" sldId="531"/>
            <ac:graphicFrameMk id="3" creationId="{8C73607B-F712-4BFE-98DB-0AA8DCD636ED}"/>
          </ac:graphicFrameMkLst>
        </pc:graphicFrameChg>
      </pc:sldChg>
      <pc:sldChg chg="modSp">
        <pc:chgData name="" userId="213e45b8a479442b" providerId="LiveId" clId="{96C2074E-A815-444B-BCF4-D2AC1C142379}" dt="2022-07-19T09:25:24.855" v="150" actId="20577"/>
        <pc:sldMkLst>
          <pc:docMk/>
          <pc:sldMk cId="1269488197" sldId="532"/>
        </pc:sldMkLst>
        <pc:graphicFrameChg chg="modGraphic">
          <ac:chgData name="" userId="213e45b8a479442b" providerId="LiveId" clId="{96C2074E-A815-444B-BCF4-D2AC1C142379}" dt="2022-07-19T09:25:24.855" v="150" actId="20577"/>
          <ac:graphicFrameMkLst>
            <pc:docMk/>
            <pc:sldMk cId="1269488197" sldId="532"/>
            <ac:graphicFrameMk id="9" creationId="{94580C77-0564-4381-8F17-DD1CA44E5D44}"/>
          </ac:graphicFrameMkLst>
        </pc:graphicFrameChg>
        <pc:graphicFrameChg chg="modGraphic">
          <ac:chgData name="" userId="213e45b8a479442b" providerId="LiveId" clId="{96C2074E-A815-444B-BCF4-D2AC1C142379}" dt="2022-07-19T09:24:16.702" v="139" actId="207"/>
          <ac:graphicFrameMkLst>
            <pc:docMk/>
            <pc:sldMk cId="1269488197" sldId="532"/>
            <ac:graphicFrameMk id="10" creationId="{43C4A5DA-4469-4351-9BAD-01909EDE1372}"/>
          </ac:graphicFrameMkLst>
        </pc:graphicFrameChg>
      </pc:sldChg>
      <pc:sldChg chg="addSp modSp modAnim">
        <pc:chgData name="" userId="213e45b8a479442b" providerId="LiveId" clId="{96C2074E-A815-444B-BCF4-D2AC1C142379}" dt="2022-07-20T06:48:49.784" v="156"/>
        <pc:sldMkLst>
          <pc:docMk/>
          <pc:sldMk cId="1528060888" sldId="539"/>
        </pc:sldMkLst>
        <pc:picChg chg="add mod">
          <ac:chgData name="" userId="213e45b8a479442b" providerId="LiveId" clId="{96C2074E-A815-444B-BCF4-D2AC1C142379}" dt="2022-07-20T06:48:41.137" v="154" actId="1076"/>
          <ac:picMkLst>
            <pc:docMk/>
            <pc:sldMk cId="1528060888" sldId="539"/>
            <ac:picMk id="9" creationId="{474E5050-075F-4ACF-A4F3-60C1ACE383C0}"/>
          </ac:picMkLst>
        </pc:picChg>
      </pc:sldChg>
      <pc:sldChg chg="modSp">
        <pc:chgData name="" userId="213e45b8a479442b" providerId="LiveId" clId="{96C2074E-A815-444B-BCF4-D2AC1C142379}" dt="2022-07-20T08:58:02.397" v="172" actId="6549"/>
        <pc:sldMkLst>
          <pc:docMk/>
          <pc:sldMk cId="3884900107" sldId="546"/>
        </pc:sldMkLst>
        <pc:spChg chg="mod">
          <ac:chgData name="" userId="213e45b8a479442b" providerId="LiveId" clId="{96C2074E-A815-444B-BCF4-D2AC1C142379}" dt="2022-07-20T08:58:02.397" v="172" actId="6549"/>
          <ac:spMkLst>
            <pc:docMk/>
            <pc:sldMk cId="3884900107" sldId="546"/>
            <ac:spMk id="6" creationId="{8B23F681-F765-8E4E-92F0-6A0EE5900C1F}"/>
          </ac:spMkLst>
        </pc:spChg>
      </pc:sldChg>
      <pc:sldChg chg="modSp">
        <pc:chgData name="" userId="213e45b8a479442b" providerId="LiveId" clId="{96C2074E-A815-444B-BCF4-D2AC1C142379}" dt="2022-07-20T09:03:31.342" v="200" actId="113"/>
        <pc:sldMkLst>
          <pc:docMk/>
          <pc:sldMk cId="1495685384" sldId="547"/>
        </pc:sldMkLst>
        <pc:spChg chg="mod">
          <ac:chgData name="" userId="213e45b8a479442b" providerId="LiveId" clId="{96C2074E-A815-444B-BCF4-D2AC1C142379}" dt="2022-07-20T09:03:31.342" v="200" actId="113"/>
          <ac:spMkLst>
            <pc:docMk/>
            <pc:sldMk cId="1495685384" sldId="547"/>
            <ac:spMk id="21" creationId="{AFCBC14D-F67B-47AE-8E07-85957C03C58A}"/>
          </ac:spMkLst>
        </pc:spChg>
      </pc:sldChg>
      <pc:sldChg chg="modSp">
        <pc:chgData name="" userId="213e45b8a479442b" providerId="LiveId" clId="{96C2074E-A815-444B-BCF4-D2AC1C142379}" dt="2022-07-20T09:08:33.673" v="201" actId="20577"/>
        <pc:sldMkLst>
          <pc:docMk/>
          <pc:sldMk cId="438873330" sldId="549"/>
        </pc:sldMkLst>
        <pc:spChg chg="mod">
          <ac:chgData name="" userId="213e45b8a479442b" providerId="LiveId" clId="{96C2074E-A815-444B-BCF4-D2AC1C142379}" dt="2022-07-20T09:08:33.673" v="201" actId="20577"/>
          <ac:spMkLst>
            <pc:docMk/>
            <pc:sldMk cId="438873330" sldId="549"/>
            <ac:spMk id="6" creationId="{8B23F681-F765-8E4E-92F0-6A0EE5900C1F}"/>
          </ac:spMkLst>
        </pc:spChg>
      </pc:sldChg>
      <pc:sldChg chg="addSp delSp modSp add">
        <pc:chgData name="" userId="213e45b8a479442b" providerId="LiveId" clId="{96C2074E-A815-444B-BCF4-D2AC1C142379}" dt="2022-07-19T06:39:47.355" v="16" actId="1076"/>
        <pc:sldMkLst>
          <pc:docMk/>
          <pc:sldMk cId="2423537764" sldId="551"/>
        </pc:sldMkLst>
        <pc:spChg chg="del mod">
          <ac:chgData name="" userId="213e45b8a479442b" providerId="LiveId" clId="{96C2074E-A815-444B-BCF4-D2AC1C142379}" dt="2022-07-19T06:38:39.772" v="3"/>
          <ac:spMkLst>
            <pc:docMk/>
            <pc:sldMk cId="2423537764" sldId="551"/>
            <ac:spMk id="3" creationId="{FC3DE994-F8E6-4715-916B-9859E1A19738}"/>
          </ac:spMkLst>
        </pc:spChg>
        <pc:spChg chg="add mod">
          <ac:chgData name="" userId="213e45b8a479442b" providerId="LiveId" clId="{96C2074E-A815-444B-BCF4-D2AC1C142379}" dt="2022-07-19T06:39:47.355" v="16" actId="1076"/>
          <ac:spMkLst>
            <pc:docMk/>
            <pc:sldMk cId="2423537764" sldId="551"/>
            <ac:spMk id="5" creationId="{5C22796D-F4C5-4F6C-93A8-FF55C5704524}"/>
          </ac:spMkLst>
        </pc:spChg>
        <pc:picChg chg="add mod">
          <ac:chgData name="" userId="213e45b8a479442b" providerId="LiveId" clId="{96C2074E-A815-444B-BCF4-D2AC1C142379}" dt="2022-07-19T06:39:45.435" v="15" actId="1076"/>
          <ac:picMkLst>
            <pc:docMk/>
            <pc:sldMk cId="2423537764" sldId="551"/>
            <ac:picMk id="4" creationId="{79D8F749-D86A-4BA8-86BE-03C6BE2624B2}"/>
          </ac:picMkLst>
        </pc:picChg>
      </pc:sldChg>
      <pc:sldChg chg="addSp delSp modSp add delAnim">
        <pc:chgData name="" userId="213e45b8a479442b" providerId="LiveId" clId="{96C2074E-A815-444B-BCF4-D2AC1C142379}" dt="2022-07-20T08:58:22.263" v="178" actId="1076"/>
        <pc:sldMkLst>
          <pc:docMk/>
          <pc:sldMk cId="3538953546" sldId="552"/>
        </pc:sldMkLst>
        <pc:spChg chg="add mod">
          <ac:chgData name="" userId="213e45b8a479442b" providerId="LiveId" clId="{96C2074E-A815-444B-BCF4-D2AC1C142379}" dt="2022-07-20T08:58:22.263" v="178" actId="1076"/>
          <ac:spMkLst>
            <pc:docMk/>
            <pc:sldMk cId="3538953546" sldId="552"/>
            <ac:spMk id="4" creationId="{E3C66659-8FF4-467F-A107-DC20A1EF1077}"/>
          </ac:spMkLst>
        </pc:spChg>
        <pc:spChg chg="add mod">
          <ac:chgData name="" userId="213e45b8a479442b" providerId="LiveId" clId="{96C2074E-A815-444B-BCF4-D2AC1C142379}" dt="2022-07-20T08:58:16.288" v="174" actId="1076"/>
          <ac:spMkLst>
            <pc:docMk/>
            <pc:sldMk cId="3538953546" sldId="552"/>
            <ac:spMk id="5" creationId="{1F85A4E6-1CE6-46CD-A21E-8CB2CDD6C14C}"/>
          </ac:spMkLst>
        </pc:spChg>
        <pc:spChg chg="del">
          <ac:chgData name="" userId="213e45b8a479442b" providerId="LiveId" clId="{96C2074E-A815-444B-BCF4-D2AC1C142379}" dt="2022-07-20T08:57:19.546" v="158" actId="478"/>
          <ac:spMkLst>
            <pc:docMk/>
            <pc:sldMk cId="3538953546" sldId="552"/>
            <ac:spMk id="6" creationId="{8B23F681-F765-8E4E-92F0-6A0EE5900C1F}"/>
          </ac:spMkLst>
        </pc:spChg>
        <pc:spChg chg="del">
          <ac:chgData name="" userId="213e45b8a479442b" providerId="LiveId" clId="{96C2074E-A815-444B-BCF4-D2AC1C142379}" dt="2022-07-20T08:57:23.218" v="159" actId="478"/>
          <ac:spMkLst>
            <pc:docMk/>
            <pc:sldMk cId="3538953546" sldId="552"/>
            <ac:spMk id="10" creationId="{901139A5-A84E-9F40-A758-774D769D0F60}"/>
          </ac:spMkLst>
        </pc:spChg>
        <pc:picChg chg="add mod">
          <ac:chgData name="" userId="213e45b8a479442b" providerId="LiveId" clId="{96C2074E-A815-444B-BCF4-D2AC1C142379}" dt="2022-07-20T08:58:20.022" v="177" actId="1076"/>
          <ac:picMkLst>
            <pc:docMk/>
            <pc:sldMk cId="3538953546" sldId="552"/>
            <ac:picMk id="3" creationId="{DDC3F898-0ACC-4EC5-BD93-43083E41CA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604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D314487-0CE3-481E-A6CD-359E0D2485E7}" type="slidenum">
              <a:rPr lang="en-US" altLang="zh-CN"/>
              <a:pPr>
                <a:defRPr/>
              </a:pPr>
              <a:t>‹#›</a:t>
            </a:fld>
            <a:endParaRPr lang="en-US" altLang="zh-CN"/>
          </a:p>
        </p:txBody>
      </p:sp>
    </p:spTree>
    <p:extLst>
      <p:ext uri="{BB962C8B-B14F-4D97-AF65-F5344CB8AC3E}">
        <p14:creationId xmlns:p14="http://schemas.microsoft.com/office/powerpoint/2010/main" val="2343317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宋体" pitchFamily="2" charset="-122"/>
        <a:cs typeface="+mn-cs"/>
      </a:defRPr>
    </a:lvl1pPr>
    <a:lvl2pPr marL="492125" algn="l" rtl="0" eaLnBrk="0" fontAlgn="base" hangingPunct="0">
      <a:spcBef>
        <a:spcPct val="30000"/>
      </a:spcBef>
      <a:spcAft>
        <a:spcPct val="0"/>
      </a:spcAft>
      <a:defRPr sz="1300" kern="1200">
        <a:solidFill>
          <a:schemeClr val="tx1"/>
        </a:solidFill>
        <a:latin typeface="Arial" charset="0"/>
        <a:ea typeface="宋体" pitchFamily="2" charset="-122"/>
        <a:cs typeface="+mn-cs"/>
      </a:defRPr>
    </a:lvl2pPr>
    <a:lvl3pPr marL="985838" algn="l" rtl="0" eaLnBrk="0" fontAlgn="base" hangingPunct="0">
      <a:spcBef>
        <a:spcPct val="30000"/>
      </a:spcBef>
      <a:spcAft>
        <a:spcPct val="0"/>
      </a:spcAft>
      <a:defRPr sz="1300" kern="1200">
        <a:solidFill>
          <a:schemeClr val="tx1"/>
        </a:solidFill>
        <a:latin typeface="Arial" charset="0"/>
        <a:ea typeface="宋体" pitchFamily="2" charset="-122"/>
        <a:cs typeface="+mn-cs"/>
      </a:defRPr>
    </a:lvl3pPr>
    <a:lvl4pPr marL="1477963" algn="l" rtl="0" eaLnBrk="0" fontAlgn="base" hangingPunct="0">
      <a:spcBef>
        <a:spcPct val="30000"/>
      </a:spcBef>
      <a:spcAft>
        <a:spcPct val="0"/>
      </a:spcAft>
      <a:defRPr sz="1300" kern="1200">
        <a:solidFill>
          <a:schemeClr val="tx1"/>
        </a:solidFill>
        <a:latin typeface="Arial" charset="0"/>
        <a:ea typeface="宋体" pitchFamily="2" charset="-122"/>
        <a:cs typeface="+mn-cs"/>
      </a:defRPr>
    </a:lvl4pPr>
    <a:lvl5pPr marL="1971675" algn="l" rtl="0" eaLnBrk="0" fontAlgn="base" hangingPunct="0">
      <a:spcBef>
        <a:spcPct val="30000"/>
      </a:spcBef>
      <a:spcAft>
        <a:spcPct val="0"/>
      </a:spcAft>
      <a:defRPr sz="1300" kern="1200">
        <a:solidFill>
          <a:schemeClr val="tx1"/>
        </a:solidFill>
        <a:latin typeface="Arial" charset="0"/>
        <a:ea typeface="宋体" pitchFamily="2" charset="-122"/>
        <a:cs typeface="+mn-cs"/>
      </a:defRPr>
    </a:lvl5pPr>
    <a:lvl6pPr marL="2464677" algn="l" defTabSz="985871" rtl="0" eaLnBrk="1" latinLnBrk="0" hangingPunct="1">
      <a:defRPr sz="1300" kern="1200">
        <a:solidFill>
          <a:schemeClr val="tx1"/>
        </a:solidFill>
        <a:latin typeface="+mn-lt"/>
        <a:ea typeface="+mn-ea"/>
        <a:cs typeface="+mn-cs"/>
      </a:defRPr>
    </a:lvl6pPr>
    <a:lvl7pPr marL="2957612" algn="l" defTabSz="985871" rtl="0" eaLnBrk="1" latinLnBrk="0" hangingPunct="1">
      <a:defRPr sz="1300" kern="1200">
        <a:solidFill>
          <a:schemeClr val="tx1"/>
        </a:solidFill>
        <a:latin typeface="+mn-lt"/>
        <a:ea typeface="+mn-ea"/>
        <a:cs typeface="+mn-cs"/>
      </a:defRPr>
    </a:lvl7pPr>
    <a:lvl8pPr marL="3450547" algn="l" defTabSz="985871" rtl="0" eaLnBrk="1" latinLnBrk="0" hangingPunct="1">
      <a:defRPr sz="1300" kern="1200">
        <a:solidFill>
          <a:schemeClr val="tx1"/>
        </a:solidFill>
        <a:latin typeface="+mn-lt"/>
        <a:ea typeface="+mn-ea"/>
        <a:cs typeface="+mn-cs"/>
      </a:defRPr>
    </a:lvl8pPr>
    <a:lvl9pPr marL="3943482" algn="l" defTabSz="98587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10</a:t>
            </a:fld>
            <a:endParaRPr lang="en-US" altLang="zh-CN"/>
          </a:p>
        </p:txBody>
      </p:sp>
    </p:spTree>
    <p:extLst>
      <p:ext uri="{BB962C8B-B14F-4D97-AF65-F5344CB8AC3E}">
        <p14:creationId xmlns:p14="http://schemas.microsoft.com/office/powerpoint/2010/main" val="2266759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11</a:t>
            </a:fld>
            <a:endParaRPr lang="en-US" altLang="zh-CN"/>
          </a:p>
        </p:txBody>
      </p:sp>
    </p:spTree>
    <p:extLst>
      <p:ext uri="{BB962C8B-B14F-4D97-AF65-F5344CB8AC3E}">
        <p14:creationId xmlns:p14="http://schemas.microsoft.com/office/powerpoint/2010/main" val="269329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12</a:t>
            </a:fld>
            <a:endParaRPr lang="en-US" altLang="zh-CN"/>
          </a:p>
        </p:txBody>
      </p:sp>
    </p:spTree>
    <p:extLst>
      <p:ext uri="{BB962C8B-B14F-4D97-AF65-F5344CB8AC3E}">
        <p14:creationId xmlns:p14="http://schemas.microsoft.com/office/powerpoint/2010/main" val="3679368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13</a:t>
            </a:fld>
            <a:endParaRPr lang="en-US" altLang="zh-CN"/>
          </a:p>
        </p:txBody>
      </p:sp>
    </p:spTree>
    <p:extLst>
      <p:ext uri="{BB962C8B-B14F-4D97-AF65-F5344CB8AC3E}">
        <p14:creationId xmlns:p14="http://schemas.microsoft.com/office/powerpoint/2010/main" val="418372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14</a:t>
            </a:fld>
            <a:endParaRPr lang="en-US" altLang="zh-CN"/>
          </a:p>
        </p:txBody>
      </p:sp>
    </p:spTree>
    <p:extLst>
      <p:ext uri="{BB962C8B-B14F-4D97-AF65-F5344CB8AC3E}">
        <p14:creationId xmlns:p14="http://schemas.microsoft.com/office/powerpoint/2010/main" val="2164700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15</a:t>
            </a:fld>
            <a:endParaRPr lang="en-US" altLang="zh-CN"/>
          </a:p>
        </p:txBody>
      </p:sp>
    </p:spTree>
    <p:extLst>
      <p:ext uri="{BB962C8B-B14F-4D97-AF65-F5344CB8AC3E}">
        <p14:creationId xmlns:p14="http://schemas.microsoft.com/office/powerpoint/2010/main" val="2036457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16</a:t>
            </a:fld>
            <a:endParaRPr lang="en-US" altLang="zh-CN"/>
          </a:p>
        </p:txBody>
      </p:sp>
    </p:spTree>
    <p:extLst>
      <p:ext uri="{BB962C8B-B14F-4D97-AF65-F5344CB8AC3E}">
        <p14:creationId xmlns:p14="http://schemas.microsoft.com/office/powerpoint/2010/main" val="3921693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17</a:t>
            </a:fld>
            <a:endParaRPr lang="en-US" altLang="zh-CN"/>
          </a:p>
        </p:txBody>
      </p:sp>
    </p:spTree>
    <p:extLst>
      <p:ext uri="{BB962C8B-B14F-4D97-AF65-F5344CB8AC3E}">
        <p14:creationId xmlns:p14="http://schemas.microsoft.com/office/powerpoint/2010/main" val="3649619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18</a:t>
            </a:fld>
            <a:endParaRPr lang="en-US" altLang="zh-CN"/>
          </a:p>
        </p:txBody>
      </p:sp>
    </p:spTree>
    <p:extLst>
      <p:ext uri="{BB962C8B-B14F-4D97-AF65-F5344CB8AC3E}">
        <p14:creationId xmlns:p14="http://schemas.microsoft.com/office/powerpoint/2010/main" val="3272013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19</a:t>
            </a:fld>
            <a:endParaRPr lang="en-US" altLang="zh-CN"/>
          </a:p>
        </p:txBody>
      </p:sp>
    </p:spTree>
    <p:extLst>
      <p:ext uri="{BB962C8B-B14F-4D97-AF65-F5344CB8AC3E}">
        <p14:creationId xmlns:p14="http://schemas.microsoft.com/office/powerpoint/2010/main" val="2477455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20</a:t>
            </a:fld>
            <a:endParaRPr lang="en-US" altLang="zh-CN"/>
          </a:p>
        </p:txBody>
      </p:sp>
    </p:spTree>
    <p:extLst>
      <p:ext uri="{BB962C8B-B14F-4D97-AF65-F5344CB8AC3E}">
        <p14:creationId xmlns:p14="http://schemas.microsoft.com/office/powerpoint/2010/main" val="2975308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21</a:t>
            </a:fld>
            <a:endParaRPr lang="en-US" altLang="zh-CN"/>
          </a:p>
        </p:txBody>
      </p:sp>
    </p:spTree>
    <p:extLst>
      <p:ext uri="{BB962C8B-B14F-4D97-AF65-F5344CB8AC3E}">
        <p14:creationId xmlns:p14="http://schemas.microsoft.com/office/powerpoint/2010/main" val="71430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22</a:t>
            </a:fld>
            <a:endParaRPr lang="en-US" altLang="zh-CN"/>
          </a:p>
        </p:txBody>
      </p:sp>
    </p:spTree>
    <p:extLst>
      <p:ext uri="{BB962C8B-B14F-4D97-AF65-F5344CB8AC3E}">
        <p14:creationId xmlns:p14="http://schemas.microsoft.com/office/powerpoint/2010/main" val="3386563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23</a:t>
            </a:fld>
            <a:endParaRPr lang="en-US" altLang="zh-CN"/>
          </a:p>
        </p:txBody>
      </p:sp>
    </p:spTree>
    <p:extLst>
      <p:ext uri="{BB962C8B-B14F-4D97-AF65-F5344CB8AC3E}">
        <p14:creationId xmlns:p14="http://schemas.microsoft.com/office/powerpoint/2010/main" val="892671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24</a:t>
            </a:fld>
            <a:endParaRPr lang="en-US" altLang="zh-CN"/>
          </a:p>
        </p:txBody>
      </p:sp>
    </p:spTree>
    <p:extLst>
      <p:ext uri="{BB962C8B-B14F-4D97-AF65-F5344CB8AC3E}">
        <p14:creationId xmlns:p14="http://schemas.microsoft.com/office/powerpoint/2010/main" val="1476218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25</a:t>
            </a:fld>
            <a:endParaRPr lang="en-US" altLang="zh-CN"/>
          </a:p>
        </p:txBody>
      </p:sp>
    </p:spTree>
    <p:extLst>
      <p:ext uri="{BB962C8B-B14F-4D97-AF65-F5344CB8AC3E}">
        <p14:creationId xmlns:p14="http://schemas.microsoft.com/office/powerpoint/2010/main" val="3951727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26</a:t>
            </a:fld>
            <a:endParaRPr lang="en-US" altLang="zh-CN"/>
          </a:p>
        </p:txBody>
      </p:sp>
    </p:spTree>
    <p:extLst>
      <p:ext uri="{BB962C8B-B14F-4D97-AF65-F5344CB8AC3E}">
        <p14:creationId xmlns:p14="http://schemas.microsoft.com/office/powerpoint/2010/main" val="1024180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27</a:t>
            </a:fld>
            <a:endParaRPr lang="en-US" altLang="zh-CN"/>
          </a:p>
        </p:txBody>
      </p:sp>
    </p:spTree>
    <p:extLst>
      <p:ext uri="{BB962C8B-B14F-4D97-AF65-F5344CB8AC3E}">
        <p14:creationId xmlns:p14="http://schemas.microsoft.com/office/powerpoint/2010/main" val="1435711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28</a:t>
            </a:fld>
            <a:endParaRPr lang="en-US" altLang="zh-CN"/>
          </a:p>
        </p:txBody>
      </p:sp>
    </p:spTree>
    <p:extLst>
      <p:ext uri="{BB962C8B-B14F-4D97-AF65-F5344CB8AC3E}">
        <p14:creationId xmlns:p14="http://schemas.microsoft.com/office/powerpoint/2010/main" val="1861019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29</a:t>
            </a:fld>
            <a:endParaRPr lang="en-US" altLang="zh-CN"/>
          </a:p>
        </p:txBody>
      </p:sp>
    </p:spTree>
    <p:extLst>
      <p:ext uri="{BB962C8B-B14F-4D97-AF65-F5344CB8AC3E}">
        <p14:creationId xmlns:p14="http://schemas.microsoft.com/office/powerpoint/2010/main" val="3603872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30</a:t>
            </a:fld>
            <a:endParaRPr lang="en-US" altLang="zh-CN"/>
          </a:p>
        </p:txBody>
      </p:sp>
    </p:spTree>
    <p:extLst>
      <p:ext uri="{BB962C8B-B14F-4D97-AF65-F5344CB8AC3E}">
        <p14:creationId xmlns:p14="http://schemas.microsoft.com/office/powerpoint/2010/main" val="3460231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31</a:t>
            </a:fld>
            <a:endParaRPr lang="en-US" altLang="zh-CN"/>
          </a:p>
        </p:txBody>
      </p:sp>
    </p:spTree>
    <p:extLst>
      <p:ext uri="{BB962C8B-B14F-4D97-AF65-F5344CB8AC3E}">
        <p14:creationId xmlns:p14="http://schemas.microsoft.com/office/powerpoint/2010/main" val="3048976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32</a:t>
            </a:fld>
            <a:endParaRPr lang="en-US" altLang="zh-CN"/>
          </a:p>
        </p:txBody>
      </p:sp>
    </p:spTree>
    <p:extLst>
      <p:ext uri="{BB962C8B-B14F-4D97-AF65-F5344CB8AC3E}">
        <p14:creationId xmlns:p14="http://schemas.microsoft.com/office/powerpoint/2010/main" val="2661127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33</a:t>
            </a:fld>
            <a:endParaRPr lang="en-US" altLang="zh-CN"/>
          </a:p>
        </p:txBody>
      </p:sp>
    </p:spTree>
    <p:extLst>
      <p:ext uri="{BB962C8B-B14F-4D97-AF65-F5344CB8AC3E}">
        <p14:creationId xmlns:p14="http://schemas.microsoft.com/office/powerpoint/2010/main" val="348078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34</a:t>
            </a:fld>
            <a:endParaRPr lang="en-US" altLang="zh-CN"/>
          </a:p>
        </p:txBody>
      </p:sp>
    </p:spTree>
    <p:extLst>
      <p:ext uri="{BB962C8B-B14F-4D97-AF65-F5344CB8AC3E}">
        <p14:creationId xmlns:p14="http://schemas.microsoft.com/office/powerpoint/2010/main" val="1824036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35</a:t>
            </a:fld>
            <a:endParaRPr lang="en-US" altLang="zh-CN"/>
          </a:p>
        </p:txBody>
      </p:sp>
    </p:spTree>
    <p:extLst>
      <p:ext uri="{BB962C8B-B14F-4D97-AF65-F5344CB8AC3E}">
        <p14:creationId xmlns:p14="http://schemas.microsoft.com/office/powerpoint/2010/main" val="2021229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36</a:t>
            </a:fld>
            <a:endParaRPr lang="en-US" altLang="zh-CN"/>
          </a:p>
        </p:txBody>
      </p:sp>
    </p:spTree>
    <p:extLst>
      <p:ext uri="{BB962C8B-B14F-4D97-AF65-F5344CB8AC3E}">
        <p14:creationId xmlns:p14="http://schemas.microsoft.com/office/powerpoint/2010/main" val="2012811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37</a:t>
            </a:fld>
            <a:endParaRPr lang="en-US" altLang="zh-CN"/>
          </a:p>
        </p:txBody>
      </p:sp>
    </p:spTree>
    <p:extLst>
      <p:ext uri="{BB962C8B-B14F-4D97-AF65-F5344CB8AC3E}">
        <p14:creationId xmlns:p14="http://schemas.microsoft.com/office/powerpoint/2010/main" val="2151686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38</a:t>
            </a:fld>
            <a:endParaRPr lang="en-US" altLang="zh-CN"/>
          </a:p>
        </p:txBody>
      </p:sp>
    </p:spTree>
    <p:extLst>
      <p:ext uri="{BB962C8B-B14F-4D97-AF65-F5344CB8AC3E}">
        <p14:creationId xmlns:p14="http://schemas.microsoft.com/office/powerpoint/2010/main" val="15304644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39</a:t>
            </a:fld>
            <a:endParaRPr lang="en-US" altLang="zh-CN"/>
          </a:p>
        </p:txBody>
      </p:sp>
    </p:spTree>
    <p:extLst>
      <p:ext uri="{BB962C8B-B14F-4D97-AF65-F5344CB8AC3E}">
        <p14:creationId xmlns:p14="http://schemas.microsoft.com/office/powerpoint/2010/main" val="1559055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40</a:t>
            </a:fld>
            <a:endParaRPr lang="en-US" altLang="zh-CN"/>
          </a:p>
        </p:txBody>
      </p:sp>
    </p:spTree>
    <p:extLst>
      <p:ext uri="{BB962C8B-B14F-4D97-AF65-F5344CB8AC3E}">
        <p14:creationId xmlns:p14="http://schemas.microsoft.com/office/powerpoint/2010/main" val="36132918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41</a:t>
            </a:fld>
            <a:endParaRPr lang="en-US" altLang="zh-CN"/>
          </a:p>
        </p:txBody>
      </p:sp>
    </p:spTree>
    <p:extLst>
      <p:ext uri="{BB962C8B-B14F-4D97-AF65-F5344CB8AC3E}">
        <p14:creationId xmlns:p14="http://schemas.microsoft.com/office/powerpoint/2010/main" val="2804234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42</a:t>
            </a:fld>
            <a:endParaRPr lang="en-US" altLang="zh-CN"/>
          </a:p>
        </p:txBody>
      </p:sp>
    </p:spTree>
    <p:extLst>
      <p:ext uri="{BB962C8B-B14F-4D97-AF65-F5344CB8AC3E}">
        <p14:creationId xmlns:p14="http://schemas.microsoft.com/office/powerpoint/2010/main" val="10511511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43</a:t>
            </a:fld>
            <a:endParaRPr lang="en-US" altLang="zh-CN"/>
          </a:p>
        </p:txBody>
      </p:sp>
    </p:spTree>
    <p:extLst>
      <p:ext uri="{BB962C8B-B14F-4D97-AF65-F5344CB8AC3E}">
        <p14:creationId xmlns:p14="http://schemas.microsoft.com/office/powerpoint/2010/main" val="2768150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44</a:t>
            </a:fld>
            <a:endParaRPr lang="en-US" altLang="zh-CN"/>
          </a:p>
        </p:txBody>
      </p:sp>
    </p:spTree>
    <p:extLst>
      <p:ext uri="{BB962C8B-B14F-4D97-AF65-F5344CB8AC3E}">
        <p14:creationId xmlns:p14="http://schemas.microsoft.com/office/powerpoint/2010/main" val="5507013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45</a:t>
            </a:fld>
            <a:endParaRPr lang="en-US" altLang="zh-CN"/>
          </a:p>
        </p:txBody>
      </p:sp>
    </p:spTree>
    <p:extLst>
      <p:ext uri="{BB962C8B-B14F-4D97-AF65-F5344CB8AC3E}">
        <p14:creationId xmlns:p14="http://schemas.microsoft.com/office/powerpoint/2010/main" val="2606270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2026" y="2125012"/>
            <a:ext cx="10336213" cy="1466282"/>
          </a:xfrm>
        </p:spPr>
        <p:txBody>
          <a:bodyPr/>
          <a:lstStyle/>
          <a:p>
            <a:r>
              <a:rPr lang="zh-CN" altLang="en-US"/>
              <a:t>单击此处编辑母版标题样式</a:t>
            </a:r>
          </a:p>
        </p:txBody>
      </p:sp>
      <p:sp>
        <p:nvSpPr>
          <p:cNvPr id="3" name="副标题 2"/>
          <p:cNvSpPr>
            <a:spLocks noGrp="1"/>
          </p:cNvSpPr>
          <p:nvPr>
            <p:ph type="subTitle" idx="1"/>
          </p:nvPr>
        </p:nvSpPr>
        <p:spPr>
          <a:xfrm>
            <a:off x="1824038" y="3876308"/>
            <a:ext cx="8512175" cy="1748137"/>
          </a:xfrm>
        </p:spPr>
        <p:txBody>
          <a:bodyPr/>
          <a:lstStyle>
            <a:lvl1pPr marL="0" indent="0" algn="ctr">
              <a:buNone/>
              <a:defRPr/>
            </a:lvl1pPr>
            <a:lvl2pPr marL="492948" indent="0" algn="ctr">
              <a:buNone/>
              <a:defRPr/>
            </a:lvl2pPr>
            <a:lvl3pPr marL="985898" indent="0" algn="ctr">
              <a:buNone/>
              <a:defRPr/>
            </a:lvl3pPr>
            <a:lvl4pPr marL="1478845" indent="0" algn="ctr">
              <a:buNone/>
              <a:defRPr/>
            </a:lvl4pPr>
            <a:lvl5pPr marL="1971795" indent="0" algn="ctr">
              <a:buNone/>
              <a:defRPr/>
            </a:lvl5pPr>
            <a:lvl6pPr marL="2464745" indent="0" algn="ctr">
              <a:buNone/>
              <a:defRPr/>
            </a:lvl6pPr>
            <a:lvl7pPr marL="2957693" indent="0" algn="ctr">
              <a:buNone/>
              <a:defRPr/>
            </a:lvl7pPr>
            <a:lvl8pPr marL="3450642" indent="0" algn="ctr">
              <a:buNone/>
              <a:defRPr/>
            </a:lvl8pPr>
            <a:lvl9pPr marL="3943590" indent="0" algn="ctr">
              <a:buNone/>
              <a:defRPr/>
            </a:lvl9pPr>
          </a:lstStyle>
          <a:p>
            <a:r>
              <a:rPr lang="zh-CN" altLang="en-US"/>
              <a:t>单击此处编辑母版副标题样式</a:t>
            </a:r>
          </a:p>
        </p:txBody>
      </p:sp>
    </p:spTree>
    <p:extLst>
      <p:ext uri="{BB962C8B-B14F-4D97-AF65-F5344CB8AC3E}">
        <p14:creationId xmlns:p14="http://schemas.microsoft.com/office/powerpoint/2010/main" val="64794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7820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0580" y="4395683"/>
            <a:ext cx="10336213" cy="1358607"/>
          </a:xfrm>
        </p:spPr>
        <p:txBody>
          <a:bodyPr anchor="t"/>
          <a:lstStyle>
            <a:lvl1pPr algn="l">
              <a:defRPr sz="4400" b="1" cap="all"/>
            </a:lvl1pPr>
          </a:lstStyle>
          <a:p>
            <a:r>
              <a:rPr lang="zh-CN" altLang="en-US"/>
              <a:t>单击此处编辑母版标题样式</a:t>
            </a:r>
          </a:p>
        </p:txBody>
      </p:sp>
      <p:sp>
        <p:nvSpPr>
          <p:cNvPr id="3" name="文本占位符 2"/>
          <p:cNvSpPr>
            <a:spLocks noGrp="1"/>
          </p:cNvSpPr>
          <p:nvPr>
            <p:ph type="body" idx="1"/>
          </p:nvPr>
        </p:nvSpPr>
        <p:spPr>
          <a:xfrm>
            <a:off x="960580" y="2899314"/>
            <a:ext cx="10336213" cy="1496367"/>
          </a:xfrm>
        </p:spPr>
        <p:txBody>
          <a:bodyPr anchor="b"/>
          <a:lstStyle>
            <a:lvl1pPr marL="0" indent="0">
              <a:buNone/>
              <a:defRPr sz="2100"/>
            </a:lvl1pPr>
            <a:lvl2pPr marL="492948" indent="0">
              <a:buNone/>
              <a:defRPr sz="1900"/>
            </a:lvl2pPr>
            <a:lvl3pPr marL="985898" indent="0">
              <a:buNone/>
              <a:defRPr sz="1700"/>
            </a:lvl3pPr>
            <a:lvl4pPr marL="1478845" indent="0">
              <a:buNone/>
              <a:defRPr sz="1500"/>
            </a:lvl4pPr>
            <a:lvl5pPr marL="1971795" indent="0">
              <a:buNone/>
              <a:defRPr sz="1500"/>
            </a:lvl5pPr>
            <a:lvl6pPr marL="2464745" indent="0">
              <a:buNone/>
              <a:defRPr sz="1500"/>
            </a:lvl6pPr>
            <a:lvl7pPr marL="2957693" indent="0">
              <a:buNone/>
              <a:defRPr sz="1500"/>
            </a:lvl7pPr>
            <a:lvl8pPr marL="3450642" indent="0">
              <a:buNone/>
              <a:defRPr sz="1500"/>
            </a:lvl8pPr>
            <a:lvl9pPr marL="3943590" indent="0">
              <a:buNone/>
              <a:defRPr sz="1500"/>
            </a:lvl9pPr>
          </a:lstStyle>
          <a:p>
            <a:pPr lvl="0"/>
            <a:r>
              <a:rPr lang="zh-CN" altLang="en-US"/>
              <a:t>单击此处编辑母版文本样式</a:t>
            </a:r>
          </a:p>
        </p:txBody>
      </p:sp>
    </p:spTree>
    <p:extLst>
      <p:ext uri="{BB962C8B-B14F-4D97-AF65-F5344CB8AC3E}">
        <p14:creationId xmlns:p14="http://schemas.microsoft.com/office/powerpoint/2010/main" val="2105034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369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13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7586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020" y="273940"/>
            <a:ext cx="10944225" cy="114009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8014" y="1531208"/>
            <a:ext cx="537288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4" name="内容占位符 3"/>
          <p:cNvSpPr>
            <a:spLocks noGrp="1"/>
          </p:cNvSpPr>
          <p:nvPr>
            <p:ph sz="half" idx="2"/>
          </p:nvPr>
        </p:nvSpPr>
        <p:spPr>
          <a:xfrm>
            <a:off x="608014" y="2169338"/>
            <a:ext cx="537288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7259" y="1531208"/>
            <a:ext cx="537499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6" name="内容占位符 5"/>
          <p:cNvSpPr>
            <a:spLocks noGrp="1"/>
          </p:cNvSpPr>
          <p:nvPr>
            <p:ph sz="quarter" idx="4"/>
          </p:nvPr>
        </p:nvSpPr>
        <p:spPr>
          <a:xfrm>
            <a:off x="6177259" y="2169338"/>
            <a:ext cx="537499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7363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679120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25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8027" y="272356"/>
            <a:ext cx="4000638" cy="1159092"/>
          </a:xfrm>
        </p:spPr>
        <p:txBody>
          <a:bodyPr/>
          <a:lstStyle>
            <a:lvl1pPr algn="l">
              <a:defRPr sz="2100" b="1"/>
            </a:lvl1pPr>
          </a:lstStyle>
          <a:p>
            <a:r>
              <a:rPr lang="zh-CN" altLang="en-US"/>
              <a:t>单击此处编辑母版标题样式</a:t>
            </a:r>
          </a:p>
        </p:txBody>
      </p:sp>
      <p:sp>
        <p:nvSpPr>
          <p:cNvPr id="3" name="内容占位符 2"/>
          <p:cNvSpPr>
            <a:spLocks noGrp="1"/>
          </p:cNvSpPr>
          <p:nvPr>
            <p:ph idx="1"/>
          </p:nvPr>
        </p:nvSpPr>
        <p:spPr>
          <a:xfrm>
            <a:off x="4754326" y="272361"/>
            <a:ext cx="6797918" cy="5838210"/>
          </a:xfrm>
        </p:spPr>
        <p:txBody>
          <a:bodyPr/>
          <a:lstStyle>
            <a:lvl1pPr>
              <a:defRPr sz="3500"/>
            </a:lvl1pPr>
            <a:lvl2pPr>
              <a:defRPr sz="3000"/>
            </a:lvl2pPr>
            <a:lvl3pPr>
              <a:defRPr sz="26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8027" y="1431451"/>
            <a:ext cx="4000638" cy="4679120"/>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791523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3494" y="4788380"/>
            <a:ext cx="7296150" cy="565296"/>
          </a:xfrm>
        </p:spPr>
        <p:txBody>
          <a:bodyPr/>
          <a:lstStyle>
            <a:lvl1pPr algn="l">
              <a:defRPr sz="2100" b="1"/>
            </a:lvl1pPr>
          </a:lstStyle>
          <a:p>
            <a:r>
              <a:rPr lang="zh-CN" altLang="en-US"/>
              <a:t>单击此处编辑母版标题样式</a:t>
            </a:r>
          </a:p>
        </p:txBody>
      </p:sp>
      <p:sp>
        <p:nvSpPr>
          <p:cNvPr id="3" name="图片占位符 2"/>
          <p:cNvSpPr>
            <a:spLocks noGrp="1"/>
          </p:cNvSpPr>
          <p:nvPr>
            <p:ph type="pic" idx="1"/>
          </p:nvPr>
        </p:nvSpPr>
        <p:spPr>
          <a:xfrm>
            <a:off x="2383494" y="611219"/>
            <a:ext cx="7296150" cy="4104323"/>
          </a:xfrm>
        </p:spPr>
        <p:txBody>
          <a:bodyPr/>
          <a:lstStyle>
            <a:lvl1pPr marL="0" indent="0">
              <a:buNone/>
              <a:defRPr sz="3500"/>
            </a:lvl1pPr>
            <a:lvl2pPr marL="492948" indent="0">
              <a:buNone/>
              <a:defRPr sz="3000"/>
            </a:lvl2pPr>
            <a:lvl3pPr marL="985898" indent="0">
              <a:buNone/>
              <a:defRPr sz="2600"/>
            </a:lvl3pPr>
            <a:lvl4pPr marL="1478845" indent="0">
              <a:buNone/>
              <a:defRPr sz="2100"/>
            </a:lvl4pPr>
            <a:lvl5pPr marL="1971795" indent="0">
              <a:buNone/>
              <a:defRPr sz="2100"/>
            </a:lvl5pPr>
            <a:lvl6pPr marL="2464745" indent="0">
              <a:buNone/>
              <a:defRPr sz="2100"/>
            </a:lvl6pPr>
            <a:lvl7pPr marL="2957693" indent="0">
              <a:buNone/>
              <a:defRPr sz="2100"/>
            </a:lvl7pPr>
            <a:lvl8pPr marL="3450642" indent="0">
              <a:buNone/>
              <a:defRPr sz="2100"/>
            </a:lvl8pPr>
            <a:lvl9pPr marL="3943590" indent="0">
              <a:buNone/>
              <a:defRPr sz="2100"/>
            </a:lvl9pPr>
          </a:lstStyle>
          <a:p>
            <a:pPr lvl="0"/>
            <a:endParaRPr lang="zh-CN" altLang="en-US" noProof="0"/>
          </a:p>
        </p:txBody>
      </p:sp>
      <p:sp>
        <p:nvSpPr>
          <p:cNvPr id="4" name="文本占位符 3"/>
          <p:cNvSpPr>
            <a:spLocks noGrp="1"/>
          </p:cNvSpPr>
          <p:nvPr>
            <p:ph type="body" sz="half" idx="2"/>
          </p:nvPr>
        </p:nvSpPr>
        <p:spPr>
          <a:xfrm>
            <a:off x="2383494" y="5353683"/>
            <a:ext cx="7296150" cy="802814"/>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08164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0416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42310" y="304024"/>
            <a:ext cx="2662166" cy="570044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3686" y="304024"/>
            <a:ext cx="7785939" cy="570044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9287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4238" y="304032"/>
            <a:ext cx="10640219" cy="1212929"/>
          </a:xfrm>
        </p:spPr>
        <p:txBody>
          <a:bodyPr/>
          <a:lstStyle/>
          <a:p>
            <a:r>
              <a:rPr lang="zh-CN" altLang="en-US"/>
              <a:t>单击此处编辑母版标题样式</a:t>
            </a:r>
          </a:p>
        </p:txBody>
      </p:sp>
      <p:sp>
        <p:nvSpPr>
          <p:cNvPr id="3" name="表格占位符 2"/>
          <p:cNvSpPr>
            <a:spLocks noGrp="1"/>
          </p:cNvSpPr>
          <p:nvPr>
            <p:ph type="tbl" idx="1"/>
          </p:nvPr>
        </p:nvSpPr>
        <p:spPr>
          <a:xfrm>
            <a:off x="753683" y="1748139"/>
            <a:ext cx="10640219" cy="4256335"/>
          </a:xfrm>
        </p:spPr>
        <p:txBody>
          <a:bodyPr/>
          <a:lstStyle/>
          <a:p>
            <a:pPr lvl="0"/>
            <a:endParaRPr lang="zh-CN" altLang="en-US" noProof="0"/>
          </a:p>
        </p:txBody>
      </p:sp>
    </p:spTree>
    <p:extLst>
      <p:ext uri="{BB962C8B-B14F-4D97-AF65-F5344CB8AC3E}">
        <p14:creationId xmlns:p14="http://schemas.microsoft.com/office/powerpoint/2010/main" val="351820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4067" y="298329"/>
            <a:ext cx="10641057"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b"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752895" y="1049338"/>
            <a:ext cx="10641055" cy="510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a:spLocks noChangeArrowheads="1"/>
          </p:cNvSpPr>
          <p:nvPr/>
        </p:nvSpPr>
        <p:spPr bwMode="auto">
          <a:xfrm>
            <a:off x="810984" y="906463"/>
            <a:ext cx="10582968" cy="107950"/>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33CCCC"/>
          </a:solidFill>
          <a:ln w="9525">
            <a:solidFill>
              <a:srgbClr val="33CCCC"/>
            </a:solidFill>
            <a:round/>
            <a:headEnd/>
            <a:tailEnd/>
          </a:ln>
        </p:spPr>
        <p:txBody>
          <a:bodyPr lIns="98587" tIns="49294" rIns="98587" bIns="49294"/>
          <a:lstStyle/>
          <a:p>
            <a:endParaRPr lang="zh-CN" altLang="en-US" dirty="0">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xStyles>
    <p:titleStyle>
      <a:lvl1pPr algn="l" rtl="0" eaLnBrk="0" fontAlgn="base" hangingPunct="0">
        <a:spcBef>
          <a:spcPct val="0"/>
        </a:spcBef>
        <a:spcAft>
          <a:spcPct val="0"/>
        </a:spcAft>
        <a:defRPr sz="4100">
          <a:solidFill>
            <a:schemeClr val="tx2"/>
          </a:solidFill>
          <a:latin typeface="宋体" panose="02010600030101010101" pitchFamily="2" charset="-122"/>
          <a:ea typeface="+mj-ea"/>
          <a:cs typeface="+mj-cs"/>
        </a:defRPr>
      </a:lvl1pPr>
      <a:lvl2pPr algn="l" rtl="0" eaLnBrk="0" fontAlgn="base" hangingPunct="0">
        <a:spcBef>
          <a:spcPct val="0"/>
        </a:spcBef>
        <a:spcAft>
          <a:spcPct val="0"/>
        </a:spcAft>
        <a:defRPr sz="4100">
          <a:solidFill>
            <a:schemeClr val="tx2"/>
          </a:solidFill>
          <a:latin typeface="Verdana" pitchFamily="34" charset="0"/>
          <a:ea typeface="宋体" pitchFamily="2" charset="-122"/>
        </a:defRPr>
      </a:lvl2pPr>
      <a:lvl3pPr algn="l" rtl="0" eaLnBrk="0" fontAlgn="base" hangingPunct="0">
        <a:spcBef>
          <a:spcPct val="0"/>
        </a:spcBef>
        <a:spcAft>
          <a:spcPct val="0"/>
        </a:spcAft>
        <a:defRPr sz="4100">
          <a:solidFill>
            <a:schemeClr val="tx2"/>
          </a:solidFill>
          <a:latin typeface="Verdana" pitchFamily="34" charset="0"/>
          <a:ea typeface="宋体" pitchFamily="2" charset="-122"/>
        </a:defRPr>
      </a:lvl3pPr>
      <a:lvl4pPr algn="l" rtl="0" eaLnBrk="0" fontAlgn="base" hangingPunct="0">
        <a:spcBef>
          <a:spcPct val="0"/>
        </a:spcBef>
        <a:spcAft>
          <a:spcPct val="0"/>
        </a:spcAft>
        <a:defRPr sz="4100">
          <a:solidFill>
            <a:schemeClr val="tx2"/>
          </a:solidFill>
          <a:latin typeface="Verdana" pitchFamily="34" charset="0"/>
          <a:ea typeface="宋体" pitchFamily="2" charset="-122"/>
        </a:defRPr>
      </a:lvl4pPr>
      <a:lvl5pPr algn="l" rtl="0" eaLnBrk="0" fontAlgn="base" hangingPunct="0">
        <a:spcBef>
          <a:spcPct val="0"/>
        </a:spcBef>
        <a:spcAft>
          <a:spcPct val="0"/>
        </a:spcAft>
        <a:defRPr sz="4100">
          <a:solidFill>
            <a:schemeClr val="tx2"/>
          </a:solidFill>
          <a:latin typeface="Verdana" pitchFamily="34" charset="0"/>
          <a:ea typeface="宋体" pitchFamily="2" charset="-122"/>
        </a:defRPr>
      </a:lvl5pPr>
      <a:lvl6pPr marL="492948" algn="l" rtl="0" fontAlgn="base">
        <a:spcBef>
          <a:spcPct val="0"/>
        </a:spcBef>
        <a:spcAft>
          <a:spcPct val="0"/>
        </a:spcAft>
        <a:defRPr sz="4100">
          <a:solidFill>
            <a:schemeClr val="tx2"/>
          </a:solidFill>
          <a:latin typeface="Verdana" pitchFamily="34" charset="0"/>
          <a:ea typeface="宋体" pitchFamily="2" charset="-122"/>
        </a:defRPr>
      </a:lvl6pPr>
      <a:lvl7pPr marL="985898" algn="l" rtl="0" fontAlgn="base">
        <a:spcBef>
          <a:spcPct val="0"/>
        </a:spcBef>
        <a:spcAft>
          <a:spcPct val="0"/>
        </a:spcAft>
        <a:defRPr sz="4100">
          <a:solidFill>
            <a:schemeClr val="tx2"/>
          </a:solidFill>
          <a:latin typeface="Verdana" pitchFamily="34" charset="0"/>
          <a:ea typeface="宋体" pitchFamily="2" charset="-122"/>
        </a:defRPr>
      </a:lvl7pPr>
      <a:lvl8pPr marL="1478845" algn="l" rtl="0" fontAlgn="base">
        <a:spcBef>
          <a:spcPct val="0"/>
        </a:spcBef>
        <a:spcAft>
          <a:spcPct val="0"/>
        </a:spcAft>
        <a:defRPr sz="4100">
          <a:solidFill>
            <a:schemeClr val="tx2"/>
          </a:solidFill>
          <a:latin typeface="Verdana" pitchFamily="34" charset="0"/>
          <a:ea typeface="宋体" pitchFamily="2" charset="-122"/>
        </a:defRPr>
      </a:lvl8pPr>
      <a:lvl9pPr marL="1971795" algn="l" rtl="0" fontAlgn="base">
        <a:spcBef>
          <a:spcPct val="0"/>
        </a:spcBef>
        <a:spcAft>
          <a:spcPct val="0"/>
        </a:spcAft>
        <a:defRPr sz="4100">
          <a:solidFill>
            <a:schemeClr val="tx2"/>
          </a:solidFill>
          <a:latin typeface="Verdana" pitchFamily="34" charset="0"/>
          <a:ea typeface="宋体" pitchFamily="2" charset="-122"/>
        </a:defRPr>
      </a:lvl9pPr>
    </p:titleStyle>
    <p:bodyStyle>
      <a:lvl1pPr marL="506427" indent="-506427" algn="l" rtl="0" eaLnBrk="0" fontAlgn="base" hangingPunct="0">
        <a:spcBef>
          <a:spcPct val="20000"/>
        </a:spcBef>
        <a:spcAft>
          <a:spcPct val="0"/>
        </a:spcAft>
        <a:buClr>
          <a:schemeClr val="accent2"/>
        </a:buClr>
        <a:buFont typeface="Wingdings" pitchFamily="2" charset="2"/>
        <a:buChar char="o"/>
        <a:defRPr sz="3200">
          <a:solidFill>
            <a:schemeClr val="tx1"/>
          </a:solidFill>
          <a:latin typeface="宋体" panose="02010600030101010101" pitchFamily="2" charset="-122"/>
          <a:ea typeface="+mn-ea"/>
          <a:cs typeface="+mn-cs"/>
        </a:defRPr>
      </a:lvl1pPr>
      <a:lvl2pPr marL="977927" indent="-469913" algn="l" rtl="0" eaLnBrk="0" fontAlgn="base" hangingPunct="0">
        <a:spcBef>
          <a:spcPct val="20000"/>
        </a:spcBef>
        <a:spcAft>
          <a:spcPct val="0"/>
        </a:spcAft>
        <a:buClr>
          <a:schemeClr val="accent2"/>
        </a:buClr>
        <a:buFont typeface="Wingdings" pitchFamily="2" charset="2"/>
        <a:buChar char="n"/>
        <a:defRPr sz="2800">
          <a:solidFill>
            <a:schemeClr val="tx1"/>
          </a:solidFill>
          <a:latin typeface="宋体" panose="02010600030101010101" pitchFamily="2" charset="-122"/>
          <a:ea typeface="+mn-ea"/>
        </a:defRPr>
      </a:lvl2pPr>
      <a:lvl3pPr marL="1406564" indent="-425462" algn="l" rtl="0" eaLnBrk="0" fontAlgn="base" hangingPunct="0">
        <a:spcBef>
          <a:spcPct val="20000"/>
        </a:spcBef>
        <a:spcAft>
          <a:spcPct val="0"/>
        </a:spcAft>
        <a:buClr>
          <a:schemeClr val="accent2"/>
        </a:buClr>
        <a:buFont typeface="Wingdings" pitchFamily="2" charset="2"/>
        <a:buChar char="o"/>
        <a:defRPr sz="2500">
          <a:solidFill>
            <a:schemeClr val="tx1"/>
          </a:solidFill>
          <a:latin typeface="宋体" panose="02010600030101010101" pitchFamily="2" charset="-122"/>
          <a:ea typeface="+mn-ea"/>
        </a:defRPr>
      </a:lvl3pPr>
      <a:lvl4pPr marL="1825675" indent="-417524" algn="l" rtl="0" eaLnBrk="0" fontAlgn="base" hangingPunct="0">
        <a:spcBef>
          <a:spcPct val="20000"/>
        </a:spcBef>
        <a:spcAft>
          <a:spcPct val="0"/>
        </a:spcAft>
        <a:buClr>
          <a:schemeClr val="accent2"/>
        </a:buClr>
        <a:buFont typeface="Wingdings" pitchFamily="2" charset="2"/>
        <a:buChar char="n"/>
        <a:defRPr sz="2100">
          <a:solidFill>
            <a:schemeClr val="tx1"/>
          </a:solidFill>
          <a:latin typeface="宋体" panose="02010600030101010101" pitchFamily="2" charset="-122"/>
          <a:ea typeface="+mn-ea"/>
        </a:defRPr>
      </a:lvl4pPr>
      <a:lvl5pPr marL="2257487" indent="-428637" algn="l" rtl="0" eaLnBrk="0" fontAlgn="base" hangingPunct="0">
        <a:spcBef>
          <a:spcPct val="25000"/>
        </a:spcBef>
        <a:spcAft>
          <a:spcPct val="0"/>
        </a:spcAft>
        <a:buClr>
          <a:schemeClr val="accent2"/>
        </a:buClr>
        <a:buFont typeface="Wingdings" pitchFamily="2" charset="2"/>
        <a:buChar char="§"/>
        <a:defRPr sz="2100">
          <a:solidFill>
            <a:schemeClr val="tx1"/>
          </a:solidFill>
          <a:latin typeface="宋体" panose="02010600030101010101" pitchFamily="2" charset="-122"/>
          <a:ea typeface="+mn-ea"/>
        </a:defRPr>
      </a:lvl5pPr>
      <a:lvl6pPr marL="2750588"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6pPr>
      <a:lvl7pPr marL="3243535"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7pPr>
      <a:lvl8pPr marL="373648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8pPr>
      <a:lvl9pPr marL="422943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9pPr>
    </p:bodyStyle>
    <p:otherStyle>
      <a:defPPr>
        <a:defRPr lang="zh-CN"/>
      </a:defPPr>
      <a:lvl1pPr marL="0" algn="l" defTabSz="985898" rtl="0" eaLnBrk="1" latinLnBrk="0" hangingPunct="1">
        <a:defRPr sz="1900" kern="1200">
          <a:solidFill>
            <a:schemeClr val="tx1"/>
          </a:solidFill>
          <a:latin typeface="+mn-lt"/>
          <a:ea typeface="+mn-ea"/>
          <a:cs typeface="+mn-cs"/>
        </a:defRPr>
      </a:lvl1pPr>
      <a:lvl2pPr marL="492948" algn="l" defTabSz="985898" rtl="0" eaLnBrk="1" latinLnBrk="0" hangingPunct="1">
        <a:defRPr sz="1900" kern="1200">
          <a:solidFill>
            <a:schemeClr val="tx1"/>
          </a:solidFill>
          <a:latin typeface="+mn-lt"/>
          <a:ea typeface="+mn-ea"/>
          <a:cs typeface="+mn-cs"/>
        </a:defRPr>
      </a:lvl2pPr>
      <a:lvl3pPr marL="985898" algn="l" defTabSz="985898" rtl="0" eaLnBrk="1" latinLnBrk="0" hangingPunct="1">
        <a:defRPr sz="1900" kern="1200">
          <a:solidFill>
            <a:schemeClr val="tx1"/>
          </a:solidFill>
          <a:latin typeface="+mn-lt"/>
          <a:ea typeface="+mn-ea"/>
          <a:cs typeface="+mn-cs"/>
        </a:defRPr>
      </a:lvl3pPr>
      <a:lvl4pPr marL="1478845" algn="l" defTabSz="985898" rtl="0" eaLnBrk="1" latinLnBrk="0" hangingPunct="1">
        <a:defRPr sz="1900" kern="1200">
          <a:solidFill>
            <a:schemeClr val="tx1"/>
          </a:solidFill>
          <a:latin typeface="+mn-lt"/>
          <a:ea typeface="+mn-ea"/>
          <a:cs typeface="+mn-cs"/>
        </a:defRPr>
      </a:lvl4pPr>
      <a:lvl5pPr marL="1971795" algn="l" defTabSz="985898" rtl="0" eaLnBrk="1" latinLnBrk="0" hangingPunct="1">
        <a:defRPr sz="1900" kern="1200">
          <a:solidFill>
            <a:schemeClr val="tx1"/>
          </a:solidFill>
          <a:latin typeface="+mn-lt"/>
          <a:ea typeface="+mn-ea"/>
          <a:cs typeface="+mn-cs"/>
        </a:defRPr>
      </a:lvl5pPr>
      <a:lvl6pPr marL="2464745" algn="l" defTabSz="985898" rtl="0" eaLnBrk="1" latinLnBrk="0" hangingPunct="1">
        <a:defRPr sz="1900" kern="1200">
          <a:solidFill>
            <a:schemeClr val="tx1"/>
          </a:solidFill>
          <a:latin typeface="+mn-lt"/>
          <a:ea typeface="+mn-ea"/>
          <a:cs typeface="+mn-cs"/>
        </a:defRPr>
      </a:lvl6pPr>
      <a:lvl7pPr marL="2957693" algn="l" defTabSz="985898" rtl="0" eaLnBrk="1" latinLnBrk="0" hangingPunct="1">
        <a:defRPr sz="1900" kern="1200">
          <a:solidFill>
            <a:schemeClr val="tx1"/>
          </a:solidFill>
          <a:latin typeface="+mn-lt"/>
          <a:ea typeface="+mn-ea"/>
          <a:cs typeface="+mn-cs"/>
        </a:defRPr>
      </a:lvl7pPr>
      <a:lvl8pPr marL="3450642" algn="l" defTabSz="985898" rtl="0" eaLnBrk="1" latinLnBrk="0" hangingPunct="1">
        <a:defRPr sz="1900" kern="1200">
          <a:solidFill>
            <a:schemeClr val="tx1"/>
          </a:solidFill>
          <a:latin typeface="+mn-lt"/>
          <a:ea typeface="+mn-ea"/>
          <a:cs typeface="+mn-cs"/>
        </a:defRPr>
      </a:lvl8pPr>
      <a:lvl9pPr marL="3943590" algn="l" defTabSz="985898"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5.xml"/><Relationship Id="rId1" Type="http://schemas.openxmlformats.org/officeDocument/2006/relationships/slideLayout" Target="../slideLayouts/slideLayout1.xml"/><Relationship Id="rId4" Type="http://schemas.openxmlformats.org/officeDocument/2006/relationships/slide" Target="slide3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p:txBody>
          <a:bodyPr/>
          <a:lstStyle/>
          <a:p>
            <a:pPr algn="ctr"/>
            <a:r>
              <a:rPr lang="zh-CN" altLang="en-US" b="1" dirty="0"/>
              <a:t>企业网站设计篇</a:t>
            </a:r>
            <a:br>
              <a:rPr lang="en-US" altLang="zh-CN" b="1" dirty="0"/>
            </a:br>
            <a:r>
              <a:rPr lang="zh-CN" altLang="en-US" b="1" dirty="0"/>
              <a:t>项目</a:t>
            </a:r>
            <a:r>
              <a:rPr lang="en-US" altLang="zh-CN" b="1" dirty="0"/>
              <a:t>5 </a:t>
            </a:r>
            <a:r>
              <a:rPr lang="zh-CN" altLang="en-US" b="1" dirty="0"/>
              <a:t>用户注册页面</a:t>
            </a:r>
          </a:p>
        </p:txBody>
      </p:sp>
      <p:sp>
        <p:nvSpPr>
          <p:cNvPr id="4" name="矩形 3">
            <a:extLst>
              <a:ext uri="{FF2B5EF4-FFF2-40B4-BE49-F238E27FC236}">
                <a16:creationId xmlns:a16="http://schemas.microsoft.com/office/drawing/2014/main" id="{EA1C5CCF-C34E-43C7-9152-375DDC49F3B5}"/>
              </a:ext>
            </a:extLst>
          </p:cNvPr>
          <p:cNvSpPr/>
          <p:nvPr/>
        </p:nvSpPr>
        <p:spPr>
          <a:xfrm>
            <a:off x="751533" y="323925"/>
            <a:ext cx="3510320" cy="461665"/>
          </a:xfrm>
          <a:prstGeom prst="rect">
            <a:avLst/>
          </a:prstGeom>
        </p:spPr>
        <p:txBody>
          <a:bodyPr wrap="none">
            <a:spAutoFit/>
          </a:bodyPr>
          <a:lstStyle/>
          <a:p>
            <a:r>
              <a:rPr lang="en-US" altLang="zh-CN" sz="2400" dirty="0">
                <a:solidFill>
                  <a:srgbClr val="000000"/>
                </a:solidFill>
                <a:effectLst>
                  <a:outerShdw blurRad="38100" dist="38100" dir="2700000" algn="tl">
                    <a:srgbClr val="000000">
                      <a:alpha val="43137"/>
                    </a:srgbClr>
                  </a:outerShdw>
                </a:effectLst>
                <a:latin typeface="Times New Roman" panose="02020603050405020304" pitchFamily="18" charset="0"/>
              </a:rPr>
              <a:t>Web</a:t>
            </a:r>
            <a:r>
              <a:rPr lang="zh-CN" altLang="en-US" sz="2400" dirty="0">
                <a:solidFill>
                  <a:srgbClr val="000000"/>
                </a:solidFill>
                <a:effectLst>
                  <a:outerShdw blurRad="38100" dist="38100" dir="2700000" algn="tl">
                    <a:srgbClr val="000000">
                      <a:alpha val="43137"/>
                    </a:srgbClr>
                  </a:outerShdw>
                </a:effectLst>
                <a:latin typeface="宋体" panose="02010600030101010101" pitchFamily="2" charset="-122"/>
                <a:cs typeface="Times New Roman" panose="02020603050405020304" pitchFamily="18" charset="0"/>
              </a:rPr>
              <a:t>前端开发与项目实践</a:t>
            </a:r>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597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项目</a:t>
            </a:r>
            <a:r>
              <a:rPr lang="en-US" altLang="zh-CN" b="1" dirty="0">
                <a:solidFill>
                  <a:srgbClr val="C00000"/>
                </a:solidFill>
                <a:latin typeface="黑体" panose="02010609060101010101" pitchFamily="49" charset="-122"/>
                <a:ea typeface="黑体" panose="02010609060101010101" pitchFamily="49" charset="-122"/>
              </a:rPr>
              <a:t>5 </a:t>
            </a:r>
            <a:r>
              <a:rPr lang="zh-CN" altLang="en-US" b="1" dirty="0">
                <a:solidFill>
                  <a:srgbClr val="C00000"/>
                </a:solidFill>
                <a:latin typeface="黑体" panose="02010609060101010101" pitchFamily="49" charset="-122"/>
                <a:ea typeface="黑体" panose="02010609060101010101" pitchFamily="49" charset="-122"/>
              </a:rPr>
              <a:t>用户注册页面</a:t>
            </a:r>
          </a:p>
        </p:txBody>
      </p:sp>
      <p:sp>
        <p:nvSpPr>
          <p:cNvPr id="8" name="Text Box 7">
            <a:hlinkClick r:id="rId2" action="ppaction://hlinksldjump"/>
            <a:extLst>
              <a:ext uri="{FF2B5EF4-FFF2-40B4-BE49-F238E27FC236}">
                <a16:creationId xmlns:a16="http://schemas.microsoft.com/office/drawing/2014/main" id="{36177B38-43AB-4398-968B-448F8F0E5F49}"/>
              </a:ext>
            </a:extLst>
          </p:cNvPr>
          <p:cNvSpPr txBox="1">
            <a:spLocks noChangeArrowheads="1"/>
          </p:cNvSpPr>
          <p:nvPr/>
        </p:nvSpPr>
        <p:spPr bwMode="auto">
          <a:xfrm>
            <a:off x="823541" y="3177863"/>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 5-4~5-5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企业网站首页</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ED5190C6-99BB-415D-8F59-77FCD7A8FBC3}"/>
              </a:ext>
            </a:extLst>
          </p:cNvPr>
          <p:cNvSpPr/>
          <p:nvPr/>
        </p:nvSpPr>
        <p:spPr>
          <a:xfrm>
            <a:off x="823541" y="1282842"/>
            <a:ext cx="3978974" cy="523220"/>
          </a:xfrm>
          <a:prstGeom prst="rect">
            <a:avLst/>
          </a:prstGeom>
        </p:spPr>
        <p:txBody>
          <a:bodyPr wrap="non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5-1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表单基本概念</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4" name="矩形 3">
            <a:hlinkClick r:id="rId3" action="ppaction://hlinksldjump"/>
            <a:extLst>
              <a:ext uri="{FF2B5EF4-FFF2-40B4-BE49-F238E27FC236}">
                <a16:creationId xmlns:a16="http://schemas.microsoft.com/office/drawing/2014/main" id="{22C9A27B-F5FF-4816-952E-F22915BB7608}"/>
              </a:ext>
            </a:extLst>
          </p:cNvPr>
          <p:cNvSpPr/>
          <p:nvPr/>
        </p:nvSpPr>
        <p:spPr>
          <a:xfrm>
            <a:off x="823541" y="1914516"/>
            <a:ext cx="3260829" cy="523220"/>
          </a:xfrm>
          <a:prstGeom prst="rect">
            <a:avLst/>
          </a:prstGeom>
        </p:spPr>
        <p:txBody>
          <a:bodyPr wrap="non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5-2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表单控件</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5" name="矩形 4">
            <a:hlinkClick r:id="rId4" action="ppaction://hlinksldjump"/>
            <a:extLst>
              <a:ext uri="{FF2B5EF4-FFF2-40B4-BE49-F238E27FC236}">
                <a16:creationId xmlns:a16="http://schemas.microsoft.com/office/drawing/2014/main" id="{198D26D5-AE9A-43D1-9CE2-FFBAA692382E}"/>
              </a:ext>
            </a:extLst>
          </p:cNvPr>
          <p:cNvSpPr/>
          <p:nvPr/>
        </p:nvSpPr>
        <p:spPr>
          <a:xfrm>
            <a:off x="823541" y="2546190"/>
            <a:ext cx="3978974" cy="523220"/>
          </a:xfrm>
          <a:prstGeom prst="rect">
            <a:avLst/>
          </a:prstGeom>
        </p:spPr>
        <p:txBody>
          <a:bodyPr wrap="none">
            <a:spAutoFit/>
          </a:body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5-3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表单样式设计</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225663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项目</a:t>
            </a:r>
            <a:r>
              <a:rPr lang="en-US" altLang="zh-CN" b="1" dirty="0">
                <a:solidFill>
                  <a:srgbClr val="C00000"/>
                </a:solidFill>
                <a:latin typeface="黑体" panose="02010609060101010101" pitchFamily="49" charset="-122"/>
                <a:ea typeface="黑体" panose="02010609060101010101" pitchFamily="49" charset="-122"/>
              </a:rPr>
              <a:t>5 </a:t>
            </a:r>
            <a:r>
              <a:rPr lang="zh-CN" altLang="en-US" b="1" dirty="0">
                <a:solidFill>
                  <a:srgbClr val="C00000"/>
                </a:solidFill>
                <a:latin typeface="黑体" panose="02010609060101010101" pitchFamily="49" charset="-122"/>
                <a:ea typeface="黑体" panose="02010609060101010101" pitchFamily="49" charset="-122"/>
              </a:rPr>
              <a:t>用户注册页面</a:t>
            </a:r>
          </a:p>
        </p:txBody>
      </p:sp>
      <p:sp>
        <p:nvSpPr>
          <p:cNvPr id="3" name="矩形 2">
            <a:extLst>
              <a:ext uri="{FF2B5EF4-FFF2-40B4-BE49-F238E27FC236}">
                <a16:creationId xmlns:a16="http://schemas.microsoft.com/office/drawing/2014/main" id="{D423414B-884D-44D2-950C-D69CAF6027EC}"/>
              </a:ext>
            </a:extLst>
          </p:cNvPr>
          <p:cNvSpPr/>
          <p:nvPr/>
        </p:nvSpPr>
        <p:spPr>
          <a:xfrm>
            <a:off x="5430391" y="1259766"/>
            <a:ext cx="6681637" cy="461665"/>
          </a:xfrm>
          <a:prstGeom prst="rect">
            <a:avLst/>
          </a:prstGeom>
        </p:spPr>
        <p:txBody>
          <a:bodyPr wrap="none">
            <a:spAutoFit/>
          </a:bodyPr>
          <a:lstStyle/>
          <a:p>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本项目将介绍如何制作企业网站的</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用户注册页面</a:t>
            </a:r>
            <a:endParaRPr lang="zh-CN" altLang="en-US" sz="2400" b="1" dirty="0">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50818C01-AC85-4E74-B6C9-A4967A0A45EF}"/>
              </a:ext>
            </a:extLst>
          </p:cNvPr>
          <p:cNvSpPr/>
          <p:nvPr/>
        </p:nvSpPr>
        <p:spPr>
          <a:xfrm>
            <a:off x="5430391" y="1764085"/>
            <a:ext cx="6080125" cy="576248"/>
          </a:xfrm>
          <a:prstGeom prst="rect">
            <a:avLst/>
          </a:prstGeom>
        </p:spPr>
        <p:txBody>
          <a:bodyPr>
            <a:spAutoFit/>
          </a:bodyPr>
          <a:lstStyle/>
          <a:p>
            <a:pPr marL="342900" indent="-342900">
              <a:lnSpc>
                <a:spcPct val="150000"/>
              </a:lnSpc>
              <a:buFont typeface="Times New Roman" panose="02020603050405020304" pitchFamily="18" charset="0"/>
              <a:buChar cha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主要用到</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HTML</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表单元素</a:t>
            </a:r>
            <a:endPar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EFB4A61B-1058-4112-A6CF-0FCCFD2C4035}"/>
              </a:ext>
            </a:extLst>
          </p:cNvPr>
          <p:cNvSpPr/>
          <p:nvPr/>
        </p:nvSpPr>
        <p:spPr>
          <a:xfrm>
            <a:off x="5430390" y="2382987"/>
            <a:ext cx="6080125" cy="1514325"/>
          </a:xfrm>
          <a:prstGeom prst="rect">
            <a:avLst/>
          </a:prstGeom>
        </p:spPr>
        <p:txBody>
          <a:bodyPr>
            <a:spAutoFit/>
          </a:bodyPr>
          <a:lstStyle/>
          <a:p>
            <a:pPr marL="342900" indent="-342900">
              <a:lnSpc>
                <a:spcPct val="150000"/>
              </a:lnSpc>
              <a:buFont typeface="Wingdings" panose="05000000000000000000" pitchFamily="2" charset="2"/>
              <a:buChar char="Ø"/>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主要知识点</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627063" lvl="1" indent="-342900">
              <a:lnSpc>
                <a:spcPct val="150000"/>
              </a:lnSpc>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表单控件</a:t>
            </a:r>
            <a:endPar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627063" lvl="1" indent="-342900">
              <a:lnSpc>
                <a:spcPct val="150000"/>
              </a:lnSpc>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表单样式</a:t>
            </a:r>
            <a:endPar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F364B059-B60F-1446-B660-6D60F0339477}"/>
              </a:ext>
            </a:extLst>
          </p:cNvPr>
          <p:cNvPicPr>
            <a:picLocks noChangeAspect="1"/>
          </p:cNvPicPr>
          <p:nvPr/>
        </p:nvPicPr>
        <p:blipFill rotWithShape="1">
          <a:blip r:embed="rId2">
            <a:extLst>
              <a:ext uri="{28A0092B-C50C-407E-A947-70E740481C1C}">
                <a14:useLocalDpi xmlns:a14="http://schemas.microsoft.com/office/drawing/2010/main" val="0"/>
              </a:ext>
            </a:extLst>
          </a:blip>
          <a:srcRect b="53960"/>
          <a:stretch/>
        </p:blipFill>
        <p:spPr bwMode="auto">
          <a:xfrm>
            <a:off x="772525" y="1259766"/>
            <a:ext cx="3940997" cy="3791588"/>
          </a:xfrm>
          <a:prstGeom prst="rect">
            <a:avLst/>
          </a:prstGeom>
          <a:noFill/>
          <a:ln>
            <a:noFill/>
          </a:ln>
          <a:extLst>
            <a:ext uri="{53640926-AAD7-44D8-BBD7-CCE9431645EC}">
              <a14:shadowObscured xmlns:a14="http://schemas.microsoft.com/office/drawing/2010/main"/>
            </a:ext>
          </a:extLst>
        </p:spPr>
      </p:pic>
      <p:pic>
        <p:nvPicPr>
          <p:cNvPr id="8" name="图片 7">
            <a:extLst>
              <a:ext uri="{FF2B5EF4-FFF2-40B4-BE49-F238E27FC236}">
                <a16:creationId xmlns:a16="http://schemas.microsoft.com/office/drawing/2014/main" id="{D6E532FC-3C82-8044-98EA-8A3504F9FAE8}"/>
              </a:ext>
            </a:extLst>
          </p:cNvPr>
          <p:cNvPicPr>
            <a:picLocks noChangeAspect="1"/>
          </p:cNvPicPr>
          <p:nvPr/>
        </p:nvPicPr>
        <p:blipFill rotWithShape="1">
          <a:blip r:embed="rId2">
            <a:extLst>
              <a:ext uri="{28A0092B-C50C-407E-A947-70E740481C1C}">
                <a14:useLocalDpi xmlns:a14="http://schemas.microsoft.com/office/drawing/2010/main" val="0"/>
              </a:ext>
            </a:extLst>
          </a:blip>
          <a:srcRect t="46243" b="15"/>
          <a:stretch/>
        </p:blipFill>
        <p:spPr bwMode="auto">
          <a:xfrm>
            <a:off x="781099" y="1259766"/>
            <a:ext cx="3940997" cy="442534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886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什么是表单</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548061"/>
            <a:ext cx="8730275" cy="3329758"/>
          </a:xfrm>
          <a:prstGeom prst="rect">
            <a:avLst/>
          </a:prstGeom>
        </p:spPr>
        <p:txBody>
          <a:bodyPr wrap="none">
            <a:spAutoFit/>
          </a:bodyPr>
          <a:lstStyle/>
          <a:p>
            <a:pPr marL="342900" indent="-342900">
              <a:lnSpc>
                <a:spcPct val="150000"/>
              </a:lnSpc>
              <a:buFont typeface="Wingdings" panose="05000000000000000000" pitchFamily="2" charset="2"/>
              <a:buChar char="ü"/>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Web</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网页重要的组成部分</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ü"/>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表单构成</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835025" lvl="1" indent="-342900">
              <a:lnSpc>
                <a:spcPct val="150000"/>
              </a:lnSpc>
              <a:buFont typeface="Wingdings"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控件（</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Controls</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）（例如文本框、按钮、复选框等）</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835025" lvl="1" indent="-342900">
              <a:lnSpc>
                <a:spcPct val="150000"/>
              </a:lnSpc>
              <a:buFont typeface="Wingdings"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控件对应的标签（</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Label</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835025" lvl="1" indent="-342900">
              <a:lnSpc>
                <a:spcPct val="150000"/>
              </a:lnSpc>
              <a:buFont typeface="Wingdings"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用来修饰表单的其他普通</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HTML</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元素</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lvl="1" indent="-342900">
              <a:lnSpc>
                <a:spcPct val="150000"/>
              </a:lnSpc>
              <a:buFont typeface="Wingdings" panose="05000000000000000000" pitchFamily="2" charset="2"/>
              <a:buChar char="ü"/>
            </a:pPr>
            <a:r>
              <a:rPr lang="zh-CN"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用户访问网页时通过表单可以与页面或后台服务器进行交互 </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2378383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什么是表单</a:t>
            </a:r>
            <a:endParaRPr lang="en-US" altLang="zh-CN" sz="2800" b="1" dirty="0">
              <a:solidFill>
                <a:srgbClr val="0000FF"/>
              </a:solidFill>
            </a:endParaRPr>
          </a:p>
        </p:txBody>
      </p:sp>
      <p:pic>
        <p:nvPicPr>
          <p:cNvPr id="4" name="图片 3">
            <a:extLst>
              <a:ext uri="{FF2B5EF4-FFF2-40B4-BE49-F238E27FC236}">
                <a16:creationId xmlns:a16="http://schemas.microsoft.com/office/drawing/2014/main" id="{79D8F749-D86A-4BA8-86BE-03C6BE2624B2}"/>
              </a:ext>
            </a:extLst>
          </p:cNvPr>
          <p:cNvPicPr>
            <a:picLocks noChangeAspect="1"/>
          </p:cNvPicPr>
          <p:nvPr/>
        </p:nvPicPr>
        <p:blipFill>
          <a:blip r:embed="rId2"/>
          <a:stretch>
            <a:fillRect/>
          </a:stretch>
        </p:blipFill>
        <p:spPr>
          <a:xfrm>
            <a:off x="2047677" y="1908101"/>
            <a:ext cx="7794539" cy="3249652"/>
          </a:xfrm>
          <a:prstGeom prst="rect">
            <a:avLst/>
          </a:prstGeom>
        </p:spPr>
      </p:pic>
      <p:sp>
        <p:nvSpPr>
          <p:cNvPr id="5" name="矩形 4">
            <a:extLst>
              <a:ext uri="{FF2B5EF4-FFF2-40B4-BE49-F238E27FC236}">
                <a16:creationId xmlns:a16="http://schemas.microsoft.com/office/drawing/2014/main" id="{5C22796D-F4C5-4F6C-93A8-FF55C5704524}"/>
              </a:ext>
            </a:extLst>
          </p:cNvPr>
          <p:cNvSpPr/>
          <p:nvPr/>
        </p:nvSpPr>
        <p:spPr>
          <a:xfrm>
            <a:off x="5160116" y="5436493"/>
            <a:ext cx="1569660" cy="369332"/>
          </a:xfrm>
          <a:prstGeom prst="rect">
            <a:avLst/>
          </a:prstGeom>
        </p:spPr>
        <p:txBody>
          <a:bodyPr wrap="none">
            <a:spAutoFit/>
          </a:bodyPr>
          <a:lstStyle/>
          <a:p>
            <a:r>
              <a:rPr lang="zh-CN" altLang="zh-CN" b="1" dirty="0">
                <a:cs typeface="Times New Roman" panose="02020603050405020304" pitchFamily="18" charset="0"/>
              </a:rPr>
              <a:t>用户登录表单</a:t>
            </a:r>
            <a:endParaRPr lang="zh-CN" altLang="en-US" b="1" dirty="0"/>
          </a:p>
        </p:txBody>
      </p:sp>
    </p:spTree>
    <p:extLst>
      <p:ext uri="{BB962C8B-B14F-4D97-AF65-F5344CB8AC3E}">
        <p14:creationId xmlns:p14="http://schemas.microsoft.com/office/powerpoint/2010/main" val="2423537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构建表单</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19197" y="1711357"/>
            <a:ext cx="4676280" cy="559769"/>
          </a:xfrm>
          <a:prstGeom prst="rect">
            <a:avLst/>
          </a:prstGeom>
        </p:spPr>
        <p:txBody>
          <a:bodyPr wrap="none">
            <a:spAutoFit/>
          </a:bodyPr>
          <a:lstStyle/>
          <a:p>
            <a:pPr>
              <a:lnSpc>
                <a:spcPct val="150000"/>
              </a:lnSpc>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、使用</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&lt;form&gt;</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元素构建一个表单</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E40E7B15-C240-794E-B08C-33A6B891B2FC}"/>
              </a:ext>
            </a:extLst>
          </p:cNvPr>
          <p:cNvGraphicFramePr>
            <a:graphicFrameLocks noGrp="1"/>
          </p:cNvGraphicFramePr>
          <p:nvPr>
            <p:extLst>
              <p:ext uri="{D42A27DB-BD31-4B8C-83A1-F6EECF244321}">
                <p14:modId xmlns:p14="http://schemas.microsoft.com/office/powerpoint/2010/main" val="460210651"/>
              </p:ext>
            </p:extLst>
          </p:nvPr>
        </p:nvGraphicFramePr>
        <p:xfrm>
          <a:off x="791084" y="3420269"/>
          <a:ext cx="10944274" cy="2782065"/>
        </p:xfrm>
        <a:graphic>
          <a:graphicData uri="http://schemas.openxmlformats.org/drawingml/2006/table">
            <a:tbl>
              <a:tblPr firstRow="1" firstCol="1" bandRow="1"/>
              <a:tblGrid>
                <a:gridCol w="1512168">
                  <a:extLst>
                    <a:ext uri="{9D8B030D-6E8A-4147-A177-3AD203B41FA5}">
                      <a16:colId xmlns:a16="http://schemas.microsoft.com/office/drawing/2014/main" val="3088988885"/>
                    </a:ext>
                  </a:extLst>
                </a:gridCol>
                <a:gridCol w="9432106">
                  <a:extLst>
                    <a:ext uri="{9D8B030D-6E8A-4147-A177-3AD203B41FA5}">
                      <a16:colId xmlns:a16="http://schemas.microsoft.com/office/drawing/2014/main" val="725507354"/>
                    </a:ext>
                  </a:extLst>
                </a:gridCol>
              </a:tblGrid>
              <a:tr h="387569">
                <a:tc>
                  <a:txBody>
                    <a:bodyPr/>
                    <a:lstStyle/>
                    <a:p>
                      <a:pPr algn="l"/>
                      <a:r>
                        <a:rPr lang="zh-CN" sz="1600" b="1" kern="0">
                          <a:effectLst/>
                          <a:latin typeface="Calibri" panose="020F0502020204030204" pitchFamily="34" charset="0"/>
                          <a:ea typeface="宋体" panose="02010600030101010101" pitchFamily="2" charset="-122"/>
                          <a:cs typeface="Times New Roman" panose="02020603050405020304" pitchFamily="18" charset="0"/>
                        </a:rPr>
                        <a:t>属性值</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a:r>
                        <a:rPr lang="zh-CN" sz="16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说明</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566892683"/>
                  </a:ext>
                </a:extLst>
              </a:tr>
              <a:tr h="387569">
                <a:tc>
                  <a:txBody>
                    <a:bodyPr/>
                    <a:lstStyle/>
                    <a:p>
                      <a:pPr algn="just"/>
                      <a:r>
                        <a:rPr lang="en-US" sz="1600" b="1" kern="0">
                          <a:effectLst/>
                          <a:latin typeface="宋体" panose="02010600030101010101" pitchFamily="2" charset="-122"/>
                          <a:ea typeface="宋体" panose="02010600030101010101" pitchFamily="2" charset="-122"/>
                          <a:cs typeface="Times New Roman" panose="02020603050405020304" pitchFamily="18" charset="0"/>
                        </a:rPr>
                        <a:t>action</a:t>
                      </a:r>
                      <a:endParaRPr lang="zh-CN" sz="1600" b="1"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kern="0" dirty="0">
                          <a:effectLst/>
                          <a:latin typeface="+mn-ea"/>
                          <a:ea typeface="+mn-ea"/>
                          <a:cs typeface="Times New Roman" panose="02020603050405020304" pitchFamily="18" charset="0"/>
                        </a:rPr>
                        <a:t>规定表单提交到的地址（</a:t>
                      </a:r>
                      <a:r>
                        <a:rPr lang="en-US" sz="1600" kern="0" dirty="0">
                          <a:effectLst/>
                          <a:latin typeface="+mn-ea"/>
                          <a:ea typeface="+mn-ea"/>
                          <a:cs typeface="Times New Roman" panose="02020603050405020304" pitchFamily="18" charset="0"/>
                        </a:rPr>
                        <a:t>URL</a:t>
                      </a:r>
                      <a:r>
                        <a:rPr lang="zh-CN" sz="1600" kern="0" dirty="0">
                          <a:effectLst/>
                          <a:latin typeface="+mn-ea"/>
                          <a:ea typeface="+mn-ea"/>
                          <a:cs typeface="Times New Roman" panose="02020603050405020304" pitchFamily="18" charset="0"/>
                        </a:rPr>
                        <a:t>）</a:t>
                      </a:r>
                      <a:endParaRPr lang="zh-CN" sz="16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3642883"/>
                  </a:ext>
                </a:extLst>
              </a:tr>
              <a:tr h="456651">
                <a:tc>
                  <a:txBody>
                    <a:bodyPr/>
                    <a:lstStyle/>
                    <a:p>
                      <a:pPr algn="just"/>
                      <a:r>
                        <a:rPr lang="en-US" sz="1600" b="1" kern="0" dirty="0">
                          <a:effectLst/>
                          <a:latin typeface="宋体" panose="02010600030101010101" pitchFamily="2" charset="-122"/>
                          <a:ea typeface="宋体" panose="02010600030101010101" pitchFamily="2" charset="-122"/>
                          <a:cs typeface="Times New Roman" panose="02020603050405020304" pitchFamily="18" charset="0"/>
                        </a:rPr>
                        <a:t>method</a:t>
                      </a:r>
                      <a:endParaRPr 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kern="0" dirty="0">
                          <a:effectLst/>
                          <a:latin typeface="+mn-ea"/>
                          <a:ea typeface="+mn-ea"/>
                          <a:cs typeface="Times New Roman" panose="02020603050405020304" pitchFamily="18" charset="0"/>
                        </a:rPr>
                        <a:t>规定提交表单时所用的</a:t>
                      </a:r>
                      <a:r>
                        <a:rPr lang="en-US" sz="1600" kern="0" dirty="0">
                          <a:effectLst/>
                          <a:latin typeface="+mn-ea"/>
                          <a:ea typeface="+mn-ea"/>
                          <a:cs typeface="Times New Roman" panose="02020603050405020304" pitchFamily="18" charset="0"/>
                        </a:rPr>
                        <a:t>HTTP</a:t>
                      </a:r>
                      <a:r>
                        <a:rPr lang="zh-CN" sz="1600" kern="0" dirty="0">
                          <a:effectLst/>
                          <a:latin typeface="+mn-ea"/>
                          <a:ea typeface="+mn-ea"/>
                          <a:cs typeface="Times New Roman" panose="02020603050405020304" pitchFamily="18" charset="0"/>
                        </a:rPr>
                        <a:t>方法，主要指</a:t>
                      </a:r>
                      <a:r>
                        <a:rPr lang="en-US" sz="1600" kern="0" dirty="0">
                          <a:effectLst/>
                          <a:latin typeface="+mn-ea"/>
                          <a:ea typeface="+mn-ea"/>
                          <a:cs typeface="Times New Roman" panose="02020603050405020304" pitchFamily="18" charset="0"/>
                        </a:rPr>
                        <a:t>get</a:t>
                      </a:r>
                      <a:r>
                        <a:rPr lang="zh-CN" sz="1600" kern="0" dirty="0">
                          <a:effectLst/>
                          <a:latin typeface="+mn-ea"/>
                          <a:ea typeface="+mn-ea"/>
                          <a:cs typeface="Times New Roman" panose="02020603050405020304" pitchFamily="18" charset="0"/>
                        </a:rPr>
                        <a:t>、</a:t>
                      </a:r>
                      <a:r>
                        <a:rPr lang="en-US" sz="1600" kern="0" dirty="0">
                          <a:effectLst/>
                          <a:latin typeface="+mn-ea"/>
                          <a:ea typeface="+mn-ea"/>
                          <a:cs typeface="Times New Roman" panose="02020603050405020304" pitchFamily="18" charset="0"/>
                        </a:rPr>
                        <a:t>post</a:t>
                      </a:r>
                      <a:r>
                        <a:rPr lang="zh-CN" sz="1600" kern="0" dirty="0">
                          <a:effectLst/>
                          <a:latin typeface="+mn-ea"/>
                          <a:ea typeface="+mn-ea"/>
                          <a:cs typeface="Times New Roman" panose="02020603050405020304" pitchFamily="18" charset="0"/>
                        </a:rPr>
                        <a:t>等方法，默认为</a:t>
                      </a:r>
                      <a:r>
                        <a:rPr lang="en-US" sz="1600" kern="0" dirty="0">
                          <a:effectLst/>
                          <a:latin typeface="+mn-ea"/>
                          <a:ea typeface="+mn-ea"/>
                          <a:cs typeface="Times New Roman" panose="02020603050405020304" pitchFamily="18" charset="0"/>
                        </a:rPr>
                        <a:t>get</a:t>
                      </a:r>
                      <a:endParaRPr lang="zh-CN" sz="16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7253254"/>
                  </a:ext>
                </a:extLst>
              </a:tr>
              <a:tr h="387569">
                <a:tc>
                  <a:txBody>
                    <a:bodyPr/>
                    <a:lstStyle/>
                    <a:p>
                      <a:pPr algn="just"/>
                      <a:r>
                        <a:rPr lang="en-US" sz="1600" b="1" kern="0">
                          <a:effectLst/>
                          <a:latin typeface="宋体" panose="02010600030101010101" pitchFamily="2" charset="-122"/>
                          <a:ea typeface="宋体" panose="02010600030101010101" pitchFamily="2" charset="-122"/>
                          <a:cs typeface="Times New Roman" panose="02020603050405020304" pitchFamily="18" charset="0"/>
                        </a:rPr>
                        <a:t>target</a:t>
                      </a:r>
                      <a:endParaRPr lang="zh-CN" sz="1600" b="1"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kern="0" dirty="0">
                          <a:effectLst/>
                          <a:latin typeface="+mn-ea"/>
                          <a:ea typeface="+mn-ea"/>
                          <a:cs typeface="Times New Roman" panose="02020603050405020304" pitchFamily="18" charset="0"/>
                        </a:rPr>
                        <a:t>规定在提交表单之后，在哪里显示响应信息，包括</a:t>
                      </a:r>
                      <a:r>
                        <a:rPr lang="en-US" sz="1600" kern="0" dirty="0">
                          <a:effectLst/>
                          <a:latin typeface="+mn-ea"/>
                          <a:ea typeface="+mn-ea"/>
                          <a:cs typeface="Times New Roman" panose="02020603050405020304" pitchFamily="18" charset="0"/>
                        </a:rPr>
                        <a:t>_self</a:t>
                      </a:r>
                      <a:r>
                        <a:rPr lang="zh-CN" sz="1600" kern="0" dirty="0">
                          <a:effectLst/>
                          <a:latin typeface="+mn-ea"/>
                          <a:ea typeface="+mn-ea"/>
                          <a:cs typeface="Times New Roman" panose="02020603050405020304" pitchFamily="18" charset="0"/>
                        </a:rPr>
                        <a:t>、</a:t>
                      </a:r>
                      <a:r>
                        <a:rPr lang="en-US" sz="1600" kern="0" dirty="0">
                          <a:effectLst/>
                          <a:latin typeface="+mn-ea"/>
                          <a:ea typeface="+mn-ea"/>
                          <a:cs typeface="Times New Roman" panose="02020603050405020304" pitchFamily="18" charset="0"/>
                        </a:rPr>
                        <a:t>_blank</a:t>
                      </a:r>
                      <a:r>
                        <a:rPr lang="zh-CN" sz="1600" kern="0" dirty="0">
                          <a:effectLst/>
                          <a:latin typeface="+mn-ea"/>
                          <a:ea typeface="+mn-ea"/>
                          <a:cs typeface="Times New Roman" panose="02020603050405020304" pitchFamily="18" charset="0"/>
                        </a:rPr>
                        <a:t>、</a:t>
                      </a:r>
                      <a:r>
                        <a:rPr lang="en-US" sz="1600" kern="0" dirty="0">
                          <a:effectLst/>
                          <a:latin typeface="+mn-ea"/>
                          <a:ea typeface="+mn-ea"/>
                          <a:cs typeface="Times New Roman" panose="02020603050405020304" pitchFamily="18" charset="0"/>
                        </a:rPr>
                        <a:t>_parent</a:t>
                      </a:r>
                      <a:r>
                        <a:rPr lang="zh-CN" sz="1600" kern="0" dirty="0">
                          <a:effectLst/>
                          <a:latin typeface="+mn-ea"/>
                          <a:ea typeface="+mn-ea"/>
                          <a:cs typeface="Times New Roman" panose="02020603050405020304" pitchFamily="18" charset="0"/>
                        </a:rPr>
                        <a:t>和</a:t>
                      </a:r>
                      <a:r>
                        <a:rPr lang="en-US" sz="1600" kern="0" dirty="0">
                          <a:effectLst/>
                          <a:latin typeface="+mn-ea"/>
                          <a:ea typeface="+mn-ea"/>
                          <a:cs typeface="Times New Roman" panose="02020603050405020304" pitchFamily="18" charset="0"/>
                        </a:rPr>
                        <a:t>_top</a:t>
                      </a:r>
                      <a:r>
                        <a:rPr lang="zh-CN" sz="1600" kern="0" dirty="0">
                          <a:effectLst/>
                          <a:latin typeface="+mn-ea"/>
                          <a:ea typeface="+mn-ea"/>
                          <a:cs typeface="Times New Roman" panose="02020603050405020304" pitchFamily="18" charset="0"/>
                        </a:rPr>
                        <a:t>，默认为</a:t>
                      </a:r>
                      <a:r>
                        <a:rPr lang="en-US" sz="1600" kern="0" dirty="0">
                          <a:effectLst/>
                          <a:latin typeface="+mn-ea"/>
                          <a:ea typeface="+mn-ea"/>
                          <a:cs typeface="Times New Roman" panose="02020603050405020304" pitchFamily="18" charset="0"/>
                        </a:rPr>
                        <a:t>_self</a:t>
                      </a:r>
                      <a:endParaRPr lang="zh-CN" sz="16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0146742"/>
                  </a:ext>
                </a:extLst>
              </a:tr>
              <a:tr h="775138">
                <a:tc>
                  <a:txBody>
                    <a:bodyPr/>
                    <a:lstStyle/>
                    <a:p>
                      <a:pPr algn="just"/>
                      <a:r>
                        <a:rPr lang="en-US" sz="1600" b="1" kern="0" dirty="0" err="1">
                          <a:effectLst/>
                          <a:latin typeface="宋体" panose="02010600030101010101" pitchFamily="2" charset="-122"/>
                          <a:ea typeface="宋体" panose="02010600030101010101" pitchFamily="2" charset="-122"/>
                          <a:cs typeface="Times New Roman" panose="02020603050405020304" pitchFamily="18" charset="0"/>
                        </a:rPr>
                        <a:t>enctype</a:t>
                      </a:r>
                      <a:endParaRPr 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kern="0" dirty="0">
                          <a:effectLst/>
                          <a:latin typeface="+mn-ea"/>
                          <a:ea typeface="+mn-ea"/>
                          <a:cs typeface="Times New Roman" panose="02020603050405020304" pitchFamily="18" charset="0"/>
                        </a:rPr>
                        <a:t>规定</a:t>
                      </a:r>
                      <a:r>
                        <a:rPr lang="en-US" sz="1600" kern="0" dirty="0">
                          <a:effectLst/>
                          <a:latin typeface="+mn-ea"/>
                          <a:ea typeface="+mn-ea"/>
                          <a:cs typeface="Times New Roman" panose="02020603050405020304" pitchFamily="18" charset="0"/>
                        </a:rPr>
                        <a:t>method</a:t>
                      </a:r>
                      <a:r>
                        <a:rPr lang="zh-CN" sz="1600" kern="0" dirty="0">
                          <a:effectLst/>
                          <a:latin typeface="+mn-ea"/>
                          <a:ea typeface="+mn-ea"/>
                          <a:cs typeface="Times New Roman" panose="02020603050405020304" pitchFamily="18" charset="0"/>
                        </a:rPr>
                        <a:t>为</a:t>
                      </a:r>
                      <a:r>
                        <a:rPr lang="en-US" sz="1600" kern="0" dirty="0">
                          <a:effectLst/>
                          <a:latin typeface="+mn-ea"/>
                          <a:ea typeface="+mn-ea"/>
                          <a:cs typeface="Times New Roman" panose="02020603050405020304" pitchFamily="18" charset="0"/>
                        </a:rPr>
                        <a:t>post</a:t>
                      </a:r>
                      <a:r>
                        <a:rPr lang="zh-CN" sz="1600" kern="0" dirty="0">
                          <a:effectLst/>
                          <a:latin typeface="+mn-ea"/>
                          <a:ea typeface="+mn-ea"/>
                          <a:cs typeface="Times New Roman" panose="02020603050405020304" pitchFamily="18" charset="0"/>
                        </a:rPr>
                        <a:t>时的内容格式（</a:t>
                      </a:r>
                      <a:r>
                        <a:rPr lang="en-US" sz="1600" kern="0" dirty="0">
                          <a:effectLst/>
                          <a:latin typeface="+mn-ea"/>
                          <a:ea typeface="+mn-ea"/>
                          <a:cs typeface="Times New Roman" panose="02020603050405020304" pitchFamily="18" charset="0"/>
                        </a:rPr>
                        <a:t>MIME Types</a:t>
                      </a:r>
                      <a:r>
                        <a:rPr lang="zh-CN" sz="1600" kern="0" dirty="0">
                          <a:effectLst/>
                          <a:latin typeface="+mn-ea"/>
                          <a:ea typeface="+mn-ea"/>
                          <a:cs typeface="Times New Roman" panose="02020603050405020304" pitchFamily="18" charset="0"/>
                        </a:rPr>
                        <a:t>），主要包括</a:t>
                      </a:r>
                      <a:r>
                        <a:rPr lang="en-US" sz="1600" kern="0" dirty="0">
                          <a:effectLst/>
                          <a:latin typeface="+mn-ea"/>
                          <a:ea typeface="+mn-ea"/>
                          <a:cs typeface="Times New Roman" panose="02020603050405020304" pitchFamily="18" charset="0"/>
                        </a:rPr>
                        <a:t>application/x-www-form-</a:t>
                      </a:r>
                      <a:r>
                        <a:rPr lang="en-US" sz="1600" kern="0" dirty="0" err="1">
                          <a:effectLst/>
                          <a:latin typeface="+mn-ea"/>
                          <a:ea typeface="+mn-ea"/>
                          <a:cs typeface="Times New Roman" panose="02020603050405020304" pitchFamily="18" charset="0"/>
                        </a:rPr>
                        <a:t>urlencoded</a:t>
                      </a:r>
                      <a:r>
                        <a:rPr lang="zh-CN" sz="1600" kern="0" dirty="0">
                          <a:effectLst/>
                          <a:latin typeface="+mn-ea"/>
                          <a:ea typeface="+mn-ea"/>
                          <a:cs typeface="Times New Roman" panose="02020603050405020304" pitchFamily="18" charset="0"/>
                        </a:rPr>
                        <a:t>和</a:t>
                      </a:r>
                      <a:r>
                        <a:rPr lang="en-US" sz="1600" kern="0" dirty="0">
                          <a:effectLst/>
                          <a:latin typeface="+mn-ea"/>
                          <a:ea typeface="+mn-ea"/>
                          <a:cs typeface="Times New Roman" panose="02020603050405020304" pitchFamily="18" charset="0"/>
                        </a:rPr>
                        <a:t>multipart/form-data</a:t>
                      </a:r>
                      <a:r>
                        <a:rPr lang="zh-CN" altLang="en-US" sz="1600" kern="0" dirty="0">
                          <a:effectLst/>
                          <a:latin typeface="+mn-ea"/>
                          <a:ea typeface="+mn-ea"/>
                          <a:cs typeface="Times New Roman" panose="02020603050405020304" pitchFamily="18" charset="0"/>
                        </a:rPr>
                        <a:t>，</a:t>
                      </a:r>
                      <a:r>
                        <a:rPr lang="zh-CN" sz="1600" kern="0" dirty="0">
                          <a:effectLst/>
                          <a:latin typeface="+mn-ea"/>
                          <a:ea typeface="+mn-ea"/>
                          <a:cs typeface="Times New Roman" panose="02020603050405020304" pitchFamily="18" charset="0"/>
                        </a:rPr>
                        <a:t>前者是默认值</a:t>
                      </a:r>
                      <a:endParaRPr lang="zh-CN" sz="16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2955582"/>
                  </a:ext>
                </a:extLst>
              </a:tr>
              <a:tr h="387569">
                <a:tc>
                  <a:txBody>
                    <a:bodyPr/>
                    <a:lstStyle/>
                    <a:p>
                      <a:pPr algn="just"/>
                      <a:r>
                        <a:rPr lang="en-US" sz="1600" b="1" kern="0" dirty="0" err="1">
                          <a:effectLst/>
                          <a:latin typeface="宋体" panose="02010600030101010101" pitchFamily="2" charset="-122"/>
                          <a:ea typeface="宋体" panose="02010600030101010101" pitchFamily="2" charset="-122"/>
                          <a:cs typeface="Times New Roman" panose="02020603050405020304" pitchFamily="18" charset="0"/>
                        </a:rPr>
                        <a:t>novalidate</a:t>
                      </a:r>
                      <a:endParaRPr lang="zh-CN" sz="1600" b="1"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600" kern="0" dirty="0">
                          <a:effectLst/>
                          <a:latin typeface="+mn-ea"/>
                          <a:ea typeface="+mn-ea"/>
                          <a:cs typeface="Times New Roman" panose="02020603050405020304" pitchFamily="18" charset="0"/>
                        </a:rPr>
                        <a:t>规定提交表单时不需要验证，使用布尔值代表，默认</a:t>
                      </a:r>
                      <a:r>
                        <a:rPr lang="en-US" sz="1600" kern="0" dirty="0">
                          <a:effectLst/>
                          <a:latin typeface="+mn-ea"/>
                          <a:ea typeface="+mn-ea"/>
                          <a:cs typeface="Times New Roman" panose="02020603050405020304" pitchFamily="18" charset="0"/>
                        </a:rPr>
                        <a:t>false</a:t>
                      </a:r>
                      <a:endParaRPr lang="zh-CN" sz="16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2391483"/>
                  </a:ext>
                </a:extLst>
              </a:tr>
            </a:tbl>
          </a:graphicData>
        </a:graphic>
      </p:graphicFrame>
      <p:graphicFrame>
        <p:nvGraphicFramePr>
          <p:cNvPr id="6" name="表格 5">
            <a:extLst>
              <a:ext uri="{FF2B5EF4-FFF2-40B4-BE49-F238E27FC236}">
                <a16:creationId xmlns:a16="http://schemas.microsoft.com/office/drawing/2014/main" id="{6A994AE9-40B7-437E-A02B-53BCB2D976AA}"/>
              </a:ext>
            </a:extLst>
          </p:cNvPr>
          <p:cNvGraphicFramePr>
            <a:graphicFrameLocks noGrp="1"/>
          </p:cNvGraphicFramePr>
          <p:nvPr>
            <p:extLst>
              <p:ext uri="{D42A27DB-BD31-4B8C-83A1-F6EECF244321}">
                <p14:modId xmlns:p14="http://schemas.microsoft.com/office/powerpoint/2010/main" val="861412581"/>
              </p:ext>
            </p:extLst>
          </p:nvPr>
        </p:nvGraphicFramePr>
        <p:xfrm>
          <a:off x="791084" y="2532708"/>
          <a:ext cx="7560840" cy="548640"/>
        </p:xfrm>
        <a:graphic>
          <a:graphicData uri="http://schemas.openxmlformats.org/drawingml/2006/table">
            <a:tbl>
              <a:tblPr firstRow="1" firstCol="1" bandRow="1">
                <a:tableStyleId>{5C22544A-7EE6-4342-B048-85BDC9FD1C3A}</a:tableStyleId>
              </a:tblPr>
              <a:tblGrid>
                <a:gridCol w="278883">
                  <a:extLst>
                    <a:ext uri="{9D8B030D-6E8A-4147-A177-3AD203B41FA5}">
                      <a16:colId xmlns:a16="http://schemas.microsoft.com/office/drawing/2014/main" val="1181497521"/>
                    </a:ext>
                  </a:extLst>
                </a:gridCol>
                <a:gridCol w="7281957">
                  <a:extLst>
                    <a:ext uri="{9D8B030D-6E8A-4147-A177-3AD203B41FA5}">
                      <a16:colId xmlns:a16="http://schemas.microsoft.com/office/drawing/2014/main" val="1248645653"/>
                    </a:ext>
                  </a:extLst>
                </a:gridCol>
              </a:tblGrid>
              <a:tr h="0">
                <a:tc>
                  <a:txBody>
                    <a:bodyPr/>
                    <a:lstStyle/>
                    <a:p>
                      <a:pPr algn="just">
                        <a:spcAft>
                          <a:spcPts val="0"/>
                        </a:spcAft>
                      </a:pPr>
                      <a:r>
                        <a:rPr lang="en-US" sz="1800" kern="0">
                          <a:solidFill>
                            <a:schemeClr val="tx1"/>
                          </a:solidFill>
                          <a:effectLst/>
                          <a:latin typeface="+mn-ea"/>
                          <a:ea typeface="+mn-ea"/>
                        </a:rPr>
                        <a:t>1</a:t>
                      </a:r>
                      <a:endParaRPr lang="zh-CN" sz="1800" kern="100">
                        <a:solidFill>
                          <a:schemeClr val="tx1"/>
                        </a:solidFill>
                        <a:effectLst/>
                        <a:latin typeface="+mn-ea"/>
                        <a:ea typeface="+mn-ea"/>
                      </a:endParaRPr>
                    </a:p>
                    <a:p>
                      <a:pPr algn="just">
                        <a:spcAft>
                          <a:spcPts val="0"/>
                        </a:spcAft>
                      </a:pPr>
                      <a:r>
                        <a:rPr lang="en-US" sz="1800" kern="0">
                          <a:solidFill>
                            <a:schemeClr val="tx1"/>
                          </a:solidFill>
                          <a:effectLst/>
                          <a:latin typeface="+mn-ea"/>
                          <a:ea typeface="+mn-ea"/>
                        </a:rPr>
                        <a:t>2</a:t>
                      </a:r>
                      <a:endParaRPr lang="zh-CN" sz="1800" kern="100">
                        <a:solidFill>
                          <a:schemeClr val="tx1"/>
                        </a:solidFill>
                        <a:effectLst/>
                        <a:latin typeface="+mn-ea"/>
                        <a:ea typeface="+mn-ea"/>
                        <a:cs typeface="Times New Roman" panose="02020603050405020304" pitchFamily="18" charset="0"/>
                      </a:endParaRPr>
                    </a:p>
                  </a:txBody>
                  <a:tcPr marL="68580" marR="68580" marT="0" marB="0">
                    <a:solidFill>
                      <a:schemeClr val="bg1">
                        <a:lumMod val="85000"/>
                      </a:schemeClr>
                    </a:solidFill>
                  </a:tcPr>
                </a:tc>
                <a:tc>
                  <a:txBody>
                    <a:bodyPr/>
                    <a:lstStyle/>
                    <a:p>
                      <a:pPr algn="just">
                        <a:spcAft>
                          <a:spcPts val="0"/>
                        </a:spcAft>
                      </a:pPr>
                      <a:r>
                        <a:rPr lang="en-US" sz="1800" kern="0" dirty="0">
                          <a:solidFill>
                            <a:schemeClr val="tx1"/>
                          </a:solidFill>
                          <a:effectLst/>
                          <a:latin typeface="+mn-ea"/>
                          <a:ea typeface="+mn-ea"/>
                        </a:rPr>
                        <a:t>&lt;form method="get" action="/login"&gt;</a:t>
                      </a:r>
                      <a:endParaRPr lang="zh-CN" sz="1800" kern="100" dirty="0">
                        <a:solidFill>
                          <a:schemeClr val="tx1"/>
                        </a:solidFill>
                        <a:effectLst/>
                        <a:latin typeface="+mn-ea"/>
                        <a:ea typeface="+mn-ea"/>
                      </a:endParaRPr>
                    </a:p>
                    <a:p>
                      <a:pPr algn="just">
                        <a:spcAft>
                          <a:spcPts val="0"/>
                        </a:spcAft>
                      </a:pPr>
                      <a:r>
                        <a:rPr lang="en-US" sz="1800" kern="0" dirty="0">
                          <a:solidFill>
                            <a:schemeClr val="tx1"/>
                          </a:solidFill>
                          <a:effectLst/>
                          <a:latin typeface="+mn-ea"/>
                          <a:ea typeface="+mn-ea"/>
                        </a:rPr>
                        <a:t>&lt;/form&gt;</a:t>
                      </a:r>
                      <a:endParaRPr lang="zh-CN" sz="1800" kern="100" dirty="0">
                        <a:solidFill>
                          <a:schemeClr val="tx1"/>
                        </a:solidFill>
                        <a:effectLst/>
                        <a:latin typeface="+mn-ea"/>
                        <a:ea typeface="+mn-ea"/>
                        <a:cs typeface="Times New Roman" panose="02020603050405020304" pitchFamily="18" charset="0"/>
                      </a:endParaRPr>
                    </a:p>
                  </a:txBody>
                  <a:tcPr marL="68580" marR="68580" marT="0" marB="0">
                    <a:solidFill>
                      <a:schemeClr val="bg1">
                        <a:lumMod val="85000"/>
                      </a:schemeClr>
                    </a:solidFill>
                  </a:tcPr>
                </a:tc>
                <a:extLst>
                  <a:ext uri="{0D108BD9-81ED-4DB2-BD59-A6C34878D82A}">
                    <a16:rowId xmlns:a16="http://schemas.microsoft.com/office/drawing/2014/main" val="3828638644"/>
                  </a:ext>
                </a:extLst>
              </a:tr>
            </a:tbl>
          </a:graphicData>
        </a:graphic>
      </p:graphicFrame>
    </p:spTree>
    <p:extLst>
      <p:ext uri="{BB962C8B-B14F-4D97-AF65-F5344CB8AC3E}">
        <p14:creationId xmlns:p14="http://schemas.microsoft.com/office/powerpoint/2010/main" val="1589386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构建表单</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548061"/>
            <a:ext cx="5290231" cy="559769"/>
          </a:xfrm>
          <a:prstGeom prst="rect">
            <a:avLst/>
          </a:prstGeom>
        </p:spPr>
        <p:txBody>
          <a:bodyPr wrap="none">
            <a:spAutoFit/>
          </a:bodyPr>
          <a:lstStyle/>
          <a:p>
            <a:pPr>
              <a:lnSpc>
                <a:spcPct val="150000"/>
              </a:lnSpc>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、在表单中按需添加所需的表单控件</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040399B2-5E84-4045-B279-87DE05D9C0FD}"/>
              </a:ext>
            </a:extLst>
          </p:cNvPr>
          <p:cNvGraphicFramePr>
            <a:graphicFrameLocks noGrp="1"/>
          </p:cNvGraphicFramePr>
          <p:nvPr>
            <p:extLst>
              <p:ext uri="{D42A27DB-BD31-4B8C-83A1-F6EECF244321}">
                <p14:modId xmlns:p14="http://schemas.microsoft.com/office/powerpoint/2010/main" val="241882944"/>
              </p:ext>
            </p:extLst>
          </p:nvPr>
        </p:nvGraphicFramePr>
        <p:xfrm>
          <a:off x="770341" y="2486000"/>
          <a:ext cx="7344649" cy="2926080"/>
        </p:xfrm>
        <a:graphic>
          <a:graphicData uri="http://schemas.openxmlformats.org/drawingml/2006/table">
            <a:tbl>
              <a:tblPr firstRow="1" firstCol="1" bandRow="1"/>
              <a:tblGrid>
                <a:gridCol w="372721">
                  <a:extLst>
                    <a:ext uri="{9D8B030D-6E8A-4147-A177-3AD203B41FA5}">
                      <a16:colId xmlns:a16="http://schemas.microsoft.com/office/drawing/2014/main" val="844453209"/>
                    </a:ext>
                  </a:extLst>
                </a:gridCol>
                <a:gridCol w="6971928">
                  <a:extLst>
                    <a:ext uri="{9D8B030D-6E8A-4147-A177-3AD203B41FA5}">
                      <a16:colId xmlns:a16="http://schemas.microsoft.com/office/drawing/2014/main" val="2213499538"/>
                    </a:ext>
                  </a:extLst>
                </a:gridCol>
              </a:tblGrid>
              <a:tr h="44450">
                <a:tc>
                  <a:txBody>
                    <a:bodyPr/>
                    <a:lstStyle/>
                    <a:p>
                      <a:pPr algn="just"/>
                      <a:r>
                        <a:rPr lang="en-US" sz="1600" kern="0">
                          <a:effectLst/>
                          <a:latin typeface="宋体" panose="02010600030101010101" pitchFamily="2" charset="-122"/>
                          <a:ea typeface="宋体" panose="02010600030101010101" pitchFamily="2" charset="-122"/>
                          <a:cs typeface="Times New Roman" panose="02020603050405020304" pitchFamily="18" charset="0"/>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7</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8</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9</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10</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12</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&lt;form method="get" action="/login"&gt;</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&lt;h3&gt;</a:t>
                      </a:r>
                      <a:r>
                        <a:rPr lang="zh-CN" sz="1600"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用户登录</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&lt;/h3&gt;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&lt;div&gt;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a:t>
                      </a:r>
                      <a:r>
                        <a:rPr lang="en-US" sz="1600" kern="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label</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for="username"&gt;</a:t>
                      </a:r>
                      <a:r>
                        <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用户名：</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&lt;/label&gt;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a:t>
                      </a:r>
                      <a:r>
                        <a:rPr lang="en-US" sz="1600" kern="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input</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id="username" name="username" type="text" required&gt;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&lt;/div&gt;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&lt;div&gt;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a:t>
                      </a:r>
                      <a:r>
                        <a:rPr lang="en-US" sz="1600" kern="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label</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for="</a:t>
                      </a:r>
                      <a:r>
                        <a:rPr lang="en-US" sz="1600" kern="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pwd</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"&gt;</a:t>
                      </a:r>
                      <a:r>
                        <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密码：</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&lt;/label&gt;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a:t>
                      </a:r>
                      <a:r>
                        <a:rPr lang="en-US" sz="1600" kern="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input</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id="</a:t>
                      </a:r>
                      <a:r>
                        <a:rPr lang="en-US" sz="1600" kern="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pwd</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name="</a:t>
                      </a:r>
                      <a:r>
                        <a:rPr lang="en-US" sz="1600" kern="0" dirty="0" err="1">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pwd</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type="password"&gt;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&lt;/div&gt;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&lt;</a:t>
                      </a:r>
                      <a:r>
                        <a:rPr lang="en-US" sz="1600" kern="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button</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 type="submit"&gt;</a:t>
                      </a:r>
                      <a:r>
                        <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登录</a:t>
                      </a:r>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&lt;/button&gt;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&lt;/form&gt;</a:t>
                      </a:r>
                      <a:endParaRPr lang="zh-CN" altLang="en-US" sz="1600"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976289033"/>
                  </a:ext>
                </a:extLst>
              </a:tr>
            </a:tbl>
          </a:graphicData>
        </a:graphic>
      </p:graphicFrame>
      <p:grpSp>
        <p:nvGrpSpPr>
          <p:cNvPr id="7" name="组合 6">
            <a:extLst>
              <a:ext uri="{FF2B5EF4-FFF2-40B4-BE49-F238E27FC236}">
                <a16:creationId xmlns:a16="http://schemas.microsoft.com/office/drawing/2014/main" id="{0041EA8F-770B-AD4B-95A1-F55A0B0CA541}"/>
              </a:ext>
            </a:extLst>
          </p:cNvPr>
          <p:cNvGrpSpPr/>
          <p:nvPr/>
        </p:nvGrpSpPr>
        <p:grpSpPr>
          <a:xfrm>
            <a:off x="6440165" y="4433086"/>
            <a:ext cx="5130294" cy="1764665"/>
            <a:chOff x="2976508" y="5075873"/>
            <a:chExt cx="5130294" cy="1764665"/>
          </a:xfrm>
        </p:grpSpPr>
        <p:sp>
          <p:nvSpPr>
            <p:cNvPr id="9" name="矩形 8">
              <a:extLst>
                <a:ext uri="{FF2B5EF4-FFF2-40B4-BE49-F238E27FC236}">
                  <a16:creationId xmlns:a16="http://schemas.microsoft.com/office/drawing/2014/main" id="{1F105E2F-339A-7A4E-BAE9-FE958A3D18C3}"/>
                </a:ext>
              </a:extLst>
            </p:cNvPr>
            <p:cNvSpPr/>
            <p:nvPr/>
          </p:nvSpPr>
          <p:spPr>
            <a:xfrm>
              <a:off x="2976508" y="5075873"/>
              <a:ext cx="4267631" cy="1764665"/>
            </a:xfrm>
            <a:prstGeom prst="rect">
              <a:avLst/>
            </a:prstGeom>
          </p:spPr>
        </p:sp>
        <p:pic>
          <p:nvPicPr>
            <p:cNvPr id="10" name="图片 9">
              <a:extLst>
                <a:ext uri="{FF2B5EF4-FFF2-40B4-BE49-F238E27FC236}">
                  <a16:creationId xmlns:a16="http://schemas.microsoft.com/office/drawing/2014/main" id="{5EA14D3C-AA77-A447-B72F-B4018077CA7A}"/>
                </a:ext>
              </a:extLst>
            </p:cNvPr>
            <p:cNvPicPr/>
            <p:nvPr/>
          </p:nvPicPr>
          <p:blipFill>
            <a:blip r:embed="rId2"/>
            <a:stretch>
              <a:fillRect/>
            </a:stretch>
          </p:blipFill>
          <p:spPr>
            <a:xfrm>
              <a:off x="4135986" y="5075886"/>
              <a:ext cx="3108152" cy="1543050"/>
            </a:xfrm>
            <a:prstGeom prst="rect">
              <a:avLst/>
            </a:prstGeom>
            <a:ln>
              <a:solidFill>
                <a:schemeClr val="bg2"/>
              </a:solidFill>
            </a:ln>
          </p:spPr>
        </p:pic>
        <p:grpSp>
          <p:nvGrpSpPr>
            <p:cNvPr id="11" name="组合 10">
              <a:extLst>
                <a:ext uri="{FF2B5EF4-FFF2-40B4-BE49-F238E27FC236}">
                  <a16:creationId xmlns:a16="http://schemas.microsoft.com/office/drawing/2014/main" id="{DDC11545-282F-F44E-B149-4DAB15543240}"/>
                </a:ext>
              </a:extLst>
            </p:cNvPr>
            <p:cNvGrpSpPr/>
            <p:nvPr/>
          </p:nvGrpSpPr>
          <p:grpSpPr>
            <a:xfrm>
              <a:off x="6822688" y="5683099"/>
              <a:ext cx="1284114" cy="377143"/>
              <a:chOff x="3684895" y="1296482"/>
              <a:chExt cx="955343" cy="377143"/>
            </a:xfrm>
          </p:grpSpPr>
          <p:sp>
            <p:nvSpPr>
              <p:cNvPr id="16" name="文本框 6">
                <a:extLst>
                  <a:ext uri="{FF2B5EF4-FFF2-40B4-BE49-F238E27FC236}">
                    <a16:creationId xmlns:a16="http://schemas.microsoft.com/office/drawing/2014/main" id="{4C7872BE-3B74-0C4A-8446-005BF009689C}"/>
                  </a:ext>
                </a:extLst>
              </p:cNvPr>
              <p:cNvSpPr txBox="1"/>
              <p:nvPr/>
            </p:nvSpPr>
            <p:spPr>
              <a:xfrm>
                <a:off x="3821374" y="1337482"/>
                <a:ext cx="818864" cy="29342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zh-CN" sz="1050" kern="100">
                    <a:effectLst/>
                    <a:latin typeface="Calibri" panose="020F0502020204030204" pitchFamily="34" charset="0"/>
                    <a:ea typeface="宋体" panose="02010600030101010101" pitchFamily="2" charset="-122"/>
                    <a:cs typeface="Times New Roman" panose="02020603050405020304" pitchFamily="18" charset="0"/>
                  </a:rPr>
                  <a:t>输入框</a:t>
                </a:r>
              </a:p>
            </p:txBody>
          </p:sp>
          <p:sp>
            <p:nvSpPr>
              <p:cNvPr id="17" name="右大括号 16">
                <a:extLst>
                  <a:ext uri="{FF2B5EF4-FFF2-40B4-BE49-F238E27FC236}">
                    <a16:creationId xmlns:a16="http://schemas.microsoft.com/office/drawing/2014/main" id="{9FB2D12D-5F44-5040-ADB3-C4A1425841D6}"/>
                  </a:ext>
                </a:extLst>
              </p:cNvPr>
              <p:cNvSpPr/>
              <p:nvPr/>
            </p:nvSpPr>
            <p:spPr>
              <a:xfrm>
                <a:off x="3684895" y="1296482"/>
                <a:ext cx="122831" cy="377143"/>
              </a:xfrm>
              <a:prstGeom prst="rightBrace">
                <a:avLst>
                  <a:gd name="adj1" fmla="val 44587"/>
                  <a:gd name="adj2" fmla="val 52273"/>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12" name="右大括号 11">
              <a:extLst>
                <a:ext uri="{FF2B5EF4-FFF2-40B4-BE49-F238E27FC236}">
                  <a16:creationId xmlns:a16="http://schemas.microsoft.com/office/drawing/2014/main" id="{4BA3A4B9-0D41-AF49-A76B-892A46851A63}"/>
                </a:ext>
              </a:extLst>
            </p:cNvPr>
            <p:cNvSpPr/>
            <p:nvPr/>
          </p:nvSpPr>
          <p:spPr>
            <a:xfrm flipH="1" flipV="1">
              <a:off x="4014446" y="5710447"/>
              <a:ext cx="131908" cy="349881"/>
            </a:xfrm>
            <a:prstGeom prst="rightBrace">
              <a:avLst>
                <a:gd name="adj1" fmla="val 44587"/>
                <a:gd name="adj2" fmla="val 52273"/>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3" name="文本框 6">
              <a:extLst>
                <a:ext uri="{FF2B5EF4-FFF2-40B4-BE49-F238E27FC236}">
                  <a16:creationId xmlns:a16="http://schemas.microsoft.com/office/drawing/2014/main" id="{862FAE93-0FEE-F244-8537-167C345C296C}"/>
                </a:ext>
              </a:extLst>
            </p:cNvPr>
            <p:cNvSpPr txBox="1"/>
            <p:nvPr/>
          </p:nvSpPr>
          <p:spPr>
            <a:xfrm>
              <a:off x="3429980" y="5724155"/>
              <a:ext cx="867188" cy="2933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zh-CN" sz="1050">
                  <a:effectLst/>
                  <a:latin typeface="Calibri" panose="020F0502020204030204" pitchFamily="34" charset="0"/>
                  <a:ea typeface="宋体" panose="02010600030101010101" pitchFamily="2" charset="-122"/>
                  <a:cs typeface="Times New Roman" panose="02020603050405020304" pitchFamily="18" charset="0"/>
                </a:rPr>
                <a:t>标签</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14" name="直接箭头连接符 12">
              <a:extLst>
                <a:ext uri="{FF2B5EF4-FFF2-40B4-BE49-F238E27FC236}">
                  <a16:creationId xmlns:a16="http://schemas.microsoft.com/office/drawing/2014/main" id="{0DA463A3-F0F2-2A47-912A-BB738B12ABAE}"/>
                </a:ext>
              </a:extLst>
            </p:cNvPr>
            <p:cNvCxnSpPr/>
            <p:nvPr/>
          </p:nvCxnSpPr>
          <p:spPr>
            <a:xfrm flipV="1">
              <a:off x="4444130" y="6331243"/>
              <a:ext cx="0" cy="218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文本框 6">
              <a:extLst>
                <a:ext uri="{FF2B5EF4-FFF2-40B4-BE49-F238E27FC236}">
                  <a16:creationId xmlns:a16="http://schemas.microsoft.com/office/drawing/2014/main" id="{DDE7BBEC-62A3-B84E-BB9C-5CBECB66CF8C}"/>
                </a:ext>
              </a:extLst>
            </p:cNvPr>
            <p:cNvSpPr txBox="1"/>
            <p:nvPr/>
          </p:nvSpPr>
          <p:spPr>
            <a:xfrm>
              <a:off x="4221478" y="6482892"/>
              <a:ext cx="867188" cy="2933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zh-CN" sz="1050">
                  <a:effectLst/>
                  <a:latin typeface="Calibri" panose="020F0502020204030204" pitchFamily="34" charset="0"/>
                  <a:ea typeface="宋体" panose="02010600030101010101" pitchFamily="2" charset="-122"/>
                  <a:cs typeface="Times New Roman" panose="02020603050405020304" pitchFamily="18" charset="0"/>
                </a:rPr>
                <a:t>按钮</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grpSp>
    </p:spTree>
    <p:extLst>
      <p:ext uri="{BB962C8B-B14F-4D97-AF65-F5344CB8AC3E}">
        <p14:creationId xmlns:p14="http://schemas.microsoft.com/office/powerpoint/2010/main" val="1864960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表单样式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548061"/>
            <a:ext cx="2815194" cy="559769"/>
          </a:xfrm>
          <a:prstGeom prst="rect">
            <a:avLst/>
          </a:prstGeom>
        </p:spPr>
        <p:txBody>
          <a:bodyPr wrap="none">
            <a:spAutoFit/>
          </a:bodyPr>
          <a:lstStyle/>
          <a:p>
            <a:pPr>
              <a:lnSpc>
                <a:spcPct val="150000"/>
              </a:lnSpc>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、为表单添加样式</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pic>
        <p:nvPicPr>
          <p:cNvPr id="18" name="图片 17">
            <a:extLst>
              <a:ext uri="{FF2B5EF4-FFF2-40B4-BE49-F238E27FC236}">
                <a16:creationId xmlns:a16="http://schemas.microsoft.com/office/drawing/2014/main" id="{DF4D1781-1335-854A-B41D-CE052FA7C989}"/>
              </a:ext>
            </a:extLst>
          </p:cNvPr>
          <p:cNvPicPr>
            <a:picLocks noChangeAspect="1"/>
          </p:cNvPicPr>
          <p:nvPr/>
        </p:nvPicPr>
        <p:blipFill>
          <a:blip r:embed="rId2"/>
          <a:stretch>
            <a:fillRect/>
          </a:stretch>
        </p:blipFill>
        <p:spPr>
          <a:xfrm>
            <a:off x="3055789" y="2850881"/>
            <a:ext cx="6432920" cy="2810146"/>
          </a:xfrm>
          <a:prstGeom prst="rect">
            <a:avLst/>
          </a:prstGeom>
        </p:spPr>
      </p:pic>
    </p:spTree>
    <p:extLst>
      <p:ext uri="{BB962C8B-B14F-4D97-AF65-F5344CB8AC3E}">
        <p14:creationId xmlns:p14="http://schemas.microsoft.com/office/powerpoint/2010/main" val="2029638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chemeClr val="accent6"/>
                </a:solidFill>
                <a:latin typeface="黑体" panose="02010609060101010101" pitchFamily="49" charset="-122"/>
                <a:ea typeface="黑体" panose="02010609060101010101" pitchFamily="49" charset="-122"/>
              </a:rPr>
              <a:t>任务 </a:t>
            </a:r>
            <a:r>
              <a:rPr lang="en-US" altLang="zh-CN" b="1" dirty="0">
                <a:solidFill>
                  <a:schemeClr val="accent6"/>
                </a:solidFill>
                <a:latin typeface="黑体" panose="02010609060101010101" pitchFamily="49" charset="-122"/>
                <a:ea typeface="黑体" panose="02010609060101010101" pitchFamily="49" charset="-122"/>
              </a:rPr>
              <a:t>5-1 </a:t>
            </a:r>
            <a:r>
              <a:rPr lang="zh-CN" altLang="en-US" b="1" dirty="0">
                <a:solidFill>
                  <a:schemeClr val="accent6"/>
                </a:solidFill>
                <a:latin typeface="黑体" panose="02010609060101010101" pitchFamily="49" charset="-122"/>
                <a:ea typeface="黑体" panose="02010609060101010101" pitchFamily="49" charset="-122"/>
              </a:rPr>
              <a:t>表单基本概念</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088283"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表单样式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548061"/>
            <a:ext cx="2815194" cy="559769"/>
          </a:xfrm>
          <a:prstGeom prst="rect">
            <a:avLst/>
          </a:prstGeom>
        </p:spPr>
        <p:txBody>
          <a:bodyPr wrap="none">
            <a:spAutoFit/>
          </a:bodyPr>
          <a:lstStyle/>
          <a:p>
            <a:pPr>
              <a:lnSpc>
                <a:spcPct val="150000"/>
              </a:lnSpc>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、为表单添加样式</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7" name="文本框 6">
            <a:extLst>
              <a:ext uri="{FF2B5EF4-FFF2-40B4-BE49-F238E27FC236}">
                <a16:creationId xmlns:a16="http://schemas.microsoft.com/office/drawing/2014/main" id="{47247927-D87E-7349-A44D-AA03BFD5D2B0}"/>
              </a:ext>
            </a:extLst>
          </p:cNvPr>
          <p:cNvSpPr txBox="1"/>
          <p:nvPr/>
        </p:nvSpPr>
        <p:spPr>
          <a:xfrm>
            <a:off x="373392" y="2136137"/>
            <a:ext cx="6367708" cy="4278094"/>
          </a:xfrm>
          <a:prstGeom prst="rect">
            <a:avLst/>
          </a:prstGeom>
          <a:noFill/>
        </p:spPr>
        <p:txBody>
          <a:bodyPr wrap="square">
            <a:spAutoFit/>
          </a:bodyPr>
          <a:lstStyle/>
          <a:p>
            <a:r>
              <a:rPr lang="zh-CN" altLang="en-US" sz="1600" b="1" dirty="0">
                <a:latin typeface="+mn-ea"/>
                <a:ea typeface="+mn-ea"/>
              </a:rPr>
              <a:t>&lt;style&gt;</a:t>
            </a:r>
          </a:p>
          <a:p>
            <a:r>
              <a:rPr lang="zh-CN" altLang="en-US" sz="1600" b="1" dirty="0">
                <a:latin typeface="+mn-ea"/>
                <a:ea typeface="+mn-ea"/>
              </a:rPr>
              <a:t>  form {</a:t>
            </a:r>
          </a:p>
          <a:p>
            <a:r>
              <a:rPr lang="zh-CN" altLang="en-US" sz="1600" b="1" dirty="0">
                <a:latin typeface="+mn-ea"/>
                <a:ea typeface="+mn-ea"/>
              </a:rPr>
              <a:t>    margin: 0 auto;    /* 使得元素居中 */</a:t>
            </a:r>
          </a:p>
          <a:p>
            <a:r>
              <a:rPr lang="zh-CN" altLang="en-US" sz="1600" b="1" dirty="0">
                <a:latin typeface="+mn-ea"/>
                <a:ea typeface="+mn-ea"/>
              </a:rPr>
              <a:t>    padding: 10px;</a:t>
            </a:r>
          </a:p>
          <a:p>
            <a:r>
              <a:rPr lang="zh-CN" altLang="en-US" sz="1600" b="1" dirty="0">
                <a:latin typeface="+mn-ea"/>
                <a:ea typeface="+mn-ea"/>
              </a:rPr>
              <a:t>    width: 500px;</a:t>
            </a:r>
          </a:p>
          <a:p>
            <a:r>
              <a:rPr lang="zh-CN" altLang="en-US" sz="1600" b="1" dirty="0">
                <a:latin typeface="+mn-ea"/>
                <a:ea typeface="+mn-ea"/>
              </a:rPr>
              <a:t>    border: 1px dashed black; /* 增加边框 */</a:t>
            </a:r>
          </a:p>
          <a:p>
            <a:r>
              <a:rPr lang="zh-CN" altLang="en-US" sz="1600" b="1" dirty="0">
                <a:latin typeface="+mn-ea"/>
                <a:ea typeface="+mn-ea"/>
              </a:rPr>
              <a:t>  }</a:t>
            </a:r>
          </a:p>
          <a:p>
            <a:r>
              <a:rPr lang="zh-CN" altLang="en-US" sz="1600" b="1" dirty="0">
                <a:latin typeface="+mn-ea"/>
                <a:ea typeface="+mn-ea"/>
              </a:rPr>
              <a:t>  h3 { text-align: center;  }</a:t>
            </a:r>
          </a:p>
          <a:p>
            <a:r>
              <a:rPr lang="zh-CN" altLang="en-US" sz="1600" b="1" dirty="0">
                <a:latin typeface="+mn-ea"/>
                <a:ea typeface="+mn-ea"/>
              </a:rPr>
              <a:t>  form div {</a:t>
            </a:r>
          </a:p>
          <a:p>
            <a:r>
              <a:rPr lang="zh-CN" altLang="en-US" sz="1600" b="1" dirty="0">
                <a:latin typeface="+mn-ea"/>
                <a:ea typeface="+mn-ea"/>
              </a:rPr>
              <a:t>    margin: 10px 0 10px 60px;</a:t>
            </a:r>
          </a:p>
          <a:p>
            <a:r>
              <a:rPr lang="zh-CN" altLang="en-US" sz="1600" b="1" dirty="0">
                <a:latin typeface="+mn-ea"/>
                <a:ea typeface="+mn-ea"/>
              </a:rPr>
              <a:t>    height: 2em;</a:t>
            </a:r>
          </a:p>
          <a:p>
            <a:r>
              <a:rPr lang="zh-CN" altLang="en-US" sz="1600" b="1" dirty="0">
                <a:latin typeface="+mn-ea"/>
                <a:ea typeface="+mn-ea"/>
              </a:rPr>
              <a:t>  }</a:t>
            </a:r>
          </a:p>
          <a:p>
            <a:r>
              <a:rPr lang="zh-CN" altLang="en-US" sz="1600" b="1" dirty="0">
                <a:latin typeface="+mn-ea"/>
                <a:ea typeface="+mn-ea"/>
              </a:rPr>
              <a:t>  label {</a:t>
            </a:r>
          </a:p>
          <a:p>
            <a:r>
              <a:rPr lang="zh-CN" altLang="en-US" sz="1600" b="1" dirty="0">
                <a:latin typeface="+mn-ea"/>
                <a:ea typeface="+mn-ea"/>
              </a:rPr>
              <a:t>    display: inline-block; /* 使得标签内部具有块元素特性 */</a:t>
            </a:r>
          </a:p>
          <a:p>
            <a:r>
              <a:rPr lang="zh-CN" altLang="en-US" sz="1600" b="1" dirty="0">
                <a:latin typeface="+mn-ea"/>
                <a:ea typeface="+mn-ea"/>
              </a:rPr>
              <a:t>    width: 100px;</a:t>
            </a:r>
          </a:p>
          <a:p>
            <a:r>
              <a:rPr lang="zh-CN" altLang="en-US" sz="1600" b="1" dirty="0">
                <a:latin typeface="+mn-ea"/>
                <a:ea typeface="+mn-ea"/>
              </a:rPr>
              <a:t>    text-align: right;     /* 文字右对齐*/</a:t>
            </a:r>
          </a:p>
          <a:p>
            <a:r>
              <a:rPr lang="zh-CN" altLang="en-US" sz="1600" b="1" dirty="0">
                <a:latin typeface="+mn-ea"/>
                <a:ea typeface="+mn-ea"/>
              </a:rPr>
              <a:t>  }</a:t>
            </a:r>
          </a:p>
        </p:txBody>
      </p:sp>
      <p:sp>
        <p:nvSpPr>
          <p:cNvPr id="9" name="文本框 8">
            <a:extLst>
              <a:ext uri="{FF2B5EF4-FFF2-40B4-BE49-F238E27FC236}">
                <a16:creationId xmlns:a16="http://schemas.microsoft.com/office/drawing/2014/main" id="{C9FF95B0-C3C9-AC4E-A074-BE1DF8496E75}"/>
              </a:ext>
            </a:extLst>
          </p:cNvPr>
          <p:cNvSpPr txBox="1"/>
          <p:nvPr/>
        </p:nvSpPr>
        <p:spPr>
          <a:xfrm>
            <a:off x="6711971" y="2013026"/>
            <a:ext cx="5215580" cy="4524315"/>
          </a:xfrm>
          <a:prstGeom prst="rect">
            <a:avLst/>
          </a:prstGeom>
          <a:noFill/>
        </p:spPr>
        <p:txBody>
          <a:bodyPr wrap="square">
            <a:spAutoFit/>
          </a:bodyPr>
          <a:lstStyle/>
          <a:p>
            <a:r>
              <a:rPr lang="en-US" altLang="zh-CN" sz="1600" b="1" dirty="0">
                <a:latin typeface="+mn-ea"/>
                <a:ea typeface="+mn-ea"/>
              </a:rPr>
              <a:t> input {</a:t>
            </a:r>
          </a:p>
          <a:p>
            <a:r>
              <a:rPr lang="en-US" altLang="zh-CN" sz="1600" b="1" dirty="0">
                <a:latin typeface="+mn-ea"/>
                <a:ea typeface="+mn-ea"/>
              </a:rPr>
              <a:t>    padding: 0;</a:t>
            </a:r>
          </a:p>
          <a:p>
            <a:r>
              <a:rPr lang="en-US" altLang="zh-CN" sz="1600" b="1" dirty="0">
                <a:latin typeface="+mn-ea"/>
                <a:ea typeface="+mn-ea"/>
              </a:rPr>
              <a:t>    height: 90%;</a:t>
            </a:r>
          </a:p>
          <a:p>
            <a:r>
              <a:rPr lang="en-US" altLang="zh-CN" sz="1600" b="1" dirty="0">
                <a:latin typeface="+mn-ea"/>
                <a:ea typeface="+mn-ea"/>
              </a:rPr>
              <a:t>    width: 200px;</a:t>
            </a:r>
          </a:p>
          <a:p>
            <a:r>
              <a:rPr lang="en-US" altLang="zh-CN" sz="1600" b="1" dirty="0">
                <a:latin typeface="+mn-ea"/>
                <a:ea typeface="+mn-ea"/>
              </a:rPr>
              <a:t>    border: 1px solid #999;</a:t>
            </a:r>
          </a:p>
          <a:p>
            <a:r>
              <a:rPr lang="en-US" altLang="zh-CN" sz="1600" b="1" dirty="0">
                <a:latin typeface="+mn-ea"/>
                <a:ea typeface="+mn-ea"/>
              </a:rPr>
              <a:t>    border-radius: 5px;     /* </a:t>
            </a:r>
            <a:r>
              <a:rPr lang="zh-CN" altLang="en-US" sz="1600" b="1" dirty="0">
                <a:latin typeface="+mn-ea"/>
                <a:ea typeface="+mn-ea"/>
              </a:rPr>
              <a:t>边框圆角 *</a:t>
            </a:r>
            <a:r>
              <a:rPr lang="en-US" altLang="zh-CN" sz="1600" b="1" dirty="0">
                <a:latin typeface="+mn-ea"/>
                <a:ea typeface="+mn-ea"/>
              </a:rPr>
              <a:t>/</a:t>
            </a:r>
          </a:p>
          <a:p>
            <a:r>
              <a:rPr lang="en-US" altLang="zh-CN" sz="1600" b="1" dirty="0">
                <a:latin typeface="+mn-ea"/>
                <a:ea typeface="+mn-ea"/>
              </a:rPr>
              <a:t>  }</a:t>
            </a:r>
          </a:p>
          <a:p>
            <a:r>
              <a:rPr lang="en-US" altLang="zh-CN" sz="1600" b="1" dirty="0">
                <a:latin typeface="+mn-ea"/>
                <a:ea typeface="+mn-ea"/>
              </a:rPr>
              <a:t>  button {</a:t>
            </a:r>
          </a:p>
          <a:p>
            <a:r>
              <a:rPr lang="en-US" altLang="zh-CN" sz="1600" b="1" dirty="0">
                <a:latin typeface="+mn-ea"/>
                <a:ea typeface="+mn-ea"/>
              </a:rPr>
              <a:t>    margin-left: 200px;</a:t>
            </a:r>
          </a:p>
          <a:p>
            <a:r>
              <a:rPr lang="en-US" altLang="zh-CN" sz="1600" b="1" dirty="0">
                <a:latin typeface="+mn-ea"/>
                <a:ea typeface="+mn-ea"/>
              </a:rPr>
              <a:t>    height: 2em;</a:t>
            </a:r>
          </a:p>
          <a:p>
            <a:r>
              <a:rPr lang="en-US" altLang="zh-CN" sz="1600" b="1" dirty="0">
                <a:latin typeface="+mn-ea"/>
                <a:ea typeface="+mn-ea"/>
              </a:rPr>
              <a:t>    width: 100px;</a:t>
            </a:r>
          </a:p>
          <a:p>
            <a:r>
              <a:rPr lang="en-US" altLang="zh-CN" sz="1600" b="1" dirty="0">
                <a:latin typeface="+mn-ea"/>
                <a:ea typeface="+mn-ea"/>
              </a:rPr>
              <a:t>    border: 1px solid #999;</a:t>
            </a:r>
          </a:p>
          <a:p>
            <a:r>
              <a:rPr lang="en-US" altLang="zh-CN" sz="1600" b="1" dirty="0">
                <a:latin typeface="+mn-ea"/>
                <a:ea typeface="+mn-ea"/>
              </a:rPr>
              <a:t>    border-radius: 5px;</a:t>
            </a:r>
          </a:p>
          <a:p>
            <a:r>
              <a:rPr lang="en-US" altLang="zh-CN" sz="1600" b="1" dirty="0">
                <a:latin typeface="+mn-ea"/>
                <a:ea typeface="+mn-ea"/>
              </a:rPr>
              <a:t>    background-color: </a:t>
            </a:r>
            <a:r>
              <a:rPr lang="en-US" altLang="zh-CN" sz="1600" b="1" dirty="0" err="1">
                <a:latin typeface="+mn-ea"/>
                <a:ea typeface="+mn-ea"/>
              </a:rPr>
              <a:t>deepskyblue</a:t>
            </a:r>
            <a:r>
              <a:rPr lang="en-US" altLang="zh-CN" sz="1600" b="1" dirty="0">
                <a:latin typeface="+mn-ea"/>
                <a:ea typeface="+mn-ea"/>
              </a:rPr>
              <a:t>;</a:t>
            </a:r>
          </a:p>
          <a:p>
            <a:r>
              <a:rPr lang="en-US" altLang="zh-CN" sz="1600" b="1" dirty="0">
                <a:latin typeface="+mn-ea"/>
                <a:ea typeface="+mn-ea"/>
              </a:rPr>
              <a:t>    font-size: 1em;</a:t>
            </a:r>
          </a:p>
          <a:p>
            <a:r>
              <a:rPr lang="en-US" altLang="zh-CN" sz="1600" b="1" dirty="0">
                <a:latin typeface="+mn-ea"/>
                <a:ea typeface="+mn-ea"/>
              </a:rPr>
              <a:t>    color: white;</a:t>
            </a:r>
          </a:p>
          <a:p>
            <a:r>
              <a:rPr lang="en-US" altLang="zh-CN" sz="1600" b="1" dirty="0">
                <a:latin typeface="+mn-ea"/>
                <a:ea typeface="+mn-ea"/>
              </a:rPr>
              <a:t>  }</a:t>
            </a:r>
          </a:p>
          <a:p>
            <a:r>
              <a:rPr lang="en-US" altLang="zh-CN" sz="1600" b="1" dirty="0">
                <a:latin typeface="+mn-ea"/>
                <a:ea typeface="+mn-ea"/>
              </a:rPr>
              <a:t>&lt;/style&gt;</a:t>
            </a:r>
            <a:endParaRPr lang="zh-CN" altLang="en-US" sz="1600" b="1" dirty="0">
              <a:latin typeface="+mn-ea"/>
              <a:ea typeface="+mn-ea"/>
            </a:endParaRPr>
          </a:p>
        </p:txBody>
      </p:sp>
    </p:spTree>
    <p:extLst>
      <p:ext uri="{BB962C8B-B14F-4D97-AF65-F5344CB8AC3E}">
        <p14:creationId xmlns:p14="http://schemas.microsoft.com/office/powerpoint/2010/main" val="2513690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&lt;input&gt;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965547"/>
            <a:ext cx="9821920" cy="1200329"/>
          </a:xfrm>
          <a:prstGeom prst="rect">
            <a:avLst/>
          </a:prstGeom>
        </p:spPr>
        <p:txBody>
          <a:bodyPr wrap="none">
            <a:spAutoFit/>
          </a:bodyPr>
          <a:lstStyle/>
          <a:p>
            <a:pPr marL="342900" indent="-342900">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rPr>
              <a:t>多种的不同类型的控件的集合</a:t>
            </a:r>
            <a:endParaRPr lang="en-US" altLang="zh-CN" sz="2400" b="1" dirty="0">
              <a:effectLst>
                <a:outerShdw blurRad="38100" dist="38100" dir="2700000" algn="tl">
                  <a:srgbClr val="000000">
                    <a:alpha val="43137"/>
                  </a:srgbClr>
                </a:outerShdw>
              </a:effectLst>
            </a:endParaRPr>
          </a:p>
          <a:p>
            <a:pPr>
              <a:buClr>
                <a:schemeClr val="accent6"/>
              </a:buClr>
            </a:pPr>
            <a:endParaRPr lang="en-US" altLang="zh-CN" sz="2400" b="1" dirty="0">
              <a:effectLst>
                <a:outerShdw blurRad="38100" dist="38100" dir="2700000" algn="tl">
                  <a:srgbClr val="000000">
                    <a:alpha val="43137"/>
                  </a:srgbClr>
                </a:outerShdw>
              </a:effectLst>
            </a:endParaRPr>
          </a:p>
          <a:p>
            <a:pPr marL="342900" indent="-342900">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&lt;input&gt;</a:t>
            </a:r>
            <a:r>
              <a:rPr lang="zh-CN" altLang="zh-CN" sz="2400" b="1" dirty="0">
                <a:effectLst>
                  <a:outerShdw blurRad="38100" dist="38100" dir="2700000" algn="tl">
                    <a:srgbClr val="000000">
                      <a:alpha val="43137"/>
                    </a:srgbClr>
                  </a:outerShdw>
                </a:effectLst>
                <a:latin typeface="+mn-ea"/>
                <a:ea typeface="+mn-ea"/>
              </a:rPr>
              <a:t>控件除支持</a:t>
            </a:r>
            <a:r>
              <a:rPr lang="en-US" altLang="zh-CN" sz="2400" b="1" dirty="0">
                <a:effectLst>
                  <a:outerShdw blurRad="38100" dist="38100" dir="2700000" algn="tl">
                    <a:srgbClr val="000000">
                      <a:alpha val="43137"/>
                    </a:srgbClr>
                  </a:outerShdw>
                </a:effectLst>
                <a:latin typeface="+mn-ea"/>
                <a:ea typeface="+mn-ea"/>
              </a:rPr>
              <a:t>HTML</a:t>
            </a:r>
            <a:r>
              <a:rPr lang="zh-CN" altLang="zh-CN" sz="2400" b="1" dirty="0">
                <a:effectLst>
                  <a:outerShdw blurRad="38100" dist="38100" dir="2700000" algn="tl">
                    <a:srgbClr val="000000">
                      <a:alpha val="43137"/>
                    </a:srgbClr>
                  </a:outerShdw>
                </a:effectLst>
                <a:latin typeface="+mn-ea"/>
                <a:ea typeface="+mn-ea"/>
              </a:rPr>
              <a:t>全局属性之外，还具有数量较多的专有属性 </a:t>
            </a:r>
            <a:endParaRPr lang="zh-CN" altLang="en-US" sz="2400" b="1" dirty="0">
              <a:effectLst>
                <a:outerShdw blurRad="38100" dist="38100" dir="2700000" algn="tl">
                  <a:srgbClr val="000000">
                    <a:alpha val="43137"/>
                  </a:srgbClr>
                </a:outerShdw>
              </a:effectLst>
              <a:latin typeface="+mn-ea"/>
              <a:ea typeface="+mn-ea"/>
            </a:endParaRPr>
          </a:p>
        </p:txBody>
      </p:sp>
      <p:graphicFrame>
        <p:nvGraphicFramePr>
          <p:cNvPr id="9" name="表格 8">
            <a:extLst>
              <a:ext uri="{FF2B5EF4-FFF2-40B4-BE49-F238E27FC236}">
                <a16:creationId xmlns:a16="http://schemas.microsoft.com/office/drawing/2014/main" id="{A7D5A653-1ABE-884D-A35C-F7B44D4985BD}"/>
              </a:ext>
            </a:extLst>
          </p:cNvPr>
          <p:cNvGraphicFramePr>
            <a:graphicFrameLocks noGrp="1"/>
          </p:cNvGraphicFramePr>
          <p:nvPr>
            <p:extLst>
              <p:ext uri="{D42A27DB-BD31-4B8C-83A1-F6EECF244321}">
                <p14:modId xmlns:p14="http://schemas.microsoft.com/office/powerpoint/2010/main" val="2528454396"/>
              </p:ext>
            </p:extLst>
          </p:nvPr>
        </p:nvGraphicFramePr>
        <p:xfrm>
          <a:off x="786732" y="3420269"/>
          <a:ext cx="8496944" cy="936103"/>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8496944">
                  <a:extLst>
                    <a:ext uri="{9D8B030D-6E8A-4147-A177-3AD203B41FA5}">
                      <a16:colId xmlns:a16="http://schemas.microsoft.com/office/drawing/2014/main" val="4020043646"/>
                    </a:ext>
                  </a:extLst>
                </a:gridCol>
              </a:tblGrid>
              <a:tr h="936103">
                <a:tc>
                  <a:txBody>
                    <a:bodyPr/>
                    <a:lstStyle/>
                    <a:p>
                      <a:pPr algn="l"/>
                      <a:r>
                        <a:rPr kumimoji="1" lang="zh-CN" altLang="en-US" sz="2400" b="1" kern="1200" dirty="0">
                          <a:solidFill>
                            <a:schemeClr val="tx1"/>
                          </a:solidFill>
                          <a:latin typeface="Times New Roman" pitchFamily="18" charset="0"/>
                          <a:ea typeface="宋体" pitchFamily="2" charset="-122"/>
                          <a:cs typeface="+mn-cs"/>
                        </a:rPr>
                        <a:t>  </a:t>
                      </a:r>
                      <a:r>
                        <a:rPr kumimoji="1" lang="en-US" altLang="zh-CN" sz="2400" b="1" kern="1200" dirty="0">
                          <a:solidFill>
                            <a:schemeClr val="tx1"/>
                          </a:solidFill>
                          <a:latin typeface="Times New Roman" pitchFamily="18" charset="0"/>
                          <a:ea typeface="宋体" pitchFamily="2" charset="-122"/>
                          <a:cs typeface="+mn-cs"/>
                        </a:rPr>
                        <a:t>&lt;input name="</a:t>
                      </a:r>
                      <a:r>
                        <a:rPr kumimoji="1" lang="zh-CN" altLang="en-US" sz="2400" b="1" kern="1200" dirty="0">
                          <a:solidFill>
                            <a:schemeClr val="tx1"/>
                          </a:solidFill>
                          <a:latin typeface="Times New Roman" pitchFamily="18" charset="0"/>
                          <a:ea typeface="宋体" pitchFamily="2" charset="-122"/>
                          <a:cs typeface="+mn-cs"/>
                        </a:rPr>
                        <a:t>控件名称</a:t>
                      </a:r>
                      <a:r>
                        <a:rPr kumimoji="1" lang="en-US" altLang="zh-CN" sz="2400" b="1" kern="1200" dirty="0">
                          <a:solidFill>
                            <a:schemeClr val="tx1"/>
                          </a:solidFill>
                          <a:latin typeface="Times New Roman" pitchFamily="18" charset="0"/>
                          <a:ea typeface="宋体" pitchFamily="2" charset="-122"/>
                          <a:cs typeface="+mn-cs"/>
                        </a:rPr>
                        <a:t>" type=”</a:t>
                      </a:r>
                      <a:r>
                        <a:rPr kumimoji="1" lang="zh-CN" altLang="en-US" sz="2400" b="1" kern="1200" dirty="0">
                          <a:solidFill>
                            <a:schemeClr val="tx1"/>
                          </a:solidFill>
                          <a:latin typeface="Times New Roman" pitchFamily="18" charset="0"/>
                          <a:ea typeface="宋体" pitchFamily="2" charset="-122"/>
                          <a:cs typeface="+mn-cs"/>
                        </a:rPr>
                        <a:t>类型” </a:t>
                      </a:r>
                      <a:r>
                        <a:rPr kumimoji="1" lang="en-US" altLang="zh-CN" sz="2400" b="1" kern="1200" dirty="0">
                          <a:solidFill>
                            <a:schemeClr val="tx1"/>
                          </a:solidFill>
                          <a:latin typeface="Times New Roman" pitchFamily="18" charset="0"/>
                          <a:ea typeface="宋体" pitchFamily="2" charset="-122"/>
                          <a:cs typeface="+mn-cs"/>
                        </a:rPr>
                        <a:t>&gt;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2619092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&lt;input&gt;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965547"/>
            <a:ext cx="1771639" cy="461665"/>
          </a:xfrm>
          <a:prstGeom prst="rect">
            <a:avLst/>
          </a:prstGeom>
        </p:spPr>
        <p:txBody>
          <a:bodyPr wrap="none">
            <a:spAutoFit/>
          </a:bodyPr>
          <a:lstStyle/>
          <a:p>
            <a:pPr marL="342900" indent="-342900">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type</a:t>
            </a:r>
            <a:r>
              <a:rPr lang="zh-CN" altLang="en-US" sz="2400" b="1" dirty="0">
                <a:effectLst>
                  <a:outerShdw blurRad="38100" dist="38100" dir="2700000" algn="tl">
                    <a:srgbClr val="000000">
                      <a:alpha val="43137"/>
                    </a:srgbClr>
                  </a:outerShdw>
                </a:effectLst>
              </a:rPr>
              <a:t>属性</a:t>
            </a:r>
            <a:endParaRPr lang="en-US" altLang="zh-CN" sz="2400" b="1" dirty="0">
              <a:effectLst>
                <a:outerShdw blurRad="38100" dist="38100" dir="2700000" algn="tl">
                  <a:srgbClr val="000000">
                    <a:alpha val="43137"/>
                  </a:srgbClr>
                </a:outerShdw>
              </a:effectLst>
            </a:endParaRPr>
          </a:p>
        </p:txBody>
      </p:sp>
      <p:graphicFrame>
        <p:nvGraphicFramePr>
          <p:cNvPr id="3" name="表格 2">
            <a:extLst>
              <a:ext uri="{FF2B5EF4-FFF2-40B4-BE49-F238E27FC236}">
                <a16:creationId xmlns:a16="http://schemas.microsoft.com/office/drawing/2014/main" id="{55ED43C0-11C9-E941-94B0-F4EE59BFCB62}"/>
              </a:ext>
            </a:extLst>
          </p:cNvPr>
          <p:cNvGraphicFramePr>
            <a:graphicFrameLocks noGrp="1"/>
          </p:cNvGraphicFramePr>
          <p:nvPr>
            <p:extLst>
              <p:ext uri="{D42A27DB-BD31-4B8C-83A1-F6EECF244321}">
                <p14:modId xmlns:p14="http://schemas.microsoft.com/office/powerpoint/2010/main" val="981700742"/>
              </p:ext>
            </p:extLst>
          </p:nvPr>
        </p:nvGraphicFramePr>
        <p:xfrm>
          <a:off x="6001571" y="2677167"/>
          <a:ext cx="5191122" cy="3531979"/>
        </p:xfrm>
        <a:graphic>
          <a:graphicData uri="http://schemas.openxmlformats.org/drawingml/2006/table">
            <a:tbl>
              <a:tblPr firstRow="1" firstCol="1" bandRow="1"/>
              <a:tblGrid>
                <a:gridCol w="2124881">
                  <a:extLst>
                    <a:ext uri="{9D8B030D-6E8A-4147-A177-3AD203B41FA5}">
                      <a16:colId xmlns:a16="http://schemas.microsoft.com/office/drawing/2014/main" val="3255421107"/>
                    </a:ext>
                  </a:extLst>
                </a:gridCol>
                <a:gridCol w="2124881">
                  <a:extLst>
                    <a:ext uri="{9D8B030D-6E8A-4147-A177-3AD203B41FA5}">
                      <a16:colId xmlns:a16="http://schemas.microsoft.com/office/drawing/2014/main" val="3920227358"/>
                    </a:ext>
                  </a:extLst>
                </a:gridCol>
                <a:gridCol w="941360">
                  <a:extLst>
                    <a:ext uri="{9D8B030D-6E8A-4147-A177-3AD203B41FA5}">
                      <a16:colId xmlns:a16="http://schemas.microsoft.com/office/drawing/2014/main" val="3452955159"/>
                    </a:ext>
                  </a:extLst>
                </a:gridCol>
              </a:tblGrid>
              <a:tr h="321089">
                <a:tc>
                  <a:txBody>
                    <a:bodyPr/>
                    <a:lstStyle/>
                    <a:p>
                      <a:pPr algn="just"/>
                      <a:r>
                        <a:rPr lang="zh-CN" sz="1800" b="1" kern="0" dirty="0">
                          <a:effectLst/>
                          <a:latin typeface="Calibri" panose="020F0502020204030204" pitchFamily="34" charset="0"/>
                          <a:ea typeface="宋体" panose="02010600030101010101" pitchFamily="2" charset="-122"/>
                          <a:cs typeface="Times New Roman" panose="02020603050405020304" pitchFamily="18" charset="0"/>
                        </a:rPr>
                        <a:t>类别</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r>
                        <a:rPr lang="en-US" sz="1800" b="1"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type</a:t>
                      </a:r>
                      <a:r>
                        <a:rPr lang="zh-CN" sz="18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类型</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r>
                        <a:rPr lang="en-US" sz="18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734309928"/>
                  </a:ext>
                </a:extLst>
              </a:tr>
              <a:tr h="321089">
                <a:tc>
                  <a:txBody>
                    <a:bodyPr/>
                    <a:lstStyle/>
                    <a:p>
                      <a:pPr marL="71755" marR="71755" algn="ctr">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文件</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file</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800" kern="0" dirty="0">
                          <a:effectLst/>
                          <a:latin typeface="宋体" panose="02010600030101010101" pitchFamily="2" charset="-122"/>
                          <a:ea typeface="宋体" panose="02010600030101010101" pitchFamily="2" charset="-122"/>
                          <a:cs typeface="Times New Roman" panose="02020603050405020304" pitchFamily="18" charset="0"/>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0624802"/>
                  </a:ext>
                </a:extLst>
              </a:tr>
              <a:tr h="321089">
                <a:tc rowSpan="5">
                  <a:txBody>
                    <a:bodyPr/>
                    <a:lstStyle/>
                    <a:p>
                      <a:pPr marL="71755" marR="71755" algn="ctr">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日期时间</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date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8467920"/>
                  </a:ext>
                </a:extLst>
              </a:tr>
              <a:tr h="321089">
                <a:tc vMerge="1">
                  <a:txBody>
                    <a:bodyPr/>
                    <a:lstStyle/>
                    <a:p>
                      <a:endParaRPr lang="zh-CN" altLang="en-US"/>
                    </a:p>
                  </a:txBody>
                  <a:tcPr/>
                </a:tc>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datetime-local</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6456761"/>
                  </a:ext>
                </a:extLst>
              </a:tr>
              <a:tr h="321089">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month</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0605108"/>
                  </a:ext>
                </a:extLst>
              </a:tr>
              <a:tr h="321089">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week</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332267"/>
                  </a:ext>
                </a:extLst>
              </a:tr>
              <a:tr h="321089">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time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4097420"/>
                  </a:ext>
                </a:extLst>
              </a:tr>
              <a:tr h="321089">
                <a:tc rowSpan="2">
                  <a:txBody>
                    <a:bodyPr/>
                    <a:lstStyle/>
                    <a:p>
                      <a:pPr marL="71755" marR="71755" algn="ctr">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数值、范围</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number</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5118652"/>
                  </a:ext>
                </a:extLst>
              </a:tr>
              <a:tr h="321089">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range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5064320"/>
                  </a:ext>
                </a:extLst>
              </a:tr>
              <a:tr h="321089">
                <a:tc rowSpan="2">
                  <a:txBody>
                    <a:bodyPr/>
                    <a:lstStyle/>
                    <a:p>
                      <a:pPr marL="71755" marR="71755" algn="ctr">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其他</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hidden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800" kern="0">
                          <a:effectLst/>
                          <a:latin typeface="宋体" panose="02010600030101010101" pitchFamily="2" charset="-122"/>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7657037"/>
                  </a:ext>
                </a:extLst>
              </a:tr>
              <a:tr h="321089">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color</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1800" kern="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4972451"/>
                  </a:ext>
                </a:extLst>
              </a:tr>
            </a:tbl>
          </a:graphicData>
        </a:graphic>
      </p:graphicFrame>
      <p:graphicFrame>
        <p:nvGraphicFramePr>
          <p:cNvPr id="4" name="表格 3">
            <a:extLst>
              <a:ext uri="{FF2B5EF4-FFF2-40B4-BE49-F238E27FC236}">
                <a16:creationId xmlns:a16="http://schemas.microsoft.com/office/drawing/2014/main" id="{4AEA6DAD-94D5-214C-A5DE-80DA0CEE4663}"/>
              </a:ext>
            </a:extLst>
          </p:cNvPr>
          <p:cNvGraphicFramePr>
            <a:graphicFrameLocks noGrp="1"/>
          </p:cNvGraphicFramePr>
          <p:nvPr>
            <p:extLst>
              <p:ext uri="{D42A27DB-BD31-4B8C-83A1-F6EECF244321}">
                <p14:modId xmlns:p14="http://schemas.microsoft.com/office/powerpoint/2010/main" val="2570986660"/>
              </p:ext>
            </p:extLst>
          </p:nvPr>
        </p:nvGraphicFramePr>
        <p:xfrm>
          <a:off x="860936" y="2643157"/>
          <a:ext cx="4392488" cy="3873456"/>
        </p:xfrm>
        <a:graphic>
          <a:graphicData uri="http://schemas.openxmlformats.org/drawingml/2006/table">
            <a:tbl>
              <a:tblPr firstRow="1" firstCol="1" bandRow="1"/>
              <a:tblGrid>
                <a:gridCol w="1656184">
                  <a:extLst>
                    <a:ext uri="{9D8B030D-6E8A-4147-A177-3AD203B41FA5}">
                      <a16:colId xmlns:a16="http://schemas.microsoft.com/office/drawing/2014/main" val="4294758903"/>
                    </a:ext>
                  </a:extLst>
                </a:gridCol>
                <a:gridCol w="2736304">
                  <a:extLst>
                    <a:ext uri="{9D8B030D-6E8A-4147-A177-3AD203B41FA5}">
                      <a16:colId xmlns:a16="http://schemas.microsoft.com/office/drawing/2014/main" val="1117314040"/>
                    </a:ext>
                  </a:extLst>
                </a:gridCol>
              </a:tblGrid>
              <a:tr h="243581">
                <a:tc>
                  <a:txBody>
                    <a:bodyPr/>
                    <a:lstStyle/>
                    <a:p>
                      <a:pPr algn="just"/>
                      <a:r>
                        <a:rPr lang="zh-CN" sz="1800" b="1" kern="0" dirty="0">
                          <a:effectLst/>
                          <a:latin typeface="Calibri" panose="020F0502020204030204" pitchFamily="34" charset="0"/>
                          <a:ea typeface="宋体" panose="02010600030101010101" pitchFamily="2" charset="-122"/>
                          <a:cs typeface="Times New Roman" panose="02020603050405020304" pitchFamily="18" charset="0"/>
                        </a:rPr>
                        <a:t>类别</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just"/>
                      <a:r>
                        <a:rPr lang="en-US" sz="1800" b="1" kern="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type</a:t>
                      </a:r>
                      <a:r>
                        <a:rPr lang="zh-CN" sz="18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类型</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26609765"/>
                  </a:ext>
                </a:extLst>
              </a:tr>
              <a:tr h="299928">
                <a:tc rowSpan="6">
                  <a:txBody>
                    <a:bodyPr/>
                    <a:lstStyle/>
                    <a:p>
                      <a:pPr marL="71755" marR="71755" algn="l">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单行文本框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b="1" kern="0" dirty="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text</a:t>
                      </a:r>
                      <a:endParaRPr lang="zh-CN" sz="1800" b="1" kern="100" dirty="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7258218"/>
                  </a:ext>
                </a:extLst>
              </a:tr>
              <a:tr h="299928">
                <a:tc vMerge="1">
                  <a:txBody>
                    <a:bodyPr/>
                    <a:lstStyle/>
                    <a:p>
                      <a:endParaRPr lang="zh-CN" altLang="en-US"/>
                    </a:p>
                  </a:txBody>
                  <a:tcPr/>
                </a:tc>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search</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2308924"/>
                  </a:ext>
                </a:extLst>
              </a:tr>
              <a:tr h="299928">
                <a:tc vMerge="1">
                  <a:txBody>
                    <a:bodyPr/>
                    <a:lstStyle/>
                    <a:p>
                      <a:endParaRPr lang="zh-CN" altLang="en-US"/>
                    </a:p>
                  </a:txBody>
                  <a:tcPr/>
                </a:tc>
                <a:tc>
                  <a:txBody>
                    <a:bodyPr/>
                    <a:lstStyle/>
                    <a:p>
                      <a:pPr algn="just"/>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password</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0005671"/>
                  </a:ext>
                </a:extLst>
              </a:tr>
              <a:tr h="299928">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email</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0747521"/>
                  </a:ext>
                </a:extLst>
              </a:tr>
              <a:tr h="299928">
                <a:tc vMerge="1">
                  <a:txBody>
                    <a:bodyPr/>
                    <a:lstStyle/>
                    <a:p>
                      <a:endParaRPr lang="zh-CN" altLang="en-US"/>
                    </a:p>
                  </a:txBody>
                  <a:tcPr/>
                </a:tc>
                <a:tc>
                  <a:txBody>
                    <a:bodyPr/>
                    <a:lstStyle/>
                    <a:p>
                      <a:pPr algn="just"/>
                      <a:r>
                        <a:rPr lang="en-US" sz="1800" kern="0" dirty="0" err="1">
                          <a:effectLst/>
                          <a:latin typeface="宋体" panose="02010600030101010101" pitchFamily="2" charset="-122"/>
                          <a:ea typeface="宋体" panose="02010600030101010101" pitchFamily="2" charset="-122"/>
                          <a:cs typeface="Times New Roman" panose="02020603050405020304" pitchFamily="18" charset="0"/>
                        </a:rPr>
                        <a:t>url</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655045"/>
                  </a:ext>
                </a:extLst>
              </a:tr>
              <a:tr h="299928">
                <a:tc vMerge="1">
                  <a:txBody>
                    <a:bodyPr/>
                    <a:lstStyle/>
                    <a:p>
                      <a:endParaRPr lang="zh-CN" altLang="en-US"/>
                    </a:p>
                  </a:txBody>
                  <a:tcPr/>
                </a:tc>
                <a:tc>
                  <a:txBody>
                    <a:bodyPr/>
                    <a:lstStyle/>
                    <a:p>
                      <a:pPr algn="just"/>
                      <a:r>
                        <a:rPr lang="en-US" sz="1800" kern="0" dirty="0" err="1">
                          <a:effectLst/>
                          <a:latin typeface="宋体" panose="02010600030101010101" pitchFamily="2" charset="-122"/>
                          <a:ea typeface="宋体" panose="02010600030101010101" pitchFamily="2" charset="-122"/>
                          <a:cs typeface="Times New Roman" panose="02020603050405020304" pitchFamily="18" charset="0"/>
                        </a:rPr>
                        <a:t>tel</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5620101"/>
                  </a:ext>
                </a:extLst>
              </a:tr>
              <a:tr h="299928">
                <a:tc rowSpan="2">
                  <a:txBody>
                    <a:bodyPr/>
                    <a:lstStyle/>
                    <a:p>
                      <a:pPr marL="71755" marR="71755" algn="l">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选框</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radio</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0573697"/>
                  </a:ext>
                </a:extLst>
              </a:tr>
              <a:tr h="299928">
                <a:tc vMerge="1">
                  <a:txBody>
                    <a:bodyPr/>
                    <a:lstStyle/>
                    <a:p>
                      <a:endParaRPr lang="zh-CN" altLang="en-US"/>
                    </a:p>
                  </a:txBody>
                  <a:tcPr/>
                </a:tc>
                <a:tc>
                  <a:txBody>
                    <a:bodyPr/>
                    <a:lstStyle/>
                    <a:p>
                      <a:pPr algn="just"/>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checkbox</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373603"/>
                  </a:ext>
                </a:extLst>
              </a:tr>
              <a:tr h="299928">
                <a:tc rowSpan="4">
                  <a:txBody>
                    <a:bodyPr/>
                    <a:lstStyle/>
                    <a:p>
                      <a:pPr marL="71755" marR="71755" algn="l">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按钮</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button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7223065"/>
                  </a:ext>
                </a:extLst>
              </a:tr>
              <a:tr h="299928">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reset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011052"/>
                  </a:ext>
                </a:extLst>
              </a:tr>
              <a:tr h="299928">
                <a:tc vMerge="1">
                  <a:txBody>
                    <a:bodyPr/>
                    <a:lstStyle/>
                    <a:p>
                      <a:endParaRPr lang="zh-CN" altLang="en-US"/>
                    </a:p>
                  </a:txBody>
                  <a:tcPr/>
                </a:tc>
                <a:tc>
                  <a:txBody>
                    <a:bodyPr/>
                    <a:lstStyle/>
                    <a:p>
                      <a:pPr algn="just"/>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submit</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0767381"/>
                  </a:ext>
                </a:extLst>
              </a:tr>
              <a:tr h="299928">
                <a:tc vMerge="1">
                  <a:txBody>
                    <a:bodyPr/>
                    <a:lstStyle/>
                    <a:p>
                      <a:endParaRPr lang="zh-CN" altLang="en-US"/>
                    </a:p>
                  </a:txBody>
                  <a:tcPr/>
                </a:tc>
                <a:tc>
                  <a:txBody>
                    <a:bodyPr/>
                    <a:lstStyle/>
                    <a:p>
                      <a:pPr algn="just"/>
                      <a:r>
                        <a:rPr lang="en-US" sz="1800" kern="0" dirty="0">
                          <a:effectLst/>
                          <a:latin typeface="宋体" panose="02010600030101010101" pitchFamily="2" charset="-122"/>
                          <a:ea typeface="宋体" panose="02010600030101010101" pitchFamily="2" charset="-122"/>
                          <a:cs typeface="Times New Roman" panose="02020603050405020304" pitchFamily="18" charset="0"/>
                        </a:rPr>
                        <a:t>image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732259"/>
                  </a:ext>
                </a:extLst>
              </a:tr>
            </a:tbl>
          </a:graphicData>
        </a:graphic>
      </p:graphicFrame>
      <p:pic>
        <p:nvPicPr>
          <p:cNvPr id="22" name="图片 21">
            <a:extLst>
              <a:ext uri="{FF2B5EF4-FFF2-40B4-BE49-F238E27FC236}">
                <a16:creationId xmlns:a16="http://schemas.microsoft.com/office/drawing/2014/main" id="{ACC407A3-B179-7F48-A107-68227A375D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7917" y="3276253"/>
            <a:ext cx="297360" cy="252000"/>
          </a:xfrm>
          <a:prstGeom prst="rect">
            <a:avLst/>
          </a:prstGeom>
          <a:noFill/>
          <a:ln>
            <a:noFill/>
          </a:ln>
        </p:spPr>
      </p:pic>
      <p:pic>
        <p:nvPicPr>
          <p:cNvPr id="23" name="图片 22">
            <a:extLst>
              <a:ext uri="{FF2B5EF4-FFF2-40B4-BE49-F238E27FC236}">
                <a16:creationId xmlns:a16="http://schemas.microsoft.com/office/drawing/2014/main" id="{D73CBC3D-62C7-3640-8B5C-F8100BFB9A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7917" y="3888349"/>
            <a:ext cx="297360" cy="252000"/>
          </a:xfrm>
          <a:prstGeom prst="rect">
            <a:avLst/>
          </a:prstGeom>
          <a:noFill/>
          <a:ln>
            <a:noFill/>
          </a:ln>
        </p:spPr>
      </p:pic>
      <p:pic>
        <p:nvPicPr>
          <p:cNvPr id="24" name="图片 23">
            <a:extLst>
              <a:ext uri="{FF2B5EF4-FFF2-40B4-BE49-F238E27FC236}">
                <a16:creationId xmlns:a16="http://schemas.microsoft.com/office/drawing/2014/main" id="{764EA326-3103-2044-8F0A-BD440549F4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7917" y="4176381"/>
            <a:ext cx="297360" cy="252000"/>
          </a:xfrm>
          <a:prstGeom prst="rect">
            <a:avLst/>
          </a:prstGeom>
          <a:noFill/>
          <a:ln>
            <a:noFill/>
          </a:ln>
        </p:spPr>
      </p:pic>
      <p:pic>
        <p:nvPicPr>
          <p:cNvPr id="25" name="图片 24">
            <a:extLst>
              <a:ext uri="{FF2B5EF4-FFF2-40B4-BE49-F238E27FC236}">
                <a16:creationId xmlns:a16="http://schemas.microsoft.com/office/drawing/2014/main" id="{0865E635-3BDE-2744-B764-12583E3EA4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7917" y="4464413"/>
            <a:ext cx="297360" cy="252000"/>
          </a:xfrm>
          <a:prstGeom prst="rect">
            <a:avLst/>
          </a:prstGeom>
          <a:noFill/>
          <a:ln>
            <a:noFill/>
          </a:ln>
        </p:spPr>
      </p:pic>
      <p:pic>
        <p:nvPicPr>
          <p:cNvPr id="26" name="图片 25">
            <a:extLst>
              <a:ext uri="{FF2B5EF4-FFF2-40B4-BE49-F238E27FC236}">
                <a16:creationId xmlns:a16="http://schemas.microsoft.com/office/drawing/2014/main" id="{807855F5-979E-E14B-89E1-8F31C5A41A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7917" y="6264613"/>
            <a:ext cx="297360" cy="252000"/>
          </a:xfrm>
          <a:prstGeom prst="rect">
            <a:avLst/>
          </a:prstGeom>
          <a:noFill/>
          <a:ln>
            <a:noFill/>
          </a:ln>
        </p:spPr>
      </p:pic>
      <p:pic>
        <p:nvPicPr>
          <p:cNvPr id="27" name="图片 26">
            <a:extLst>
              <a:ext uri="{FF2B5EF4-FFF2-40B4-BE49-F238E27FC236}">
                <a16:creationId xmlns:a16="http://schemas.microsoft.com/office/drawing/2014/main" id="{F61AD101-0E69-AC40-B796-15621F9D9A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3024253"/>
            <a:ext cx="297360" cy="252000"/>
          </a:xfrm>
          <a:prstGeom prst="rect">
            <a:avLst/>
          </a:prstGeom>
          <a:noFill/>
          <a:ln>
            <a:noFill/>
          </a:ln>
        </p:spPr>
      </p:pic>
      <p:pic>
        <p:nvPicPr>
          <p:cNvPr id="28" name="图片 27">
            <a:extLst>
              <a:ext uri="{FF2B5EF4-FFF2-40B4-BE49-F238E27FC236}">
                <a16:creationId xmlns:a16="http://schemas.microsoft.com/office/drawing/2014/main" id="{79C31168-4018-214F-8FF5-BE985BC45C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35293" y="3348261"/>
            <a:ext cx="297360" cy="252000"/>
          </a:xfrm>
          <a:prstGeom prst="rect">
            <a:avLst/>
          </a:prstGeom>
          <a:noFill/>
          <a:ln>
            <a:noFill/>
          </a:ln>
        </p:spPr>
      </p:pic>
      <p:pic>
        <p:nvPicPr>
          <p:cNvPr id="29" name="图片 28">
            <a:extLst>
              <a:ext uri="{FF2B5EF4-FFF2-40B4-BE49-F238E27FC236}">
                <a16:creationId xmlns:a16="http://schemas.microsoft.com/office/drawing/2014/main" id="{2F56DD97-7277-0B4D-975C-5F2A20829D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3672325"/>
            <a:ext cx="297360" cy="252000"/>
          </a:xfrm>
          <a:prstGeom prst="rect">
            <a:avLst/>
          </a:prstGeom>
          <a:noFill/>
          <a:ln>
            <a:noFill/>
          </a:ln>
        </p:spPr>
      </p:pic>
      <p:pic>
        <p:nvPicPr>
          <p:cNvPr id="30" name="图片 29">
            <a:extLst>
              <a:ext uri="{FF2B5EF4-FFF2-40B4-BE49-F238E27FC236}">
                <a16:creationId xmlns:a16="http://schemas.microsoft.com/office/drawing/2014/main" id="{B45163D1-0DBF-CA4C-B574-AF2110BFBC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4032365"/>
            <a:ext cx="297360" cy="252000"/>
          </a:xfrm>
          <a:prstGeom prst="rect">
            <a:avLst/>
          </a:prstGeom>
          <a:noFill/>
          <a:ln>
            <a:noFill/>
          </a:ln>
        </p:spPr>
      </p:pic>
      <p:pic>
        <p:nvPicPr>
          <p:cNvPr id="31" name="图片 30">
            <a:extLst>
              <a:ext uri="{FF2B5EF4-FFF2-40B4-BE49-F238E27FC236}">
                <a16:creationId xmlns:a16="http://schemas.microsoft.com/office/drawing/2014/main" id="{C7EF9E5E-BD08-0A4E-AB5D-55FB5332F4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4320397"/>
            <a:ext cx="297360" cy="252000"/>
          </a:xfrm>
          <a:prstGeom prst="rect">
            <a:avLst/>
          </a:prstGeom>
          <a:noFill/>
          <a:ln>
            <a:noFill/>
          </a:ln>
        </p:spPr>
      </p:pic>
      <p:pic>
        <p:nvPicPr>
          <p:cNvPr id="32" name="图片 31">
            <a:extLst>
              <a:ext uri="{FF2B5EF4-FFF2-40B4-BE49-F238E27FC236}">
                <a16:creationId xmlns:a16="http://schemas.microsoft.com/office/drawing/2014/main" id="{2FC3A677-4089-CB45-A054-7A43324DFF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4608429"/>
            <a:ext cx="297360" cy="252000"/>
          </a:xfrm>
          <a:prstGeom prst="rect">
            <a:avLst/>
          </a:prstGeom>
          <a:noFill/>
          <a:ln>
            <a:noFill/>
          </a:ln>
        </p:spPr>
      </p:pic>
      <p:pic>
        <p:nvPicPr>
          <p:cNvPr id="33" name="图片 32">
            <a:extLst>
              <a:ext uri="{FF2B5EF4-FFF2-40B4-BE49-F238E27FC236}">
                <a16:creationId xmlns:a16="http://schemas.microsoft.com/office/drawing/2014/main" id="{1F32BF48-2259-B847-A243-6874975E9E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4968469"/>
            <a:ext cx="297360" cy="252000"/>
          </a:xfrm>
          <a:prstGeom prst="rect">
            <a:avLst/>
          </a:prstGeom>
          <a:noFill/>
          <a:ln>
            <a:noFill/>
          </a:ln>
        </p:spPr>
      </p:pic>
      <p:pic>
        <p:nvPicPr>
          <p:cNvPr id="34" name="图片 33">
            <a:extLst>
              <a:ext uri="{FF2B5EF4-FFF2-40B4-BE49-F238E27FC236}">
                <a16:creationId xmlns:a16="http://schemas.microsoft.com/office/drawing/2014/main" id="{2370ABEF-DC19-D64A-B943-79D6C8756D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5328509"/>
            <a:ext cx="297360" cy="252000"/>
          </a:xfrm>
          <a:prstGeom prst="rect">
            <a:avLst/>
          </a:prstGeom>
          <a:noFill/>
          <a:ln>
            <a:noFill/>
          </a:ln>
        </p:spPr>
      </p:pic>
      <p:pic>
        <p:nvPicPr>
          <p:cNvPr id="35" name="图片 34">
            <a:extLst>
              <a:ext uri="{FF2B5EF4-FFF2-40B4-BE49-F238E27FC236}">
                <a16:creationId xmlns:a16="http://schemas.microsoft.com/office/drawing/2014/main" id="{41F2D5B3-8F3C-4F4B-8D37-3E0978E27A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5616541"/>
            <a:ext cx="297360" cy="252000"/>
          </a:xfrm>
          <a:prstGeom prst="rect">
            <a:avLst/>
          </a:prstGeom>
          <a:noFill/>
          <a:ln>
            <a:noFill/>
          </a:ln>
        </p:spPr>
      </p:pic>
      <p:pic>
        <p:nvPicPr>
          <p:cNvPr id="36" name="图片 35">
            <a:extLst>
              <a:ext uri="{FF2B5EF4-FFF2-40B4-BE49-F238E27FC236}">
                <a16:creationId xmlns:a16="http://schemas.microsoft.com/office/drawing/2014/main" id="{2703D90A-4AD2-D946-B1A0-8DAFE4AF8F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4621" y="5904573"/>
            <a:ext cx="297360" cy="252000"/>
          </a:xfrm>
          <a:prstGeom prst="rect">
            <a:avLst/>
          </a:prstGeom>
          <a:noFill/>
          <a:ln>
            <a:noFill/>
          </a:ln>
        </p:spPr>
      </p:pic>
    </p:spTree>
    <p:extLst>
      <p:ext uri="{BB962C8B-B14F-4D97-AF65-F5344CB8AC3E}">
        <p14:creationId xmlns:p14="http://schemas.microsoft.com/office/powerpoint/2010/main" val="3778418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&lt;input&gt;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92077"/>
            <a:ext cx="1768433" cy="461665"/>
          </a:xfrm>
          <a:prstGeom prst="rect">
            <a:avLst/>
          </a:prstGeom>
        </p:spPr>
        <p:txBody>
          <a:bodyPr wrap="none">
            <a:spAutoFit/>
          </a:bodyPr>
          <a:lstStyle/>
          <a:p>
            <a:pPr marL="342900" indent="-342900">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其他</a:t>
            </a:r>
            <a:r>
              <a:rPr lang="zh-CN" altLang="en-US" sz="2400" b="1" dirty="0">
                <a:effectLst>
                  <a:outerShdw blurRad="38100" dist="38100" dir="2700000" algn="tl">
                    <a:srgbClr val="000000">
                      <a:alpha val="43137"/>
                    </a:srgbClr>
                  </a:outerShdw>
                </a:effectLst>
              </a:rPr>
              <a:t>属性</a:t>
            </a:r>
            <a:endParaRPr lang="en-US" altLang="zh-CN" sz="2400" b="1" dirty="0">
              <a:effectLst>
                <a:outerShdw blurRad="38100" dist="38100" dir="2700000" algn="tl">
                  <a:srgbClr val="000000">
                    <a:alpha val="43137"/>
                  </a:srgbClr>
                </a:outerShdw>
              </a:effectLst>
            </a:endParaRPr>
          </a:p>
        </p:txBody>
      </p:sp>
      <p:graphicFrame>
        <p:nvGraphicFramePr>
          <p:cNvPr id="6" name="表格 5">
            <a:extLst>
              <a:ext uri="{FF2B5EF4-FFF2-40B4-BE49-F238E27FC236}">
                <a16:creationId xmlns:a16="http://schemas.microsoft.com/office/drawing/2014/main" id="{B50703EE-1F12-934F-BA4C-831D6A44178C}"/>
              </a:ext>
            </a:extLst>
          </p:cNvPr>
          <p:cNvGraphicFramePr>
            <a:graphicFrameLocks noGrp="1"/>
          </p:cNvGraphicFramePr>
          <p:nvPr>
            <p:extLst>
              <p:ext uri="{D42A27DB-BD31-4B8C-83A1-F6EECF244321}">
                <p14:modId xmlns:p14="http://schemas.microsoft.com/office/powerpoint/2010/main" val="1239144385"/>
              </p:ext>
            </p:extLst>
          </p:nvPr>
        </p:nvGraphicFramePr>
        <p:xfrm>
          <a:off x="751533" y="2168206"/>
          <a:ext cx="11058698" cy="4374696"/>
        </p:xfrm>
        <a:graphic>
          <a:graphicData uri="http://schemas.openxmlformats.org/drawingml/2006/table">
            <a:tbl>
              <a:tblPr firstRow="1" firstCol="1" bandRow="1"/>
              <a:tblGrid>
                <a:gridCol w="2273722">
                  <a:extLst>
                    <a:ext uri="{9D8B030D-6E8A-4147-A177-3AD203B41FA5}">
                      <a16:colId xmlns:a16="http://schemas.microsoft.com/office/drawing/2014/main" val="2029264924"/>
                    </a:ext>
                  </a:extLst>
                </a:gridCol>
                <a:gridCol w="2664296">
                  <a:extLst>
                    <a:ext uri="{9D8B030D-6E8A-4147-A177-3AD203B41FA5}">
                      <a16:colId xmlns:a16="http://schemas.microsoft.com/office/drawing/2014/main" val="1117209405"/>
                    </a:ext>
                  </a:extLst>
                </a:gridCol>
                <a:gridCol w="6120680">
                  <a:extLst>
                    <a:ext uri="{9D8B030D-6E8A-4147-A177-3AD203B41FA5}">
                      <a16:colId xmlns:a16="http://schemas.microsoft.com/office/drawing/2014/main" val="2466955966"/>
                    </a:ext>
                  </a:extLst>
                </a:gridCol>
              </a:tblGrid>
              <a:tr h="336515">
                <a:tc>
                  <a:txBody>
                    <a:bodyPr/>
                    <a:lstStyle/>
                    <a:p>
                      <a:pPr algn="just"/>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just"/>
                      <a:r>
                        <a:rPr lang="zh-CN"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可设置</a:t>
                      </a:r>
                      <a:r>
                        <a:rPr lang="en-US"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type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just"/>
                      <a:r>
                        <a:rPr lang="zh-CN" sz="20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674336602"/>
                  </a:ext>
                </a:extLst>
              </a:tr>
              <a:tr h="336515">
                <a:tc>
                  <a:txBody>
                    <a:bodyPr/>
                    <a:lstStyle/>
                    <a:p>
                      <a:pPr algn="just"/>
                      <a:r>
                        <a:rPr lang="en-US" sz="2000"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name</a:t>
                      </a:r>
                      <a:endParaRPr lang="zh-CN" sz="2000"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表单控件名称，提交表单时以名字</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值对的形式提交</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4691605"/>
                  </a:ext>
                </a:extLst>
              </a:tr>
              <a:tr h="336515">
                <a:tc>
                  <a:txBody>
                    <a:bodyPr/>
                    <a:lstStyle/>
                    <a:p>
                      <a:pPr algn="just"/>
                      <a:r>
                        <a:rPr lang="en-US" sz="2000"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value</a:t>
                      </a:r>
                      <a:endParaRPr lang="zh-CN" sz="2000"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表单控件值，提交表单时以名字</a:t>
                      </a:r>
                      <a:r>
                        <a:rPr lang="en-US" sz="2000" kern="0">
                          <a:effectLst/>
                          <a:latin typeface="Calibri" panose="020F0502020204030204" pitchFamily="34" charset="0"/>
                          <a:ea typeface="宋体" panose="02010600030101010101" pitchFamily="2" charset="-122"/>
                          <a:cs typeface="Times New Roman" panose="02020603050405020304" pitchFamily="18" charset="0"/>
                        </a:rPr>
                        <a:t>/</a:t>
                      </a:r>
                      <a:r>
                        <a:rPr lang="zh-CN" sz="2000" kern="0">
                          <a:effectLst/>
                          <a:latin typeface="Calibri" panose="020F0502020204030204" pitchFamily="34" charset="0"/>
                          <a:ea typeface="宋体" panose="02010600030101010101" pitchFamily="2" charset="-122"/>
                          <a:cs typeface="Times New Roman" panose="02020603050405020304" pitchFamily="18" charset="0"/>
                        </a:rPr>
                        <a:t>值对的形式提交</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486905"/>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autocomplete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表单自动填充功能</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418074"/>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autofocus</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页面加载时自动聚焦到此表单控件</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432167"/>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disabled</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禁用控件，无法复制或修改控件的输入值或获取焦点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343642"/>
                  </a:ext>
                </a:extLst>
              </a:tr>
              <a:tr h="673031">
                <a:tc>
                  <a:txBody>
                    <a:bodyPr/>
                    <a:lstStyle/>
                    <a:p>
                      <a:pPr algn="just"/>
                      <a:r>
                        <a:rPr lang="en-US" sz="2000" kern="0" dirty="0" err="1">
                          <a:effectLst/>
                          <a:latin typeface="宋体" panose="02010600030101010101" pitchFamily="2" charset="-122"/>
                          <a:ea typeface="宋体" panose="02010600030101010101" pitchFamily="2" charset="-122"/>
                          <a:cs typeface="Times New Roman" panose="02020603050405020304" pitchFamily="18" charset="0"/>
                        </a:rPr>
                        <a:t>readonly</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单行文本框、数值、时间日期</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只读模式</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673733"/>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form</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将控件和一个</a:t>
                      </a:r>
                      <a:r>
                        <a:rPr lang="en-US" sz="2000" kern="0">
                          <a:effectLst/>
                          <a:latin typeface="Calibri" panose="020F0502020204030204" pitchFamily="34" charset="0"/>
                          <a:ea typeface="宋体" panose="02010600030101010101" pitchFamily="2" charset="-122"/>
                          <a:cs typeface="Times New Roman" panose="02020603050405020304" pitchFamily="18" charset="0"/>
                        </a:rPr>
                        <a:t>form</a:t>
                      </a:r>
                      <a:r>
                        <a:rPr lang="zh-CN" sz="2000" kern="0">
                          <a:effectLst/>
                          <a:latin typeface="Calibri" panose="020F0502020204030204" pitchFamily="34" charset="0"/>
                          <a:ea typeface="宋体" panose="02010600030101010101" pitchFamily="2" charset="-122"/>
                          <a:cs typeface="Times New Roman" panose="02020603050405020304" pitchFamily="18" charset="0"/>
                        </a:rPr>
                        <a:t>元素联系在一起</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0221438"/>
                  </a:ext>
                </a:extLst>
              </a:tr>
              <a:tr h="336515">
                <a:tc>
                  <a:txBody>
                    <a:bodyPr/>
                    <a:lstStyle/>
                    <a:p>
                      <a:pPr algn="just"/>
                      <a:r>
                        <a:rPr lang="en-US" sz="2000"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required</a:t>
                      </a:r>
                      <a:endParaRPr lang="zh-CN" sz="2000"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控件的值不能为空</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0117037"/>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list</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自动填充选项的</a:t>
                      </a:r>
                      <a:r>
                        <a:rPr lang="en-US" sz="2000" kern="0">
                          <a:effectLst/>
                          <a:latin typeface="Calibri" panose="020F0502020204030204" pitchFamily="34" charset="0"/>
                          <a:ea typeface="宋体" panose="02010600030101010101" pitchFamily="2" charset="-122"/>
                          <a:cs typeface="Times New Roman" panose="02020603050405020304" pitchFamily="18" charset="0"/>
                        </a:rPr>
                        <a:t>&lt;datalist&gt;</a:t>
                      </a:r>
                      <a:r>
                        <a:rPr lang="zh-CN" sz="2000" kern="0">
                          <a:effectLst/>
                          <a:latin typeface="Calibri" panose="020F0502020204030204" pitchFamily="34" charset="0"/>
                          <a:ea typeface="宋体" panose="02010600030101010101" pitchFamily="2" charset="-122"/>
                          <a:cs typeface="Times New Roman" panose="02020603050405020304" pitchFamily="18" charset="0"/>
                        </a:rPr>
                        <a:t>控件的</a:t>
                      </a:r>
                      <a:r>
                        <a:rPr lang="en-US" sz="2000" kern="0">
                          <a:effectLst/>
                          <a:latin typeface="Calibri" panose="020F0502020204030204" pitchFamily="34" charset="0"/>
                          <a:ea typeface="宋体" panose="02010600030101010101" pitchFamily="2" charset="-122"/>
                          <a:cs typeface="Times New Roman" panose="02020603050405020304" pitchFamily="18" charset="0"/>
                        </a:rPr>
                        <a:t>id</a:t>
                      </a:r>
                      <a:r>
                        <a:rPr lang="zh-CN" sz="2000" kern="0">
                          <a:effectLst/>
                          <a:latin typeface="Calibri" panose="020F0502020204030204" pitchFamily="34" charset="0"/>
                          <a:ea typeface="宋体" panose="02010600030101010101" pitchFamily="2" charset="-122"/>
                          <a:cs typeface="Times New Roman" panose="02020603050405020304" pitchFamily="18" charset="0"/>
                        </a:rPr>
                        <a:t>值</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300126"/>
                  </a:ext>
                </a:extLst>
              </a:tr>
              <a:tr h="336515">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pattern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单行文本框</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通过模式（</a:t>
                      </a:r>
                      <a:r>
                        <a:rPr lang="en-US" sz="2000" kern="0">
                          <a:effectLst/>
                          <a:latin typeface="Calibri" panose="020F0502020204030204" pitchFamily="34" charset="0"/>
                          <a:ea typeface="宋体" panose="02010600030101010101" pitchFamily="2" charset="-122"/>
                          <a:cs typeface="Times New Roman" panose="02020603050405020304" pitchFamily="18" charset="0"/>
                        </a:rPr>
                        <a:t>pattern</a:t>
                      </a:r>
                      <a:r>
                        <a:rPr lang="zh-CN" sz="2000" kern="0">
                          <a:effectLst/>
                          <a:latin typeface="Calibri" panose="020F0502020204030204" pitchFamily="34" charset="0"/>
                          <a:ea typeface="宋体" panose="02010600030101010101" pitchFamily="2" charset="-122"/>
                          <a:cs typeface="Times New Roman" panose="02020603050405020304" pitchFamily="18" charset="0"/>
                        </a:rPr>
                        <a:t>）自定义验证来匹配有效的</a:t>
                      </a:r>
                      <a:r>
                        <a:rPr lang="en-US" sz="2000" kern="0">
                          <a:effectLst/>
                          <a:latin typeface="Calibri" panose="020F0502020204030204" pitchFamily="34" charset="0"/>
                          <a:ea typeface="宋体" panose="02010600030101010101" pitchFamily="2" charset="-122"/>
                          <a:cs typeface="Times New Roman" panose="02020603050405020304" pitchFamily="18" charset="0"/>
                        </a:rPr>
                        <a:t>value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7547504"/>
                  </a:ext>
                </a:extLst>
              </a:tr>
              <a:tr h="336515">
                <a:tc>
                  <a:txBody>
                    <a:bodyPr/>
                    <a:lstStyle/>
                    <a:p>
                      <a:pPr algn="just"/>
                      <a:r>
                        <a:rPr lang="en-US" sz="2000"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placeholder</a:t>
                      </a:r>
                      <a:endParaRPr lang="zh-CN" sz="2000"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单行文本框、数值</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当控件</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value</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为空时，控件中显示的提示文字</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2284220"/>
                  </a:ext>
                </a:extLst>
              </a:tr>
            </a:tbl>
          </a:graphicData>
        </a:graphic>
      </p:graphicFrame>
      <p:pic>
        <p:nvPicPr>
          <p:cNvPr id="22" name="图片 21">
            <a:extLst>
              <a:ext uri="{FF2B5EF4-FFF2-40B4-BE49-F238E27FC236}">
                <a16:creationId xmlns:a16="http://schemas.microsoft.com/office/drawing/2014/main" id="{ACC407A3-B179-7F48-A107-68227A375D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165" y="4896405"/>
            <a:ext cx="297360" cy="252000"/>
          </a:xfrm>
          <a:prstGeom prst="rect">
            <a:avLst/>
          </a:prstGeom>
          <a:noFill/>
          <a:ln>
            <a:noFill/>
          </a:ln>
        </p:spPr>
      </p:pic>
      <p:pic>
        <p:nvPicPr>
          <p:cNvPr id="23" name="图片 22">
            <a:extLst>
              <a:ext uri="{FF2B5EF4-FFF2-40B4-BE49-F238E27FC236}">
                <a16:creationId xmlns:a16="http://schemas.microsoft.com/office/drawing/2014/main" id="{D73CBC3D-62C7-3640-8B5C-F8100BFB9A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165" y="5220469"/>
            <a:ext cx="297360" cy="252000"/>
          </a:xfrm>
          <a:prstGeom prst="rect">
            <a:avLst/>
          </a:prstGeom>
          <a:noFill/>
          <a:ln>
            <a:noFill/>
          </a:ln>
        </p:spPr>
      </p:pic>
      <p:pic>
        <p:nvPicPr>
          <p:cNvPr id="24" name="图片 23">
            <a:extLst>
              <a:ext uri="{FF2B5EF4-FFF2-40B4-BE49-F238E27FC236}">
                <a16:creationId xmlns:a16="http://schemas.microsoft.com/office/drawing/2014/main" id="{764EA326-3103-2044-8F0A-BD440549F4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165" y="5508501"/>
            <a:ext cx="297360" cy="252000"/>
          </a:xfrm>
          <a:prstGeom prst="rect">
            <a:avLst/>
          </a:prstGeom>
          <a:noFill/>
          <a:ln>
            <a:noFill/>
          </a:ln>
        </p:spPr>
      </p:pic>
      <p:pic>
        <p:nvPicPr>
          <p:cNvPr id="25" name="图片 24">
            <a:extLst>
              <a:ext uri="{FF2B5EF4-FFF2-40B4-BE49-F238E27FC236}">
                <a16:creationId xmlns:a16="http://schemas.microsoft.com/office/drawing/2014/main" id="{0865E635-3BDE-2744-B764-12583E3EA4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165" y="5868541"/>
            <a:ext cx="297360" cy="252000"/>
          </a:xfrm>
          <a:prstGeom prst="rect">
            <a:avLst/>
          </a:prstGeom>
          <a:noFill/>
          <a:ln>
            <a:noFill/>
          </a:ln>
        </p:spPr>
      </p:pic>
      <p:pic>
        <p:nvPicPr>
          <p:cNvPr id="26" name="图片 25">
            <a:extLst>
              <a:ext uri="{FF2B5EF4-FFF2-40B4-BE49-F238E27FC236}">
                <a16:creationId xmlns:a16="http://schemas.microsoft.com/office/drawing/2014/main" id="{807855F5-979E-E14B-89E1-8F31C5A41A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3204245"/>
            <a:ext cx="297360" cy="252000"/>
          </a:xfrm>
          <a:prstGeom prst="rect">
            <a:avLst/>
          </a:prstGeom>
          <a:noFill/>
          <a:ln>
            <a:noFill/>
          </a:ln>
        </p:spPr>
      </p:pic>
      <p:pic>
        <p:nvPicPr>
          <p:cNvPr id="38" name="图片 37">
            <a:extLst>
              <a:ext uri="{FF2B5EF4-FFF2-40B4-BE49-F238E27FC236}">
                <a16:creationId xmlns:a16="http://schemas.microsoft.com/office/drawing/2014/main" id="{687A7237-708A-5E49-B20B-7D12971BBA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1733" y="6192605"/>
            <a:ext cx="297360" cy="252000"/>
          </a:xfrm>
          <a:prstGeom prst="rect">
            <a:avLst/>
          </a:prstGeom>
          <a:noFill/>
          <a:ln>
            <a:noFill/>
          </a:ln>
        </p:spPr>
      </p:pic>
    </p:spTree>
    <p:extLst>
      <p:ext uri="{BB962C8B-B14F-4D97-AF65-F5344CB8AC3E}">
        <p14:creationId xmlns:p14="http://schemas.microsoft.com/office/powerpoint/2010/main" val="1371033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&lt;input&gt;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92077"/>
            <a:ext cx="1768433" cy="461665"/>
          </a:xfrm>
          <a:prstGeom prst="rect">
            <a:avLst/>
          </a:prstGeom>
        </p:spPr>
        <p:txBody>
          <a:bodyPr wrap="none">
            <a:spAutoFit/>
          </a:bodyPr>
          <a:lstStyle/>
          <a:p>
            <a:pPr marL="342900" indent="-342900">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其他</a:t>
            </a:r>
            <a:r>
              <a:rPr lang="zh-CN" altLang="en-US" sz="2400" b="1" dirty="0">
                <a:effectLst>
                  <a:outerShdw blurRad="38100" dist="38100" dir="2700000" algn="tl">
                    <a:srgbClr val="000000">
                      <a:alpha val="43137"/>
                    </a:srgbClr>
                  </a:outerShdw>
                </a:effectLst>
              </a:rPr>
              <a:t>属性</a:t>
            </a:r>
            <a:endParaRPr lang="en-US" altLang="zh-CN" sz="2400" b="1" dirty="0">
              <a:effectLst>
                <a:outerShdw blurRad="38100" dist="38100" dir="2700000" algn="tl">
                  <a:srgbClr val="000000">
                    <a:alpha val="43137"/>
                  </a:srgbClr>
                </a:outerShdw>
              </a:effectLst>
            </a:endParaRPr>
          </a:p>
        </p:txBody>
      </p:sp>
      <p:graphicFrame>
        <p:nvGraphicFramePr>
          <p:cNvPr id="6" name="表格 5">
            <a:extLst>
              <a:ext uri="{FF2B5EF4-FFF2-40B4-BE49-F238E27FC236}">
                <a16:creationId xmlns:a16="http://schemas.microsoft.com/office/drawing/2014/main" id="{B50703EE-1F12-934F-BA4C-831D6A44178C}"/>
              </a:ext>
            </a:extLst>
          </p:cNvPr>
          <p:cNvGraphicFramePr>
            <a:graphicFrameLocks noGrp="1"/>
          </p:cNvGraphicFramePr>
          <p:nvPr>
            <p:extLst>
              <p:ext uri="{D42A27DB-BD31-4B8C-83A1-F6EECF244321}">
                <p14:modId xmlns:p14="http://schemas.microsoft.com/office/powerpoint/2010/main" val="1592276841"/>
              </p:ext>
            </p:extLst>
          </p:nvPr>
        </p:nvGraphicFramePr>
        <p:xfrm>
          <a:off x="751533" y="2168204"/>
          <a:ext cx="11058698" cy="4312699"/>
        </p:xfrm>
        <a:graphic>
          <a:graphicData uri="http://schemas.openxmlformats.org/drawingml/2006/table">
            <a:tbl>
              <a:tblPr firstRow="1" firstCol="1" bandRow="1"/>
              <a:tblGrid>
                <a:gridCol w="2273722">
                  <a:extLst>
                    <a:ext uri="{9D8B030D-6E8A-4147-A177-3AD203B41FA5}">
                      <a16:colId xmlns:a16="http://schemas.microsoft.com/office/drawing/2014/main" val="2029264924"/>
                    </a:ext>
                  </a:extLst>
                </a:gridCol>
                <a:gridCol w="2664296">
                  <a:extLst>
                    <a:ext uri="{9D8B030D-6E8A-4147-A177-3AD203B41FA5}">
                      <a16:colId xmlns:a16="http://schemas.microsoft.com/office/drawing/2014/main" val="1117209405"/>
                    </a:ext>
                  </a:extLst>
                </a:gridCol>
                <a:gridCol w="6120680">
                  <a:extLst>
                    <a:ext uri="{9D8B030D-6E8A-4147-A177-3AD203B41FA5}">
                      <a16:colId xmlns:a16="http://schemas.microsoft.com/office/drawing/2014/main" val="2466955966"/>
                    </a:ext>
                  </a:extLst>
                </a:gridCol>
              </a:tblGrid>
              <a:tr h="331746">
                <a:tc>
                  <a:txBody>
                    <a:bodyPr/>
                    <a:lstStyle/>
                    <a:p>
                      <a:pPr algn="just"/>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just"/>
                      <a:r>
                        <a:rPr lang="zh-CN"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可设置</a:t>
                      </a:r>
                      <a:r>
                        <a:rPr lang="en-US"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type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just"/>
                      <a:r>
                        <a:rPr lang="zh-CN" sz="20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674336602"/>
                  </a:ext>
                </a:extLst>
              </a:tr>
              <a:tr h="331746">
                <a:tc>
                  <a:txBody>
                    <a:bodyPr/>
                    <a:lstStyle/>
                    <a:p>
                      <a:pPr algn="just"/>
                      <a:r>
                        <a:rPr lang="en-US" sz="2000" kern="0" dirty="0">
                          <a:effectLst/>
                          <a:latin typeface="宋体" panose="02010600030101010101" pitchFamily="2" charset="-122"/>
                          <a:ea typeface="宋体" panose="02010600030101010101" pitchFamily="2" charset="-122"/>
                          <a:cs typeface="Times New Roman" panose="02020603050405020304" pitchFamily="18" charset="0"/>
                        </a:rPr>
                        <a:t>size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单行文本框</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控件的大小（字符长度）</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390922"/>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minlength</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表单控件名称，提交表单时以名字</a:t>
                      </a:r>
                      <a:r>
                        <a:rPr lang="en-US" sz="2000" kern="0">
                          <a:effectLst/>
                          <a:latin typeface="Calibri" panose="020F0502020204030204" pitchFamily="34" charset="0"/>
                          <a:ea typeface="宋体" panose="02010600030101010101" pitchFamily="2" charset="-122"/>
                          <a:cs typeface="Times New Roman" panose="02020603050405020304" pitchFamily="18" charset="0"/>
                        </a:rPr>
                        <a:t>/</a:t>
                      </a:r>
                      <a:r>
                        <a:rPr lang="zh-CN" sz="2000" kern="0">
                          <a:effectLst/>
                          <a:latin typeface="Calibri" panose="020F0502020204030204" pitchFamily="34" charset="0"/>
                          <a:ea typeface="宋体" panose="02010600030101010101" pitchFamily="2" charset="-122"/>
                          <a:cs typeface="Times New Roman" panose="02020603050405020304" pitchFamily="18" charset="0"/>
                        </a:rPr>
                        <a:t>值对的形式提交</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4691605"/>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maxlength</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表单控件值，提交表单时以名字</a:t>
                      </a:r>
                      <a:r>
                        <a:rPr lang="en-US" sz="2000" kern="0">
                          <a:effectLst/>
                          <a:latin typeface="Calibri" panose="020F0502020204030204" pitchFamily="34" charset="0"/>
                          <a:ea typeface="宋体" panose="02010600030101010101" pitchFamily="2" charset="-122"/>
                          <a:cs typeface="Times New Roman" panose="02020603050405020304" pitchFamily="18" charset="0"/>
                        </a:rPr>
                        <a:t>/</a:t>
                      </a:r>
                      <a:r>
                        <a:rPr lang="zh-CN" sz="2000" kern="0">
                          <a:effectLst/>
                          <a:latin typeface="Calibri" panose="020F0502020204030204" pitchFamily="34" charset="0"/>
                          <a:ea typeface="宋体" panose="02010600030101010101" pitchFamily="2" charset="-122"/>
                          <a:cs typeface="Times New Roman" panose="02020603050405020304" pitchFamily="18" charset="0"/>
                        </a:rPr>
                        <a:t>值对的形式提交</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486905"/>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dirname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表单自动填充功能</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418074"/>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checked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页面加载时自动聚焦到此表单控件</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432167"/>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min</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禁用控件，无法复制或修改控件的输入值或获取焦点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343642"/>
                  </a:ext>
                </a:extLst>
              </a:tr>
              <a:tr h="663493">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max</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单行文本框、数值、时间日期</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只读模式</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673733"/>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step</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所有</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将控件和一个</a:t>
                      </a:r>
                      <a:r>
                        <a:rPr lang="en-US" sz="2000" kern="0">
                          <a:effectLst/>
                          <a:latin typeface="Calibri" panose="020F0502020204030204" pitchFamily="34" charset="0"/>
                          <a:ea typeface="宋体" panose="02010600030101010101" pitchFamily="2" charset="-122"/>
                          <a:cs typeface="Times New Roman" panose="02020603050405020304" pitchFamily="18" charset="0"/>
                        </a:rPr>
                        <a:t>form</a:t>
                      </a:r>
                      <a:r>
                        <a:rPr lang="zh-CN" sz="2000" kern="0">
                          <a:effectLst/>
                          <a:latin typeface="Calibri" panose="020F0502020204030204" pitchFamily="34" charset="0"/>
                          <a:ea typeface="宋体" panose="02010600030101010101" pitchFamily="2" charset="-122"/>
                          <a:cs typeface="Times New Roman" panose="02020603050405020304" pitchFamily="18" charset="0"/>
                        </a:rPr>
                        <a:t>元素联系在一起</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0221438"/>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multiple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控件的值不能为空</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0117037"/>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accept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除按钮和</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hidden</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a:effectLst/>
                          <a:latin typeface="Calibri" panose="020F0502020204030204" pitchFamily="34" charset="0"/>
                          <a:ea typeface="宋体" panose="02010600030101010101" pitchFamily="2" charset="-122"/>
                          <a:cs typeface="Times New Roman" panose="02020603050405020304" pitchFamily="18" charset="0"/>
                        </a:rPr>
                        <a:t>自动填充选项的</a:t>
                      </a:r>
                      <a:r>
                        <a:rPr lang="en-US" sz="2000" kern="0">
                          <a:effectLst/>
                          <a:latin typeface="Calibri" panose="020F0502020204030204" pitchFamily="34" charset="0"/>
                          <a:ea typeface="宋体" panose="02010600030101010101" pitchFamily="2" charset="-122"/>
                          <a:cs typeface="Times New Roman" panose="02020603050405020304" pitchFamily="18" charset="0"/>
                        </a:rPr>
                        <a:t>&lt;datalist&gt;</a:t>
                      </a:r>
                      <a:r>
                        <a:rPr lang="zh-CN" sz="2000" kern="0">
                          <a:effectLst/>
                          <a:latin typeface="Calibri" panose="020F0502020204030204" pitchFamily="34" charset="0"/>
                          <a:ea typeface="宋体" panose="02010600030101010101" pitchFamily="2" charset="-122"/>
                          <a:cs typeface="Times New Roman" panose="02020603050405020304" pitchFamily="18" charset="0"/>
                        </a:rPr>
                        <a:t>控件的</a:t>
                      </a:r>
                      <a:r>
                        <a:rPr lang="en-US" sz="2000" kern="0">
                          <a:effectLst/>
                          <a:latin typeface="Calibri" panose="020F0502020204030204" pitchFamily="34" charset="0"/>
                          <a:ea typeface="宋体" panose="02010600030101010101" pitchFamily="2" charset="-122"/>
                          <a:cs typeface="Times New Roman" panose="02020603050405020304" pitchFamily="18" charset="0"/>
                        </a:rPr>
                        <a:t>id</a:t>
                      </a:r>
                      <a:r>
                        <a:rPr lang="zh-CN" sz="2000" kern="0">
                          <a:effectLst/>
                          <a:latin typeface="Calibri" panose="020F0502020204030204" pitchFamily="34" charset="0"/>
                          <a:ea typeface="宋体" panose="02010600030101010101" pitchFamily="2" charset="-122"/>
                          <a:cs typeface="Times New Roman" panose="02020603050405020304" pitchFamily="18" charset="0"/>
                        </a:rPr>
                        <a:t>值</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300126"/>
                  </a:ext>
                </a:extLst>
              </a:tr>
              <a:tr h="331746">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capture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单行文本框</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2000" kern="0" dirty="0">
                          <a:effectLst/>
                          <a:latin typeface="Calibri" panose="020F0502020204030204" pitchFamily="34" charset="0"/>
                          <a:ea typeface="宋体" panose="02010600030101010101" pitchFamily="2" charset="-122"/>
                          <a:cs typeface="Times New Roman" panose="02020603050405020304" pitchFamily="18" charset="0"/>
                        </a:rPr>
                        <a:t>通过模式（</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pattern</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）自定义验证来匹配有效的</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value</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7547504"/>
                  </a:ext>
                </a:extLst>
              </a:tr>
            </a:tbl>
          </a:graphicData>
        </a:graphic>
      </p:graphicFrame>
      <p:pic>
        <p:nvPicPr>
          <p:cNvPr id="22" name="图片 21">
            <a:extLst>
              <a:ext uri="{FF2B5EF4-FFF2-40B4-BE49-F238E27FC236}">
                <a16:creationId xmlns:a16="http://schemas.microsoft.com/office/drawing/2014/main" id="{ACC407A3-B179-7F48-A107-68227A375D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4716413"/>
            <a:ext cx="297360" cy="252000"/>
          </a:xfrm>
          <a:prstGeom prst="rect">
            <a:avLst/>
          </a:prstGeom>
          <a:noFill/>
          <a:ln>
            <a:noFill/>
          </a:ln>
        </p:spPr>
      </p:pic>
      <p:pic>
        <p:nvPicPr>
          <p:cNvPr id="23" name="图片 22">
            <a:extLst>
              <a:ext uri="{FF2B5EF4-FFF2-40B4-BE49-F238E27FC236}">
                <a16:creationId xmlns:a16="http://schemas.microsoft.com/office/drawing/2014/main" id="{D73CBC3D-62C7-3640-8B5C-F8100BFB9A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5220469"/>
            <a:ext cx="297360" cy="252000"/>
          </a:xfrm>
          <a:prstGeom prst="rect">
            <a:avLst/>
          </a:prstGeom>
          <a:noFill/>
          <a:ln>
            <a:noFill/>
          </a:ln>
        </p:spPr>
      </p:pic>
      <p:pic>
        <p:nvPicPr>
          <p:cNvPr id="24" name="图片 23">
            <a:extLst>
              <a:ext uri="{FF2B5EF4-FFF2-40B4-BE49-F238E27FC236}">
                <a16:creationId xmlns:a16="http://schemas.microsoft.com/office/drawing/2014/main" id="{764EA326-3103-2044-8F0A-BD440549F4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5508501"/>
            <a:ext cx="297360" cy="252000"/>
          </a:xfrm>
          <a:prstGeom prst="rect">
            <a:avLst/>
          </a:prstGeom>
          <a:noFill/>
          <a:ln>
            <a:noFill/>
          </a:ln>
        </p:spPr>
      </p:pic>
      <p:pic>
        <p:nvPicPr>
          <p:cNvPr id="25" name="图片 24">
            <a:extLst>
              <a:ext uri="{FF2B5EF4-FFF2-40B4-BE49-F238E27FC236}">
                <a16:creationId xmlns:a16="http://schemas.microsoft.com/office/drawing/2014/main" id="{0865E635-3BDE-2744-B764-12583E3EA4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5868541"/>
            <a:ext cx="297360" cy="252000"/>
          </a:xfrm>
          <a:prstGeom prst="rect">
            <a:avLst/>
          </a:prstGeom>
          <a:noFill/>
          <a:ln>
            <a:noFill/>
          </a:ln>
        </p:spPr>
      </p:pic>
      <p:pic>
        <p:nvPicPr>
          <p:cNvPr id="26" name="图片 25">
            <a:extLst>
              <a:ext uri="{FF2B5EF4-FFF2-40B4-BE49-F238E27FC236}">
                <a16:creationId xmlns:a16="http://schemas.microsoft.com/office/drawing/2014/main" id="{807855F5-979E-E14B-89E1-8F31C5A41A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2880237"/>
            <a:ext cx="297360" cy="252000"/>
          </a:xfrm>
          <a:prstGeom prst="rect">
            <a:avLst/>
          </a:prstGeom>
          <a:noFill/>
          <a:ln>
            <a:noFill/>
          </a:ln>
        </p:spPr>
      </p:pic>
      <p:pic>
        <p:nvPicPr>
          <p:cNvPr id="38" name="图片 37">
            <a:extLst>
              <a:ext uri="{FF2B5EF4-FFF2-40B4-BE49-F238E27FC236}">
                <a16:creationId xmlns:a16="http://schemas.microsoft.com/office/drawing/2014/main" id="{687A7237-708A-5E49-B20B-7D12971BBA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6192605"/>
            <a:ext cx="297360" cy="252000"/>
          </a:xfrm>
          <a:prstGeom prst="rect">
            <a:avLst/>
          </a:prstGeom>
          <a:noFill/>
          <a:ln>
            <a:noFill/>
          </a:ln>
        </p:spPr>
      </p:pic>
      <p:pic>
        <p:nvPicPr>
          <p:cNvPr id="39" name="图片 38">
            <a:extLst>
              <a:ext uri="{FF2B5EF4-FFF2-40B4-BE49-F238E27FC236}">
                <a16:creationId xmlns:a16="http://schemas.microsoft.com/office/drawing/2014/main" id="{764F3C8F-D72B-384F-99E7-0CC977FDFB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2541890"/>
            <a:ext cx="297360" cy="252000"/>
          </a:xfrm>
          <a:prstGeom prst="rect">
            <a:avLst/>
          </a:prstGeom>
          <a:noFill/>
          <a:ln>
            <a:noFill/>
          </a:ln>
        </p:spPr>
      </p:pic>
      <p:pic>
        <p:nvPicPr>
          <p:cNvPr id="20" name="图片 19">
            <a:extLst>
              <a:ext uri="{FF2B5EF4-FFF2-40B4-BE49-F238E27FC236}">
                <a16:creationId xmlns:a16="http://schemas.microsoft.com/office/drawing/2014/main" id="{CFD93B2C-B48E-C944-8F5E-F6110D618C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3216047"/>
            <a:ext cx="297360" cy="252000"/>
          </a:xfrm>
          <a:prstGeom prst="rect">
            <a:avLst/>
          </a:prstGeom>
          <a:noFill/>
          <a:ln>
            <a:noFill/>
          </a:ln>
        </p:spPr>
      </p:pic>
      <p:pic>
        <p:nvPicPr>
          <p:cNvPr id="27" name="图片 26">
            <a:extLst>
              <a:ext uri="{FF2B5EF4-FFF2-40B4-BE49-F238E27FC236}">
                <a16:creationId xmlns:a16="http://schemas.microsoft.com/office/drawing/2014/main" id="{F2BA1007-A255-4241-85C7-0C53DD5F37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3546326"/>
            <a:ext cx="297360" cy="252000"/>
          </a:xfrm>
          <a:prstGeom prst="rect">
            <a:avLst/>
          </a:prstGeom>
          <a:noFill/>
          <a:ln>
            <a:noFill/>
          </a:ln>
        </p:spPr>
      </p:pic>
      <p:pic>
        <p:nvPicPr>
          <p:cNvPr id="28" name="图片 27">
            <a:extLst>
              <a:ext uri="{FF2B5EF4-FFF2-40B4-BE49-F238E27FC236}">
                <a16:creationId xmlns:a16="http://schemas.microsoft.com/office/drawing/2014/main" id="{A0CF37F7-0AAC-7A4B-A203-8489EF1F30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1733" y="4212357"/>
            <a:ext cx="297360" cy="252000"/>
          </a:xfrm>
          <a:prstGeom prst="rect">
            <a:avLst/>
          </a:prstGeom>
          <a:noFill/>
          <a:ln>
            <a:noFill/>
          </a:ln>
        </p:spPr>
      </p:pic>
    </p:spTree>
    <p:extLst>
      <p:ext uri="{BB962C8B-B14F-4D97-AF65-F5344CB8AC3E}">
        <p14:creationId xmlns:p14="http://schemas.microsoft.com/office/powerpoint/2010/main" val="2327681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&lt;input&gt;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92077"/>
            <a:ext cx="1768433" cy="461665"/>
          </a:xfrm>
          <a:prstGeom prst="rect">
            <a:avLst/>
          </a:prstGeom>
        </p:spPr>
        <p:txBody>
          <a:bodyPr wrap="none">
            <a:spAutoFit/>
          </a:bodyPr>
          <a:lstStyle/>
          <a:p>
            <a:pPr marL="342900" indent="-342900">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其他</a:t>
            </a:r>
            <a:r>
              <a:rPr lang="zh-CN" altLang="en-US" sz="2400" b="1" dirty="0">
                <a:effectLst>
                  <a:outerShdw blurRad="38100" dist="38100" dir="2700000" algn="tl">
                    <a:srgbClr val="000000">
                      <a:alpha val="43137"/>
                    </a:srgbClr>
                  </a:outerShdw>
                </a:effectLst>
              </a:rPr>
              <a:t>属性</a:t>
            </a:r>
            <a:endParaRPr lang="en-US" altLang="zh-CN" sz="2400" b="1" dirty="0">
              <a:effectLst>
                <a:outerShdw blurRad="38100" dist="38100" dir="2700000" algn="tl">
                  <a:srgbClr val="000000">
                    <a:alpha val="43137"/>
                  </a:srgbClr>
                </a:outerShdw>
              </a:effectLst>
            </a:endParaRPr>
          </a:p>
        </p:txBody>
      </p:sp>
      <p:graphicFrame>
        <p:nvGraphicFramePr>
          <p:cNvPr id="6" name="表格 5">
            <a:extLst>
              <a:ext uri="{FF2B5EF4-FFF2-40B4-BE49-F238E27FC236}">
                <a16:creationId xmlns:a16="http://schemas.microsoft.com/office/drawing/2014/main" id="{B50703EE-1F12-934F-BA4C-831D6A44178C}"/>
              </a:ext>
            </a:extLst>
          </p:cNvPr>
          <p:cNvGraphicFramePr>
            <a:graphicFrameLocks noGrp="1"/>
          </p:cNvGraphicFramePr>
          <p:nvPr>
            <p:extLst>
              <p:ext uri="{D42A27DB-BD31-4B8C-83A1-F6EECF244321}">
                <p14:modId xmlns:p14="http://schemas.microsoft.com/office/powerpoint/2010/main" val="4184185299"/>
              </p:ext>
            </p:extLst>
          </p:nvPr>
        </p:nvGraphicFramePr>
        <p:xfrm>
          <a:off x="751533" y="2168203"/>
          <a:ext cx="11058698" cy="3772345"/>
        </p:xfrm>
        <a:graphic>
          <a:graphicData uri="http://schemas.openxmlformats.org/drawingml/2006/table">
            <a:tbl>
              <a:tblPr firstRow="1" firstCol="1" bandRow="1"/>
              <a:tblGrid>
                <a:gridCol w="2273722">
                  <a:extLst>
                    <a:ext uri="{9D8B030D-6E8A-4147-A177-3AD203B41FA5}">
                      <a16:colId xmlns:a16="http://schemas.microsoft.com/office/drawing/2014/main" val="2029264924"/>
                    </a:ext>
                  </a:extLst>
                </a:gridCol>
                <a:gridCol w="2664296">
                  <a:extLst>
                    <a:ext uri="{9D8B030D-6E8A-4147-A177-3AD203B41FA5}">
                      <a16:colId xmlns:a16="http://schemas.microsoft.com/office/drawing/2014/main" val="1117209405"/>
                    </a:ext>
                  </a:extLst>
                </a:gridCol>
                <a:gridCol w="6120680">
                  <a:extLst>
                    <a:ext uri="{9D8B030D-6E8A-4147-A177-3AD203B41FA5}">
                      <a16:colId xmlns:a16="http://schemas.microsoft.com/office/drawing/2014/main" val="2466955966"/>
                    </a:ext>
                  </a:extLst>
                </a:gridCol>
              </a:tblGrid>
              <a:tr h="414544">
                <a:tc>
                  <a:txBody>
                    <a:bodyPr/>
                    <a:lstStyle/>
                    <a:p>
                      <a:pPr algn="just"/>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just"/>
                      <a:r>
                        <a:rPr lang="zh-CN"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可设置</a:t>
                      </a:r>
                      <a:r>
                        <a:rPr lang="en-US" sz="2000" b="1"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type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just"/>
                      <a:r>
                        <a:rPr lang="zh-CN" sz="2000" b="1"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674336602"/>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formaction</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r>
                        <a:rPr lang="zh-CN" sz="1800" kern="0">
                          <a:effectLst/>
                          <a:latin typeface="+mn-ea"/>
                          <a:ea typeface="+mn-ea"/>
                          <a:cs typeface="Times New Roman" panose="02020603050405020304" pitchFamily="18" charset="0"/>
                        </a:rPr>
                        <a:t>，</a:t>
                      </a:r>
                      <a:r>
                        <a:rPr lang="en-US" sz="1800" kern="0">
                          <a:effectLst/>
                          <a:latin typeface="+mn-ea"/>
                          <a:ea typeface="+mn-ea"/>
                          <a:cs typeface="Times New Roman" panose="02020603050405020304" pitchFamily="18" charset="0"/>
                        </a:rPr>
                        <a:t>submit</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用于提交表单的</a:t>
                      </a:r>
                      <a:r>
                        <a:rPr lang="en-US" sz="1800" kern="0">
                          <a:effectLst/>
                          <a:latin typeface="+mn-ea"/>
                          <a:ea typeface="+mn-ea"/>
                          <a:cs typeface="Times New Roman" panose="02020603050405020304" pitchFamily="18" charset="0"/>
                        </a:rPr>
                        <a:t>URL</a:t>
                      </a:r>
                      <a:r>
                        <a:rPr lang="zh-CN" sz="1800" kern="0">
                          <a:effectLst/>
                          <a:latin typeface="+mn-ea"/>
                          <a:ea typeface="+mn-ea"/>
                          <a:cs typeface="Times New Roman" panose="02020603050405020304" pitchFamily="18" charset="0"/>
                        </a:rPr>
                        <a:t>，将覆盖</a:t>
                      </a:r>
                      <a:r>
                        <a:rPr lang="en-US" sz="1800" kern="0">
                          <a:effectLst/>
                          <a:latin typeface="+mn-ea"/>
                          <a:ea typeface="+mn-ea"/>
                          <a:cs typeface="Times New Roman" panose="02020603050405020304" pitchFamily="18" charset="0"/>
                        </a:rPr>
                        <a:t>&lt;form&gt;</a:t>
                      </a:r>
                      <a:r>
                        <a:rPr lang="zh-CN" sz="1800" kern="0">
                          <a:effectLst/>
                          <a:latin typeface="+mn-ea"/>
                          <a:ea typeface="+mn-ea"/>
                          <a:cs typeface="Times New Roman" panose="02020603050405020304" pitchFamily="18" charset="0"/>
                        </a:rPr>
                        <a:t>对应的属性值</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390922"/>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formenctype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r>
                        <a:rPr lang="zh-CN" sz="1800" kern="0">
                          <a:effectLst/>
                          <a:latin typeface="+mn-ea"/>
                          <a:ea typeface="+mn-ea"/>
                          <a:cs typeface="Times New Roman" panose="02020603050405020304" pitchFamily="18" charset="0"/>
                        </a:rPr>
                        <a:t>，</a:t>
                      </a:r>
                      <a:r>
                        <a:rPr lang="en-US" sz="1800" kern="0">
                          <a:effectLst/>
                          <a:latin typeface="+mn-ea"/>
                          <a:ea typeface="+mn-ea"/>
                          <a:cs typeface="Times New Roman" panose="02020603050405020304" pitchFamily="18" charset="0"/>
                        </a:rPr>
                        <a:t>submit</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表单提交时的编码方式，将覆盖</a:t>
                      </a:r>
                      <a:r>
                        <a:rPr lang="en-US" sz="1800" kern="0">
                          <a:effectLst/>
                          <a:latin typeface="+mn-ea"/>
                          <a:ea typeface="+mn-ea"/>
                          <a:cs typeface="Times New Roman" panose="02020603050405020304" pitchFamily="18" charset="0"/>
                        </a:rPr>
                        <a:t>&lt;form&gt;</a:t>
                      </a:r>
                      <a:r>
                        <a:rPr lang="zh-CN" sz="1800" kern="0">
                          <a:effectLst/>
                          <a:latin typeface="+mn-ea"/>
                          <a:ea typeface="+mn-ea"/>
                          <a:cs typeface="Times New Roman" panose="02020603050405020304" pitchFamily="18" charset="0"/>
                        </a:rPr>
                        <a:t>对应属性</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4691605"/>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formmethod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r>
                        <a:rPr lang="zh-CN" sz="1800" kern="0">
                          <a:effectLst/>
                          <a:latin typeface="+mn-ea"/>
                          <a:ea typeface="+mn-ea"/>
                          <a:cs typeface="Times New Roman" panose="02020603050405020304" pitchFamily="18" charset="0"/>
                        </a:rPr>
                        <a:t>，</a:t>
                      </a:r>
                      <a:r>
                        <a:rPr lang="en-US" sz="1800" kern="0">
                          <a:effectLst/>
                          <a:latin typeface="+mn-ea"/>
                          <a:ea typeface="+mn-ea"/>
                          <a:cs typeface="Times New Roman" panose="02020603050405020304" pitchFamily="18" charset="0"/>
                        </a:rPr>
                        <a:t>submit</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表单提交的</a:t>
                      </a:r>
                      <a:r>
                        <a:rPr lang="en-US" sz="1800" kern="0">
                          <a:effectLst/>
                          <a:latin typeface="+mn-ea"/>
                          <a:ea typeface="+mn-ea"/>
                          <a:cs typeface="Times New Roman" panose="02020603050405020304" pitchFamily="18" charset="0"/>
                        </a:rPr>
                        <a:t>HTTP</a:t>
                      </a:r>
                      <a:r>
                        <a:rPr lang="zh-CN" sz="1800" kern="0">
                          <a:effectLst/>
                          <a:latin typeface="+mn-ea"/>
                          <a:ea typeface="+mn-ea"/>
                          <a:cs typeface="Times New Roman" panose="02020603050405020304" pitchFamily="18" charset="0"/>
                        </a:rPr>
                        <a:t>方法，将覆盖</a:t>
                      </a:r>
                      <a:r>
                        <a:rPr lang="en-US" sz="1800" kern="0">
                          <a:effectLst/>
                          <a:latin typeface="+mn-ea"/>
                          <a:ea typeface="+mn-ea"/>
                          <a:cs typeface="Times New Roman" panose="02020603050405020304" pitchFamily="18" charset="0"/>
                        </a:rPr>
                        <a:t>&lt;form&gt;</a:t>
                      </a:r>
                      <a:r>
                        <a:rPr lang="zh-CN" sz="1800" kern="0">
                          <a:effectLst/>
                          <a:latin typeface="+mn-ea"/>
                          <a:ea typeface="+mn-ea"/>
                          <a:cs typeface="Times New Roman" panose="02020603050405020304" pitchFamily="18" charset="0"/>
                        </a:rPr>
                        <a:t>对应属性</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486905"/>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formnovalidate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r>
                        <a:rPr lang="zh-CN" sz="1800" kern="0">
                          <a:effectLst/>
                          <a:latin typeface="+mn-ea"/>
                          <a:ea typeface="+mn-ea"/>
                          <a:cs typeface="Times New Roman" panose="02020603050405020304" pitchFamily="18" charset="0"/>
                        </a:rPr>
                        <a:t>，</a:t>
                      </a:r>
                      <a:r>
                        <a:rPr lang="en-US" sz="1800" kern="0">
                          <a:effectLst/>
                          <a:latin typeface="+mn-ea"/>
                          <a:ea typeface="+mn-ea"/>
                          <a:cs typeface="Times New Roman" panose="02020603050405020304" pitchFamily="18" charset="0"/>
                        </a:rPr>
                        <a:t>submit</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表单提交时绕过验证，将覆盖</a:t>
                      </a:r>
                      <a:r>
                        <a:rPr lang="en-US" sz="1800" kern="0">
                          <a:effectLst/>
                          <a:latin typeface="+mn-ea"/>
                          <a:ea typeface="+mn-ea"/>
                          <a:cs typeface="Times New Roman" panose="02020603050405020304" pitchFamily="18" charset="0"/>
                        </a:rPr>
                        <a:t>&lt;form&gt;</a:t>
                      </a:r>
                      <a:r>
                        <a:rPr lang="zh-CN" sz="1800" kern="0">
                          <a:effectLst/>
                          <a:latin typeface="+mn-ea"/>
                          <a:ea typeface="+mn-ea"/>
                          <a:cs typeface="Times New Roman" panose="02020603050405020304" pitchFamily="18" charset="0"/>
                        </a:rPr>
                        <a:t>对应属性</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418074"/>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formtarget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r>
                        <a:rPr lang="zh-CN" sz="1800" kern="0">
                          <a:effectLst/>
                          <a:latin typeface="+mn-ea"/>
                          <a:ea typeface="+mn-ea"/>
                          <a:cs typeface="Times New Roman" panose="02020603050405020304" pitchFamily="18" charset="0"/>
                        </a:rPr>
                        <a:t>，</a:t>
                      </a:r>
                      <a:r>
                        <a:rPr lang="en-US" sz="1800" kern="0">
                          <a:effectLst/>
                          <a:latin typeface="+mn-ea"/>
                          <a:ea typeface="+mn-ea"/>
                          <a:cs typeface="Times New Roman" panose="02020603050405020304" pitchFamily="18" charset="0"/>
                        </a:rPr>
                        <a:t>submit</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表单提交的浏览上下文，将覆盖</a:t>
                      </a:r>
                      <a:r>
                        <a:rPr lang="en-US" sz="1800" kern="0">
                          <a:effectLst/>
                          <a:latin typeface="+mn-ea"/>
                          <a:ea typeface="+mn-ea"/>
                          <a:cs typeface="Times New Roman" panose="02020603050405020304" pitchFamily="18" charset="0"/>
                        </a:rPr>
                        <a:t>&lt;form&gt;</a:t>
                      </a:r>
                      <a:r>
                        <a:rPr lang="zh-CN" sz="1800" kern="0">
                          <a:effectLst/>
                          <a:latin typeface="+mn-ea"/>
                          <a:ea typeface="+mn-ea"/>
                          <a:cs typeface="Times New Roman" panose="02020603050405020304" pitchFamily="18" charset="0"/>
                        </a:rPr>
                        <a:t>对应的属性值</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432167"/>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height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和</a:t>
                      </a:r>
                      <a:r>
                        <a:rPr lang="en-US" sz="1800" kern="0">
                          <a:effectLst/>
                          <a:latin typeface="+mn-ea"/>
                          <a:ea typeface="+mn-ea"/>
                          <a:cs typeface="Times New Roman" panose="02020603050405020304" pitchFamily="18" charset="0"/>
                        </a:rPr>
                        <a:t>&lt;img&gt;</a:t>
                      </a:r>
                      <a:r>
                        <a:rPr lang="zh-CN" sz="1800" kern="0">
                          <a:effectLst/>
                          <a:latin typeface="+mn-ea"/>
                          <a:ea typeface="+mn-ea"/>
                          <a:cs typeface="Times New Roman" panose="02020603050405020304" pitchFamily="18" charset="0"/>
                        </a:rPr>
                        <a:t>的</a:t>
                      </a:r>
                      <a:r>
                        <a:rPr lang="en-US" sz="1800" kern="0">
                          <a:effectLst/>
                          <a:latin typeface="+mn-ea"/>
                          <a:ea typeface="+mn-ea"/>
                          <a:cs typeface="Times New Roman" panose="02020603050405020304" pitchFamily="18" charset="0"/>
                        </a:rPr>
                        <a:t>height</a:t>
                      </a:r>
                      <a:r>
                        <a:rPr lang="zh-CN" sz="1800" kern="0">
                          <a:effectLst/>
                          <a:latin typeface="+mn-ea"/>
                          <a:ea typeface="+mn-ea"/>
                          <a:cs typeface="Times New Roman" panose="02020603050405020304" pitchFamily="18" charset="0"/>
                        </a:rPr>
                        <a:t>属性相同，设置图片高度</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343642"/>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src</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和</a:t>
                      </a:r>
                      <a:r>
                        <a:rPr lang="en-US" sz="1800" kern="0">
                          <a:effectLst/>
                          <a:latin typeface="+mn-ea"/>
                          <a:ea typeface="+mn-ea"/>
                          <a:cs typeface="Times New Roman" panose="02020603050405020304" pitchFamily="18" charset="0"/>
                        </a:rPr>
                        <a:t>&lt;img&gt;</a:t>
                      </a:r>
                      <a:r>
                        <a:rPr lang="zh-CN" sz="1800" kern="0">
                          <a:effectLst/>
                          <a:latin typeface="+mn-ea"/>
                          <a:ea typeface="+mn-ea"/>
                          <a:cs typeface="Times New Roman" panose="02020603050405020304" pitchFamily="18" charset="0"/>
                        </a:rPr>
                        <a:t>的</a:t>
                      </a:r>
                      <a:r>
                        <a:rPr lang="en-US" sz="1800" kern="0">
                          <a:effectLst/>
                          <a:latin typeface="+mn-ea"/>
                          <a:ea typeface="+mn-ea"/>
                          <a:cs typeface="Times New Roman" panose="02020603050405020304" pitchFamily="18" charset="0"/>
                        </a:rPr>
                        <a:t>src</a:t>
                      </a:r>
                      <a:r>
                        <a:rPr lang="zh-CN" sz="1800" kern="0">
                          <a:effectLst/>
                          <a:latin typeface="+mn-ea"/>
                          <a:ea typeface="+mn-ea"/>
                          <a:cs typeface="Times New Roman" panose="02020603050405020304" pitchFamily="18" charset="0"/>
                        </a:rPr>
                        <a:t>属性相同，设置图像资源地址</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673733"/>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width</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a:effectLst/>
                          <a:latin typeface="+mn-ea"/>
                          <a:ea typeface="+mn-ea"/>
                          <a:cs typeface="Times New Roman" panose="02020603050405020304" pitchFamily="18" charset="0"/>
                        </a:rPr>
                        <a:t>和</a:t>
                      </a:r>
                      <a:r>
                        <a:rPr lang="en-US" sz="1800" kern="0">
                          <a:effectLst/>
                          <a:latin typeface="+mn-ea"/>
                          <a:ea typeface="+mn-ea"/>
                          <a:cs typeface="Times New Roman" panose="02020603050405020304" pitchFamily="18" charset="0"/>
                        </a:rPr>
                        <a:t>&lt;img&gt;</a:t>
                      </a:r>
                      <a:r>
                        <a:rPr lang="zh-CN" sz="1800" kern="0">
                          <a:effectLst/>
                          <a:latin typeface="+mn-ea"/>
                          <a:ea typeface="+mn-ea"/>
                          <a:cs typeface="Times New Roman" panose="02020603050405020304" pitchFamily="18" charset="0"/>
                        </a:rPr>
                        <a:t>的</a:t>
                      </a:r>
                      <a:r>
                        <a:rPr lang="en-US" sz="1800" kern="0">
                          <a:effectLst/>
                          <a:latin typeface="+mn-ea"/>
                          <a:ea typeface="+mn-ea"/>
                          <a:cs typeface="Times New Roman" panose="02020603050405020304" pitchFamily="18" charset="0"/>
                        </a:rPr>
                        <a:t>width</a:t>
                      </a:r>
                      <a:r>
                        <a:rPr lang="zh-CN" sz="1800" kern="0">
                          <a:effectLst/>
                          <a:latin typeface="+mn-ea"/>
                          <a:ea typeface="+mn-ea"/>
                          <a:cs typeface="Times New Roman" panose="02020603050405020304" pitchFamily="18" charset="0"/>
                        </a:rPr>
                        <a:t>属性相同，设置图片宽度</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0221438"/>
                  </a:ext>
                </a:extLst>
              </a:tr>
              <a:tr h="373089">
                <a:tc>
                  <a:txBody>
                    <a:bodyPr/>
                    <a:lstStyle/>
                    <a:p>
                      <a:pPr algn="just"/>
                      <a:r>
                        <a:rPr lang="en-US" sz="1800" kern="0">
                          <a:effectLst/>
                          <a:latin typeface="宋体" panose="02010600030101010101" pitchFamily="2" charset="-122"/>
                          <a:ea typeface="宋体" panose="02010600030101010101" pitchFamily="2" charset="-122"/>
                          <a:cs typeface="Times New Roman" panose="02020603050405020304" pitchFamily="18" charset="0"/>
                        </a:rPr>
                        <a:t>alt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800" kern="0">
                          <a:effectLst/>
                          <a:latin typeface="+mn-ea"/>
                          <a:ea typeface="+mn-ea"/>
                          <a:cs typeface="Times New Roman" panose="02020603050405020304" pitchFamily="18" charset="0"/>
                        </a:rPr>
                        <a:t>image</a:t>
                      </a:r>
                      <a:endParaRPr lang="zh-CN" sz="1800" kern="10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zh-CN" sz="1800" kern="0" dirty="0">
                          <a:effectLst/>
                          <a:latin typeface="+mn-ea"/>
                          <a:ea typeface="+mn-ea"/>
                          <a:cs typeface="Times New Roman" panose="02020603050405020304" pitchFamily="18" charset="0"/>
                        </a:rPr>
                        <a:t>和</a:t>
                      </a:r>
                      <a:r>
                        <a:rPr lang="en-US" sz="1800" kern="0" dirty="0">
                          <a:effectLst/>
                          <a:latin typeface="+mn-ea"/>
                          <a:ea typeface="+mn-ea"/>
                          <a:cs typeface="Times New Roman" panose="02020603050405020304" pitchFamily="18" charset="0"/>
                        </a:rPr>
                        <a:t>&lt;</a:t>
                      </a:r>
                      <a:r>
                        <a:rPr lang="en-US" sz="1800" kern="0" dirty="0" err="1">
                          <a:effectLst/>
                          <a:latin typeface="+mn-ea"/>
                          <a:ea typeface="+mn-ea"/>
                          <a:cs typeface="Times New Roman" panose="02020603050405020304" pitchFamily="18" charset="0"/>
                        </a:rPr>
                        <a:t>img</a:t>
                      </a:r>
                      <a:r>
                        <a:rPr lang="en-US" sz="1800" kern="0" dirty="0">
                          <a:effectLst/>
                          <a:latin typeface="+mn-ea"/>
                          <a:ea typeface="+mn-ea"/>
                          <a:cs typeface="Times New Roman" panose="02020603050405020304" pitchFamily="18" charset="0"/>
                        </a:rPr>
                        <a:t>&gt;</a:t>
                      </a:r>
                      <a:r>
                        <a:rPr lang="zh-CN" sz="1800" kern="0" dirty="0">
                          <a:effectLst/>
                          <a:latin typeface="+mn-ea"/>
                          <a:ea typeface="+mn-ea"/>
                          <a:cs typeface="Times New Roman" panose="02020603050405020304" pitchFamily="18" charset="0"/>
                        </a:rPr>
                        <a:t>的</a:t>
                      </a:r>
                      <a:r>
                        <a:rPr lang="en-US" sz="1800" kern="0" dirty="0">
                          <a:effectLst/>
                          <a:latin typeface="+mn-ea"/>
                          <a:ea typeface="+mn-ea"/>
                          <a:cs typeface="Times New Roman" panose="02020603050405020304" pitchFamily="18" charset="0"/>
                        </a:rPr>
                        <a:t>alt</a:t>
                      </a:r>
                      <a:r>
                        <a:rPr lang="zh-CN" sz="1800" kern="0" dirty="0">
                          <a:effectLst/>
                          <a:latin typeface="+mn-ea"/>
                          <a:ea typeface="+mn-ea"/>
                          <a:cs typeface="Times New Roman" panose="02020603050405020304" pitchFamily="18" charset="0"/>
                        </a:rPr>
                        <a:t>属性相同，设置图片替换文字</a:t>
                      </a:r>
                      <a:endParaRPr lang="zh-CN" sz="1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0117037"/>
                  </a:ext>
                </a:extLst>
              </a:tr>
            </a:tbl>
          </a:graphicData>
        </a:graphic>
      </p:graphicFrame>
      <p:pic>
        <p:nvPicPr>
          <p:cNvPr id="22" name="图片 21">
            <a:extLst>
              <a:ext uri="{FF2B5EF4-FFF2-40B4-BE49-F238E27FC236}">
                <a16:creationId xmlns:a16="http://schemas.microsoft.com/office/drawing/2014/main" id="{ACC407A3-B179-7F48-A107-68227A375D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4500389"/>
            <a:ext cx="297360" cy="252000"/>
          </a:xfrm>
          <a:prstGeom prst="rect">
            <a:avLst/>
          </a:prstGeom>
          <a:noFill/>
          <a:ln>
            <a:noFill/>
          </a:ln>
        </p:spPr>
      </p:pic>
      <p:pic>
        <p:nvPicPr>
          <p:cNvPr id="26" name="图片 25">
            <a:extLst>
              <a:ext uri="{FF2B5EF4-FFF2-40B4-BE49-F238E27FC236}">
                <a16:creationId xmlns:a16="http://schemas.microsoft.com/office/drawing/2014/main" id="{807855F5-979E-E14B-89E1-8F31C5A41A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2988277"/>
            <a:ext cx="297360" cy="252000"/>
          </a:xfrm>
          <a:prstGeom prst="rect">
            <a:avLst/>
          </a:prstGeom>
          <a:noFill/>
          <a:ln>
            <a:noFill/>
          </a:ln>
        </p:spPr>
      </p:pic>
      <p:pic>
        <p:nvPicPr>
          <p:cNvPr id="38" name="图片 37">
            <a:extLst>
              <a:ext uri="{FF2B5EF4-FFF2-40B4-BE49-F238E27FC236}">
                <a16:creationId xmlns:a16="http://schemas.microsoft.com/office/drawing/2014/main" id="{687A7237-708A-5E49-B20B-7D12971BBA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5256501"/>
            <a:ext cx="297360" cy="252000"/>
          </a:xfrm>
          <a:prstGeom prst="rect">
            <a:avLst/>
          </a:prstGeom>
          <a:noFill/>
          <a:ln>
            <a:noFill/>
          </a:ln>
        </p:spPr>
      </p:pic>
      <p:pic>
        <p:nvPicPr>
          <p:cNvPr id="39" name="图片 38">
            <a:extLst>
              <a:ext uri="{FF2B5EF4-FFF2-40B4-BE49-F238E27FC236}">
                <a16:creationId xmlns:a16="http://schemas.microsoft.com/office/drawing/2014/main" id="{764F3C8F-D72B-384F-99E7-0CC977FDFB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2649930"/>
            <a:ext cx="297360" cy="252000"/>
          </a:xfrm>
          <a:prstGeom prst="rect">
            <a:avLst/>
          </a:prstGeom>
          <a:noFill/>
          <a:ln>
            <a:noFill/>
          </a:ln>
        </p:spPr>
      </p:pic>
      <p:pic>
        <p:nvPicPr>
          <p:cNvPr id="20" name="图片 19">
            <a:extLst>
              <a:ext uri="{FF2B5EF4-FFF2-40B4-BE49-F238E27FC236}">
                <a16:creationId xmlns:a16="http://schemas.microsoft.com/office/drawing/2014/main" id="{CFD93B2C-B48E-C944-8F5E-F6110D618C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3396095"/>
            <a:ext cx="297360" cy="252000"/>
          </a:xfrm>
          <a:prstGeom prst="rect">
            <a:avLst/>
          </a:prstGeom>
          <a:noFill/>
          <a:ln>
            <a:noFill/>
          </a:ln>
        </p:spPr>
      </p:pic>
      <p:pic>
        <p:nvPicPr>
          <p:cNvPr id="27" name="图片 26">
            <a:extLst>
              <a:ext uri="{FF2B5EF4-FFF2-40B4-BE49-F238E27FC236}">
                <a16:creationId xmlns:a16="http://schemas.microsoft.com/office/drawing/2014/main" id="{F2BA1007-A255-4241-85C7-0C53DD5F37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42405" y="3798382"/>
            <a:ext cx="297360" cy="252000"/>
          </a:xfrm>
          <a:prstGeom prst="rect">
            <a:avLst/>
          </a:prstGeom>
          <a:noFill/>
          <a:ln>
            <a:noFill/>
          </a:ln>
        </p:spPr>
      </p:pic>
      <p:pic>
        <p:nvPicPr>
          <p:cNvPr id="28" name="图片 27">
            <a:extLst>
              <a:ext uri="{FF2B5EF4-FFF2-40B4-BE49-F238E27FC236}">
                <a16:creationId xmlns:a16="http://schemas.microsoft.com/office/drawing/2014/main" id="{A0CF37F7-0AAC-7A4B-A203-8489EF1F30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1733" y="4140405"/>
            <a:ext cx="297360" cy="252000"/>
          </a:xfrm>
          <a:prstGeom prst="rect">
            <a:avLst/>
          </a:prstGeom>
          <a:noFill/>
          <a:ln>
            <a:noFill/>
          </a:ln>
        </p:spPr>
      </p:pic>
    </p:spTree>
    <p:extLst>
      <p:ext uri="{BB962C8B-B14F-4D97-AF65-F5344CB8AC3E}">
        <p14:creationId xmlns:p14="http://schemas.microsoft.com/office/powerpoint/2010/main" val="426673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182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zh-CN" sz="2800" b="1" dirty="0">
                <a:solidFill>
                  <a:srgbClr val="0000FF"/>
                </a:solidFill>
                <a:latin typeface="Times New Roman" panose="02020603050405020304" pitchFamily="18" charset="0"/>
                <a:cs typeface="Times New Roman" panose="02020603050405020304" pitchFamily="18" charset="0"/>
              </a:rPr>
              <a:t>例</a:t>
            </a:r>
            <a:r>
              <a:rPr lang="en-US" altLang="zh-CN" sz="2800" b="1" dirty="0">
                <a:solidFill>
                  <a:srgbClr val="0000FF"/>
                </a:solidFill>
                <a:latin typeface="Times New Roman" panose="02020603050405020304" pitchFamily="18" charset="0"/>
              </a:rPr>
              <a:t>5-1</a:t>
            </a:r>
          </a:p>
          <a:p>
            <a:pPr algn="just" eaLnBrk="1" hangingPunct="1">
              <a:spcBef>
                <a:spcPct val="50000"/>
              </a:spcBef>
            </a:pPr>
            <a:r>
              <a:rPr lang="zh-CN" altLang="en-US" sz="2800" b="1" dirty="0">
                <a:solidFill>
                  <a:srgbClr val="0000FF"/>
                </a:solidFill>
                <a:latin typeface="Times New Roman" panose="02020603050405020304" pitchFamily="18" charset="0"/>
              </a:rPr>
              <a:t>详见代码</a:t>
            </a:r>
            <a:endParaRPr lang="en-US" altLang="zh-CN" sz="2800" b="1" dirty="0">
              <a:solidFill>
                <a:srgbClr val="0000FF"/>
              </a:solidFill>
              <a:latin typeface="Times New Roman" panose="02020603050405020304" pitchFamily="18" charset="0"/>
            </a:endParaRPr>
          </a:p>
          <a:p>
            <a:pPr algn="just" eaLnBrk="1" hangingPunct="1">
              <a:spcBef>
                <a:spcPct val="50000"/>
              </a:spcBef>
            </a:pPr>
            <a:endParaRPr lang="en-US" altLang="zh-CN" sz="2800" b="1" dirty="0">
              <a:solidFill>
                <a:srgbClr val="0000FF"/>
              </a:solidFill>
            </a:endParaRPr>
          </a:p>
        </p:txBody>
      </p:sp>
      <p:pic>
        <p:nvPicPr>
          <p:cNvPr id="10" name="图片 9">
            <a:extLst>
              <a:ext uri="{FF2B5EF4-FFF2-40B4-BE49-F238E27FC236}">
                <a16:creationId xmlns:a16="http://schemas.microsoft.com/office/drawing/2014/main" id="{6F5DF789-68A9-D44B-831C-6D61405934A9}"/>
              </a:ext>
            </a:extLst>
          </p:cNvPr>
          <p:cNvPicPr>
            <a:picLocks noChangeAspect="1"/>
          </p:cNvPicPr>
          <p:nvPr/>
        </p:nvPicPr>
        <p:blipFill rotWithShape="1">
          <a:blip r:embed="rId3"/>
          <a:srcRect t="15793"/>
          <a:stretch/>
        </p:blipFill>
        <p:spPr>
          <a:xfrm>
            <a:off x="6944221" y="502102"/>
            <a:ext cx="4608512" cy="6052223"/>
          </a:xfrm>
          <a:prstGeom prst="rect">
            <a:avLst/>
          </a:prstGeom>
        </p:spPr>
      </p:pic>
      <p:sp>
        <p:nvSpPr>
          <p:cNvPr id="3" name="矩形 2">
            <a:extLst>
              <a:ext uri="{FF2B5EF4-FFF2-40B4-BE49-F238E27FC236}">
                <a16:creationId xmlns:a16="http://schemas.microsoft.com/office/drawing/2014/main" id="{8D789764-95FA-4BD1-A5E7-9776E2BEBC7E}"/>
              </a:ext>
            </a:extLst>
          </p:cNvPr>
          <p:cNvSpPr/>
          <p:nvPr/>
        </p:nvSpPr>
        <p:spPr>
          <a:xfrm>
            <a:off x="767706" y="2412157"/>
            <a:ext cx="6080125" cy="3878178"/>
          </a:xfrm>
          <a:prstGeom prst="rect">
            <a:avLst/>
          </a:prstGeom>
        </p:spPr>
        <p:txBody>
          <a:bodyPr>
            <a:spAutoFit/>
          </a:bodyPr>
          <a:lstStyle/>
          <a:p>
            <a:pPr>
              <a:lnSpc>
                <a:spcPct val="200000"/>
              </a:lnSpc>
            </a:pPr>
            <a:r>
              <a:rPr lang="zh-CN" altLang="zh-CN"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1</a:t>
            </a:r>
            <a:r>
              <a:rPr lang="zh-CN" altLang="zh-CN" dirty="0">
                <a:effectLst>
                  <a:outerShdw blurRad="38100" dist="38100" dir="2700000" algn="tl">
                    <a:srgbClr val="000000">
                      <a:alpha val="43137"/>
                    </a:srgbClr>
                  </a:outerShdw>
                </a:effectLst>
              </a:rPr>
              <a:t>）不同浏览器对各控件的表现形式和支持程度不一致，在使用时需要考虑兼容性。</a:t>
            </a:r>
          </a:p>
          <a:p>
            <a:pPr>
              <a:lnSpc>
                <a:spcPct val="200000"/>
              </a:lnSpc>
            </a:pPr>
            <a:r>
              <a:rPr lang="zh-CN" altLang="zh-CN"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2</a:t>
            </a:r>
            <a:r>
              <a:rPr lang="zh-CN" altLang="zh-CN" dirty="0">
                <a:effectLst>
                  <a:outerShdw blurRad="38100" dist="38100" dir="2700000" algn="tl">
                    <a:srgbClr val="000000">
                      <a:alpha val="43137"/>
                    </a:srgbClr>
                  </a:outerShdw>
                </a:effectLst>
              </a:rPr>
              <a:t>）不同控件的可设置属性不完全一致。</a:t>
            </a:r>
          </a:p>
          <a:p>
            <a:pPr>
              <a:lnSpc>
                <a:spcPct val="200000"/>
              </a:lnSpc>
            </a:pPr>
            <a:r>
              <a:rPr lang="zh-CN" altLang="zh-CN"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3</a:t>
            </a:r>
            <a:r>
              <a:rPr lang="zh-CN" altLang="zh-CN"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&lt;input&gt;</a:t>
            </a:r>
            <a:r>
              <a:rPr lang="zh-CN" altLang="zh-CN" dirty="0">
                <a:effectLst>
                  <a:outerShdw blurRad="38100" dist="38100" dir="2700000" algn="tl">
                    <a:srgbClr val="000000">
                      <a:alpha val="43137"/>
                    </a:srgbClr>
                  </a:outerShdw>
                </a:effectLst>
              </a:rPr>
              <a:t>中</a:t>
            </a:r>
            <a:r>
              <a:rPr lang="en-US" altLang="zh-CN" dirty="0">
                <a:effectLst>
                  <a:outerShdw blurRad="38100" dist="38100" dir="2700000" algn="tl">
                    <a:srgbClr val="000000">
                      <a:alpha val="43137"/>
                    </a:srgbClr>
                  </a:outerShdw>
                </a:effectLst>
              </a:rPr>
              <a:t>name</a:t>
            </a:r>
            <a:r>
              <a:rPr lang="zh-CN" altLang="zh-CN" dirty="0">
                <a:effectLst>
                  <a:outerShdw blurRad="38100" dist="38100" dir="2700000" algn="tl">
                    <a:srgbClr val="000000">
                      <a:alpha val="43137"/>
                    </a:srgbClr>
                  </a:outerShdw>
                </a:effectLst>
              </a:rPr>
              <a:t>属性尤为重要。如果不填写相关内容，则提交到的服务器将无法获取数据。对于单选框和多选框，如果不填写或者与同组选项的值不一致会导致选中提交表单后获得不到预期的结果。</a:t>
            </a:r>
          </a:p>
        </p:txBody>
      </p:sp>
    </p:spTree>
    <p:extLst>
      <p:ext uri="{BB962C8B-B14F-4D97-AF65-F5344CB8AC3E}">
        <p14:creationId xmlns:p14="http://schemas.microsoft.com/office/powerpoint/2010/main" val="23720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a:t>
            </a:r>
            <a:r>
              <a:rPr lang="en-US" altLang="zh-CN" sz="2800" b="1" dirty="0" err="1">
                <a:solidFill>
                  <a:srgbClr val="0000FF"/>
                </a:solidFill>
                <a:latin typeface="+mn-ea"/>
                <a:ea typeface="+mn-ea"/>
              </a:rPr>
              <a:t>textarea</a:t>
            </a:r>
            <a:r>
              <a:rPr lang="en-US" altLang="zh-CN" sz="2800" b="1" dirty="0">
                <a:solidFill>
                  <a:srgbClr val="0000FF"/>
                </a:solidFill>
                <a:latin typeface="+mn-ea"/>
                <a:ea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746047"/>
            <a:ext cx="8741496" cy="2221762"/>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rPr>
              <a:t>多行文本输入框控件</a:t>
            </a:r>
            <a:endParaRPr lang="en-US" altLang="zh-CN" sz="2400" b="1" dirty="0">
              <a:effectLst>
                <a:outerShdw blurRad="38100" dist="38100" dir="2700000" algn="tl">
                  <a:srgbClr val="000000">
                    <a:alpha val="43137"/>
                  </a:srgbClr>
                </a:outerShdw>
              </a:effectLst>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rPr>
              <a:t>大小可调</a:t>
            </a:r>
            <a:endParaRPr lang="en-US" altLang="zh-CN" sz="2400" b="1" dirty="0">
              <a:effectLst>
                <a:outerShdw blurRad="38100" dist="38100" dir="2700000" algn="tl">
                  <a:srgbClr val="000000">
                    <a:alpha val="43137"/>
                  </a:srgbClr>
                </a:outerShdw>
              </a:effectLst>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rPr>
              <a:t>适合输入大段文本</a:t>
            </a:r>
            <a:endParaRPr lang="en-US" altLang="zh-CN" sz="2400" b="1" dirty="0">
              <a:effectLst>
                <a:outerShdw blurRad="38100" dist="38100" dir="2700000" algn="tl">
                  <a:srgbClr val="000000">
                    <a:alpha val="43137"/>
                  </a:srgbClr>
                </a:outerShdw>
              </a:effectLst>
            </a:endParaRPr>
          </a:p>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a:t>
            </a:r>
            <a:r>
              <a:rPr lang="en-US" altLang="zh-CN" sz="2400" b="1" dirty="0" err="1">
                <a:effectLst>
                  <a:outerShdw blurRad="38100" dist="38100" dir="2700000" algn="tl">
                    <a:srgbClr val="000000">
                      <a:alpha val="43137"/>
                    </a:srgbClr>
                  </a:outerShdw>
                </a:effectLst>
                <a:latin typeface="+mn-ea"/>
                <a:ea typeface="+mn-ea"/>
              </a:rPr>
              <a:t>textarea</a:t>
            </a:r>
            <a:r>
              <a:rPr lang="en-US" altLang="zh-CN" sz="2400" b="1" dirty="0">
                <a:effectLst>
                  <a:outerShdw blurRad="38100" dist="38100" dir="2700000" algn="tl">
                    <a:srgbClr val="000000">
                      <a:alpha val="43137"/>
                    </a:srgbClr>
                  </a:outerShdw>
                </a:effectLst>
                <a:latin typeface="+mn-ea"/>
                <a:ea typeface="+mn-ea"/>
              </a:rPr>
              <a:t>&gt;</a:t>
            </a:r>
            <a:r>
              <a:rPr lang="zh-CN" altLang="zh-CN" sz="2400" b="1" dirty="0">
                <a:effectLst>
                  <a:outerShdw blurRad="38100" dist="38100" dir="2700000" algn="tl">
                    <a:srgbClr val="000000">
                      <a:alpha val="43137"/>
                    </a:srgbClr>
                  </a:outerShdw>
                </a:effectLst>
                <a:latin typeface="+mn-ea"/>
                <a:ea typeface="+mn-ea"/>
              </a:rPr>
              <a:t>控件除支持</a:t>
            </a:r>
            <a:r>
              <a:rPr lang="en-US" altLang="zh-CN" sz="2400" b="1" dirty="0">
                <a:effectLst>
                  <a:outerShdw blurRad="38100" dist="38100" dir="2700000" algn="tl">
                    <a:srgbClr val="000000">
                      <a:alpha val="43137"/>
                    </a:srgbClr>
                  </a:outerShdw>
                </a:effectLst>
                <a:latin typeface="+mn-ea"/>
                <a:ea typeface="+mn-ea"/>
              </a:rPr>
              <a:t>HTML</a:t>
            </a:r>
            <a:r>
              <a:rPr lang="zh-CN" altLang="zh-CN" sz="2400" b="1" dirty="0">
                <a:effectLst>
                  <a:outerShdw blurRad="38100" dist="38100" dir="2700000" algn="tl">
                    <a:srgbClr val="000000">
                      <a:alpha val="43137"/>
                    </a:srgbClr>
                  </a:outerShdw>
                </a:effectLst>
                <a:latin typeface="+mn-ea"/>
                <a:ea typeface="+mn-ea"/>
              </a:rPr>
              <a:t>全局属性之外，还具</a:t>
            </a:r>
            <a:r>
              <a:rPr lang="zh-CN" altLang="en-US" sz="2400" b="1" dirty="0">
                <a:effectLst>
                  <a:outerShdw blurRad="38100" dist="38100" dir="2700000" algn="tl">
                    <a:srgbClr val="000000">
                      <a:alpha val="43137"/>
                    </a:srgbClr>
                  </a:outerShdw>
                </a:effectLst>
                <a:latin typeface="+mn-ea"/>
                <a:ea typeface="+mn-ea"/>
              </a:rPr>
              <a:t>有</a:t>
            </a:r>
            <a:r>
              <a:rPr lang="zh-CN" altLang="zh-CN" sz="2400" b="1" dirty="0">
                <a:effectLst>
                  <a:outerShdw blurRad="38100" dist="38100" dir="2700000" algn="tl">
                    <a:srgbClr val="000000">
                      <a:alpha val="43137"/>
                    </a:srgbClr>
                  </a:outerShdw>
                </a:effectLst>
                <a:latin typeface="+mn-ea"/>
                <a:ea typeface="+mn-ea"/>
              </a:rPr>
              <a:t>专有属性 </a:t>
            </a:r>
            <a:endParaRPr lang="zh-CN" altLang="en-US" sz="2400" b="1" dirty="0">
              <a:effectLst>
                <a:outerShdw blurRad="38100" dist="38100" dir="2700000" algn="tl">
                  <a:srgbClr val="000000">
                    <a:alpha val="43137"/>
                  </a:srgbClr>
                </a:outerShdw>
              </a:effectLst>
              <a:latin typeface="+mn-ea"/>
              <a:ea typeface="+mn-ea"/>
            </a:endParaRPr>
          </a:p>
        </p:txBody>
      </p:sp>
      <p:graphicFrame>
        <p:nvGraphicFramePr>
          <p:cNvPr id="9" name="表格 8">
            <a:extLst>
              <a:ext uri="{FF2B5EF4-FFF2-40B4-BE49-F238E27FC236}">
                <a16:creationId xmlns:a16="http://schemas.microsoft.com/office/drawing/2014/main" id="{A7D5A653-1ABE-884D-A35C-F7B44D4985BD}"/>
              </a:ext>
            </a:extLst>
          </p:cNvPr>
          <p:cNvGraphicFramePr>
            <a:graphicFrameLocks noGrp="1"/>
          </p:cNvGraphicFramePr>
          <p:nvPr>
            <p:extLst>
              <p:ext uri="{D42A27DB-BD31-4B8C-83A1-F6EECF244321}">
                <p14:modId xmlns:p14="http://schemas.microsoft.com/office/powerpoint/2010/main" val="4231170890"/>
              </p:ext>
            </p:extLst>
          </p:nvPr>
        </p:nvGraphicFramePr>
        <p:xfrm>
          <a:off x="751533" y="4322256"/>
          <a:ext cx="10477969" cy="772236"/>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77969">
                  <a:extLst>
                    <a:ext uri="{9D8B030D-6E8A-4147-A177-3AD203B41FA5}">
                      <a16:colId xmlns:a16="http://schemas.microsoft.com/office/drawing/2014/main" val="4020043646"/>
                    </a:ext>
                  </a:extLst>
                </a:gridCol>
              </a:tblGrid>
              <a:tr h="772236">
                <a:tc>
                  <a:txBody>
                    <a:bodyPr/>
                    <a:lstStyle/>
                    <a:p>
                      <a:pPr algn="l"/>
                      <a:r>
                        <a:rPr kumimoji="1" lang="en-US" altLang="zh-CN" sz="2400" b="1" kern="1200" dirty="0">
                          <a:solidFill>
                            <a:schemeClr val="tx1"/>
                          </a:solidFill>
                          <a:latin typeface="Times New Roman" pitchFamily="18" charset="0"/>
                          <a:ea typeface="宋体" pitchFamily="2" charset="-122"/>
                          <a:cs typeface="+mn-cs"/>
                        </a:rPr>
                        <a:t> &lt;</a:t>
                      </a:r>
                      <a:r>
                        <a:rPr kumimoji="1" lang="en-US" altLang="zh-CN" sz="2400" b="1" kern="1200" dirty="0" err="1">
                          <a:solidFill>
                            <a:schemeClr val="tx1"/>
                          </a:solidFill>
                          <a:latin typeface="Times New Roman" pitchFamily="18" charset="0"/>
                          <a:ea typeface="宋体" pitchFamily="2" charset="-122"/>
                          <a:cs typeface="+mn-cs"/>
                        </a:rPr>
                        <a:t>textarea</a:t>
                      </a:r>
                      <a:r>
                        <a:rPr kumimoji="1" lang="en-US" altLang="zh-CN" sz="2400" b="1" kern="1200" dirty="0">
                          <a:solidFill>
                            <a:schemeClr val="tx1"/>
                          </a:solidFill>
                          <a:latin typeface="Times New Roman" pitchFamily="18" charset="0"/>
                          <a:ea typeface="宋体" pitchFamily="2" charset="-122"/>
                          <a:cs typeface="+mn-cs"/>
                        </a:rPr>
                        <a:t> name="</a:t>
                      </a:r>
                      <a:r>
                        <a:rPr kumimoji="1" lang="zh-CN" altLang="en-US" sz="2400" b="1" kern="1200" dirty="0">
                          <a:solidFill>
                            <a:schemeClr val="tx1"/>
                          </a:solidFill>
                          <a:latin typeface="Times New Roman" pitchFamily="18" charset="0"/>
                          <a:ea typeface="宋体" pitchFamily="2" charset="-122"/>
                          <a:cs typeface="+mn-cs"/>
                        </a:rPr>
                        <a:t>控件名称</a:t>
                      </a:r>
                      <a:r>
                        <a:rPr kumimoji="1" lang="en-US" altLang="zh-CN" sz="2400" b="1" kern="1200" dirty="0">
                          <a:solidFill>
                            <a:schemeClr val="tx1"/>
                          </a:solidFill>
                          <a:latin typeface="Times New Roman" pitchFamily="18" charset="0"/>
                          <a:ea typeface="宋体" pitchFamily="2" charset="-122"/>
                          <a:cs typeface="+mn-cs"/>
                        </a:rPr>
                        <a:t>" cols="</a:t>
                      </a:r>
                      <a:r>
                        <a:rPr kumimoji="1" lang="zh-CN" altLang="en-US" sz="2400" b="1" kern="1200" dirty="0">
                          <a:solidFill>
                            <a:schemeClr val="tx1"/>
                          </a:solidFill>
                          <a:latin typeface="Times New Roman" pitchFamily="18" charset="0"/>
                          <a:ea typeface="宋体" pitchFamily="2" charset="-122"/>
                          <a:cs typeface="+mn-cs"/>
                        </a:rPr>
                        <a:t>行数</a:t>
                      </a:r>
                      <a:r>
                        <a:rPr kumimoji="1" lang="en-US" altLang="zh-CN" sz="2400" b="1" kern="1200" dirty="0">
                          <a:solidFill>
                            <a:schemeClr val="tx1"/>
                          </a:solidFill>
                          <a:latin typeface="Times New Roman" pitchFamily="18" charset="0"/>
                          <a:ea typeface="宋体" pitchFamily="2" charset="-122"/>
                          <a:cs typeface="+mn-cs"/>
                        </a:rPr>
                        <a:t>" rows="</a:t>
                      </a:r>
                      <a:r>
                        <a:rPr kumimoji="1" lang="zh-CN" altLang="en-US" sz="2400" b="1" kern="1200" dirty="0">
                          <a:solidFill>
                            <a:schemeClr val="tx1"/>
                          </a:solidFill>
                          <a:latin typeface="Times New Roman" pitchFamily="18" charset="0"/>
                          <a:ea typeface="宋体" pitchFamily="2" charset="-122"/>
                          <a:cs typeface="+mn-cs"/>
                        </a:rPr>
                        <a:t>列数</a:t>
                      </a:r>
                      <a:r>
                        <a:rPr kumimoji="1" lang="en-US" altLang="zh-CN" sz="2400" b="1" kern="1200" dirty="0">
                          <a:solidFill>
                            <a:schemeClr val="tx1"/>
                          </a:solidFill>
                          <a:latin typeface="Times New Roman" pitchFamily="18" charset="0"/>
                          <a:ea typeface="宋体" pitchFamily="2" charset="-122"/>
                          <a:cs typeface="+mn-cs"/>
                        </a:rPr>
                        <a:t>"&gt;</a:t>
                      </a:r>
                      <a:r>
                        <a:rPr kumimoji="1" lang="zh-CN" altLang="en-US" sz="2400" b="1" kern="1200" dirty="0">
                          <a:solidFill>
                            <a:schemeClr val="tx1"/>
                          </a:solidFill>
                          <a:latin typeface="Times New Roman" pitchFamily="18" charset="0"/>
                          <a:ea typeface="宋体" pitchFamily="2" charset="-122"/>
                          <a:cs typeface="+mn-cs"/>
                        </a:rPr>
                        <a:t>默认内容</a:t>
                      </a:r>
                      <a:r>
                        <a:rPr kumimoji="1" lang="en-US" altLang="zh-CN" sz="2400" b="1" kern="1200" dirty="0">
                          <a:solidFill>
                            <a:schemeClr val="tx1"/>
                          </a:solidFill>
                          <a:latin typeface="Times New Roman" pitchFamily="18" charset="0"/>
                          <a:ea typeface="宋体" pitchFamily="2" charset="-122"/>
                          <a:cs typeface="+mn-cs"/>
                        </a:rPr>
                        <a:t>&lt;/</a:t>
                      </a:r>
                      <a:r>
                        <a:rPr kumimoji="1" lang="en-US" altLang="zh-CN" sz="2400" b="1" kern="1200" dirty="0" err="1">
                          <a:solidFill>
                            <a:schemeClr val="tx1"/>
                          </a:solidFill>
                          <a:latin typeface="Times New Roman" pitchFamily="18" charset="0"/>
                          <a:ea typeface="宋体" pitchFamily="2" charset="-122"/>
                          <a:cs typeface="+mn-cs"/>
                        </a:rPr>
                        <a:t>textarea</a:t>
                      </a:r>
                      <a:r>
                        <a:rPr kumimoji="1" lang="en-US" altLang="zh-CN" sz="2400" b="1" kern="1200" dirty="0">
                          <a:solidFill>
                            <a:schemeClr val="tx1"/>
                          </a:solidFill>
                          <a:latin typeface="Times New Roman" pitchFamily="18" charset="0"/>
                          <a:ea typeface="宋体" pitchFamily="2" charset="-122"/>
                          <a:cs typeface="+mn-cs"/>
                        </a:rPr>
                        <a:t>&gt;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3439747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a:t>
            </a:r>
            <a:r>
              <a:rPr lang="en-US" altLang="zh-CN" sz="2800" b="1" dirty="0" err="1">
                <a:solidFill>
                  <a:srgbClr val="0000FF"/>
                </a:solidFill>
                <a:latin typeface="+mn-ea"/>
                <a:ea typeface="+mn-ea"/>
              </a:rPr>
              <a:t>textarea</a:t>
            </a:r>
            <a:r>
              <a:rPr lang="en-US" altLang="zh-CN" sz="2800" b="1" dirty="0">
                <a:solidFill>
                  <a:srgbClr val="0000FF"/>
                </a:solidFill>
                <a:latin typeface="+mn-ea"/>
                <a:ea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graphicFrame>
        <p:nvGraphicFramePr>
          <p:cNvPr id="3" name="表格 2">
            <a:extLst>
              <a:ext uri="{FF2B5EF4-FFF2-40B4-BE49-F238E27FC236}">
                <a16:creationId xmlns:a16="http://schemas.microsoft.com/office/drawing/2014/main" id="{A9265CA5-BB31-4FC5-9970-7EAC81B0E345}"/>
              </a:ext>
            </a:extLst>
          </p:cNvPr>
          <p:cNvGraphicFramePr>
            <a:graphicFrameLocks noGrp="1"/>
          </p:cNvGraphicFramePr>
          <p:nvPr>
            <p:extLst>
              <p:ext uri="{D42A27DB-BD31-4B8C-83A1-F6EECF244321}">
                <p14:modId xmlns:p14="http://schemas.microsoft.com/office/powerpoint/2010/main" val="2716279880"/>
              </p:ext>
            </p:extLst>
          </p:nvPr>
        </p:nvGraphicFramePr>
        <p:xfrm>
          <a:off x="767372" y="2052117"/>
          <a:ext cx="10611218" cy="4067088"/>
        </p:xfrm>
        <a:graphic>
          <a:graphicData uri="http://schemas.openxmlformats.org/drawingml/2006/table">
            <a:tbl>
              <a:tblPr firstRow="1" firstCol="1" bandRow="1"/>
              <a:tblGrid>
                <a:gridCol w="1661717">
                  <a:extLst>
                    <a:ext uri="{9D8B030D-6E8A-4147-A177-3AD203B41FA5}">
                      <a16:colId xmlns:a16="http://schemas.microsoft.com/office/drawing/2014/main" val="2913761601"/>
                    </a:ext>
                  </a:extLst>
                </a:gridCol>
                <a:gridCol w="585739">
                  <a:extLst>
                    <a:ext uri="{9D8B030D-6E8A-4147-A177-3AD203B41FA5}">
                      <a16:colId xmlns:a16="http://schemas.microsoft.com/office/drawing/2014/main" val="2483065203"/>
                    </a:ext>
                  </a:extLst>
                </a:gridCol>
                <a:gridCol w="8363762">
                  <a:extLst>
                    <a:ext uri="{9D8B030D-6E8A-4147-A177-3AD203B41FA5}">
                      <a16:colId xmlns:a16="http://schemas.microsoft.com/office/drawing/2014/main" val="325512989"/>
                    </a:ext>
                  </a:extLst>
                </a:gridCol>
              </a:tblGrid>
              <a:tr h="338924">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20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19850049"/>
                  </a:ext>
                </a:extLst>
              </a:tr>
              <a:tr h="338924">
                <a:tc>
                  <a:txBody>
                    <a:bodyPr/>
                    <a:lstStyle/>
                    <a:p>
                      <a:pPr algn="just">
                        <a:spcAft>
                          <a:spcPts val="0"/>
                        </a:spcAft>
                      </a:pPr>
                      <a:r>
                        <a:rPr lang="en-US" sz="2000" b="1" kern="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name</a:t>
                      </a:r>
                      <a:endParaRPr lang="zh-CN" sz="2000" b="1" kern="10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表单控件名称，提交表单时以名字</a:t>
                      </a:r>
                      <a:r>
                        <a:rPr lang="en-US" sz="2000" kern="0">
                          <a:effectLst/>
                          <a:latin typeface="Calibri" panose="020F0502020204030204" pitchFamily="34" charset="0"/>
                          <a:ea typeface="宋体" panose="02010600030101010101" pitchFamily="2" charset="-122"/>
                          <a:cs typeface="Times New Roman" panose="02020603050405020304" pitchFamily="18" charset="0"/>
                        </a:rPr>
                        <a:t>/</a:t>
                      </a:r>
                      <a:r>
                        <a:rPr lang="zh-CN" sz="2000" kern="0">
                          <a:effectLst/>
                          <a:latin typeface="Calibri" panose="020F0502020204030204" pitchFamily="34" charset="0"/>
                          <a:ea typeface="宋体" panose="02010600030101010101" pitchFamily="2" charset="-122"/>
                          <a:cs typeface="Times New Roman" panose="02020603050405020304" pitchFamily="18" charset="0"/>
                        </a:rPr>
                        <a:t>值对的形式提交</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4455960"/>
                  </a:ext>
                </a:extLst>
              </a:tr>
              <a:tr h="338924">
                <a:tc>
                  <a:txBody>
                    <a:bodyPr/>
                    <a:lstStyle/>
                    <a:p>
                      <a:pPr algn="just">
                        <a:spcAft>
                          <a:spcPts val="0"/>
                        </a:spcAft>
                      </a:pPr>
                      <a:r>
                        <a:rPr lang="en-US" sz="2000" b="1" kern="0" dirty="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cols</a:t>
                      </a:r>
                      <a:endParaRPr lang="zh-CN" sz="2000" b="1" kern="100" dirty="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规定文本区内的可见宽度（列数）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0488964"/>
                  </a:ext>
                </a:extLst>
              </a:tr>
              <a:tr h="338924">
                <a:tc>
                  <a:txBody>
                    <a:bodyPr/>
                    <a:lstStyle/>
                    <a:p>
                      <a:pPr algn="just">
                        <a:spcAft>
                          <a:spcPts val="0"/>
                        </a:spcAft>
                      </a:pPr>
                      <a:r>
                        <a:rPr lang="en-US" sz="2000" b="1" kern="0" dirty="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rows</a:t>
                      </a:r>
                      <a:endParaRPr lang="zh-CN" sz="2000" b="1" kern="100" dirty="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规定文本区内的可见高度（行数）</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742060"/>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disabled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禁用控件，不可复制、修改控件的值或获取焦点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851110"/>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readonly</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只读模式</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9736585"/>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autocomplete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是否使用浏览器的记忆功能自动填充文本，</a:t>
                      </a:r>
                      <a:r>
                        <a:rPr lang="en-US" sz="2000" kern="0">
                          <a:effectLst/>
                          <a:latin typeface="Calibri" panose="020F0502020204030204" pitchFamily="34" charset="0"/>
                          <a:ea typeface="宋体" panose="02010600030101010101" pitchFamily="2" charset="-122"/>
                          <a:cs typeface="Times New Roman" panose="02020603050405020304" pitchFamily="18" charset="0"/>
                        </a:rPr>
                        <a:t>on</a:t>
                      </a:r>
                      <a:r>
                        <a:rPr lang="zh-CN" sz="2000" kern="0">
                          <a:effectLst/>
                          <a:latin typeface="Calibri" panose="020F0502020204030204" pitchFamily="34" charset="0"/>
                          <a:ea typeface="宋体" panose="02010600030101010101" pitchFamily="2" charset="-122"/>
                          <a:cs typeface="Times New Roman" panose="02020603050405020304" pitchFamily="18" charset="0"/>
                        </a:rPr>
                        <a:t>或</a:t>
                      </a:r>
                      <a:r>
                        <a:rPr lang="en-US" sz="2000" kern="0">
                          <a:effectLst/>
                          <a:latin typeface="Calibri" panose="020F0502020204030204" pitchFamily="34" charset="0"/>
                          <a:ea typeface="宋体" panose="02010600030101010101" pitchFamily="2" charset="-122"/>
                          <a:cs typeface="Times New Roman" panose="02020603050405020304" pitchFamily="18" charset="0"/>
                        </a:rPr>
                        <a:t>off</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52195"/>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autofocus</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规定在页面加载后文本区域自动获得焦点</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954967"/>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required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控件的值不能为空</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909903"/>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placeholder</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当控件</a:t>
                      </a:r>
                      <a:r>
                        <a:rPr lang="en-US" sz="2000" kern="0">
                          <a:effectLst/>
                          <a:latin typeface="Calibri" panose="020F0502020204030204" pitchFamily="34" charset="0"/>
                          <a:ea typeface="宋体" panose="02010600030101010101" pitchFamily="2" charset="-122"/>
                          <a:cs typeface="Times New Roman" panose="02020603050405020304" pitchFamily="18" charset="0"/>
                        </a:rPr>
                        <a:t>value</a:t>
                      </a:r>
                      <a:r>
                        <a:rPr lang="zh-CN" sz="2000" kern="0">
                          <a:effectLst/>
                          <a:latin typeface="Calibri" panose="020F0502020204030204" pitchFamily="34" charset="0"/>
                          <a:ea typeface="宋体" panose="02010600030101010101" pitchFamily="2" charset="-122"/>
                          <a:cs typeface="Times New Roman" panose="02020603050405020304" pitchFamily="18" charset="0"/>
                        </a:rPr>
                        <a:t>为空时，控件显示的提示文字</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5723111"/>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minlength</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内容最小长度（最少字符数目）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1095543"/>
                  </a:ext>
                </a:extLst>
              </a:tr>
              <a:tr h="338924">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maxlength</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内容的最大长度（最多字符数目）</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1126216"/>
                  </a:ext>
                </a:extLst>
              </a:tr>
            </a:tbl>
          </a:graphicData>
        </a:graphic>
      </p:graphicFrame>
      <p:pic>
        <p:nvPicPr>
          <p:cNvPr id="1030" name="图片 193" descr="https://www.w3school.com.cn/i/html5_new_note.png">
            <a:extLst>
              <a:ext uri="{FF2B5EF4-FFF2-40B4-BE49-F238E27FC236}">
                <a16:creationId xmlns:a16="http://schemas.microsoft.com/office/drawing/2014/main" id="{C390A013-E607-4205-BADD-9D6E20A07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4145900"/>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9" name="图片 194" descr="https://www.w3school.com.cn/i/html5_new_note.png">
            <a:extLst>
              <a:ext uri="{FF2B5EF4-FFF2-40B4-BE49-F238E27FC236}">
                <a16:creationId xmlns:a16="http://schemas.microsoft.com/office/drawing/2014/main" id="{8104DC12-72C3-4EDA-A7A7-AB964A3A5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4485884"/>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图片 195" descr="https://www.w3school.com.cn/i/html5_new_note.png">
            <a:extLst>
              <a:ext uri="{FF2B5EF4-FFF2-40B4-BE49-F238E27FC236}">
                <a16:creationId xmlns:a16="http://schemas.microsoft.com/office/drawing/2014/main" id="{CC6FA0B7-98A2-42B4-A100-B81336220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4825868"/>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7" name="图片 196" descr="https://www.w3school.com.cn/i/html5_new_note.png">
            <a:extLst>
              <a:ext uri="{FF2B5EF4-FFF2-40B4-BE49-F238E27FC236}">
                <a16:creationId xmlns:a16="http://schemas.microsoft.com/office/drawing/2014/main" id="{4D77AE44-B965-4C1A-95F7-8A92ED5BF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5165852"/>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6" name="图片 197" descr="https://www.w3school.com.cn/i/html5_new_note.png">
            <a:extLst>
              <a:ext uri="{FF2B5EF4-FFF2-40B4-BE49-F238E27FC236}">
                <a16:creationId xmlns:a16="http://schemas.microsoft.com/office/drawing/2014/main" id="{704AE098-B380-4D40-BF06-FDF27DC9A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5505836"/>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198" descr="https://www.w3school.com.cn/i/html5_new_note.png">
            <a:extLst>
              <a:ext uri="{FF2B5EF4-FFF2-40B4-BE49-F238E27FC236}">
                <a16:creationId xmlns:a16="http://schemas.microsoft.com/office/drawing/2014/main" id="{263E97EB-27AF-44FD-977D-15B872342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240" y="5845818"/>
            <a:ext cx="260533" cy="211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87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盒子模型进阶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182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zh-CN" sz="2800" b="1" dirty="0">
                <a:solidFill>
                  <a:srgbClr val="0000FF"/>
                </a:solidFill>
                <a:latin typeface="Times New Roman" panose="02020603050405020304" pitchFamily="18" charset="0"/>
                <a:cs typeface="Times New Roman" panose="02020603050405020304" pitchFamily="18" charset="0"/>
              </a:rPr>
              <a:t>例</a:t>
            </a:r>
            <a:r>
              <a:rPr lang="en-US" altLang="zh-CN" sz="2800" b="1" dirty="0">
                <a:solidFill>
                  <a:srgbClr val="0000FF"/>
                </a:solidFill>
                <a:latin typeface="Times New Roman" panose="02020603050405020304" pitchFamily="18" charset="0"/>
              </a:rPr>
              <a:t>5-2</a:t>
            </a:r>
          </a:p>
          <a:p>
            <a:pPr algn="just" eaLnBrk="1" hangingPunct="1">
              <a:spcBef>
                <a:spcPct val="50000"/>
              </a:spcBef>
            </a:pPr>
            <a:r>
              <a:rPr lang="zh-CN" altLang="en-US" sz="2800" b="1" dirty="0">
                <a:solidFill>
                  <a:srgbClr val="0000FF"/>
                </a:solidFill>
                <a:latin typeface="Times New Roman" panose="02020603050405020304" pitchFamily="18" charset="0"/>
              </a:rPr>
              <a:t>详见代码</a:t>
            </a:r>
            <a:endParaRPr lang="en-US" altLang="zh-CN" sz="2800" b="1" dirty="0">
              <a:solidFill>
                <a:srgbClr val="0000FF"/>
              </a:solidFill>
              <a:latin typeface="Times New Roman" panose="02020603050405020304" pitchFamily="18" charset="0"/>
            </a:endParaRPr>
          </a:p>
          <a:p>
            <a:pPr algn="just" eaLnBrk="1" hangingPunct="1">
              <a:spcBef>
                <a:spcPct val="50000"/>
              </a:spcBef>
            </a:pPr>
            <a:endParaRPr lang="en-US" altLang="zh-CN" sz="2800" b="1" dirty="0">
              <a:solidFill>
                <a:srgbClr val="0000FF"/>
              </a:solidFill>
            </a:endParaRPr>
          </a:p>
        </p:txBody>
      </p:sp>
      <p:sp>
        <p:nvSpPr>
          <p:cNvPr id="3" name="矩形 2">
            <a:extLst>
              <a:ext uri="{FF2B5EF4-FFF2-40B4-BE49-F238E27FC236}">
                <a16:creationId xmlns:a16="http://schemas.microsoft.com/office/drawing/2014/main" id="{8D789764-95FA-4BD1-A5E7-9776E2BEBC7E}"/>
              </a:ext>
            </a:extLst>
          </p:cNvPr>
          <p:cNvSpPr/>
          <p:nvPr/>
        </p:nvSpPr>
        <p:spPr>
          <a:xfrm>
            <a:off x="767706" y="2412157"/>
            <a:ext cx="6248523" cy="2914259"/>
          </a:xfrm>
          <a:prstGeom prst="rect">
            <a:avLst/>
          </a:prstGeom>
        </p:spPr>
        <p:txBody>
          <a:bodyPr wrap="square">
            <a:spAutoFit/>
          </a:bodyPr>
          <a:lstStyle/>
          <a:p>
            <a:pPr>
              <a:lnSpc>
                <a:spcPct val="200000"/>
              </a:lnSpc>
            </a:pPr>
            <a:r>
              <a:rPr lang="zh-CN" altLang="zh-CN" sz="2400" dirty="0">
                <a:effectLst>
                  <a:outerShdw blurRad="38100" dist="38100" dir="2700000" algn="tl">
                    <a:srgbClr val="000000">
                      <a:alpha val="43137"/>
                    </a:srgbClr>
                  </a:outerShdw>
                </a:effectLst>
                <a:latin typeface="+mn-ea"/>
                <a:ea typeface="+mn-ea"/>
              </a:rPr>
              <a:t>（</a:t>
            </a:r>
            <a:r>
              <a:rPr lang="en-US" altLang="zh-CN" sz="2400" dirty="0">
                <a:effectLst>
                  <a:outerShdw blurRad="38100" dist="38100" dir="2700000" algn="tl">
                    <a:srgbClr val="000000">
                      <a:alpha val="43137"/>
                    </a:srgbClr>
                  </a:outerShdw>
                </a:effectLst>
                <a:latin typeface="+mn-ea"/>
                <a:ea typeface="+mn-ea"/>
              </a:rPr>
              <a:t>1</a:t>
            </a:r>
            <a:r>
              <a:rPr lang="zh-CN" altLang="zh-CN" sz="2400" dirty="0">
                <a:effectLst>
                  <a:outerShdw blurRad="38100" dist="38100" dir="2700000" algn="tl">
                    <a:srgbClr val="000000">
                      <a:alpha val="43137"/>
                    </a:srgbClr>
                  </a:outerShdw>
                </a:effectLst>
                <a:latin typeface="+mn-ea"/>
                <a:ea typeface="+mn-ea"/>
              </a:rPr>
              <a:t>）</a:t>
            </a:r>
            <a:r>
              <a:rPr lang="en-US" altLang="zh-CN" sz="2400" dirty="0">
                <a:effectLst>
                  <a:outerShdw blurRad="38100" dist="38100" dir="2700000" algn="tl">
                    <a:srgbClr val="000000">
                      <a:alpha val="43137"/>
                    </a:srgbClr>
                  </a:outerShdw>
                </a:effectLst>
                <a:latin typeface="+mn-ea"/>
                <a:ea typeface="+mn-ea"/>
              </a:rPr>
              <a:t>cols</a:t>
            </a:r>
            <a:r>
              <a:rPr lang="zh-CN" altLang="en-US" sz="2400" dirty="0">
                <a:effectLst>
                  <a:outerShdw blurRad="38100" dist="38100" dir="2700000" algn="tl">
                    <a:srgbClr val="000000">
                      <a:alpha val="43137"/>
                    </a:srgbClr>
                  </a:outerShdw>
                </a:effectLst>
                <a:latin typeface="+mn-ea"/>
                <a:ea typeface="+mn-ea"/>
              </a:rPr>
              <a:t>和</a:t>
            </a:r>
            <a:r>
              <a:rPr lang="en-US" altLang="zh-CN" sz="2400" dirty="0">
                <a:effectLst>
                  <a:outerShdw blurRad="38100" dist="38100" dir="2700000" algn="tl">
                    <a:srgbClr val="000000">
                      <a:alpha val="43137"/>
                    </a:srgbClr>
                  </a:outerShdw>
                </a:effectLst>
                <a:latin typeface="+mn-ea"/>
                <a:ea typeface="+mn-ea"/>
              </a:rPr>
              <a:t>rows</a:t>
            </a:r>
            <a:r>
              <a:rPr lang="zh-CN" altLang="en-US" sz="2400" dirty="0">
                <a:effectLst>
                  <a:outerShdw blurRad="38100" dist="38100" dir="2700000" algn="tl">
                    <a:srgbClr val="000000">
                      <a:alpha val="43137"/>
                    </a:srgbClr>
                  </a:outerShdw>
                </a:effectLst>
                <a:latin typeface="+mn-ea"/>
                <a:ea typeface="+mn-ea"/>
              </a:rPr>
              <a:t>属性会根据字符数量和字体大小来控制文本框大小</a:t>
            </a:r>
            <a:endParaRPr lang="en-US" altLang="zh-CN" sz="2400" dirty="0">
              <a:effectLst>
                <a:outerShdw blurRad="38100" dist="38100" dir="2700000" algn="tl">
                  <a:srgbClr val="000000">
                    <a:alpha val="43137"/>
                  </a:srgbClr>
                </a:outerShdw>
              </a:effectLst>
              <a:latin typeface="+mn-ea"/>
              <a:ea typeface="+mn-ea"/>
            </a:endParaRPr>
          </a:p>
          <a:p>
            <a:pPr>
              <a:lnSpc>
                <a:spcPct val="200000"/>
              </a:lnSpc>
            </a:pPr>
            <a:r>
              <a:rPr lang="zh-CN" altLang="en-US" sz="2400" dirty="0">
                <a:effectLst>
                  <a:outerShdw blurRad="38100" dist="38100" dir="2700000" algn="tl">
                    <a:srgbClr val="000000">
                      <a:alpha val="43137"/>
                    </a:srgbClr>
                  </a:outerShdw>
                </a:effectLst>
                <a:latin typeface="+mn-ea"/>
                <a:ea typeface="+mn-ea"/>
              </a:rPr>
              <a:t>（</a:t>
            </a:r>
            <a:r>
              <a:rPr lang="en-US" altLang="zh-CN" sz="2400" dirty="0">
                <a:effectLst>
                  <a:outerShdw blurRad="38100" dist="38100" dir="2700000" algn="tl">
                    <a:srgbClr val="000000">
                      <a:alpha val="43137"/>
                    </a:srgbClr>
                  </a:outerShdw>
                </a:effectLst>
                <a:latin typeface="+mn-ea"/>
                <a:ea typeface="+mn-ea"/>
              </a:rPr>
              <a:t>2</a:t>
            </a:r>
            <a:r>
              <a:rPr lang="zh-CN" altLang="en-US" sz="2400" dirty="0">
                <a:effectLst>
                  <a:outerShdw blurRad="38100" dist="38100" dir="2700000" algn="tl">
                    <a:srgbClr val="000000">
                      <a:alpha val="43137"/>
                    </a:srgbClr>
                  </a:outerShdw>
                </a:effectLst>
                <a:latin typeface="+mn-ea"/>
                <a:ea typeface="+mn-ea"/>
              </a:rPr>
              <a:t>）般情况下，不建议使用</a:t>
            </a:r>
            <a:r>
              <a:rPr lang="en-US" altLang="zh-CN" sz="2400" dirty="0">
                <a:effectLst>
                  <a:outerShdw blurRad="38100" dist="38100" dir="2700000" algn="tl">
                    <a:srgbClr val="000000">
                      <a:alpha val="43137"/>
                    </a:srgbClr>
                  </a:outerShdw>
                </a:effectLst>
                <a:latin typeface="+mn-ea"/>
                <a:ea typeface="+mn-ea"/>
              </a:rPr>
              <a:t>cols</a:t>
            </a:r>
            <a:r>
              <a:rPr lang="zh-CN" altLang="en-US" sz="2400" dirty="0">
                <a:effectLst>
                  <a:outerShdw blurRad="38100" dist="38100" dir="2700000" algn="tl">
                    <a:srgbClr val="000000">
                      <a:alpha val="43137"/>
                    </a:srgbClr>
                  </a:outerShdw>
                </a:effectLst>
                <a:latin typeface="+mn-ea"/>
                <a:ea typeface="+mn-ea"/>
              </a:rPr>
              <a:t>和</a:t>
            </a:r>
            <a:r>
              <a:rPr lang="en-US" altLang="zh-CN" sz="2400" dirty="0">
                <a:effectLst>
                  <a:outerShdw blurRad="38100" dist="38100" dir="2700000" algn="tl">
                    <a:srgbClr val="000000">
                      <a:alpha val="43137"/>
                    </a:srgbClr>
                  </a:outerShdw>
                </a:effectLst>
                <a:latin typeface="+mn-ea"/>
                <a:ea typeface="+mn-ea"/>
              </a:rPr>
              <a:t>rows</a:t>
            </a:r>
            <a:r>
              <a:rPr lang="zh-CN" altLang="en-US" sz="2400" dirty="0">
                <a:effectLst>
                  <a:outerShdw blurRad="38100" dist="38100" dir="2700000" algn="tl">
                    <a:srgbClr val="000000">
                      <a:alpha val="43137"/>
                    </a:srgbClr>
                  </a:outerShdw>
                </a:effectLst>
                <a:latin typeface="+mn-ea"/>
                <a:ea typeface="+mn-ea"/>
              </a:rPr>
              <a:t>属性，而是通过</a:t>
            </a:r>
            <a:r>
              <a:rPr lang="en-US" altLang="zh-CN" sz="2400" dirty="0">
                <a:effectLst>
                  <a:outerShdw blurRad="38100" dist="38100" dir="2700000" algn="tl">
                    <a:srgbClr val="000000">
                      <a:alpha val="43137"/>
                    </a:srgbClr>
                  </a:outerShdw>
                </a:effectLst>
                <a:latin typeface="+mn-ea"/>
                <a:ea typeface="+mn-ea"/>
              </a:rPr>
              <a:t>CSS</a:t>
            </a:r>
            <a:r>
              <a:rPr lang="zh-CN" altLang="en-US" sz="2400" dirty="0">
                <a:effectLst>
                  <a:outerShdw blurRad="38100" dist="38100" dir="2700000" algn="tl">
                    <a:srgbClr val="000000">
                      <a:alpha val="43137"/>
                    </a:srgbClr>
                  </a:outerShdw>
                </a:effectLst>
                <a:latin typeface="+mn-ea"/>
                <a:ea typeface="+mn-ea"/>
              </a:rPr>
              <a:t>来控制</a:t>
            </a:r>
            <a:r>
              <a:rPr lang="en-US" altLang="zh-CN" sz="2400" dirty="0">
                <a:effectLst>
                  <a:outerShdw blurRad="38100" dist="38100" dir="2700000" algn="tl">
                    <a:srgbClr val="000000">
                      <a:alpha val="43137"/>
                    </a:srgbClr>
                  </a:outerShdw>
                </a:effectLst>
                <a:latin typeface="+mn-ea"/>
                <a:ea typeface="+mn-ea"/>
              </a:rPr>
              <a:t>&lt;</a:t>
            </a:r>
            <a:r>
              <a:rPr lang="en-US" altLang="zh-CN" sz="2400" dirty="0" err="1">
                <a:effectLst>
                  <a:outerShdw blurRad="38100" dist="38100" dir="2700000" algn="tl">
                    <a:srgbClr val="000000">
                      <a:alpha val="43137"/>
                    </a:srgbClr>
                  </a:outerShdw>
                </a:effectLst>
                <a:latin typeface="+mn-ea"/>
                <a:ea typeface="+mn-ea"/>
              </a:rPr>
              <a:t>textarea</a:t>
            </a:r>
            <a:r>
              <a:rPr lang="en-US" altLang="zh-CN" sz="2400" dirty="0">
                <a:effectLst>
                  <a:outerShdw blurRad="38100" dist="38100" dir="2700000" algn="tl">
                    <a:srgbClr val="000000">
                      <a:alpha val="43137"/>
                    </a:srgbClr>
                  </a:outerShdw>
                </a:effectLst>
                <a:latin typeface="+mn-ea"/>
                <a:ea typeface="+mn-ea"/>
              </a:rPr>
              <a:t>&gt;</a:t>
            </a:r>
            <a:r>
              <a:rPr lang="zh-CN" altLang="en-US" sz="2400" dirty="0">
                <a:effectLst>
                  <a:outerShdw blurRad="38100" dist="38100" dir="2700000" algn="tl">
                    <a:srgbClr val="000000">
                      <a:alpha val="43137"/>
                    </a:srgbClr>
                  </a:outerShdw>
                </a:effectLst>
                <a:latin typeface="+mn-ea"/>
                <a:ea typeface="+mn-ea"/>
              </a:rPr>
              <a:t>控件尺寸</a:t>
            </a:r>
            <a:endParaRPr lang="zh-CN" altLang="zh-CN" sz="2400" dirty="0">
              <a:effectLst>
                <a:outerShdw blurRad="38100" dist="38100" dir="2700000" algn="tl">
                  <a:srgbClr val="000000">
                    <a:alpha val="43137"/>
                  </a:srgbClr>
                </a:outerShdw>
              </a:effectLst>
              <a:latin typeface="+mn-ea"/>
              <a:ea typeface="+mn-ea"/>
            </a:endParaRPr>
          </a:p>
        </p:txBody>
      </p:sp>
      <p:pic>
        <p:nvPicPr>
          <p:cNvPr id="6" name="图片 5">
            <a:extLst>
              <a:ext uri="{FF2B5EF4-FFF2-40B4-BE49-F238E27FC236}">
                <a16:creationId xmlns:a16="http://schemas.microsoft.com/office/drawing/2014/main" id="{8B06D7BB-5E29-431F-B260-B3118BCEAB3C}"/>
              </a:ext>
            </a:extLst>
          </p:cNvPr>
          <p:cNvPicPr/>
          <p:nvPr/>
        </p:nvPicPr>
        <p:blipFill>
          <a:blip r:embed="rId3"/>
          <a:stretch>
            <a:fillRect/>
          </a:stretch>
        </p:blipFill>
        <p:spPr>
          <a:xfrm>
            <a:off x="7304261" y="2038115"/>
            <a:ext cx="4392488" cy="4169872"/>
          </a:xfrm>
          <a:prstGeom prst="rect">
            <a:avLst/>
          </a:prstGeom>
        </p:spPr>
      </p:pic>
    </p:spTree>
    <p:extLst>
      <p:ext uri="{BB962C8B-B14F-4D97-AF65-F5344CB8AC3E}">
        <p14:creationId xmlns:p14="http://schemas.microsoft.com/office/powerpoint/2010/main" val="2072254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&lt;button&gt;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746047"/>
            <a:ext cx="10944022" cy="3329758"/>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按钮控件</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与</a:t>
            </a:r>
            <a:r>
              <a:rPr lang="en-US" altLang="zh-CN" sz="2400" b="1" dirty="0">
                <a:effectLst>
                  <a:outerShdw blurRad="38100" dist="38100" dir="2700000" algn="tl">
                    <a:srgbClr val="000000">
                      <a:alpha val="43137"/>
                    </a:srgbClr>
                  </a:outerShdw>
                </a:effectLst>
                <a:latin typeface="+mn-ea"/>
                <a:ea typeface="+mn-ea"/>
              </a:rPr>
              <a:t>type</a:t>
            </a:r>
            <a:r>
              <a:rPr lang="zh-CN" altLang="en-US" sz="2400" b="1" dirty="0">
                <a:effectLst>
                  <a:outerShdw blurRad="38100" dist="38100" dir="2700000" algn="tl">
                    <a:srgbClr val="000000">
                      <a:alpha val="43137"/>
                    </a:srgbClr>
                  </a:outerShdw>
                </a:effectLst>
                <a:latin typeface="+mn-ea"/>
                <a:ea typeface="+mn-ea"/>
              </a:rPr>
              <a:t>为</a:t>
            </a:r>
            <a:r>
              <a:rPr lang="en-US" altLang="zh-CN" sz="2400" b="1" dirty="0">
                <a:effectLst>
                  <a:outerShdw blurRad="38100" dist="38100" dir="2700000" algn="tl">
                    <a:srgbClr val="000000">
                      <a:alpha val="43137"/>
                    </a:srgbClr>
                  </a:outerShdw>
                </a:effectLst>
                <a:latin typeface="+mn-ea"/>
                <a:ea typeface="+mn-ea"/>
              </a:rPr>
              <a:t>button</a:t>
            </a:r>
            <a:r>
              <a:rPr lang="zh-CN" altLang="en-US" sz="2400" b="1" dirty="0">
                <a:effectLst>
                  <a:outerShdw blurRad="38100" dist="38100" dir="2700000" algn="tl">
                    <a:srgbClr val="000000">
                      <a:alpha val="43137"/>
                    </a:srgbClr>
                  </a:outerShdw>
                </a:effectLst>
                <a:latin typeface="+mn-ea"/>
                <a:ea typeface="+mn-ea"/>
              </a:rPr>
              <a:t>、</a:t>
            </a:r>
            <a:r>
              <a:rPr lang="en-US" altLang="zh-CN" sz="2400" b="1" dirty="0">
                <a:effectLst>
                  <a:outerShdw blurRad="38100" dist="38100" dir="2700000" algn="tl">
                    <a:srgbClr val="000000">
                      <a:alpha val="43137"/>
                    </a:srgbClr>
                  </a:outerShdw>
                </a:effectLst>
                <a:latin typeface="+mn-ea"/>
                <a:ea typeface="+mn-ea"/>
              </a:rPr>
              <a:t>submit</a:t>
            </a:r>
            <a:r>
              <a:rPr lang="zh-CN" altLang="en-US" sz="2400" b="1" dirty="0">
                <a:effectLst>
                  <a:outerShdw blurRad="38100" dist="38100" dir="2700000" algn="tl">
                    <a:srgbClr val="000000">
                      <a:alpha val="43137"/>
                    </a:srgbClr>
                  </a:outerShdw>
                </a:effectLst>
                <a:latin typeface="+mn-ea"/>
                <a:ea typeface="+mn-ea"/>
              </a:rPr>
              <a:t>、</a:t>
            </a:r>
            <a:r>
              <a:rPr lang="en-US" altLang="zh-CN" sz="2400" b="1" dirty="0">
                <a:effectLst>
                  <a:outerShdw blurRad="38100" dist="38100" dir="2700000" algn="tl">
                    <a:srgbClr val="000000">
                      <a:alpha val="43137"/>
                    </a:srgbClr>
                  </a:outerShdw>
                </a:effectLst>
                <a:latin typeface="+mn-ea"/>
                <a:ea typeface="+mn-ea"/>
              </a:rPr>
              <a:t>reset</a:t>
            </a:r>
            <a:r>
              <a:rPr lang="zh-CN" altLang="en-US" sz="2400" b="1" dirty="0">
                <a:effectLst>
                  <a:outerShdw blurRad="38100" dist="38100" dir="2700000" algn="tl">
                    <a:srgbClr val="000000">
                      <a:alpha val="43137"/>
                    </a:srgbClr>
                  </a:outerShdw>
                </a:effectLst>
                <a:latin typeface="+mn-ea"/>
                <a:ea typeface="+mn-ea"/>
              </a:rPr>
              <a:t>的</a:t>
            </a:r>
            <a:r>
              <a:rPr lang="en-US" altLang="zh-CN" sz="2400" b="1" dirty="0">
                <a:effectLst>
                  <a:outerShdw blurRad="38100" dist="38100" dir="2700000" algn="tl">
                    <a:srgbClr val="000000">
                      <a:alpha val="43137"/>
                    </a:srgbClr>
                  </a:outerShdw>
                </a:effectLst>
                <a:latin typeface="+mn-ea"/>
                <a:ea typeface="+mn-ea"/>
              </a:rPr>
              <a:t>&lt;input&gt;</a:t>
            </a:r>
            <a:r>
              <a:rPr lang="zh-CN" altLang="en-US" sz="2400" b="1" dirty="0">
                <a:effectLst>
                  <a:outerShdw blurRad="38100" dist="38100" dir="2700000" algn="tl">
                    <a:srgbClr val="000000">
                      <a:alpha val="43137"/>
                    </a:srgbClr>
                  </a:outerShdw>
                </a:effectLst>
                <a:latin typeface="+mn-ea"/>
                <a:ea typeface="+mn-ea"/>
              </a:rPr>
              <a:t>控件功能基本一致</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与</a:t>
            </a:r>
            <a:r>
              <a:rPr lang="en-US" altLang="zh-CN" sz="2400" b="1" dirty="0">
                <a:effectLst>
                  <a:outerShdw blurRad="38100" dist="38100" dir="2700000" algn="tl">
                    <a:srgbClr val="000000">
                      <a:alpha val="43137"/>
                    </a:srgbClr>
                  </a:outerShdw>
                </a:effectLst>
                <a:latin typeface="+mn-ea"/>
                <a:ea typeface="+mn-ea"/>
              </a:rPr>
              <a:t>&lt;</a:t>
            </a:r>
            <a:r>
              <a:rPr lang="en-US" altLang="zh-CN" sz="2400" b="1" dirty="0">
                <a:effectLst>
                  <a:outerShdw blurRad="38100" dist="38100" dir="2700000" algn="tl">
                    <a:srgbClr val="000000">
                      <a:alpha val="43137"/>
                    </a:srgbClr>
                  </a:outerShdw>
                </a:effectLst>
                <a:latin typeface="+mn-ea"/>
              </a:rPr>
              <a:t>input</a:t>
            </a:r>
            <a:r>
              <a:rPr lang="en-US" altLang="zh-CN" sz="2400" b="1" dirty="0">
                <a:effectLst>
                  <a:outerShdw blurRad="38100" dist="38100" dir="2700000" algn="tl">
                    <a:srgbClr val="000000">
                      <a:alpha val="43137"/>
                    </a:srgbClr>
                  </a:outerShdw>
                </a:effectLst>
                <a:latin typeface="+mn-ea"/>
                <a:ea typeface="+mn-ea"/>
              </a:rPr>
              <a:t>&gt;</a:t>
            </a:r>
            <a:r>
              <a:rPr lang="zh-CN" altLang="en-US" sz="2400" b="1" dirty="0">
                <a:effectLst>
                  <a:outerShdw blurRad="38100" dist="38100" dir="2700000" algn="tl">
                    <a:srgbClr val="000000">
                      <a:alpha val="43137"/>
                    </a:srgbClr>
                  </a:outerShdw>
                </a:effectLst>
                <a:latin typeface="+mn-ea"/>
                <a:ea typeface="+mn-ea"/>
              </a:rPr>
              <a:t>的区别</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400" b="1" dirty="0">
                <a:solidFill>
                  <a:schemeClr val="accent6"/>
                </a:solidFill>
                <a:effectLst>
                  <a:outerShdw blurRad="38100" dist="38100" dir="2700000" algn="tl">
                    <a:srgbClr val="000000">
                      <a:alpha val="43137"/>
                    </a:srgbClr>
                  </a:outerShdw>
                </a:effectLst>
                <a:latin typeface="+mn-ea"/>
                <a:ea typeface="+mn-ea"/>
              </a:rPr>
              <a:t>&lt;button&gt;</a:t>
            </a:r>
            <a:r>
              <a:rPr lang="zh-CN" altLang="en-US" sz="2400" b="1" dirty="0">
                <a:solidFill>
                  <a:schemeClr val="accent6"/>
                </a:solidFill>
                <a:effectLst>
                  <a:outerShdw blurRad="38100" dist="38100" dir="2700000" algn="tl">
                    <a:srgbClr val="000000">
                      <a:alpha val="43137"/>
                    </a:srgbClr>
                  </a:outerShdw>
                </a:effectLst>
                <a:latin typeface="+mn-ea"/>
                <a:ea typeface="+mn-ea"/>
              </a:rPr>
              <a:t>标签需要成对出现，而不是像</a:t>
            </a:r>
            <a:r>
              <a:rPr lang="en-US" altLang="zh-CN" sz="2400" b="1" dirty="0">
                <a:solidFill>
                  <a:schemeClr val="accent6"/>
                </a:solidFill>
                <a:effectLst>
                  <a:outerShdw blurRad="38100" dist="38100" dir="2700000" algn="tl">
                    <a:srgbClr val="000000">
                      <a:alpha val="43137"/>
                    </a:srgbClr>
                  </a:outerShdw>
                </a:effectLst>
                <a:latin typeface="+mn-ea"/>
                <a:ea typeface="+mn-ea"/>
              </a:rPr>
              <a:t>&lt;input&gt;</a:t>
            </a:r>
            <a:r>
              <a:rPr lang="zh-CN" altLang="en-US" sz="2400" b="1" dirty="0">
                <a:solidFill>
                  <a:schemeClr val="accent6"/>
                </a:solidFill>
                <a:effectLst>
                  <a:outerShdw blurRad="38100" dist="38100" dir="2700000" algn="tl">
                    <a:srgbClr val="000000">
                      <a:alpha val="43137"/>
                    </a:srgbClr>
                  </a:outerShdw>
                </a:effectLst>
                <a:latin typeface="+mn-ea"/>
                <a:ea typeface="+mn-ea"/>
              </a:rPr>
              <a:t>自闭合；</a:t>
            </a:r>
            <a:endParaRPr lang="en-US" altLang="zh-CN" sz="2400" b="1" dirty="0">
              <a:solidFill>
                <a:schemeClr val="accent6"/>
              </a:solidFill>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400" b="1" dirty="0">
                <a:solidFill>
                  <a:schemeClr val="accent6"/>
                </a:solidFill>
                <a:effectLst>
                  <a:outerShdw blurRad="38100" dist="38100" dir="2700000" algn="tl">
                    <a:srgbClr val="000000">
                      <a:alpha val="43137"/>
                    </a:srgbClr>
                  </a:outerShdw>
                </a:effectLst>
                <a:latin typeface="+mn-ea"/>
                <a:ea typeface="+mn-ea"/>
              </a:rPr>
              <a:t>&lt;button&gt;</a:t>
            </a:r>
            <a:r>
              <a:rPr lang="zh-CN" altLang="en-US" sz="2400" b="1" dirty="0">
                <a:solidFill>
                  <a:schemeClr val="accent6"/>
                </a:solidFill>
                <a:effectLst>
                  <a:outerShdw blurRad="38100" dist="38100" dir="2700000" algn="tl">
                    <a:srgbClr val="000000">
                      <a:alpha val="43137"/>
                    </a:srgbClr>
                  </a:outerShdw>
                </a:effectLst>
                <a:latin typeface="+mn-ea"/>
                <a:ea typeface="+mn-ea"/>
              </a:rPr>
              <a:t>的按钮文字放置在标签对内，而</a:t>
            </a:r>
            <a:r>
              <a:rPr lang="en-US" altLang="zh-CN" sz="2400" b="1" dirty="0">
                <a:solidFill>
                  <a:schemeClr val="accent6"/>
                </a:solidFill>
                <a:effectLst>
                  <a:outerShdw blurRad="38100" dist="38100" dir="2700000" algn="tl">
                    <a:srgbClr val="000000">
                      <a:alpha val="43137"/>
                    </a:srgbClr>
                  </a:outerShdw>
                </a:effectLst>
                <a:latin typeface="+mn-ea"/>
                <a:ea typeface="+mn-ea"/>
              </a:rPr>
              <a:t>&lt;input&gt;</a:t>
            </a:r>
            <a:r>
              <a:rPr lang="zh-CN" altLang="en-US" sz="2400" b="1" dirty="0">
                <a:solidFill>
                  <a:schemeClr val="accent6"/>
                </a:solidFill>
                <a:effectLst>
                  <a:outerShdw blurRad="38100" dist="38100" dir="2700000" algn="tl">
                    <a:srgbClr val="000000">
                      <a:alpha val="43137"/>
                    </a:srgbClr>
                  </a:outerShdw>
                </a:effectLst>
                <a:latin typeface="+mn-ea"/>
                <a:ea typeface="+mn-ea"/>
              </a:rPr>
              <a:t>是通过设置</a:t>
            </a:r>
            <a:r>
              <a:rPr lang="en-US" altLang="zh-CN" sz="2400" b="1" dirty="0">
                <a:solidFill>
                  <a:schemeClr val="accent6"/>
                </a:solidFill>
                <a:effectLst>
                  <a:outerShdw blurRad="38100" dist="38100" dir="2700000" algn="tl">
                    <a:srgbClr val="000000">
                      <a:alpha val="43137"/>
                    </a:srgbClr>
                  </a:outerShdw>
                </a:effectLst>
                <a:latin typeface="+mn-ea"/>
                <a:ea typeface="+mn-ea"/>
              </a:rPr>
              <a:t>value</a:t>
            </a:r>
            <a:r>
              <a:rPr lang="zh-CN" altLang="en-US" sz="2400" b="1" dirty="0">
                <a:solidFill>
                  <a:schemeClr val="accent6"/>
                </a:solidFill>
                <a:effectLst>
                  <a:outerShdw blurRad="38100" dist="38100" dir="2700000" algn="tl">
                    <a:srgbClr val="000000">
                      <a:alpha val="43137"/>
                    </a:srgbClr>
                  </a:outerShdw>
                </a:effectLst>
                <a:latin typeface="+mn-ea"/>
                <a:ea typeface="+mn-ea"/>
              </a:rPr>
              <a:t>属性；</a:t>
            </a:r>
            <a:endParaRPr lang="en-US" altLang="zh-CN" sz="2400" b="1" dirty="0">
              <a:solidFill>
                <a:schemeClr val="accent6"/>
              </a:solidFill>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rPr>
              <a:t>由于上述原因，</a:t>
            </a:r>
            <a:r>
              <a:rPr lang="en-US" altLang="zh-CN" sz="2400" b="1" dirty="0">
                <a:solidFill>
                  <a:schemeClr val="accent6"/>
                </a:solidFill>
                <a:effectLst>
                  <a:outerShdw blurRad="38100" dist="38100" dir="2700000" algn="tl">
                    <a:srgbClr val="000000">
                      <a:alpha val="43137"/>
                    </a:srgbClr>
                  </a:outerShdw>
                </a:effectLst>
                <a:latin typeface="+mn-ea"/>
                <a:ea typeface="+mn-ea"/>
              </a:rPr>
              <a:t>&lt;button&gt;</a:t>
            </a:r>
            <a:r>
              <a:rPr lang="zh-CN" altLang="en-US" sz="2400" b="1" dirty="0">
                <a:solidFill>
                  <a:schemeClr val="accent6"/>
                </a:solidFill>
                <a:effectLst>
                  <a:outerShdw blurRad="38100" dist="38100" dir="2700000" algn="tl">
                    <a:srgbClr val="000000">
                      <a:alpha val="43137"/>
                    </a:srgbClr>
                  </a:outerShdw>
                </a:effectLst>
                <a:latin typeface="+mn-ea"/>
                <a:ea typeface="+mn-ea"/>
              </a:rPr>
              <a:t>控件更便于自定义样式</a:t>
            </a:r>
            <a:endParaRPr lang="en-US" altLang="zh-CN" sz="2400" b="1" dirty="0">
              <a:solidFill>
                <a:schemeClr val="accent6"/>
              </a:solidFill>
              <a:effectLst>
                <a:outerShdw blurRad="38100" dist="38100" dir="2700000" algn="tl">
                  <a:srgbClr val="000000">
                    <a:alpha val="43137"/>
                  </a:srgbClr>
                </a:outerShdw>
              </a:effectLst>
              <a:latin typeface="+mn-ea"/>
              <a:ea typeface="+mn-ea"/>
            </a:endParaRPr>
          </a:p>
        </p:txBody>
      </p:sp>
      <p:graphicFrame>
        <p:nvGraphicFramePr>
          <p:cNvPr id="9" name="表格 8">
            <a:extLst>
              <a:ext uri="{FF2B5EF4-FFF2-40B4-BE49-F238E27FC236}">
                <a16:creationId xmlns:a16="http://schemas.microsoft.com/office/drawing/2014/main" id="{A7D5A653-1ABE-884D-A35C-F7B44D4985BD}"/>
              </a:ext>
            </a:extLst>
          </p:cNvPr>
          <p:cNvGraphicFramePr>
            <a:graphicFrameLocks noGrp="1"/>
          </p:cNvGraphicFramePr>
          <p:nvPr>
            <p:extLst>
              <p:ext uri="{D42A27DB-BD31-4B8C-83A1-F6EECF244321}">
                <p14:modId xmlns:p14="http://schemas.microsoft.com/office/powerpoint/2010/main" val="4209887397"/>
              </p:ext>
            </p:extLst>
          </p:nvPr>
        </p:nvGraphicFramePr>
        <p:xfrm>
          <a:off x="767706" y="5284529"/>
          <a:ext cx="10477969" cy="772236"/>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77969">
                  <a:extLst>
                    <a:ext uri="{9D8B030D-6E8A-4147-A177-3AD203B41FA5}">
                      <a16:colId xmlns:a16="http://schemas.microsoft.com/office/drawing/2014/main" val="4020043646"/>
                    </a:ext>
                  </a:extLst>
                </a:gridCol>
              </a:tblGrid>
              <a:tr h="772236">
                <a:tc>
                  <a:txBody>
                    <a:bodyPr/>
                    <a:lstStyle/>
                    <a:p>
                      <a:pPr algn="l"/>
                      <a:r>
                        <a:rPr kumimoji="1" lang="en-US" altLang="zh-CN" sz="2400" b="1" kern="1200" dirty="0">
                          <a:solidFill>
                            <a:schemeClr val="tx1"/>
                          </a:solidFill>
                          <a:latin typeface="Times New Roman" pitchFamily="18" charset="0"/>
                          <a:ea typeface="宋体" pitchFamily="2" charset="-122"/>
                          <a:cs typeface="+mn-cs"/>
                        </a:rPr>
                        <a:t> &lt;button name="</a:t>
                      </a:r>
                      <a:r>
                        <a:rPr kumimoji="1" lang="zh-CN" altLang="en-US" sz="2400" b="1" kern="1200" dirty="0">
                          <a:solidFill>
                            <a:schemeClr val="tx1"/>
                          </a:solidFill>
                          <a:latin typeface="Times New Roman" pitchFamily="18" charset="0"/>
                          <a:ea typeface="宋体" pitchFamily="2" charset="-122"/>
                          <a:cs typeface="+mn-cs"/>
                        </a:rPr>
                        <a:t>控件名称</a:t>
                      </a:r>
                      <a:r>
                        <a:rPr kumimoji="1" lang="en-US" altLang="zh-CN" sz="2400" b="1" kern="1200" dirty="0">
                          <a:solidFill>
                            <a:schemeClr val="tx1"/>
                          </a:solidFill>
                          <a:latin typeface="Times New Roman" pitchFamily="18" charset="0"/>
                          <a:ea typeface="宋体" pitchFamily="2" charset="-122"/>
                          <a:cs typeface="+mn-cs"/>
                        </a:rPr>
                        <a:t>" type="</a:t>
                      </a:r>
                      <a:r>
                        <a:rPr kumimoji="1" lang="zh-CN" altLang="en-US" sz="2400" b="1" kern="1200" dirty="0">
                          <a:solidFill>
                            <a:schemeClr val="tx1"/>
                          </a:solidFill>
                          <a:latin typeface="Times New Roman" pitchFamily="18" charset="0"/>
                          <a:ea typeface="宋体" pitchFamily="2" charset="-122"/>
                          <a:cs typeface="+mn-cs"/>
                        </a:rPr>
                        <a:t>按钮类型</a:t>
                      </a:r>
                      <a:r>
                        <a:rPr kumimoji="1" lang="en-US" altLang="zh-CN" sz="2400" b="1" kern="1200" dirty="0">
                          <a:solidFill>
                            <a:schemeClr val="tx1"/>
                          </a:solidFill>
                          <a:latin typeface="Times New Roman" pitchFamily="18" charset="0"/>
                          <a:ea typeface="宋体" pitchFamily="2" charset="-122"/>
                          <a:cs typeface="+mn-cs"/>
                        </a:rPr>
                        <a:t>"&gt;</a:t>
                      </a:r>
                      <a:r>
                        <a:rPr kumimoji="1" lang="zh-CN" altLang="en-US" sz="2400" b="1" kern="1200" dirty="0">
                          <a:solidFill>
                            <a:schemeClr val="tx1"/>
                          </a:solidFill>
                          <a:latin typeface="Times New Roman" pitchFamily="18" charset="0"/>
                          <a:ea typeface="宋体" pitchFamily="2" charset="-122"/>
                          <a:cs typeface="+mn-cs"/>
                        </a:rPr>
                        <a:t>按钮文字</a:t>
                      </a:r>
                      <a:r>
                        <a:rPr kumimoji="1" lang="en-US" altLang="zh-CN" sz="2400" b="1" kern="1200" dirty="0">
                          <a:solidFill>
                            <a:schemeClr val="tx1"/>
                          </a:solidFill>
                          <a:latin typeface="Times New Roman" pitchFamily="18" charset="0"/>
                          <a:ea typeface="宋体" pitchFamily="2" charset="-122"/>
                          <a:cs typeface="+mn-cs"/>
                        </a:rPr>
                        <a:t>&lt;/button &gt;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3761588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&lt;button&gt;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graphicFrame>
        <p:nvGraphicFramePr>
          <p:cNvPr id="3" name="表格 2">
            <a:extLst>
              <a:ext uri="{FF2B5EF4-FFF2-40B4-BE49-F238E27FC236}">
                <a16:creationId xmlns:a16="http://schemas.microsoft.com/office/drawing/2014/main" id="{A9265CA5-BB31-4FC5-9970-7EAC81B0E345}"/>
              </a:ext>
            </a:extLst>
          </p:cNvPr>
          <p:cNvGraphicFramePr>
            <a:graphicFrameLocks noGrp="1"/>
          </p:cNvGraphicFramePr>
          <p:nvPr>
            <p:extLst>
              <p:ext uri="{D42A27DB-BD31-4B8C-83A1-F6EECF244321}">
                <p14:modId xmlns:p14="http://schemas.microsoft.com/office/powerpoint/2010/main" val="3801779067"/>
              </p:ext>
            </p:extLst>
          </p:nvPr>
        </p:nvGraphicFramePr>
        <p:xfrm>
          <a:off x="767372" y="2052117"/>
          <a:ext cx="10611218" cy="4406012"/>
        </p:xfrm>
        <a:graphic>
          <a:graphicData uri="http://schemas.openxmlformats.org/drawingml/2006/table">
            <a:tbl>
              <a:tblPr firstRow="1" firstCol="1" bandRow="1"/>
              <a:tblGrid>
                <a:gridCol w="1928377">
                  <a:extLst>
                    <a:ext uri="{9D8B030D-6E8A-4147-A177-3AD203B41FA5}">
                      <a16:colId xmlns:a16="http://schemas.microsoft.com/office/drawing/2014/main" val="2913761601"/>
                    </a:ext>
                  </a:extLst>
                </a:gridCol>
                <a:gridCol w="576064">
                  <a:extLst>
                    <a:ext uri="{9D8B030D-6E8A-4147-A177-3AD203B41FA5}">
                      <a16:colId xmlns:a16="http://schemas.microsoft.com/office/drawing/2014/main" val="2483065203"/>
                    </a:ext>
                  </a:extLst>
                </a:gridCol>
                <a:gridCol w="8106777">
                  <a:extLst>
                    <a:ext uri="{9D8B030D-6E8A-4147-A177-3AD203B41FA5}">
                      <a16:colId xmlns:a16="http://schemas.microsoft.com/office/drawing/2014/main" val="325512989"/>
                    </a:ext>
                  </a:extLst>
                </a:gridCol>
              </a:tblGrid>
              <a:tr h="338924">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20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19850049"/>
                  </a:ext>
                </a:extLst>
              </a:tr>
              <a:tr h="338924">
                <a:tc>
                  <a:txBody>
                    <a:bodyPr/>
                    <a:lstStyle/>
                    <a:p>
                      <a:pPr algn="just">
                        <a:spcAft>
                          <a:spcPts val="0"/>
                        </a:spcAft>
                      </a:pPr>
                      <a:r>
                        <a:rPr lang="en-US" sz="2000" b="1" kern="0" dirty="0">
                          <a:solidFill>
                            <a:schemeClr val="accent2"/>
                          </a:solidFill>
                          <a:effectLst/>
                          <a:latin typeface="+mn-ea"/>
                          <a:ea typeface="+mn-ea"/>
                          <a:cs typeface="Times New Roman" panose="02020603050405020304" pitchFamily="18" charset="0"/>
                        </a:rPr>
                        <a:t>name</a:t>
                      </a:r>
                      <a:endParaRPr lang="zh-CN" sz="2800" b="1" kern="100" dirty="0">
                        <a:solidFill>
                          <a:schemeClr val="accent2"/>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mn-ea"/>
                          <a:ea typeface="+mn-ea"/>
                          <a:cs typeface="Times New Roman" panose="02020603050405020304" pitchFamily="18" charset="0"/>
                        </a:rPr>
                        <a:t> </a:t>
                      </a:r>
                      <a:endParaRPr lang="zh-CN" sz="2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表单控件名称，提交表单时以名字</a:t>
                      </a:r>
                      <a:r>
                        <a:rPr lang="en-US" sz="2000" kern="0">
                          <a:effectLst/>
                          <a:latin typeface="+mn-ea"/>
                          <a:ea typeface="+mn-ea"/>
                          <a:cs typeface="Times New Roman" panose="02020603050405020304" pitchFamily="18" charset="0"/>
                        </a:rPr>
                        <a:t>/</a:t>
                      </a:r>
                      <a:r>
                        <a:rPr lang="zh-CN" sz="2000" kern="0">
                          <a:effectLst/>
                          <a:latin typeface="+mn-ea"/>
                          <a:ea typeface="+mn-ea"/>
                          <a:cs typeface="Times New Roman" panose="02020603050405020304" pitchFamily="18" charset="0"/>
                        </a:rPr>
                        <a:t>值对的形式提交</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4455960"/>
                  </a:ext>
                </a:extLst>
              </a:tr>
              <a:tr h="338924">
                <a:tc>
                  <a:txBody>
                    <a:bodyPr/>
                    <a:lstStyle/>
                    <a:p>
                      <a:pPr algn="just">
                        <a:spcAft>
                          <a:spcPts val="0"/>
                        </a:spcAft>
                      </a:pPr>
                      <a:r>
                        <a:rPr lang="en-US" sz="2000" b="1" kern="0" dirty="0">
                          <a:solidFill>
                            <a:schemeClr val="accent2"/>
                          </a:solidFill>
                          <a:effectLst/>
                          <a:latin typeface="+mn-ea"/>
                          <a:ea typeface="+mn-ea"/>
                          <a:cs typeface="Times New Roman" panose="02020603050405020304" pitchFamily="18" charset="0"/>
                        </a:rPr>
                        <a:t>type</a:t>
                      </a:r>
                      <a:endParaRPr lang="zh-CN" sz="2800" b="1" kern="100" dirty="0">
                        <a:solidFill>
                          <a:schemeClr val="accent2"/>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mn-ea"/>
                          <a:ea typeface="+mn-ea"/>
                          <a:cs typeface="Times New Roman" panose="02020603050405020304" pitchFamily="18" charset="0"/>
                        </a:rPr>
                        <a:t> </a:t>
                      </a:r>
                      <a:endParaRPr lang="zh-CN" sz="2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按钮类型，与</a:t>
                      </a:r>
                      <a:r>
                        <a:rPr lang="en-US" sz="2000" kern="0">
                          <a:effectLst/>
                          <a:latin typeface="+mn-ea"/>
                          <a:ea typeface="+mn-ea"/>
                          <a:cs typeface="Times New Roman" panose="02020603050405020304" pitchFamily="18" charset="0"/>
                        </a:rPr>
                        <a:t>&lt;input&gt; button</a:t>
                      </a:r>
                      <a:r>
                        <a:rPr lang="zh-CN" sz="2000" kern="0">
                          <a:effectLst/>
                          <a:latin typeface="+mn-ea"/>
                          <a:ea typeface="+mn-ea"/>
                          <a:cs typeface="Times New Roman" panose="02020603050405020304" pitchFamily="18" charset="0"/>
                        </a:rPr>
                        <a:t>、</a:t>
                      </a:r>
                      <a:r>
                        <a:rPr lang="en-US" sz="2000" kern="0">
                          <a:effectLst/>
                          <a:latin typeface="+mn-ea"/>
                          <a:ea typeface="+mn-ea"/>
                          <a:cs typeface="Times New Roman" panose="02020603050405020304" pitchFamily="18" charset="0"/>
                        </a:rPr>
                        <a:t>submit</a:t>
                      </a:r>
                      <a:r>
                        <a:rPr lang="zh-CN" sz="2000" kern="0">
                          <a:effectLst/>
                          <a:latin typeface="+mn-ea"/>
                          <a:ea typeface="+mn-ea"/>
                          <a:cs typeface="Times New Roman" panose="02020603050405020304" pitchFamily="18" charset="0"/>
                        </a:rPr>
                        <a:t>、</a:t>
                      </a:r>
                      <a:r>
                        <a:rPr lang="en-US" sz="2000" kern="0">
                          <a:effectLst/>
                          <a:latin typeface="+mn-ea"/>
                          <a:ea typeface="+mn-ea"/>
                          <a:cs typeface="Times New Roman" panose="02020603050405020304" pitchFamily="18" charset="0"/>
                        </a:rPr>
                        <a:t>reset</a:t>
                      </a:r>
                      <a:r>
                        <a:rPr lang="zh-CN" sz="2000" kern="0">
                          <a:effectLst/>
                          <a:latin typeface="+mn-ea"/>
                          <a:ea typeface="+mn-ea"/>
                          <a:cs typeface="Times New Roman" panose="02020603050405020304" pitchFamily="18" charset="0"/>
                        </a:rPr>
                        <a:t>相同</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0488964"/>
                  </a:ext>
                </a:extLst>
              </a:tr>
              <a:tr h="338924">
                <a:tc>
                  <a:txBody>
                    <a:bodyPr/>
                    <a:lstStyle/>
                    <a:p>
                      <a:pPr algn="just">
                        <a:spcAft>
                          <a:spcPts val="0"/>
                        </a:spcAft>
                      </a:pPr>
                      <a:r>
                        <a:rPr lang="en-US" sz="2000" kern="0">
                          <a:effectLst/>
                          <a:latin typeface="+mn-ea"/>
                          <a:ea typeface="+mn-ea"/>
                          <a:cs typeface="Times New Roman" panose="02020603050405020304" pitchFamily="18" charset="0"/>
                        </a:rPr>
                        <a:t>disabled</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mn-ea"/>
                          <a:ea typeface="+mn-ea"/>
                          <a:cs typeface="Times New Roman" panose="02020603050405020304" pitchFamily="18" charset="0"/>
                        </a:rPr>
                        <a:t> </a:t>
                      </a:r>
                      <a:endParaRPr lang="zh-CN" sz="2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mn-ea"/>
                          <a:ea typeface="+mn-ea"/>
                          <a:cs typeface="Times New Roman" panose="02020603050405020304" pitchFamily="18" charset="0"/>
                        </a:rPr>
                        <a:t>禁用控件，不可复制、修改控件的值或获取焦点</a:t>
                      </a:r>
                      <a:endParaRPr lang="zh-CN" sz="2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742060"/>
                  </a:ext>
                </a:extLst>
              </a:tr>
              <a:tr h="338924">
                <a:tc>
                  <a:txBody>
                    <a:bodyPr/>
                    <a:lstStyle/>
                    <a:p>
                      <a:pPr algn="just">
                        <a:spcAft>
                          <a:spcPts val="0"/>
                        </a:spcAft>
                      </a:pPr>
                      <a:r>
                        <a:rPr lang="en-US" sz="2000" kern="0">
                          <a:effectLst/>
                          <a:latin typeface="+mn-ea"/>
                          <a:ea typeface="+mn-ea"/>
                          <a:cs typeface="Times New Roman" panose="02020603050405020304" pitchFamily="18" charset="0"/>
                        </a:rPr>
                        <a:t>value</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mn-ea"/>
                          <a:ea typeface="+mn-ea"/>
                          <a:cs typeface="Times New Roman" panose="02020603050405020304" pitchFamily="18" charset="0"/>
                        </a:rPr>
                        <a:t> </a:t>
                      </a:r>
                      <a:endParaRPr lang="zh-CN" sz="2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与按钮名称一起成为</a:t>
                      </a:r>
                      <a:r>
                        <a:rPr lang="en-US" sz="2000" kern="0">
                          <a:effectLst/>
                          <a:latin typeface="+mn-ea"/>
                          <a:ea typeface="+mn-ea"/>
                          <a:cs typeface="Times New Roman" panose="02020603050405020304" pitchFamily="18" charset="0"/>
                        </a:rPr>
                        <a:t>key/value</a:t>
                      </a:r>
                      <a:r>
                        <a:rPr lang="zh-CN" sz="2000" kern="0">
                          <a:effectLst/>
                          <a:latin typeface="+mn-ea"/>
                          <a:ea typeface="+mn-ea"/>
                          <a:cs typeface="Times New Roman" panose="02020603050405020304" pitchFamily="18" charset="0"/>
                        </a:rPr>
                        <a:t>对，提交时作为参数被提交</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851110"/>
                  </a:ext>
                </a:extLst>
              </a:tr>
              <a:tr h="338924">
                <a:tc>
                  <a:txBody>
                    <a:bodyPr/>
                    <a:lstStyle/>
                    <a:p>
                      <a:pPr algn="just">
                        <a:spcAft>
                          <a:spcPts val="0"/>
                        </a:spcAft>
                      </a:pPr>
                      <a:r>
                        <a:rPr lang="en-US" sz="2000" kern="0">
                          <a:effectLst/>
                          <a:latin typeface="+mn-ea"/>
                          <a:ea typeface="+mn-ea"/>
                          <a:cs typeface="Times New Roman" panose="02020603050405020304" pitchFamily="18" charset="0"/>
                        </a:rPr>
                        <a:t>form</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将控件和一个</a:t>
                      </a:r>
                      <a:r>
                        <a:rPr lang="en-US" sz="2000" kern="0">
                          <a:effectLst/>
                          <a:latin typeface="+mn-ea"/>
                          <a:ea typeface="+mn-ea"/>
                          <a:cs typeface="Times New Roman" panose="02020603050405020304" pitchFamily="18" charset="0"/>
                        </a:rPr>
                        <a:t>form</a:t>
                      </a:r>
                      <a:r>
                        <a:rPr lang="zh-CN" sz="2000" kern="0">
                          <a:effectLst/>
                          <a:latin typeface="+mn-ea"/>
                          <a:ea typeface="+mn-ea"/>
                          <a:cs typeface="Times New Roman" panose="02020603050405020304" pitchFamily="18" charset="0"/>
                        </a:rPr>
                        <a:t>元素联系在一起</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0887268"/>
                  </a:ext>
                </a:extLst>
              </a:tr>
              <a:tr h="338924">
                <a:tc>
                  <a:txBody>
                    <a:bodyPr/>
                    <a:lstStyle/>
                    <a:p>
                      <a:pPr algn="just">
                        <a:spcAft>
                          <a:spcPts val="0"/>
                        </a:spcAft>
                      </a:pPr>
                      <a:r>
                        <a:rPr lang="en-US" sz="2000" kern="0">
                          <a:effectLst/>
                          <a:latin typeface="+mn-ea"/>
                          <a:ea typeface="+mn-ea"/>
                          <a:cs typeface="Times New Roman" panose="02020603050405020304" pitchFamily="18" charset="0"/>
                        </a:rPr>
                        <a:t>autocomplete</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是否使用浏览器的记忆功能自动填充文本，</a:t>
                      </a:r>
                      <a:r>
                        <a:rPr lang="en-US" sz="2000" kern="0">
                          <a:effectLst/>
                          <a:latin typeface="+mn-ea"/>
                          <a:ea typeface="+mn-ea"/>
                          <a:cs typeface="Times New Roman" panose="02020603050405020304" pitchFamily="18" charset="0"/>
                        </a:rPr>
                        <a:t>on</a:t>
                      </a:r>
                      <a:r>
                        <a:rPr lang="zh-CN" sz="2000" kern="0">
                          <a:effectLst/>
                          <a:latin typeface="+mn-ea"/>
                          <a:ea typeface="+mn-ea"/>
                          <a:cs typeface="Times New Roman" panose="02020603050405020304" pitchFamily="18" charset="0"/>
                        </a:rPr>
                        <a:t>或</a:t>
                      </a:r>
                      <a:r>
                        <a:rPr lang="en-US" sz="2000" kern="0">
                          <a:effectLst/>
                          <a:latin typeface="+mn-ea"/>
                          <a:ea typeface="+mn-ea"/>
                          <a:cs typeface="Times New Roman" panose="02020603050405020304" pitchFamily="18" charset="0"/>
                        </a:rPr>
                        <a:t>off</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9736585"/>
                  </a:ext>
                </a:extLst>
              </a:tr>
              <a:tr h="338924">
                <a:tc>
                  <a:txBody>
                    <a:bodyPr/>
                    <a:lstStyle/>
                    <a:p>
                      <a:pPr algn="just">
                        <a:spcAft>
                          <a:spcPts val="0"/>
                        </a:spcAft>
                      </a:pPr>
                      <a:r>
                        <a:rPr lang="en-US" sz="2000" kern="0">
                          <a:effectLst/>
                          <a:latin typeface="+mn-ea"/>
                          <a:ea typeface="+mn-ea"/>
                          <a:cs typeface="Times New Roman" panose="02020603050405020304" pitchFamily="18" charset="0"/>
                        </a:rPr>
                        <a:t>autofocus</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规定在页面加载后文本区域自动获得焦点</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52195"/>
                  </a:ext>
                </a:extLst>
              </a:tr>
              <a:tr h="338924">
                <a:tc>
                  <a:txBody>
                    <a:bodyPr/>
                    <a:lstStyle/>
                    <a:p>
                      <a:pPr algn="just">
                        <a:spcAft>
                          <a:spcPts val="0"/>
                        </a:spcAft>
                      </a:pPr>
                      <a:r>
                        <a:rPr lang="en-US" sz="2000" kern="0">
                          <a:effectLst/>
                          <a:latin typeface="+mn-ea"/>
                          <a:ea typeface="+mn-ea"/>
                          <a:cs typeface="Times New Roman" panose="02020603050405020304" pitchFamily="18" charset="0"/>
                        </a:rPr>
                        <a:t>formaction</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用于提交表单的</a:t>
                      </a:r>
                      <a:r>
                        <a:rPr lang="en-US" sz="2000" kern="0">
                          <a:effectLst/>
                          <a:latin typeface="+mn-ea"/>
                          <a:ea typeface="+mn-ea"/>
                          <a:cs typeface="Times New Roman" panose="02020603050405020304" pitchFamily="18" charset="0"/>
                        </a:rPr>
                        <a:t>URL</a:t>
                      </a:r>
                      <a:r>
                        <a:rPr lang="zh-CN" sz="2000" kern="0">
                          <a:effectLst/>
                          <a:latin typeface="+mn-ea"/>
                          <a:ea typeface="+mn-ea"/>
                          <a:cs typeface="Times New Roman" panose="02020603050405020304" pitchFamily="18" charset="0"/>
                        </a:rPr>
                        <a:t>，可以覆盖</a:t>
                      </a:r>
                      <a:r>
                        <a:rPr lang="en-US" sz="2000" kern="0">
                          <a:effectLst/>
                          <a:latin typeface="+mn-ea"/>
                          <a:ea typeface="+mn-ea"/>
                          <a:cs typeface="Times New Roman" panose="02020603050405020304" pitchFamily="18" charset="0"/>
                        </a:rPr>
                        <a:t>&lt;form&gt;</a:t>
                      </a:r>
                      <a:r>
                        <a:rPr lang="zh-CN" sz="2000" kern="0">
                          <a:effectLst/>
                          <a:latin typeface="+mn-ea"/>
                          <a:ea typeface="+mn-ea"/>
                          <a:cs typeface="Times New Roman" panose="02020603050405020304" pitchFamily="18" charset="0"/>
                        </a:rPr>
                        <a:t>对应的属性值</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954967"/>
                  </a:ext>
                </a:extLst>
              </a:tr>
              <a:tr h="338924">
                <a:tc>
                  <a:txBody>
                    <a:bodyPr/>
                    <a:lstStyle/>
                    <a:p>
                      <a:pPr algn="just">
                        <a:spcAft>
                          <a:spcPts val="0"/>
                        </a:spcAft>
                      </a:pPr>
                      <a:r>
                        <a:rPr lang="en-US" sz="2000" kern="0">
                          <a:effectLst/>
                          <a:latin typeface="+mn-ea"/>
                          <a:ea typeface="+mn-ea"/>
                          <a:cs typeface="Times New Roman" panose="02020603050405020304" pitchFamily="18" charset="0"/>
                        </a:rPr>
                        <a:t>formenctype</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表单数据提交时的编码方式，可以覆盖</a:t>
                      </a:r>
                      <a:r>
                        <a:rPr lang="en-US" sz="2000" kern="0">
                          <a:effectLst/>
                          <a:latin typeface="+mn-ea"/>
                          <a:ea typeface="+mn-ea"/>
                          <a:cs typeface="Times New Roman" panose="02020603050405020304" pitchFamily="18" charset="0"/>
                        </a:rPr>
                        <a:t>&lt;form&gt;</a:t>
                      </a:r>
                      <a:r>
                        <a:rPr lang="zh-CN" sz="2000" kern="0">
                          <a:effectLst/>
                          <a:latin typeface="+mn-ea"/>
                          <a:ea typeface="+mn-ea"/>
                          <a:cs typeface="Times New Roman" panose="02020603050405020304" pitchFamily="18" charset="0"/>
                        </a:rPr>
                        <a:t>对应的属性值</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909903"/>
                  </a:ext>
                </a:extLst>
              </a:tr>
              <a:tr h="338924">
                <a:tc>
                  <a:txBody>
                    <a:bodyPr/>
                    <a:lstStyle/>
                    <a:p>
                      <a:pPr algn="just">
                        <a:spcAft>
                          <a:spcPts val="0"/>
                        </a:spcAft>
                      </a:pPr>
                      <a:r>
                        <a:rPr lang="en-US" sz="2000" kern="0">
                          <a:effectLst/>
                          <a:latin typeface="+mn-ea"/>
                          <a:ea typeface="+mn-ea"/>
                          <a:cs typeface="Times New Roman" panose="02020603050405020304" pitchFamily="18" charset="0"/>
                        </a:rPr>
                        <a:t>formmethod</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用于表单提交的</a:t>
                      </a:r>
                      <a:r>
                        <a:rPr lang="en-US" sz="2000" kern="0">
                          <a:effectLst/>
                          <a:latin typeface="+mn-ea"/>
                          <a:ea typeface="+mn-ea"/>
                          <a:cs typeface="Times New Roman" panose="02020603050405020304" pitchFamily="18" charset="0"/>
                        </a:rPr>
                        <a:t>HTTP</a:t>
                      </a:r>
                      <a:r>
                        <a:rPr lang="zh-CN" sz="2000" kern="0">
                          <a:effectLst/>
                          <a:latin typeface="+mn-ea"/>
                          <a:ea typeface="+mn-ea"/>
                          <a:cs typeface="Times New Roman" panose="02020603050405020304" pitchFamily="18" charset="0"/>
                        </a:rPr>
                        <a:t>方法，可以覆盖</a:t>
                      </a:r>
                      <a:r>
                        <a:rPr lang="en-US" sz="2000" kern="0">
                          <a:effectLst/>
                          <a:latin typeface="+mn-ea"/>
                          <a:ea typeface="+mn-ea"/>
                          <a:cs typeface="Times New Roman" panose="02020603050405020304" pitchFamily="18" charset="0"/>
                        </a:rPr>
                        <a:t>&lt;form&gt;</a:t>
                      </a:r>
                      <a:r>
                        <a:rPr lang="zh-CN" sz="2000" kern="0">
                          <a:effectLst/>
                          <a:latin typeface="+mn-ea"/>
                          <a:ea typeface="+mn-ea"/>
                          <a:cs typeface="Times New Roman" panose="02020603050405020304" pitchFamily="18" charset="0"/>
                        </a:rPr>
                        <a:t>对应的属性值</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5723111"/>
                  </a:ext>
                </a:extLst>
              </a:tr>
              <a:tr h="338924">
                <a:tc>
                  <a:txBody>
                    <a:bodyPr/>
                    <a:lstStyle/>
                    <a:p>
                      <a:pPr algn="just">
                        <a:spcAft>
                          <a:spcPts val="0"/>
                        </a:spcAft>
                      </a:pPr>
                      <a:r>
                        <a:rPr lang="en-US" sz="2000" kern="0">
                          <a:effectLst/>
                          <a:latin typeface="+mn-ea"/>
                          <a:ea typeface="+mn-ea"/>
                          <a:cs typeface="Times New Roman" panose="02020603050405020304" pitchFamily="18" charset="0"/>
                        </a:rPr>
                        <a:t>formnovalidate</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mn-ea"/>
                          <a:ea typeface="+mn-ea"/>
                          <a:cs typeface="Times New Roman" panose="02020603050405020304" pitchFamily="18" charset="0"/>
                        </a:rPr>
                        <a:t>提交表单时绕过表单验证，可以覆盖</a:t>
                      </a:r>
                      <a:r>
                        <a:rPr lang="en-US" sz="2000" kern="0">
                          <a:effectLst/>
                          <a:latin typeface="+mn-ea"/>
                          <a:ea typeface="+mn-ea"/>
                          <a:cs typeface="Times New Roman" panose="02020603050405020304" pitchFamily="18" charset="0"/>
                        </a:rPr>
                        <a:t>&lt;form&gt;</a:t>
                      </a:r>
                      <a:r>
                        <a:rPr lang="zh-CN" sz="2000" kern="0">
                          <a:effectLst/>
                          <a:latin typeface="+mn-ea"/>
                          <a:ea typeface="+mn-ea"/>
                          <a:cs typeface="Times New Roman" panose="02020603050405020304" pitchFamily="18" charset="0"/>
                        </a:rPr>
                        <a:t>对应的属性值</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1095543"/>
                  </a:ext>
                </a:extLst>
              </a:tr>
              <a:tr h="338924">
                <a:tc>
                  <a:txBody>
                    <a:bodyPr/>
                    <a:lstStyle/>
                    <a:p>
                      <a:pPr algn="just">
                        <a:spcAft>
                          <a:spcPts val="0"/>
                        </a:spcAft>
                      </a:pPr>
                      <a:r>
                        <a:rPr lang="en-US" sz="2000" kern="0">
                          <a:effectLst/>
                          <a:latin typeface="+mn-ea"/>
                          <a:ea typeface="+mn-ea"/>
                          <a:cs typeface="Times New Roman" panose="02020603050405020304" pitchFamily="18" charset="0"/>
                        </a:rPr>
                        <a:t>formtarget</a:t>
                      </a:r>
                      <a:endParaRPr lang="zh-CN" sz="2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mn-ea"/>
                          <a:ea typeface="+mn-ea"/>
                          <a:cs typeface="Times New Roman" panose="02020603050405020304" pitchFamily="18" charset="0"/>
                        </a:rPr>
                        <a:t>表单提交的浏览上下文，可以覆盖</a:t>
                      </a:r>
                      <a:r>
                        <a:rPr lang="en-US" sz="2000" kern="0" dirty="0">
                          <a:effectLst/>
                          <a:latin typeface="+mn-ea"/>
                          <a:ea typeface="+mn-ea"/>
                          <a:cs typeface="Times New Roman" panose="02020603050405020304" pitchFamily="18" charset="0"/>
                        </a:rPr>
                        <a:t>&lt;form&gt;</a:t>
                      </a:r>
                      <a:r>
                        <a:rPr lang="zh-CN" sz="2000" kern="0" dirty="0">
                          <a:effectLst/>
                          <a:latin typeface="+mn-ea"/>
                          <a:ea typeface="+mn-ea"/>
                          <a:cs typeface="Times New Roman" panose="02020603050405020304" pitchFamily="18" charset="0"/>
                        </a:rPr>
                        <a:t>对应的属性值</a:t>
                      </a:r>
                      <a:endParaRPr lang="zh-CN" sz="2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1126216"/>
                  </a:ext>
                </a:extLst>
              </a:tr>
            </a:tbl>
          </a:graphicData>
        </a:graphic>
      </p:graphicFrame>
      <p:pic>
        <p:nvPicPr>
          <p:cNvPr id="1030" name="图片 193" descr="https://www.w3school.com.cn/i/html5_new_note.png">
            <a:extLst>
              <a:ext uri="{FF2B5EF4-FFF2-40B4-BE49-F238E27FC236}">
                <a16:creationId xmlns:a16="http://schemas.microsoft.com/office/drawing/2014/main" id="{C390A013-E607-4205-BADD-9D6E20A07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4145900"/>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9" name="图片 194" descr="https://www.w3school.com.cn/i/html5_new_note.png">
            <a:extLst>
              <a:ext uri="{FF2B5EF4-FFF2-40B4-BE49-F238E27FC236}">
                <a16:creationId xmlns:a16="http://schemas.microsoft.com/office/drawing/2014/main" id="{8104DC12-72C3-4EDA-A7A7-AB964A3A5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4485884"/>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图片 195" descr="https://www.w3school.com.cn/i/html5_new_note.png">
            <a:extLst>
              <a:ext uri="{FF2B5EF4-FFF2-40B4-BE49-F238E27FC236}">
                <a16:creationId xmlns:a16="http://schemas.microsoft.com/office/drawing/2014/main" id="{CC6FA0B7-98A2-42B4-A100-B81336220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4825868"/>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7" name="图片 196" descr="https://www.w3school.com.cn/i/html5_new_note.png">
            <a:extLst>
              <a:ext uri="{FF2B5EF4-FFF2-40B4-BE49-F238E27FC236}">
                <a16:creationId xmlns:a16="http://schemas.microsoft.com/office/drawing/2014/main" id="{4D77AE44-B965-4C1A-95F7-8A92ED5BF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5165852"/>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6" name="图片 197" descr="https://www.w3school.com.cn/i/html5_new_note.png">
            <a:extLst>
              <a:ext uri="{FF2B5EF4-FFF2-40B4-BE49-F238E27FC236}">
                <a16:creationId xmlns:a16="http://schemas.microsoft.com/office/drawing/2014/main" id="{704AE098-B380-4D40-BF06-FDF27DC9A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5505836"/>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198" descr="https://www.w3school.com.cn/i/html5_new_note.png">
            <a:extLst>
              <a:ext uri="{FF2B5EF4-FFF2-40B4-BE49-F238E27FC236}">
                <a16:creationId xmlns:a16="http://schemas.microsoft.com/office/drawing/2014/main" id="{263E97EB-27AF-44FD-977D-15B872342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5845818"/>
            <a:ext cx="260533" cy="211683"/>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98" descr="https://www.w3school.com.cn/i/html5_new_note.png">
            <a:extLst>
              <a:ext uri="{FF2B5EF4-FFF2-40B4-BE49-F238E27FC236}">
                <a16:creationId xmlns:a16="http://schemas.microsoft.com/office/drawing/2014/main" id="{0EED4BEB-C190-437E-A186-917D896E4A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264" y="6156573"/>
            <a:ext cx="260533" cy="211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204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盒子模型进阶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182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zh-CN" sz="2800" b="1" dirty="0">
                <a:solidFill>
                  <a:srgbClr val="0000FF"/>
                </a:solidFill>
                <a:latin typeface="Times New Roman" panose="02020603050405020304" pitchFamily="18" charset="0"/>
                <a:cs typeface="Times New Roman" panose="02020603050405020304" pitchFamily="18" charset="0"/>
              </a:rPr>
              <a:t>例</a:t>
            </a:r>
            <a:r>
              <a:rPr lang="en-US" altLang="zh-CN" sz="2800" b="1" dirty="0">
                <a:solidFill>
                  <a:srgbClr val="0000FF"/>
                </a:solidFill>
                <a:latin typeface="Times New Roman" panose="02020603050405020304" pitchFamily="18" charset="0"/>
              </a:rPr>
              <a:t>5-3</a:t>
            </a:r>
          </a:p>
          <a:p>
            <a:pPr algn="just" eaLnBrk="1" hangingPunct="1">
              <a:spcBef>
                <a:spcPct val="50000"/>
              </a:spcBef>
            </a:pP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详见代码</a:t>
            </a:r>
            <a:endPar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ndParaRPr>
          </a:p>
          <a:p>
            <a:pPr algn="just" eaLnBrk="1" hangingPunct="1">
              <a:spcBef>
                <a:spcPct val="50000"/>
              </a:spcBef>
            </a:pPr>
            <a:endParaRPr lang="en-US" altLang="zh-CN" sz="2800" b="1" dirty="0">
              <a:solidFill>
                <a:srgbClr val="0000FF"/>
              </a:solidFill>
            </a:endParaRPr>
          </a:p>
        </p:txBody>
      </p:sp>
      <p:sp>
        <p:nvSpPr>
          <p:cNvPr id="3" name="矩形 2">
            <a:extLst>
              <a:ext uri="{FF2B5EF4-FFF2-40B4-BE49-F238E27FC236}">
                <a16:creationId xmlns:a16="http://schemas.microsoft.com/office/drawing/2014/main" id="{8D789764-95FA-4BD1-A5E7-9776E2BEBC7E}"/>
              </a:ext>
            </a:extLst>
          </p:cNvPr>
          <p:cNvSpPr/>
          <p:nvPr/>
        </p:nvSpPr>
        <p:spPr>
          <a:xfrm>
            <a:off x="428831" y="2323660"/>
            <a:ext cx="7488832" cy="4290598"/>
          </a:xfrm>
          <a:prstGeom prst="rect">
            <a:avLst/>
          </a:prstGeom>
        </p:spPr>
        <p:txBody>
          <a:bodyPr wrap="square">
            <a:spAutoFit/>
          </a:bodyPr>
          <a:lstStyle/>
          <a:p>
            <a:pPr>
              <a:lnSpc>
                <a:spcPct val="200000"/>
              </a:lnSpc>
            </a:pPr>
            <a:r>
              <a:rPr lang="en-US" altLang="zh-CN" sz="2000" b="1" dirty="0">
                <a:effectLst>
                  <a:outerShdw blurRad="38100" dist="38100" dir="2700000" algn="tl">
                    <a:srgbClr val="000000">
                      <a:alpha val="43137"/>
                    </a:srgbClr>
                  </a:outerShdw>
                </a:effectLst>
                <a:latin typeface="+mn-ea"/>
                <a:ea typeface="+mn-ea"/>
              </a:rPr>
              <a:t>&lt;label&gt;button4: </a:t>
            </a:r>
          </a:p>
          <a:p>
            <a:pPr>
              <a:lnSpc>
                <a:spcPct val="200000"/>
              </a:lnSpc>
            </a:pPr>
            <a:r>
              <a:rPr lang="en-US" altLang="zh-CN" sz="2000" b="1" dirty="0">
                <a:effectLst>
                  <a:outerShdw blurRad="38100" dist="38100" dir="2700000" algn="tl">
                    <a:srgbClr val="000000">
                      <a:alpha val="43137"/>
                    </a:srgbClr>
                  </a:outerShdw>
                </a:effectLst>
                <a:latin typeface="+mn-ea"/>
                <a:ea typeface="+mn-ea"/>
              </a:rPr>
              <a:t>  &lt;button name="button4" type="button"&gt;</a:t>
            </a:r>
          </a:p>
          <a:p>
            <a:pPr>
              <a:lnSpc>
                <a:spcPct val="200000"/>
              </a:lnSpc>
            </a:pPr>
            <a:r>
              <a:rPr lang="en-US" altLang="zh-CN" sz="2000" b="1" dirty="0">
                <a:solidFill>
                  <a:schemeClr val="accent2"/>
                </a:solidFill>
                <a:effectLst>
                  <a:outerShdw blurRad="38100" dist="38100" dir="2700000" algn="tl">
                    <a:srgbClr val="000000">
                      <a:alpha val="43137"/>
                    </a:srgbClr>
                  </a:outerShdw>
                </a:effectLst>
                <a:latin typeface="+mn-ea"/>
                <a:ea typeface="+mn-ea"/>
              </a:rPr>
              <a:t>    &lt;</a:t>
            </a:r>
            <a:r>
              <a:rPr lang="en-US" altLang="zh-CN" sz="2000" b="1" dirty="0" err="1">
                <a:solidFill>
                  <a:schemeClr val="accent2"/>
                </a:solidFill>
                <a:effectLst>
                  <a:outerShdw blurRad="38100" dist="38100" dir="2700000" algn="tl">
                    <a:srgbClr val="000000">
                      <a:alpha val="43137"/>
                    </a:srgbClr>
                  </a:outerShdw>
                </a:effectLst>
                <a:latin typeface="+mn-ea"/>
                <a:ea typeface="+mn-ea"/>
              </a:rPr>
              <a:t>img</a:t>
            </a:r>
            <a:r>
              <a:rPr lang="en-US" altLang="zh-CN" sz="2000" b="1" dirty="0">
                <a:solidFill>
                  <a:schemeClr val="accent2"/>
                </a:solidFill>
                <a:effectLst>
                  <a:outerShdw blurRad="38100" dist="38100" dir="2700000" algn="tl">
                    <a:srgbClr val="000000">
                      <a:alpha val="43137"/>
                    </a:srgbClr>
                  </a:outerShdw>
                </a:effectLst>
                <a:latin typeface="+mn-ea"/>
                <a:ea typeface="+mn-ea"/>
              </a:rPr>
              <a:t> </a:t>
            </a:r>
            <a:r>
              <a:rPr lang="en-US" altLang="zh-CN" sz="2000" b="1" dirty="0" err="1">
                <a:solidFill>
                  <a:schemeClr val="accent2"/>
                </a:solidFill>
                <a:effectLst>
                  <a:outerShdw blurRad="38100" dist="38100" dir="2700000" algn="tl">
                    <a:srgbClr val="000000">
                      <a:alpha val="43137"/>
                    </a:srgbClr>
                  </a:outerShdw>
                </a:effectLst>
                <a:latin typeface="+mn-ea"/>
                <a:ea typeface="+mn-ea"/>
              </a:rPr>
              <a:t>src</a:t>
            </a:r>
            <a:r>
              <a:rPr lang="en-US" altLang="zh-CN" sz="2000" b="1" dirty="0">
                <a:solidFill>
                  <a:schemeClr val="accent2"/>
                </a:solidFill>
                <a:effectLst>
                  <a:outerShdw blurRad="38100" dist="38100" dir="2700000" algn="tl">
                    <a:srgbClr val="000000">
                      <a:alpha val="43137"/>
                    </a:srgbClr>
                  </a:outerShdw>
                </a:effectLst>
                <a:latin typeface="+mn-ea"/>
                <a:ea typeface="+mn-ea"/>
              </a:rPr>
              <a:t>="</a:t>
            </a:r>
            <a:r>
              <a:rPr lang="en-US" altLang="zh-CN" sz="2000" b="1" dirty="0" err="1">
                <a:solidFill>
                  <a:schemeClr val="accent2"/>
                </a:solidFill>
                <a:effectLst>
                  <a:outerShdw blurRad="38100" dist="38100" dir="2700000" algn="tl">
                    <a:srgbClr val="000000">
                      <a:alpha val="43137"/>
                    </a:srgbClr>
                  </a:outerShdw>
                </a:effectLst>
                <a:latin typeface="+mn-ea"/>
                <a:ea typeface="+mn-ea"/>
              </a:rPr>
              <a:t>img</a:t>
            </a:r>
            <a:r>
              <a:rPr lang="en-US" altLang="zh-CN" sz="2000" b="1" dirty="0">
                <a:solidFill>
                  <a:schemeClr val="accent2"/>
                </a:solidFill>
                <a:effectLst>
                  <a:outerShdw blurRad="38100" dist="38100" dir="2700000" algn="tl">
                    <a:srgbClr val="000000">
                      <a:alpha val="43137"/>
                    </a:srgbClr>
                  </a:outerShdw>
                </a:effectLst>
                <a:latin typeface="+mn-ea"/>
                <a:ea typeface="+mn-ea"/>
              </a:rPr>
              <a:t>/image_button.png"&gt;</a:t>
            </a:r>
          </a:p>
          <a:p>
            <a:pPr>
              <a:lnSpc>
                <a:spcPct val="200000"/>
              </a:lnSpc>
            </a:pPr>
            <a:r>
              <a:rPr lang="en-US" altLang="zh-CN" sz="2000" b="1" dirty="0">
                <a:solidFill>
                  <a:schemeClr val="accent2"/>
                </a:solidFill>
                <a:effectLst>
                  <a:outerShdw blurRad="38100" dist="38100" dir="2700000" algn="tl">
                    <a:srgbClr val="000000">
                      <a:alpha val="43137"/>
                    </a:srgbClr>
                  </a:outerShdw>
                </a:effectLst>
                <a:latin typeface="+mn-ea"/>
                <a:ea typeface="+mn-ea"/>
              </a:rPr>
              <a:t>    &lt;div&gt;button4&lt;/div&gt;</a:t>
            </a:r>
          </a:p>
          <a:p>
            <a:pPr>
              <a:lnSpc>
                <a:spcPct val="200000"/>
              </a:lnSpc>
            </a:pPr>
            <a:r>
              <a:rPr lang="en-US" altLang="zh-CN" sz="2000" b="1" dirty="0">
                <a:effectLst>
                  <a:outerShdw blurRad="38100" dist="38100" dir="2700000" algn="tl">
                    <a:srgbClr val="000000">
                      <a:alpha val="43137"/>
                    </a:srgbClr>
                  </a:outerShdw>
                </a:effectLst>
                <a:latin typeface="+mn-ea"/>
                <a:ea typeface="+mn-ea"/>
              </a:rPr>
              <a:t>  &lt;/button&gt;</a:t>
            </a:r>
          </a:p>
          <a:p>
            <a:pPr>
              <a:lnSpc>
                <a:spcPct val="200000"/>
              </a:lnSpc>
            </a:pPr>
            <a:r>
              <a:rPr lang="en-US" altLang="zh-CN" sz="2000" b="1" dirty="0">
                <a:effectLst>
                  <a:outerShdw blurRad="38100" dist="38100" dir="2700000" algn="tl">
                    <a:srgbClr val="000000">
                      <a:alpha val="43137"/>
                    </a:srgbClr>
                  </a:outerShdw>
                </a:effectLst>
                <a:latin typeface="+mn-ea"/>
                <a:ea typeface="+mn-ea"/>
              </a:rPr>
              <a:t> </a:t>
            </a:r>
            <a:r>
              <a:rPr lang="zh-CN" altLang="en-US" sz="2000" b="1" dirty="0">
                <a:effectLst>
                  <a:outerShdw blurRad="38100" dist="38100" dir="2700000" algn="tl">
                    <a:srgbClr val="000000">
                      <a:alpha val="43137"/>
                    </a:srgbClr>
                  </a:outerShdw>
                </a:effectLst>
                <a:latin typeface="+mn-ea"/>
                <a:ea typeface="+mn-ea"/>
              </a:rPr>
              <a:t>自定义内部元素</a:t>
            </a:r>
            <a:endParaRPr lang="en-US" altLang="zh-CN" sz="2000" b="1" dirty="0">
              <a:effectLst>
                <a:outerShdw blurRad="38100" dist="38100" dir="2700000" algn="tl">
                  <a:srgbClr val="000000">
                    <a:alpha val="43137"/>
                  </a:srgbClr>
                </a:outerShdw>
              </a:effectLst>
              <a:latin typeface="+mn-ea"/>
              <a:ea typeface="+mn-ea"/>
            </a:endParaRPr>
          </a:p>
          <a:p>
            <a:pPr>
              <a:lnSpc>
                <a:spcPct val="200000"/>
              </a:lnSpc>
            </a:pPr>
            <a:r>
              <a:rPr lang="en-US" altLang="zh-CN" sz="2000" b="1" dirty="0">
                <a:effectLst>
                  <a:outerShdw blurRad="38100" dist="38100" dir="2700000" algn="tl">
                    <a:srgbClr val="000000">
                      <a:alpha val="43137"/>
                    </a:srgbClr>
                  </a:outerShdw>
                </a:effectLst>
                <a:latin typeface="+mn-ea"/>
                <a:ea typeface="+mn-ea"/>
              </a:rPr>
              <a:t>&lt;/label&gt;</a:t>
            </a:r>
            <a:endParaRPr lang="zh-CN" altLang="zh-CN" sz="2000" b="1" dirty="0">
              <a:effectLst>
                <a:outerShdw blurRad="38100" dist="38100" dir="2700000" algn="tl">
                  <a:srgbClr val="000000">
                    <a:alpha val="43137"/>
                  </a:srgbClr>
                </a:outerShdw>
              </a:effectLst>
              <a:latin typeface="+mn-ea"/>
              <a:ea typeface="+mn-ea"/>
            </a:endParaRPr>
          </a:p>
        </p:txBody>
      </p:sp>
      <p:pic>
        <p:nvPicPr>
          <p:cNvPr id="7" name="图片 6">
            <a:extLst>
              <a:ext uri="{FF2B5EF4-FFF2-40B4-BE49-F238E27FC236}">
                <a16:creationId xmlns:a16="http://schemas.microsoft.com/office/drawing/2014/main" id="{1D79D624-D96D-4A29-8630-FC1B1BA0F6CB}"/>
              </a:ext>
            </a:extLst>
          </p:cNvPr>
          <p:cNvPicPr/>
          <p:nvPr/>
        </p:nvPicPr>
        <p:blipFill>
          <a:blip r:embed="rId3"/>
          <a:stretch>
            <a:fillRect/>
          </a:stretch>
        </p:blipFill>
        <p:spPr>
          <a:xfrm>
            <a:off x="7578788" y="2700189"/>
            <a:ext cx="4261976" cy="3096099"/>
          </a:xfrm>
          <a:prstGeom prst="rect">
            <a:avLst/>
          </a:prstGeom>
        </p:spPr>
      </p:pic>
      <p:sp>
        <p:nvSpPr>
          <p:cNvPr id="4" name="箭头: 右 3">
            <a:extLst>
              <a:ext uri="{FF2B5EF4-FFF2-40B4-BE49-F238E27FC236}">
                <a16:creationId xmlns:a16="http://schemas.microsoft.com/office/drawing/2014/main" id="{D6A7B342-A9D2-4C28-9B0A-96BBB96BC310}"/>
              </a:ext>
            </a:extLst>
          </p:cNvPr>
          <p:cNvSpPr/>
          <p:nvPr/>
        </p:nvSpPr>
        <p:spPr>
          <a:xfrm>
            <a:off x="5360045" y="4860429"/>
            <a:ext cx="2088232"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2517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&lt;select&gt;</a:t>
            </a:r>
            <a:r>
              <a:rPr lang="zh-CN" altLang="en-US" sz="2800" b="1" dirty="0">
                <a:solidFill>
                  <a:srgbClr val="0000FF"/>
                </a:solidFill>
                <a:latin typeface="+mn-ea"/>
                <a:ea typeface="+mn-ea"/>
              </a:rPr>
              <a:t>、</a:t>
            </a:r>
            <a:r>
              <a:rPr lang="en-US" altLang="zh-CN" sz="2800" b="1" dirty="0">
                <a:solidFill>
                  <a:srgbClr val="0000FF"/>
                </a:solidFill>
                <a:latin typeface="+mn-ea"/>
                <a:ea typeface="+mn-ea"/>
              </a:rPr>
              <a:t>&lt;option&gt;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optgroup</a:t>
            </a:r>
            <a:r>
              <a:rPr lang="en-US" altLang="zh-CN" sz="2800" b="1" dirty="0">
                <a:solidFill>
                  <a:srgbClr val="0000FF"/>
                </a:solidFill>
                <a:latin typeface="+mn-ea"/>
                <a:ea typeface="+mn-ea"/>
              </a:rPr>
              <a:t>&gt;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datalist</a:t>
            </a:r>
            <a:r>
              <a:rPr lang="en-US" altLang="zh-CN" sz="2800" b="1" dirty="0">
                <a:solidFill>
                  <a:srgbClr val="0000FF"/>
                </a:solidFill>
                <a:latin typeface="+mn-ea"/>
                <a:ea typeface="+mn-ea"/>
              </a:rPr>
              <a:t>&gt;</a:t>
            </a:r>
            <a:r>
              <a:rPr lang="zh-CN" altLang="en-US" sz="2800" b="1" dirty="0">
                <a:solidFill>
                  <a:srgbClr val="0000FF"/>
                </a:solidFill>
                <a:latin typeface="+mn-ea"/>
                <a:ea typeface="+mn-ea"/>
              </a:rPr>
              <a:t>控件元素</a:t>
            </a: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746047"/>
            <a:ext cx="5218095" cy="2221762"/>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下拉菜单</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实现的方式</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400" b="1" dirty="0">
                <a:solidFill>
                  <a:schemeClr val="accent6"/>
                </a:solidFill>
                <a:effectLst>
                  <a:outerShdw blurRad="38100" dist="38100" dir="2700000" algn="tl">
                    <a:srgbClr val="000000">
                      <a:alpha val="43137"/>
                    </a:srgbClr>
                  </a:outerShdw>
                </a:effectLst>
                <a:latin typeface="+mn-ea"/>
                <a:ea typeface="+mn-ea"/>
              </a:rPr>
              <a:t>&lt;select&gt;</a:t>
            </a:r>
            <a:r>
              <a:rPr lang="zh-CN" altLang="en-US" sz="2400" b="1" dirty="0">
                <a:solidFill>
                  <a:schemeClr val="accent6"/>
                </a:solidFill>
                <a:effectLst>
                  <a:outerShdw blurRad="38100" dist="38100" dir="2700000" algn="tl">
                    <a:srgbClr val="000000">
                      <a:alpha val="43137"/>
                    </a:srgbClr>
                  </a:outerShdw>
                </a:effectLst>
                <a:latin typeface="+mn-ea"/>
                <a:ea typeface="+mn-ea"/>
              </a:rPr>
              <a:t>方式</a:t>
            </a:r>
            <a:endParaRPr lang="en-US" altLang="zh-CN" sz="2400" b="1" dirty="0">
              <a:solidFill>
                <a:schemeClr val="accent6"/>
              </a:solidFill>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400" b="1" dirty="0">
                <a:solidFill>
                  <a:schemeClr val="accent6"/>
                </a:solidFill>
                <a:effectLst>
                  <a:outerShdw blurRad="38100" dist="38100" dir="2700000" algn="tl">
                    <a:srgbClr val="000000">
                      <a:alpha val="43137"/>
                    </a:srgbClr>
                  </a:outerShdw>
                </a:effectLst>
                <a:latin typeface="+mn-ea"/>
                <a:ea typeface="+mn-ea"/>
              </a:rPr>
              <a:t>&lt;input&gt;</a:t>
            </a:r>
            <a:r>
              <a:rPr lang="zh-CN" altLang="en-US" sz="2400" b="1" dirty="0">
                <a:solidFill>
                  <a:schemeClr val="accent6"/>
                </a:solidFill>
                <a:effectLst>
                  <a:outerShdw blurRad="38100" dist="38100" dir="2700000" algn="tl">
                    <a:srgbClr val="000000">
                      <a:alpha val="43137"/>
                    </a:srgbClr>
                  </a:outerShdw>
                </a:effectLst>
                <a:latin typeface="+mn-ea"/>
                <a:ea typeface="+mn-ea"/>
              </a:rPr>
              <a:t>和</a:t>
            </a:r>
            <a:r>
              <a:rPr lang="en-US" altLang="zh-CN" sz="2400" b="1" dirty="0">
                <a:solidFill>
                  <a:schemeClr val="accent6"/>
                </a:solidFill>
                <a:effectLst>
                  <a:outerShdw blurRad="38100" dist="38100" dir="2700000" algn="tl">
                    <a:srgbClr val="000000">
                      <a:alpha val="43137"/>
                    </a:srgbClr>
                  </a:outerShdw>
                </a:effectLst>
                <a:latin typeface="+mn-ea"/>
                <a:ea typeface="+mn-ea"/>
              </a:rPr>
              <a:t>&lt;</a:t>
            </a:r>
            <a:r>
              <a:rPr lang="en-US" altLang="zh-CN" sz="2400" b="1" dirty="0" err="1">
                <a:solidFill>
                  <a:schemeClr val="accent6"/>
                </a:solidFill>
                <a:effectLst>
                  <a:outerShdw blurRad="38100" dist="38100" dir="2700000" algn="tl">
                    <a:srgbClr val="000000">
                      <a:alpha val="43137"/>
                    </a:srgbClr>
                  </a:outerShdw>
                </a:effectLst>
                <a:latin typeface="+mn-ea"/>
                <a:ea typeface="+mn-ea"/>
              </a:rPr>
              <a:t>datalist</a:t>
            </a:r>
            <a:r>
              <a:rPr lang="en-US" altLang="zh-CN" sz="2400" b="1" dirty="0">
                <a:solidFill>
                  <a:schemeClr val="accent6"/>
                </a:solidFill>
                <a:effectLst>
                  <a:outerShdw blurRad="38100" dist="38100" dir="2700000" algn="tl">
                    <a:srgbClr val="000000">
                      <a:alpha val="43137"/>
                    </a:srgbClr>
                  </a:outerShdw>
                </a:effectLst>
                <a:latin typeface="+mn-ea"/>
                <a:ea typeface="+mn-ea"/>
              </a:rPr>
              <a:t>&gt;</a:t>
            </a:r>
            <a:r>
              <a:rPr lang="zh-CN" altLang="en-US" sz="2400" b="1" dirty="0">
                <a:solidFill>
                  <a:schemeClr val="accent6"/>
                </a:solidFill>
                <a:effectLst>
                  <a:outerShdw blurRad="38100" dist="38100" dir="2700000" algn="tl">
                    <a:srgbClr val="000000">
                      <a:alpha val="43137"/>
                    </a:srgbClr>
                  </a:outerShdw>
                </a:effectLst>
                <a:latin typeface="+mn-ea"/>
                <a:ea typeface="+mn-ea"/>
              </a:rPr>
              <a:t>配合实现</a:t>
            </a:r>
            <a:endParaRPr lang="en-US" altLang="zh-CN" sz="2400" b="1" dirty="0">
              <a:solidFill>
                <a:schemeClr val="accent6"/>
              </a:solidFill>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1689050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&lt;select&gt;</a:t>
            </a:r>
            <a:r>
              <a:rPr lang="zh-CN" altLang="en-US" sz="2800" b="1" dirty="0">
                <a:solidFill>
                  <a:srgbClr val="0000FF"/>
                </a:solidFill>
                <a:latin typeface="+mn-ea"/>
                <a:ea typeface="+mn-ea"/>
              </a:rPr>
              <a:t>、</a:t>
            </a:r>
            <a:r>
              <a:rPr lang="en-US" altLang="zh-CN" sz="2800" b="1" dirty="0">
                <a:solidFill>
                  <a:srgbClr val="0000FF"/>
                </a:solidFill>
                <a:latin typeface="+mn-ea"/>
                <a:ea typeface="+mn-ea"/>
              </a:rPr>
              <a:t>&lt;option&gt;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optgroup</a:t>
            </a:r>
            <a:r>
              <a:rPr lang="en-US" altLang="zh-CN" sz="2800" b="1" dirty="0">
                <a:solidFill>
                  <a:srgbClr val="0000FF"/>
                </a:solidFill>
                <a:latin typeface="+mn-ea"/>
                <a:ea typeface="+mn-ea"/>
              </a:rPr>
              <a:t>&gt;</a:t>
            </a:r>
            <a:r>
              <a:rPr lang="zh-CN" altLang="en-US" sz="2800" b="1" dirty="0">
                <a:solidFill>
                  <a:srgbClr val="0000FF"/>
                </a:solidFill>
                <a:latin typeface="+mn-ea"/>
              </a:rPr>
              <a:t>、</a:t>
            </a:r>
            <a:r>
              <a:rPr lang="en-US" altLang="zh-CN" sz="2800" b="1" dirty="0">
                <a:solidFill>
                  <a:srgbClr val="0000FF"/>
                </a:solidFill>
                <a:latin typeface="+mn-ea"/>
              </a:rPr>
              <a:t>&lt;</a:t>
            </a:r>
            <a:r>
              <a:rPr lang="en-US" altLang="zh-CN" sz="2800" b="1" dirty="0" err="1">
                <a:solidFill>
                  <a:srgbClr val="0000FF"/>
                </a:solidFill>
                <a:latin typeface="+mn-ea"/>
              </a:rPr>
              <a:t>datalist</a:t>
            </a:r>
            <a:r>
              <a:rPr lang="en-US" altLang="zh-CN" sz="2800" b="1" dirty="0">
                <a:solidFill>
                  <a:srgbClr val="0000FF"/>
                </a:solidFill>
                <a:latin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9034846" cy="1959191"/>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&lt;select&gt;</a:t>
            </a:r>
            <a:r>
              <a:rPr lang="zh-CN" altLang="en-US" sz="2400" b="1" dirty="0">
                <a:effectLst>
                  <a:outerShdw blurRad="38100" dist="38100" dir="2700000" algn="tl">
                    <a:srgbClr val="000000">
                      <a:alpha val="43137"/>
                    </a:srgbClr>
                  </a:outerShdw>
                </a:effectLst>
                <a:latin typeface="+mn-ea"/>
                <a:ea typeface="+mn-ea"/>
              </a:rPr>
              <a:t>方式</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&lt;select&gt;</a:t>
            </a:r>
            <a:r>
              <a:rPr lang="zh-CN" altLang="en-US" sz="2000" b="1" dirty="0">
                <a:effectLst>
                  <a:outerShdw blurRad="38100" dist="38100" dir="2700000" algn="tl">
                    <a:srgbClr val="000000">
                      <a:alpha val="43137"/>
                    </a:srgbClr>
                  </a:outerShdw>
                </a:effectLst>
                <a:latin typeface="+mn-ea"/>
                <a:ea typeface="+mn-ea"/>
              </a:rPr>
              <a:t>是下拉菜单项的容器，默认属性设置下只显示当前选中的选项</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&lt;option&gt;</a:t>
            </a:r>
            <a:r>
              <a:rPr lang="zh-CN" altLang="en-US" sz="2000" b="1" dirty="0">
                <a:effectLst>
                  <a:outerShdw blurRad="38100" dist="38100" dir="2700000" algn="tl">
                    <a:srgbClr val="000000">
                      <a:alpha val="43137"/>
                    </a:srgbClr>
                  </a:outerShdw>
                </a:effectLst>
                <a:latin typeface="+mn-ea"/>
                <a:ea typeface="+mn-ea"/>
              </a:rPr>
              <a:t>作为下拉菜单的选项可以设置多个，可以实现单选或多选</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000" b="1" dirty="0">
                <a:effectLst>
                  <a:outerShdw blurRad="38100" dist="38100" dir="2700000" algn="tl">
                    <a:srgbClr val="000000">
                      <a:alpha val="43137"/>
                    </a:srgbClr>
                  </a:outerShdw>
                </a:effectLst>
                <a:latin typeface="+mn-ea"/>
                <a:ea typeface="+mn-ea"/>
              </a:rPr>
              <a:t>使用</a:t>
            </a:r>
            <a:r>
              <a:rPr lang="en-US" altLang="zh-CN" sz="2000" b="1" dirty="0">
                <a:effectLst>
                  <a:outerShdw blurRad="38100" dist="38100" dir="2700000" algn="tl">
                    <a:srgbClr val="000000">
                      <a:alpha val="43137"/>
                    </a:srgbClr>
                  </a:outerShdw>
                </a:effectLst>
                <a:latin typeface="+mn-ea"/>
                <a:ea typeface="+mn-ea"/>
              </a:rPr>
              <a:t>&lt;</a:t>
            </a:r>
            <a:r>
              <a:rPr lang="en-US" altLang="zh-CN" sz="2000" b="1" dirty="0" err="1">
                <a:effectLst>
                  <a:outerShdw blurRad="38100" dist="38100" dir="2700000" algn="tl">
                    <a:srgbClr val="000000">
                      <a:alpha val="43137"/>
                    </a:srgbClr>
                  </a:outerShdw>
                </a:effectLst>
                <a:latin typeface="+mn-ea"/>
                <a:ea typeface="+mn-ea"/>
              </a:rPr>
              <a:t>optgroup</a:t>
            </a:r>
            <a:r>
              <a:rPr lang="en-US" altLang="zh-CN" sz="2000" b="1" dirty="0">
                <a:effectLst>
                  <a:outerShdw blurRad="38100" dist="38100" dir="2700000" algn="tl">
                    <a:srgbClr val="000000">
                      <a:alpha val="43137"/>
                    </a:srgbClr>
                  </a:outerShdw>
                </a:effectLst>
                <a:latin typeface="+mn-ea"/>
                <a:ea typeface="+mn-ea"/>
              </a:rPr>
              <a:t>&gt;</a:t>
            </a:r>
            <a:r>
              <a:rPr lang="zh-CN" altLang="en-US" sz="2000" b="1" dirty="0">
                <a:effectLst>
                  <a:outerShdw blurRad="38100" dist="38100" dir="2700000" algn="tl">
                    <a:srgbClr val="000000">
                      <a:alpha val="43137"/>
                    </a:srgbClr>
                  </a:outerShdw>
                </a:effectLst>
                <a:latin typeface="+mn-ea"/>
                <a:ea typeface="+mn-ea"/>
              </a:rPr>
              <a:t>对多个</a:t>
            </a:r>
            <a:r>
              <a:rPr lang="en-US" altLang="zh-CN" sz="2000" b="1" dirty="0">
                <a:effectLst>
                  <a:outerShdw blurRad="38100" dist="38100" dir="2700000" algn="tl">
                    <a:srgbClr val="000000">
                      <a:alpha val="43137"/>
                    </a:srgbClr>
                  </a:outerShdw>
                </a:effectLst>
                <a:latin typeface="+mn-ea"/>
                <a:ea typeface="+mn-ea"/>
              </a:rPr>
              <a:t>&lt;option&gt;</a:t>
            </a:r>
            <a:r>
              <a:rPr lang="zh-CN" altLang="en-US" sz="2000" b="1" dirty="0">
                <a:effectLst>
                  <a:outerShdw blurRad="38100" dist="38100" dir="2700000" algn="tl">
                    <a:srgbClr val="000000">
                      <a:alpha val="43137"/>
                    </a:srgbClr>
                  </a:outerShdw>
                </a:effectLst>
                <a:latin typeface="+mn-ea"/>
                <a:ea typeface="+mn-ea"/>
              </a:rPr>
              <a:t>进行分组，方便用户选择</a:t>
            </a:r>
          </a:p>
        </p:txBody>
      </p:sp>
      <p:graphicFrame>
        <p:nvGraphicFramePr>
          <p:cNvPr id="6" name="表格 5">
            <a:extLst>
              <a:ext uri="{FF2B5EF4-FFF2-40B4-BE49-F238E27FC236}">
                <a16:creationId xmlns:a16="http://schemas.microsoft.com/office/drawing/2014/main" id="{3961A1B0-5AC9-4620-A8A1-D2153FE8A2B7}"/>
              </a:ext>
            </a:extLst>
          </p:cNvPr>
          <p:cNvGraphicFramePr>
            <a:graphicFrameLocks noGrp="1"/>
          </p:cNvGraphicFramePr>
          <p:nvPr>
            <p:extLst>
              <p:ext uri="{D42A27DB-BD31-4B8C-83A1-F6EECF244321}">
                <p14:modId xmlns:p14="http://schemas.microsoft.com/office/powerpoint/2010/main" val="1397709492"/>
              </p:ext>
            </p:extLst>
          </p:nvPr>
        </p:nvGraphicFramePr>
        <p:xfrm>
          <a:off x="751533" y="4027690"/>
          <a:ext cx="10477969" cy="22250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77969">
                  <a:extLst>
                    <a:ext uri="{9D8B030D-6E8A-4147-A177-3AD203B41FA5}">
                      <a16:colId xmlns:a16="http://schemas.microsoft.com/office/drawing/2014/main" val="4020043646"/>
                    </a:ext>
                  </a:extLst>
                </a:gridCol>
              </a:tblGrid>
              <a:tr h="772236">
                <a:tc>
                  <a:txBody>
                    <a:bodyPr/>
                    <a:lstStyle/>
                    <a:p>
                      <a:pPr algn="l"/>
                      <a:r>
                        <a:rPr kumimoji="1" lang="en-US" altLang="zh-CN" sz="2000" b="1" kern="1200" dirty="0">
                          <a:solidFill>
                            <a:schemeClr val="tx1"/>
                          </a:solidFill>
                          <a:latin typeface="Times New Roman" pitchFamily="18" charset="0"/>
                          <a:ea typeface="宋体" pitchFamily="2" charset="-122"/>
                          <a:cs typeface="+mn-cs"/>
                        </a:rPr>
                        <a:t> &lt;select name="</a:t>
                      </a:r>
                      <a:r>
                        <a:rPr kumimoji="1" lang="zh-CN" altLang="en-US" sz="2000" b="1" kern="1200" dirty="0">
                          <a:solidFill>
                            <a:schemeClr val="tx1"/>
                          </a:solidFill>
                          <a:latin typeface="Times New Roman" pitchFamily="18" charset="0"/>
                          <a:ea typeface="宋体" pitchFamily="2" charset="-122"/>
                          <a:cs typeface="+mn-cs"/>
                        </a:rPr>
                        <a:t>控件名称</a:t>
                      </a:r>
                      <a:r>
                        <a:rPr kumimoji="1" lang="en-US" altLang="zh-CN" sz="2000" b="1" kern="1200" dirty="0">
                          <a:solidFill>
                            <a:schemeClr val="tx1"/>
                          </a:solidFill>
                          <a:latin typeface="Times New Roman" pitchFamily="18" charset="0"/>
                          <a:ea typeface="宋体" pitchFamily="2" charset="-122"/>
                          <a:cs typeface="+mn-cs"/>
                        </a:rPr>
                        <a:t>" &gt;</a:t>
                      </a:r>
                    </a:p>
                    <a:p>
                      <a:pPr algn="l"/>
                      <a:r>
                        <a:rPr kumimoji="1" lang="en-US" altLang="zh-CN" sz="2000" b="1" kern="1200" dirty="0">
                          <a:solidFill>
                            <a:schemeClr val="tx1"/>
                          </a:solidFill>
                          <a:latin typeface="Times New Roman" pitchFamily="18" charset="0"/>
                          <a:ea typeface="宋体" pitchFamily="2" charset="-122"/>
                          <a:cs typeface="+mn-cs"/>
                        </a:rPr>
                        <a:t>      &lt;</a:t>
                      </a:r>
                      <a:r>
                        <a:rPr kumimoji="1" lang="en-US" altLang="zh-CN" sz="2000" b="1" kern="1200" dirty="0" err="1">
                          <a:solidFill>
                            <a:schemeClr val="tx1"/>
                          </a:solidFill>
                          <a:latin typeface="Times New Roman" pitchFamily="18" charset="0"/>
                          <a:ea typeface="宋体" pitchFamily="2" charset="-122"/>
                          <a:cs typeface="+mn-cs"/>
                        </a:rPr>
                        <a:t>optgroup</a:t>
                      </a:r>
                      <a:r>
                        <a:rPr kumimoji="1" lang="en-US" altLang="zh-CN" sz="2000" b="1" kern="1200" dirty="0">
                          <a:solidFill>
                            <a:schemeClr val="tx1"/>
                          </a:solidFill>
                          <a:latin typeface="Times New Roman" pitchFamily="18" charset="0"/>
                          <a:ea typeface="宋体" pitchFamily="2" charset="-122"/>
                          <a:cs typeface="+mn-cs"/>
                        </a:rPr>
                        <a:t> label="</a:t>
                      </a:r>
                      <a:r>
                        <a:rPr kumimoji="1" lang="zh-CN" altLang="en-US" sz="2000" b="1" kern="1200" dirty="0">
                          <a:solidFill>
                            <a:schemeClr val="tx1"/>
                          </a:solidFill>
                          <a:latin typeface="Times New Roman" pitchFamily="18" charset="0"/>
                          <a:ea typeface="宋体" pitchFamily="2" charset="-122"/>
                          <a:cs typeface="+mn-cs"/>
                        </a:rPr>
                        <a:t>分组名称</a:t>
                      </a:r>
                      <a:r>
                        <a:rPr kumimoji="1" lang="en-US" altLang="zh-CN" sz="2000" b="1" kern="1200" dirty="0">
                          <a:solidFill>
                            <a:schemeClr val="tx1"/>
                          </a:solidFill>
                          <a:latin typeface="Times New Roman" pitchFamily="18" charset="0"/>
                          <a:ea typeface="宋体" pitchFamily="2" charset="-122"/>
                          <a:cs typeface="+mn-cs"/>
                        </a:rPr>
                        <a:t>"&gt;</a:t>
                      </a:r>
                    </a:p>
                    <a:p>
                      <a:pPr algn="l"/>
                      <a:r>
                        <a:rPr kumimoji="1" lang="en-US" altLang="zh-CN" sz="2000" b="1" kern="1200" dirty="0">
                          <a:solidFill>
                            <a:schemeClr val="tx1"/>
                          </a:solidFill>
                          <a:latin typeface="Times New Roman" pitchFamily="18" charset="0"/>
                          <a:ea typeface="宋体" pitchFamily="2" charset="-122"/>
                          <a:cs typeface="+mn-cs"/>
                        </a:rPr>
                        <a:t>        &lt;option value="</a:t>
                      </a:r>
                      <a:r>
                        <a:rPr kumimoji="1" lang="zh-CN" altLang="en-US" sz="2000" b="1" kern="1200" dirty="0">
                          <a:solidFill>
                            <a:schemeClr val="tx1"/>
                          </a:solidFill>
                          <a:latin typeface="Times New Roman" pitchFamily="18" charset="0"/>
                          <a:ea typeface="宋体" pitchFamily="2" charset="-122"/>
                          <a:cs typeface="+mn-cs"/>
                        </a:rPr>
                        <a:t>值</a:t>
                      </a:r>
                      <a:r>
                        <a:rPr kumimoji="1" lang="en-US" altLang="zh-CN" sz="2000" b="1" kern="1200" dirty="0">
                          <a:solidFill>
                            <a:schemeClr val="tx1"/>
                          </a:solidFill>
                          <a:latin typeface="Times New Roman" pitchFamily="18" charset="0"/>
                          <a:ea typeface="宋体" pitchFamily="2" charset="-122"/>
                          <a:cs typeface="+mn-cs"/>
                        </a:rPr>
                        <a:t>"&gt;</a:t>
                      </a:r>
                      <a:r>
                        <a:rPr kumimoji="1" lang="zh-CN" altLang="en-US" sz="2000" b="1" kern="1200" dirty="0">
                          <a:solidFill>
                            <a:schemeClr val="tx1"/>
                          </a:solidFill>
                          <a:latin typeface="Times New Roman" pitchFamily="18" charset="0"/>
                          <a:ea typeface="宋体" pitchFamily="2" charset="-122"/>
                          <a:cs typeface="+mn-cs"/>
                        </a:rPr>
                        <a:t>选项显示文字</a:t>
                      </a:r>
                      <a:r>
                        <a:rPr kumimoji="1" lang="en-US" altLang="zh-CN" sz="2000" b="1" kern="1200" dirty="0">
                          <a:solidFill>
                            <a:schemeClr val="tx1"/>
                          </a:solidFill>
                          <a:latin typeface="Times New Roman" pitchFamily="18" charset="0"/>
                          <a:ea typeface="宋体" pitchFamily="2" charset="-122"/>
                          <a:cs typeface="+mn-cs"/>
                        </a:rPr>
                        <a:t>&lt;/option&gt;</a:t>
                      </a:r>
                    </a:p>
                    <a:p>
                      <a:pPr algn="l"/>
                      <a:r>
                        <a:rPr kumimoji="1" lang="en-US" altLang="zh-CN" sz="2000" b="1" kern="1200" dirty="0">
                          <a:solidFill>
                            <a:schemeClr val="tx1"/>
                          </a:solidFill>
                          <a:latin typeface="Times New Roman" pitchFamily="18" charset="0"/>
                          <a:ea typeface="宋体" pitchFamily="2" charset="-122"/>
                          <a:cs typeface="+mn-cs"/>
                        </a:rPr>
                        <a:t>        ……</a:t>
                      </a:r>
                    </a:p>
                    <a:p>
                      <a:pPr algn="l"/>
                      <a:r>
                        <a:rPr kumimoji="1" lang="en-US" altLang="zh-CN" sz="2000" b="1" kern="1200" dirty="0">
                          <a:solidFill>
                            <a:schemeClr val="tx1"/>
                          </a:solidFill>
                          <a:latin typeface="Times New Roman" pitchFamily="18" charset="0"/>
                          <a:ea typeface="宋体" pitchFamily="2" charset="-122"/>
                          <a:cs typeface="+mn-cs"/>
                        </a:rPr>
                        <a:t>      &lt;/</a:t>
                      </a:r>
                      <a:r>
                        <a:rPr kumimoji="1" lang="en-US" altLang="zh-CN" sz="2000" b="1" kern="1200" dirty="0" err="1">
                          <a:solidFill>
                            <a:schemeClr val="tx1"/>
                          </a:solidFill>
                          <a:latin typeface="Times New Roman" pitchFamily="18" charset="0"/>
                          <a:ea typeface="宋体" pitchFamily="2" charset="-122"/>
                          <a:cs typeface="+mn-cs"/>
                        </a:rPr>
                        <a:t>optgroup</a:t>
                      </a:r>
                      <a:r>
                        <a:rPr kumimoji="1" lang="en-US" altLang="zh-CN" sz="2000" b="1" kern="1200" dirty="0">
                          <a:solidFill>
                            <a:schemeClr val="tx1"/>
                          </a:solidFill>
                          <a:latin typeface="Times New Roman" pitchFamily="18" charset="0"/>
                          <a:ea typeface="宋体" pitchFamily="2" charset="-122"/>
                          <a:cs typeface="+mn-cs"/>
                        </a:rPr>
                        <a:t>&gt;</a:t>
                      </a:r>
                    </a:p>
                    <a:p>
                      <a:pPr algn="l"/>
                      <a:r>
                        <a:rPr kumimoji="1" lang="en-US" altLang="zh-CN" sz="2000" b="1" kern="1200" dirty="0">
                          <a:solidFill>
                            <a:schemeClr val="tx1"/>
                          </a:solidFill>
                          <a:latin typeface="Times New Roman" pitchFamily="18" charset="0"/>
                          <a:ea typeface="宋体" pitchFamily="2" charset="-122"/>
                          <a:cs typeface="+mn-cs"/>
                        </a:rPr>
                        <a:t>      ……</a:t>
                      </a:r>
                    </a:p>
                    <a:p>
                      <a:pPr algn="l"/>
                      <a:r>
                        <a:rPr kumimoji="1" lang="en-US" altLang="zh-CN" sz="2000" b="1" kern="1200" dirty="0">
                          <a:solidFill>
                            <a:schemeClr val="tx1"/>
                          </a:solidFill>
                          <a:latin typeface="Times New Roman" pitchFamily="18" charset="0"/>
                          <a:ea typeface="宋体" pitchFamily="2" charset="-122"/>
                          <a:cs typeface="+mn-cs"/>
                        </a:rPr>
                        <a:t> &lt;/select&gt;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3528919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&lt;select&gt;</a:t>
            </a:r>
            <a:r>
              <a:rPr lang="zh-CN" altLang="en-US" sz="2800" b="1" dirty="0">
                <a:solidFill>
                  <a:srgbClr val="0000FF"/>
                </a:solidFill>
                <a:latin typeface="+mn-ea"/>
                <a:ea typeface="+mn-ea"/>
              </a:rPr>
              <a:t>、</a:t>
            </a:r>
            <a:r>
              <a:rPr lang="en-US" altLang="zh-CN" sz="2800" b="1" dirty="0">
                <a:solidFill>
                  <a:srgbClr val="0000FF"/>
                </a:solidFill>
                <a:latin typeface="+mn-ea"/>
                <a:ea typeface="+mn-ea"/>
              </a:rPr>
              <a:t>&lt;option&gt;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optgroup</a:t>
            </a:r>
            <a:r>
              <a:rPr lang="en-US" altLang="zh-CN" sz="2800" b="1" dirty="0">
                <a:solidFill>
                  <a:srgbClr val="0000FF"/>
                </a:solidFill>
                <a:latin typeface="+mn-ea"/>
                <a:ea typeface="+mn-ea"/>
              </a:rPr>
              <a:t>&gt;</a:t>
            </a:r>
            <a:r>
              <a:rPr lang="zh-CN" altLang="en-US" sz="2800" b="1" dirty="0">
                <a:solidFill>
                  <a:srgbClr val="0000FF"/>
                </a:solidFill>
                <a:latin typeface="+mn-ea"/>
              </a:rPr>
              <a:t>、</a:t>
            </a:r>
            <a:r>
              <a:rPr lang="en-US" altLang="zh-CN" sz="2800" b="1" dirty="0">
                <a:solidFill>
                  <a:srgbClr val="0000FF"/>
                </a:solidFill>
                <a:latin typeface="+mn-ea"/>
              </a:rPr>
              <a:t>&lt;</a:t>
            </a:r>
            <a:r>
              <a:rPr lang="en-US" altLang="zh-CN" sz="2800" b="1" dirty="0" err="1">
                <a:solidFill>
                  <a:srgbClr val="0000FF"/>
                </a:solidFill>
                <a:latin typeface="+mn-ea"/>
              </a:rPr>
              <a:t>datalist</a:t>
            </a:r>
            <a:r>
              <a:rPr lang="en-US" altLang="zh-CN" sz="2800" b="1" dirty="0">
                <a:solidFill>
                  <a:srgbClr val="0000FF"/>
                </a:solidFill>
                <a:latin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2393604" cy="559769"/>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&lt;select&gt;</a:t>
            </a:r>
            <a:r>
              <a:rPr lang="zh-CN" altLang="en-US" sz="2400" b="1" dirty="0">
                <a:effectLst>
                  <a:outerShdw blurRad="38100" dist="38100" dir="2700000" algn="tl">
                    <a:srgbClr val="000000">
                      <a:alpha val="43137"/>
                    </a:srgbClr>
                  </a:outerShdw>
                </a:effectLst>
                <a:latin typeface="+mn-ea"/>
                <a:ea typeface="+mn-ea"/>
              </a:rPr>
              <a:t>方式</a:t>
            </a:r>
          </a:p>
        </p:txBody>
      </p:sp>
      <p:graphicFrame>
        <p:nvGraphicFramePr>
          <p:cNvPr id="3" name="表格 2">
            <a:extLst>
              <a:ext uri="{FF2B5EF4-FFF2-40B4-BE49-F238E27FC236}">
                <a16:creationId xmlns:a16="http://schemas.microsoft.com/office/drawing/2014/main" id="{8C73607B-F712-4BFE-98DB-0AA8DCD636ED}"/>
              </a:ext>
            </a:extLst>
          </p:cNvPr>
          <p:cNvGraphicFramePr>
            <a:graphicFrameLocks noGrp="1"/>
          </p:cNvGraphicFramePr>
          <p:nvPr>
            <p:extLst>
              <p:ext uri="{D42A27DB-BD31-4B8C-83A1-F6EECF244321}">
                <p14:modId xmlns:p14="http://schemas.microsoft.com/office/powerpoint/2010/main" val="1911629616"/>
              </p:ext>
            </p:extLst>
          </p:nvPr>
        </p:nvGraphicFramePr>
        <p:xfrm>
          <a:off x="1038342" y="2834035"/>
          <a:ext cx="10543116" cy="3466557"/>
        </p:xfrm>
        <a:graphic>
          <a:graphicData uri="http://schemas.openxmlformats.org/drawingml/2006/table">
            <a:tbl>
              <a:tblPr firstRow="1" firstCol="1" bandRow="1"/>
              <a:tblGrid>
                <a:gridCol w="1798656">
                  <a:extLst>
                    <a:ext uri="{9D8B030D-6E8A-4147-A177-3AD203B41FA5}">
                      <a16:colId xmlns:a16="http://schemas.microsoft.com/office/drawing/2014/main" val="3489251036"/>
                    </a:ext>
                  </a:extLst>
                </a:gridCol>
                <a:gridCol w="598849">
                  <a:extLst>
                    <a:ext uri="{9D8B030D-6E8A-4147-A177-3AD203B41FA5}">
                      <a16:colId xmlns:a16="http://schemas.microsoft.com/office/drawing/2014/main" val="1955886579"/>
                    </a:ext>
                  </a:extLst>
                </a:gridCol>
                <a:gridCol w="8145611">
                  <a:extLst>
                    <a:ext uri="{9D8B030D-6E8A-4147-A177-3AD203B41FA5}">
                      <a16:colId xmlns:a16="http://schemas.microsoft.com/office/drawing/2014/main" val="2329423707"/>
                    </a:ext>
                  </a:extLst>
                </a:gridCol>
              </a:tblGrid>
              <a:tr h="385173">
                <a:tc>
                  <a:txBody>
                    <a:bodyPr/>
                    <a:lstStyle/>
                    <a:p>
                      <a:pPr algn="just">
                        <a:spcAft>
                          <a:spcPts val="0"/>
                        </a:spcAft>
                      </a:pPr>
                      <a:r>
                        <a:rPr lang="zh-CN" sz="1800" b="1" kern="0">
                          <a:effectLst/>
                          <a:latin typeface="+mn-ea"/>
                          <a:ea typeface="+mn-ea"/>
                          <a:cs typeface="Times New Roman" panose="02020603050405020304" pitchFamily="18" charset="0"/>
                        </a:rPr>
                        <a:t>属性名称</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1800" b="1" kern="0">
                          <a:effectLst/>
                          <a:latin typeface="+mn-ea"/>
                          <a:ea typeface="+mn-ea"/>
                          <a:cs typeface="Times New Roman" panose="02020603050405020304" pitchFamily="18" charset="0"/>
                        </a:rPr>
                        <a:t> </a:t>
                      </a:r>
                      <a:endParaRPr lang="zh-CN" sz="1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mn-ea"/>
                          <a:ea typeface="+mn-ea"/>
                          <a:cs typeface="Times New Roman" panose="02020603050405020304" pitchFamily="18" charset="0"/>
                        </a:rPr>
                        <a:t>说明</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670804612"/>
                  </a:ext>
                </a:extLst>
              </a:tr>
              <a:tr h="385173">
                <a:tc>
                  <a:txBody>
                    <a:bodyPr/>
                    <a:lstStyle/>
                    <a:p>
                      <a:pPr algn="just">
                        <a:spcAft>
                          <a:spcPts val="0"/>
                        </a:spcAft>
                      </a:pPr>
                      <a:r>
                        <a:rPr lang="en-US" sz="1800" kern="0" dirty="0">
                          <a:solidFill>
                            <a:schemeClr val="accent2"/>
                          </a:solidFill>
                          <a:effectLst/>
                          <a:latin typeface="+mn-ea"/>
                          <a:ea typeface="+mn-ea"/>
                          <a:cs typeface="Times New Roman" panose="02020603050405020304" pitchFamily="18" charset="0"/>
                        </a:rPr>
                        <a:t>name</a:t>
                      </a:r>
                      <a:endParaRPr lang="zh-CN" sz="1800" kern="100" dirty="0">
                        <a:solidFill>
                          <a:schemeClr val="accent2"/>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mn-ea"/>
                          <a:ea typeface="+mn-ea"/>
                          <a:cs typeface="Times New Roman" panose="02020603050405020304" pitchFamily="18" charset="0"/>
                        </a:rPr>
                        <a:t> </a:t>
                      </a:r>
                      <a:endParaRPr lang="zh-CN" sz="1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mn-ea"/>
                          <a:ea typeface="+mn-ea"/>
                          <a:cs typeface="Times New Roman" panose="02020603050405020304" pitchFamily="18" charset="0"/>
                        </a:rPr>
                        <a:t>表单控件名称，提交表单时以名字</a:t>
                      </a:r>
                      <a:r>
                        <a:rPr lang="en-US" sz="1800" kern="0">
                          <a:effectLst/>
                          <a:latin typeface="+mn-ea"/>
                          <a:ea typeface="+mn-ea"/>
                          <a:cs typeface="Times New Roman" panose="02020603050405020304" pitchFamily="18" charset="0"/>
                        </a:rPr>
                        <a:t>/</a:t>
                      </a:r>
                      <a:r>
                        <a:rPr lang="zh-CN" sz="1800" kern="0">
                          <a:effectLst/>
                          <a:latin typeface="+mn-ea"/>
                          <a:ea typeface="+mn-ea"/>
                          <a:cs typeface="Times New Roman" panose="02020603050405020304" pitchFamily="18" charset="0"/>
                        </a:rPr>
                        <a:t>值对的形式提交</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1487442"/>
                  </a:ext>
                </a:extLst>
              </a:tr>
              <a:tr h="385173">
                <a:tc>
                  <a:txBody>
                    <a:bodyPr/>
                    <a:lstStyle/>
                    <a:p>
                      <a:pPr algn="just">
                        <a:spcAft>
                          <a:spcPts val="0"/>
                        </a:spcAft>
                      </a:pPr>
                      <a:r>
                        <a:rPr lang="en-US" sz="1800" kern="0">
                          <a:effectLst/>
                          <a:latin typeface="+mn-ea"/>
                          <a:ea typeface="+mn-ea"/>
                          <a:cs typeface="Times New Roman" panose="02020603050405020304" pitchFamily="18" charset="0"/>
                        </a:rPr>
                        <a:t>disabled</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mn-ea"/>
                          <a:ea typeface="+mn-ea"/>
                          <a:cs typeface="Times New Roman" panose="02020603050405020304" pitchFamily="18" charset="0"/>
                        </a:rPr>
                        <a:t> </a:t>
                      </a:r>
                      <a:endParaRPr lang="zh-CN" sz="1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mn-ea"/>
                          <a:ea typeface="+mn-ea"/>
                          <a:cs typeface="Times New Roman" panose="02020603050405020304" pitchFamily="18" charset="0"/>
                        </a:rPr>
                        <a:t>表单控件是否被禁用</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7365055"/>
                  </a:ext>
                </a:extLst>
              </a:tr>
              <a:tr h="385173">
                <a:tc>
                  <a:txBody>
                    <a:bodyPr/>
                    <a:lstStyle/>
                    <a:p>
                      <a:pPr algn="just">
                        <a:spcAft>
                          <a:spcPts val="0"/>
                        </a:spcAft>
                      </a:pPr>
                      <a:r>
                        <a:rPr lang="en-US" sz="1800" b="1" kern="0" dirty="0">
                          <a:solidFill>
                            <a:schemeClr val="accent2"/>
                          </a:solidFill>
                          <a:effectLst/>
                          <a:latin typeface="+mn-ea"/>
                          <a:ea typeface="+mn-ea"/>
                          <a:cs typeface="Times New Roman" panose="02020603050405020304" pitchFamily="18" charset="0"/>
                        </a:rPr>
                        <a:t>multiple</a:t>
                      </a:r>
                      <a:endParaRPr lang="zh-CN" sz="1800" b="1" kern="100" dirty="0">
                        <a:solidFill>
                          <a:schemeClr val="accent2"/>
                        </a:solidFill>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mn-ea"/>
                          <a:ea typeface="+mn-ea"/>
                          <a:cs typeface="Times New Roman" panose="02020603050405020304" pitchFamily="18" charset="0"/>
                        </a:rPr>
                        <a:t> </a:t>
                      </a:r>
                      <a:endParaRPr lang="zh-CN" sz="1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mn-ea"/>
                          <a:ea typeface="+mn-ea"/>
                          <a:cs typeface="Times New Roman" panose="02020603050405020304" pitchFamily="18" charset="0"/>
                        </a:rPr>
                        <a:t>启用多选。设置多选后控件会变为一个可以滚动的列表框</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7204625"/>
                  </a:ext>
                </a:extLst>
              </a:tr>
              <a:tr h="385173">
                <a:tc>
                  <a:txBody>
                    <a:bodyPr/>
                    <a:lstStyle/>
                    <a:p>
                      <a:pPr algn="just">
                        <a:spcAft>
                          <a:spcPts val="0"/>
                        </a:spcAft>
                      </a:pPr>
                      <a:r>
                        <a:rPr lang="en-US" sz="1800" kern="0" dirty="0">
                          <a:effectLst/>
                          <a:latin typeface="+mn-ea"/>
                          <a:ea typeface="+mn-ea"/>
                          <a:cs typeface="Times New Roman" panose="02020603050405020304" pitchFamily="18" charset="0"/>
                        </a:rPr>
                        <a:t>size</a:t>
                      </a:r>
                      <a:endParaRPr lang="zh-CN" sz="1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mn-ea"/>
                          <a:ea typeface="+mn-ea"/>
                          <a:cs typeface="Times New Roman" panose="02020603050405020304" pitchFamily="18" charset="0"/>
                        </a:rPr>
                        <a:t> </a:t>
                      </a:r>
                      <a:endParaRPr lang="zh-CN" sz="1800" kern="10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mn-ea"/>
                          <a:ea typeface="+mn-ea"/>
                          <a:cs typeface="Times New Roman" panose="02020603050405020304" pitchFamily="18" charset="0"/>
                        </a:rPr>
                        <a:t>设置可见行数，控件变为一个可以滚动的列表框，通常配合</a:t>
                      </a:r>
                      <a:r>
                        <a:rPr lang="en-US" sz="1800" kern="0">
                          <a:effectLst/>
                          <a:latin typeface="+mn-ea"/>
                          <a:ea typeface="+mn-ea"/>
                          <a:cs typeface="Times New Roman" panose="02020603050405020304" pitchFamily="18" charset="0"/>
                        </a:rPr>
                        <a:t>multiple</a:t>
                      </a:r>
                      <a:r>
                        <a:rPr lang="zh-CN" sz="1800" kern="0">
                          <a:effectLst/>
                          <a:latin typeface="+mn-ea"/>
                          <a:ea typeface="+mn-ea"/>
                          <a:cs typeface="Times New Roman" panose="02020603050405020304" pitchFamily="18" charset="0"/>
                        </a:rPr>
                        <a:t>使用</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0919328"/>
                  </a:ext>
                </a:extLst>
              </a:tr>
              <a:tr h="385173">
                <a:tc>
                  <a:txBody>
                    <a:bodyPr/>
                    <a:lstStyle/>
                    <a:p>
                      <a:pPr algn="just">
                        <a:spcAft>
                          <a:spcPts val="0"/>
                        </a:spcAft>
                      </a:pPr>
                      <a:r>
                        <a:rPr lang="en-US" sz="1800" kern="0">
                          <a:effectLst/>
                          <a:latin typeface="+mn-ea"/>
                          <a:ea typeface="+mn-ea"/>
                          <a:cs typeface="Times New Roman" panose="02020603050405020304" pitchFamily="18" charset="0"/>
                        </a:rPr>
                        <a:t>form</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dirty="0">
                        <a:effectLst/>
                        <a:latin typeface="+mn-ea"/>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mn-ea"/>
                          <a:ea typeface="+mn-ea"/>
                          <a:cs typeface="Times New Roman" panose="02020603050405020304" pitchFamily="18" charset="0"/>
                        </a:rPr>
                        <a:t>将控件和一个</a:t>
                      </a:r>
                      <a:r>
                        <a:rPr lang="en-US" sz="1800" kern="0" dirty="0">
                          <a:effectLst/>
                          <a:latin typeface="+mn-ea"/>
                          <a:ea typeface="+mn-ea"/>
                          <a:cs typeface="Times New Roman" panose="02020603050405020304" pitchFamily="18" charset="0"/>
                        </a:rPr>
                        <a:t>form</a:t>
                      </a:r>
                      <a:r>
                        <a:rPr lang="zh-CN" sz="1800" kern="0" dirty="0">
                          <a:effectLst/>
                          <a:latin typeface="+mn-ea"/>
                          <a:ea typeface="+mn-ea"/>
                          <a:cs typeface="Times New Roman" panose="02020603050405020304" pitchFamily="18" charset="0"/>
                        </a:rPr>
                        <a:t>元素联系在一起</a:t>
                      </a:r>
                      <a:endParaRPr lang="zh-CN" sz="1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2418342"/>
                  </a:ext>
                </a:extLst>
              </a:tr>
              <a:tr h="385173">
                <a:tc>
                  <a:txBody>
                    <a:bodyPr/>
                    <a:lstStyle/>
                    <a:p>
                      <a:pPr algn="just">
                        <a:spcAft>
                          <a:spcPts val="0"/>
                        </a:spcAft>
                      </a:pPr>
                      <a:r>
                        <a:rPr lang="en-US" sz="1800" kern="0">
                          <a:effectLst/>
                          <a:latin typeface="+mn-ea"/>
                          <a:ea typeface="+mn-ea"/>
                          <a:cs typeface="Times New Roman" panose="02020603050405020304" pitchFamily="18" charset="0"/>
                        </a:rPr>
                        <a:t>autocomplete</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mn-ea"/>
                          <a:ea typeface="+mn-ea"/>
                          <a:cs typeface="Times New Roman" panose="02020603050405020304" pitchFamily="18" charset="0"/>
                        </a:rPr>
                        <a:t>是否使用浏览器的记忆功能自动填充文本，</a:t>
                      </a:r>
                      <a:r>
                        <a:rPr lang="en-US" sz="1800" kern="0" dirty="0">
                          <a:effectLst/>
                          <a:latin typeface="+mn-ea"/>
                          <a:ea typeface="+mn-ea"/>
                          <a:cs typeface="Times New Roman" panose="02020603050405020304" pitchFamily="18" charset="0"/>
                        </a:rPr>
                        <a:t>on</a:t>
                      </a:r>
                      <a:r>
                        <a:rPr lang="zh-CN" sz="1800" kern="0" dirty="0">
                          <a:effectLst/>
                          <a:latin typeface="+mn-ea"/>
                          <a:ea typeface="+mn-ea"/>
                          <a:cs typeface="Times New Roman" panose="02020603050405020304" pitchFamily="18" charset="0"/>
                        </a:rPr>
                        <a:t>或</a:t>
                      </a:r>
                      <a:r>
                        <a:rPr lang="en-US" sz="1800" kern="0" dirty="0">
                          <a:effectLst/>
                          <a:latin typeface="+mn-ea"/>
                          <a:ea typeface="+mn-ea"/>
                          <a:cs typeface="Times New Roman" panose="02020603050405020304" pitchFamily="18" charset="0"/>
                        </a:rPr>
                        <a:t>off</a:t>
                      </a:r>
                      <a:endParaRPr lang="zh-CN" sz="1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1316594"/>
                  </a:ext>
                </a:extLst>
              </a:tr>
              <a:tr h="385173">
                <a:tc>
                  <a:txBody>
                    <a:bodyPr/>
                    <a:lstStyle/>
                    <a:p>
                      <a:pPr algn="just">
                        <a:spcAft>
                          <a:spcPts val="0"/>
                        </a:spcAft>
                      </a:pPr>
                      <a:r>
                        <a:rPr lang="en-US" sz="1800" kern="0">
                          <a:effectLst/>
                          <a:latin typeface="+mn-ea"/>
                          <a:ea typeface="+mn-ea"/>
                          <a:cs typeface="Times New Roman" panose="02020603050405020304" pitchFamily="18" charset="0"/>
                        </a:rPr>
                        <a:t>autofocus</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mn-ea"/>
                          <a:ea typeface="+mn-ea"/>
                          <a:cs typeface="Times New Roman" panose="02020603050405020304" pitchFamily="18" charset="0"/>
                        </a:rPr>
                        <a:t>规定在页面加载后文本区域自动获得焦点</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8469708"/>
                  </a:ext>
                </a:extLst>
              </a:tr>
              <a:tr h="385173">
                <a:tc>
                  <a:txBody>
                    <a:bodyPr/>
                    <a:lstStyle/>
                    <a:p>
                      <a:pPr algn="just">
                        <a:spcAft>
                          <a:spcPts val="0"/>
                        </a:spcAft>
                      </a:pPr>
                      <a:r>
                        <a:rPr lang="en-US" sz="1800" kern="0">
                          <a:effectLst/>
                          <a:latin typeface="+mn-ea"/>
                          <a:ea typeface="+mn-ea"/>
                          <a:cs typeface="Times New Roman" panose="02020603050405020304" pitchFamily="18" charset="0"/>
                        </a:rPr>
                        <a:t>required</a:t>
                      </a:r>
                      <a:endParaRPr lang="zh-CN" sz="1800" kern="10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mn-ea"/>
                        <a:ea typeface="+mn-ea"/>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mn-ea"/>
                          <a:ea typeface="+mn-ea"/>
                          <a:cs typeface="Times New Roman" panose="02020603050405020304" pitchFamily="18" charset="0"/>
                        </a:rPr>
                        <a:t>存在此属性表示必填或者提交表单前须校验</a:t>
                      </a:r>
                      <a:endParaRPr lang="zh-CN" sz="18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0366112"/>
                  </a:ext>
                </a:extLst>
              </a:tr>
            </a:tbl>
          </a:graphicData>
        </a:graphic>
      </p:graphicFrame>
      <p:pic>
        <p:nvPicPr>
          <p:cNvPr id="2052" name="图片 171" descr="https://www.w3school.com.cn/i/html5_new_note.png">
            <a:extLst>
              <a:ext uri="{FF2B5EF4-FFF2-40B4-BE49-F238E27FC236}">
                <a16:creationId xmlns:a16="http://schemas.microsoft.com/office/drawing/2014/main" id="{ECD24B58-9208-463B-9D89-4E3FDF272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312" y="5172464"/>
            <a:ext cx="314698" cy="328690"/>
          </a:xfrm>
          <a:prstGeom prst="rect">
            <a:avLst/>
          </a:prstGeom>
          <a:noFill/>
          <a:extLst>
            <a:ext uri="{909E8E84-426E-40DD-AFC4-6F175D3DCCD1}">
              <a14:hiddenFill xmlns:a14="http://schemas.microsoft.com/office/drawing/2010/main">
                <a:solidFill>
                  <a:srgbClr val="FFFFFF"/>
                </a:solidFill>
              </a14:hiddenFill>
            </a:ext>
          </a:extLst>
        </p:spPr>
      </p:pic>
      <p:pic>
        <p:nvPicPr>
          <p:cNvPr id="2051" name="图片 172" descr="https://www.w3school.com.cn/i/html5_new_note.png">
            <a:extLst>
              <a:ext uri="{FF2B5EF4-FFF2-40B4-BE49-F238E27FC236}">
                <a16:creationId xmlns:a16="http://schemas.microsoft.com/office/drawing/2014/main" id="{899A4140-F1AD-414A-B9F4-46748C6D7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312" y="5556507"/>
            <a:ext cx="314698" cy="328690"/>
          </a:xfrm>
          <a:prstGeom prst="rect">
            <a:avLst/>
          </a:prstGeom>
          <a:noFill/>
          <a:extLst>
            <a:ext uri="{909E8E84-426E-40DD-AFC4-6F175D3DCCD1}">
              <a14:hiddenFill xmlns:a14="http://schemas.microsoft.com/office/drawing/2010/main">
                <a:solidFill>
                  <a:srgbClr val="FFFFFF"/>
                </a:solidFill>
              </a14:hiddenFill>
            </a:ext>
          </a:extLst>
        </p:spPr>
      </p:pic>
      <p:pic>
        <p:nvPicPr>
          <p:cNvPr id="2050" name="图片 173" descr="https://www.w3school.com.cn/i/html5_new_note.png">
            <a:extLst>
              <a:ext uri="{FF2B5EF4-FFF2-40B4-BE49-F238E27FC236}">
                <a16:creationId xmlns:a16="http://schemas.microsoft.com/office/drawing/2014/main" id="{FBF01413-1770-4959-BD53-CCD1A9F71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312" y="5940549"/>
            <a:ext cx="314698" cy="328690"/>
          </a:xfrm>
          <a:prstGeom prst="rect">
            <a:avLst/>
          </a:prstGeom>
          <a:noFill/>
          <a:extLst>
            <a:ext uri="{909E8E84-426E-40DD-AFC4-6F175D3DCCD1}">
              <a14:hiddenFill xmlns:a14="http://schemas.microsoft.com/office/drawing/2010/main">
                <a:solidFill>
                  <a:srgbClr val="FFFFFF"/>
                </a:solidFill>
              </a14:hiddenFill>
            </a:ext>
          </a:extLst>
        </p:spPr>
      </p:pic>
      <p:pic>
        <p:nvPicPr>
          <p:cNvPr id="2049" name="图片 174" descr="https://www.w3school.com.cn/i/html5_new_note.png">
            <a:extLst>
              <a:ext uri="{FF2B5EF4-FFF2-40B4-BE49-F238E27FC236}">
                <a16:creationId xmlns:a16="http://schemas.microsoft.com/office/drawing/2014/main" id="{5565F107-1CFA-44DB-9074-1FA127B36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4312" y="4788421"/>
            <a:ext cx="314698" cy="32869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5D18A875-2C11-4C5C-8428-F7CC93D2AF80}"/>
              </a:ext>
            </a:extLst>
          </p:cNvPr>
          <p:cNvSpPr/>
          <p:nvPr/>
        </p:nvSpPr>
        <p:spPr>
          <a:xfrm>
            <a:off x="5287280" y="2285498"/>
            <a:ext cx="1585690" cy="442878"/>
          </a:xfrm>
          <a:prstGeom prst="rect">
            <a:avLst/>
          </a:prstGeom>
        </p:spPr>
        <p:txBody>
          <a:bodyPr wrap="none">
            <a:spAutoFit/>
          </a:bodyPr>
          <a:lstStyle/>
          <a:p>
            <a:pPr>
              <a:lnSpc>
                <a:spcPct val="150000"/>
              </a:lnSpc>
              <a:buClr>
                <a:schemeClr val="accent6"/>
              </a:buClr>
            </a:pPr>
            <a:r>
              <a:rPr lang="en-US" altLang="zh-CN" b="1" dirty="0">
                <a:effectLst>
                  <a:outerShdw blurRad="38100" dist="38100" dir="2700000" algn="tl">
                    <a:srgbClr val="000000">
                      <a:alpha val="43137"/>
                    </a:srgbClr>
                  </a:outerShdw>
                </a:effectLst>
                <a:latin typeface="+mn-ea"/>
              </a:rPr>
              <a:t>&lt;select&gt;</a:t>
            </a:r>
            <a:r>
              <a:rPr lang="zh-CN" altLang="en-US" b="1" dirty="0">
                <a:effectLst>
                  <a:outerShdw blurRad="38100" dist="38100" dir="2700000" algn="tl">
                    <a:srgbClr val="000000">
                      <a:alpha val="43137"/>
                    </a:srgbClr>
                  </a:outerShdw>
                </a:effectLst>
                <a:latin typeface="+mn-ea"/>
              </a:rPr>
              <a:t>属性</a:t>
            </a:r>
          </a:p>
        </p:txBody>
      </p:sp>
    </p:spTree>
    <p:extLst>
      <p:ext uri="{BB962C8B-B14F-4D97-AF65-F5344CB8AC3E}">
        <p14:creationId xmlns:p14="http://schemas.microsoft.com/office/powerpoint/2010/main" val="245949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&lt;select&gt;</a:t>
            </a:r>
            <a:r>
              <a:rPr lang="zh-CN" altLang="en-US" sz="2800" b="1" dirty="0">
                <a:solidFill>
                  <a:srgbClr val="0000FF"/>
                </a:solidFill>
                <a:latin typeface="+mn-ea"/>
                <a:ea typeface="+mn-ea"/>
              </a:rPr>
              <a:t>、</a:t>
            </a:r>
            <a:r>
              <a:rPr lang="en-US" altLang="zh-CN" sz="2800" b="1" dirty="0">
                <a:solidFill>
                  <a:srgbClr val="0000FF"/>
                </a:solidFill>
                <a:latin typeface="+mn-ea"/>
                <a:ea typeface="+mn-ea"/>
              </a:rPr>
              <a:t>&lt;option&gt;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optgroup</a:t>
            </a:r>
            <a:r>
              <a:rPr lang="en-US" altLang="zh-CN" sz="2800" b="1" dirty="0">
                <a:solidFill>
                  <a:srgbClr val="0000FF"/>
                </a:solidFill>
                <a:latin typeface="+mn-ea"/>
                <a:ea typeface="+mn-ea"/>
              </a:rPr>
              <a:t>&gt;</a:t>
            </a:r>
            <a:r>
              <a:rPr lang="zh-CN" altLang="en-US" sz="2800" b="1" dirty="0">
                <a:solidFill>
                  <a:srgbClr val="0000FF"/>
                </a:solidFill>
                <a:latin typeface="+mn-ea"/>
              </a:rPr>
              <a:t>、</a:t>
            </a:r>
            <a:r>
              <a:rPr lang="en-US" altLang="zh-CN" sz="2800" b="1" dirty="0">
                <a:solidFill>
                  <a:srgbClr val="0000FF"/>
                </a:solidFill>
                <a:latin typeface="+mn-ea"/>
              </a:rPr>
              <a:t>&lt;</a:t>
            </a:r>
            <a:r>
              <a:rPr lang="en-US" altLang="zh-CN" sz="2800" b="1" dirty="0" err="1">
                <a:solidFill>
                  <a:srgbClr val="0000FF"/>
                </a:solidFill>
                <a:latin typeface="+mn-ea"/>
              </a:rPr>
              <a:t>datalist</a:t>
            </a:r>
            <a:r>
              <a:rPr lang="en-US" altLang="zh-CN" sz="2800" b="1" dirty="0">
                <a:solidFill>
                  <a:srgbClr val="0000FF"/>
                </a:solidFill>
                <a:latin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2393604" cy="559769"/>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&lt;select&gt;</a:t>
            </a:r>
            <a:r>
              <a:rPr lang="zh-CN" altLang="en-US" sz="2400" b="1" dirty="0">
                <a:effectLst>
                  <a:outerShdw blurRad="38100" dist="38100" dir="2700000" algn="tl">
                    <a:srgbClr val="000000">
                      <a:alpha val="43137"/>
                    </a:srgbClr>
                  </a:outerShdw>
                </a:effectLst>
                <a:latin typeface="+mn-ea"/>
                <a:ea typeface="+mn-ea"/>
              </a:rPr>
              <a:t>方式</a:t>
            </a:r>
          </a:p>
        </p:txBody>
      </p:sp>
      <p:graphicFrame>
        <p:nvGraphicFramePr>
          <p:cNvPr id="9" name="表格 8">
            <a:extLst>
              <a:ext uri="{FF2B5EF4-FFF2-40B4-BE49-F238E27FC236}">
                <a16:creationId xmlns:a16="http://schemas.microsoft.com/office/drawing/2014/main" id="{94580C77-0564-4381-8F17-DD1CA44E5D44}"/>
              </a:ext>
            </a:extLst>
          </p:cNvPr>
          <p:cNvGraphicFramePr>
            <a:graphicFrameLocks noGrp="1"/>
          </p:cNvGraphicFramePr>
          <p:nvPr>
            <p:extLst>
              <p:ext uri="{D42A27DB-BD31-4B8C-83A1-F6EECF244321}">
                <p14:modId xmlns:p14="http://schemas.microsoft.com/office/powerpoint/2010/main" val="773315448"/>
              </p:ext>
            </p:extLst>
          </p:nvPr>
        </p:nvGraphicFramePr>
        <p:xfrm>
          <a:off x="810695" y="2804314"/>
          <a:ext cx="10538860" cy="1844180"/>
        </p:xfrm>
        <a:graphic>
          <a:graphicData uri="http://schemas.openxmlformats.org/drawingml/2006/table">
            <a:tbl>
              <a:tblPr firstRow="1" firstCol="1" bandRow="1"/>
              <a:tblGrid>
                <a:gridCol w="2358597">
                  <a:extLst>
                    <a:ext uri="{9D8B030D-6E8A-4147-A177-3AD203B41FA5}">
                      <a16:colId xmlns:a16="http://schemas.microsoft.com/office/drawing/2014/main" val="3808295135"/>
                    </a:ext>
                  </a:extLst>
                </a:gridCol>
                <a:gridCol w="8180263">
                  <a:extLst>
                    <a:ext uri="{9D8B030D-6E8A-4147-A177-3AD203B41FA5}">
                      <a16:colId xmlns:a16="http://schemas.microsoft.com/office/drawing/2014/main" val="4165541081"/>
                    </a:ext>
                  </a:extLst>
                </a:gridCol>
              </a:tblGrid>
              <a:tr h="368836">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284845933"/>
                  </a:ext>
                </a:extLst>
              </a:tr>
              <a:tr h="368836">
                <a:tc>
                  <a:txBody>
                    <a:bodyPr/>
                    <a:lstStyle/>
                    <a:p>
                      <a:pPr algn="just">
                        <a:spcAft>
                          <a:spcPts val="0"/>
                        </a:spcAft>
                      </a:pPr>
                      <a:r>
                        <a:rPr lang="en-US" sz="2000" kern="0" dirty="0">
                          <a:effectLst/>
                          <a:latin typeface="宋体" panose="02010600030101010101" pitchFamily="2" charset="-122"/>
                          <a:ea typeface="宋体" panose="02010600030101010101" pitchFamily="2" charset="-122"/>
                          <a:cs typeface="Times New Roman" panose="02020603050405020304" pitchFamily="18" charset="0"/>
                        </a:rPr>
                        <a:t>disabled</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选项是否被禁用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2557364"/>
                  </a:ext>
                </a:extLst>
              </a:tr>
              <a:tr h="368836">
                <a:tc>
                  <a:txBody>
                    <a:bodyPr/>
                    <a:lstStyle/>
                    <a:p>
                      <a:pPr algn="just">
                        <a:spcAft>
                          <a:spcPts val="0"/>
                        </a:spcAft>
                      </a:pPr>
                      <a:r>
                        <a:rPr lang="en-US" sz="2000" kern="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rPr>
                        <a:t>label</a:t>
                      </a:r>
                      <a:endParaRPr lang="zh-CN" sz="2000" kern="100" dirty="0">
                        <a:solidFill>
                          <a:srgbClr val="0432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选项组的名字，菜单中将会显示设置的文字，必须设置这个属性</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267043"/>
                  </a:ext>
                </a:extLst>
              </a:tr>
              <a:tr h="368836">
                <a:tc>
                  <a:txBody>
                    <a:bodyPr/>
                    <a:lstStyle/>
                    <a:p>
                      <a:pPr algn="just">
                        <a:spcAft>
                          <a:spcPts val="0"/>
                        </a:spcAft>
                      </a:pPr>
                      <a:r>
                        <a:rPr lang="en-US" sz="2000" b="1" kern="0" dirty="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selected</a:t>
                      </a:r>
                      <a:endParaRPr lang="zh-CN" sz="2000" b="1" kern="100" dirty="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选项是否</a:t>
                      </a:r>
                      <a:r>
                        <a:rPr lang="zh-CN" altLang="en-US" sz="2000" kern="0">
                          <a:effectLst/>
                          <a:latin typeface="Calibri" panose="020F0502020204030204" pitchFamily="34" charset="0"/>
                          <a:ea typeface="宋体" panose="02010600030101010101" pitchFamily="2" charset="-122"/>
                          <a:cs typeface="Times New Roman" panose="02020603050405020304" pitchFamily="18" charset="0"/>
                        </a:rPr>
                        <a:t>初始时</a:t>
                      </a:r>
                      <a:r>
                        <a:rPr lang="zh-CN" sz="2000" kern="0">
                          <a:effectLst/>
                          <a:latin typeface="Calibri" panose="020F0502020204030204" pitchFamily="34" charset="0"/>
                          <a:ea typeface="宋体" panose="02010600030101010101" pitchFamily="2" charset="-122"/>
                          <a:cs typeface="Times New Roman" panose="02020603050405020304" pitchFamily="18" charset="0"/>
                        </a:rPr>
                        <a:t>就</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被选中，如设置</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multiple</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则可以有多个选项设置该属性</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5484570"/>
                  </a:ext>
                </a:extLst>
              </a:tr>
              <a:tr h="368836">
                <a:tc>
                  <a:txBody>
                    <a:bodyPr/>
                    <a:lstStyle/>
                    <a:p>
                      <a:pPr algn="just">
                        <a:spcAft>
                          <a:spcPts val="0"/>
                        </a:spcAft>
                      </a:pPr>
                      <a:r>
                        <a:rPr lang="en-US" sz="2000" b="1" kern="0" dirty="0">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value</a:t>
                      </a:r>
                      <a:endParaRPr lang="zh-CN" sz="2000" b="1" kern="100" dirty="0">
                        <a:solidFill>
                          <a:schemeClr val="accent2"/>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选项被选中时提交给表单的值，如果不设置则元素内的文本将被提交</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7730203"/>
                  </a:ext>
                </a:extLst>
              </a:tr>
            </a:tbl>
          </a:graphicData>
        </a:graphic>
      </p:graphicFrame>
      <p:graphicFrame>
        <p:nvGraphicFramePr>
          <p:cNvPr id="10" name="表格 9">
            <a:extLst>
              <a:ext uri="{FF2B5EF4-FFF2-40B4-BE49-F238E27FC236}">
                <a16:creationId xmlns:a16="http://schemas.microsoft.com/office/drawing/2014/main" id="{43C4A5DA-4469-4351-9BAD-01909EDE1372}"/>
              </a:ext>
            </a:extLst>
          </p:cNvPr>
          <p:cNvGraphicFramePr>
            <a:graphicFrameLocks noGrp="1"/>
          </p:cNvGraphicFramePr>
          <p:nvPr>
            <p:extLst>
              <p:ext uri="{D42A27DB-BD31-4B8C-83A1-F6EECF244321}">
                <p14:modId xmlns:p14="http://schemas.microsoft.com/office/powerpoint/2010/main" val="770174826"/>
              </p:ext>
            </p:extLst>
          </p:nvPr>
        </p:nvGraphicFramePr>
        <p:xfrm>
          <a:off x="810696" y="5330884"/>
          <a:ext cx="10538859" cy="1178037"/>
        </p:xfrm>
        <a:graphic>
          <a:graphicData uri="http://schemas.openxmlformats.org/drawingml/2006/table">
            <a:tbl>
              <a:tblPr firstRow="1" firstCol="1" bandRow="1"/>
              <a:tblGrid>
                <a:gridCol w="2356489">
                  <a:extLst>
                    <a:ext uri="{9D8B030D-6E8A-4147-A177-3AD203B41FA5}">
                      <a16:colId xmlns:a16="http://schemas.microsoft.com/office/drawing/2014/main" val="1009579266"/>
                    </a:ext>
                  </a:extLst>
                </a:gridCol>
                <a:gridCol w="8182370">
                  <a:extLst>
                    <a:ext uri="{9D8B030D-6E8A-4147-A177-3AD203B41FA5}">
                      <a16:colId xmlns:a16="http://schemas.microsoft.com/office/drawing/2014/main" val="2814332632"/>
                    </a:ext>
                  </a:extLst>
                </a:gridCol>
              </a:tblGrid>
              <a:tr h="392679">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87626331"/>
                  </a:ext>
                </a:extLst>
              </a:tr>
              <a:tr h="392679">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disabled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分组下的所有选项是否被禁用</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375253"/>
                  </a:ext>
                </a:extLst>
              </a:tr>
              <a:tr h="392679">
                <a:tc>
                  <a:txBody>
                    <a:bodyPr/>
                    <a:lstStyle/>
                    <a:p>
                      <a:pPr algn="just">
                        <a:spcAft>
                          <a:spcPts val="0"/>
                        </a:spcAft>
                      </a:pPr>
                      <a:r>
                        <a:rPr lang="en-US" sz="2000" kern="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rPr>
                        <a:t>label</a:t>
                      </a:r>
                      <a:endParaRPr lang="zh-CN" sz="2000" kern="100" dirty="0">
                        <a:solidFill>
                          <a:srgbClr val="0432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选项组的名字，菜单中将会显示设置的文字，必须设置这个属性</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7268278"/>
                  </a:ext>
                </a:extLst>
              </a:tr>
            </a:tbl>
          </a:graphicData>
        </a:graphic>
      </p:graphicFrame>
      <p:sp>
        <p:nvSpPr>
          <p:cNvPr id="11" name="Rectangle 2">
            <a:extLst>
              <a:ext uri="{FF2B5EF4-FFF2-40B4-BE49-F238E27FC236}">
                <a16:creationId xmlns:a16="http://schemas.microsoft.com/office/drawing/2014/main" id="{93DCAE6E-CBD3-4278-B7C7-81F8FCE13C08}"/>
              </a:ext>
            </a:extLst>
          </p:cNvPr>
          <p:cNvSpPr>
            <a:spLocks noChangeArrowheads="1"/>
          </p:cNvSpPr>
          <p:nvPr/>
        </p:nvSpPr>
        <p:spPr bwMode="auto">
          <a:xfrm>
            <a:off x="4783981" y="2320243"/>
            <a:ext cx="1864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76225"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76225" algn="ctr"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&lt;option&gt;</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属性</a:t>
            </a:r>
            <a:endParaRPr kumimoji="0" lang="zh-CN" altLang="en-US" b="0" i="0" u="none" strike="noStrike" cap="none" normalizeH="0" baseline="0" dirty="0">
              <a:ln>
                <a:noFill/>
              </a:ln>
              <a:solidFill>
                <a:schemeClr val="tx1"/>
              </a:solidFill>
              <a:effectLst/>
            </a:endParaRPr>
          </a:p>
        </p:txBody>
      </p:sp>
      <p:sp>
        <p:nvSpPr>
          <p:cNvPr id="12" name="矩形 11">
            <a:extLst>
              <a:ext uri="{FF2B5EF4-FFF2-40B4-BE49-F238E27FC236}">
                <a16:creationId xmlns:a16="http://schemas.microsoft.com/office/drawing/2014/main" id="{218FB46B-5915-4242-B84A-520D841497BF}"/>
              </a:ext>
            </a:extLst>
          </p:cNvPr>
          <p:cNvSpPr/>
          <p:nvPr/>
        </p:nvSpPr>
        <p:spPr>
          <a:xfrm>
            <a:off x="4666960" y="4805023"/>
            <a:ext cx="2098651" cy="369332"/>
          </a:xfrm>
          <a:prstGeom prst="rect">
            <a:avLst/>
          </a:prstGeom>
        </p:spPr>
        <p:txBody>
          <a:bodyPr wrap="none">
            <a:spAutoFit/>
          </a:bodyPr>
          <a:lstStyle/>
          <a:p>
            <a:pPr lvl="0" indent="276225" algn="ctr" eaLnBrk="0" hangingPunct="0"/>
            <a:r>
              <a:rPr lang="en-US" altLang="zh-CN" b="1" dirty="0">
                <a:latin typeface="宋体" panose="02010600030101010101" pitchFamily="2" charset="-122"/>
                <a:cs typeface="Times New Roman" panose="02020603050405020304" pitchFamily="18" charset="0"/>
              </a:rPr>
              <a:t>&lt;</a:t>
            </a:r>
            <a:r>
              <a:rPr lang="en-US" altLang="zh-CN" b="1" dirty="0" err="1">
                <a:latin typeface="宋体" panose="02010600030101010101" pitchFamily="2" charset="-122"/>
                <a:cs typeface="Times New Roman" panose="02020603050405020304" pitchFamily="18" charset="0"/>
              </a:rPr>
              <a:t>optgroup</a:t>
            </a:r>
            <a:r>
              <a:rPr lang="en-US" altLang="zh-CN" b="1" dirty="0">
                <a:latin typeface="宋体" panose="02010600030101010101" pitchFamily="2" charset="-122"/>
                <a:cs typeface="Times New Roman" panose="02020603050405020304" pitchFamily="18" charset="0"/>
              </a:rPr>
              <a:t>&gt;</a:t>
            </a:r>
            <a:r>
              <a:rPr lang="zh-CN" altLang="en-US" b="1" dirty="0">
                <a:latin typeface="宋体" panose="02010600030101010101" pitchFamily="2" charset="-122"/>
                <a:cs typeface="Times New Roman" panose="02020603050405020304" pitchFamily="18" charset="0"/>
              </a:rPr>
              <a:t>属性</a:t>
            </a:r>
            <a:endParaRPr lang="zh-CN" altLang="en-US" dirty="0">
              <a:latin typeface="Arial" panose="020B0604020202020204" pitchFamily="34" charset="0"/>
            </a:endParaRPr>
          </a:p>
        </p:txBody>
      </p:sp>
    </p:spTree>
    <p:extLst>
      <p:ext uri="{BB962C8B-B14F-4D97-AF65-F5344CB8AC3E}">
        <p14:creationId xmlns:p14="http://schemas.microsoft.com/office/powerpoint/2010/main" val="1269488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&lt;select&gt;</a:t>
            </a:r>
            <a:r>
              <a:rPr lang="zh-CN" altLang="en-US" sz="2800" b="1" dirty="0">
                <a:solidFill>
                  <a:srgbClr val="0000FF"/>
                </a:solidFill>
                <a:latin typeface="+mn-ea"/>
                <a:ea typeface="+mn-ea"/>
              </a:rPr>
              <a:t>、</a:t>
            </a:r>
            <a:r>
              <a:rPr lang="en-US" altLang="zh-CN" sz="2800" b="1" dirty="0">
                <a:solidFill>
                  <a:srgbClr val="0000FF"/>
                </a:solidFill>
                <a:latin typeface="+mn-ea"/>
                <a:ea typeface="+mn-ea"/>
              </a:rPr>
              <a:t>&lt;option&gt;</a:t>
            </a:r>
            <a:r>
              <a:rPr lang="zh-CN" altLang="en-US" sz="2800" b="1" dirty="0">
                <a:solidFill>
                  <a:srgbClr val="0000FF"/>
                </a:solidFill>
                <a:latin typeface="+mn-ea"/>
                <a:ea typeface="+mn-ea"/>
              </a:rPr>
              <a:t>、</a:t>
            </a:r>
            <a:r>
              <a:rPr lang="en-US" altLang="zh-CN" sz="2800" b="1" dirty="0">
                <a:solidFill>
                  <a:srgbClr val="0000FF"/>
                </a:solidFill>
                <a:latin typeface="+mn-ea"/>
                <a:ea typeface="+mn-ea"/>
              </a:rPr>
              <a:t>&lt;</a:t>
            </a:r>
            <a:r>
              <a:rPr lang="en-US" altLang="zh-CN" sz="2800" b="1" dirty="0" err="1">
                <a:solidFill>
                  <a:srgbClr val="0000FF"/>
                </a:solidFill>
                <a:latin typeface="+mn-ea"/>
                <a:ea typeface="+mn-ea"/>
              </a:rPr>
              <a:t>optgroup</a:t>
            </a:r>
            <a:r>
              <a:rPr lang="en-US" altLang="zh-CN" sz="2800" b="1" dirty="0">
                <a:solidFill>
                  <a:srgbClr val="0000FF"/>
                </a:solidFill>
                <a:latin typeface="+mn-ea"/>
                <a:ea typeface="+mn-ea"/>
              </a:rPr>
              <a:t>&gt;</a:t>
            </a:r>
            <a:r>
              <a:rPr lang="zh-CN" altLang="en-US" sz="2800" b="1" dirty="0">
                <a:solidFill>
                  <a:srgbClr val="0000FF"/>
                </a:solidFill>
                <a:latin typeface="+mn-ea"/>
              </a:rPr>
              <a:t>、</a:t>
            </a:r>
            <a:r>
              <a:rPr lang="en-US" altLang="zh-CN" sz="2800" b="1" dirty="0">
                <a:solidFill>
                  <a:srgbClr val="0000FF"/>
                </a:solidFill>
                <a:latin typeface="+mn-ea"/>
              </a:rPr>
              <a:t>&lt;</a:t>
            </a:r>
            <a:r>
              <a:rPr lang="en-US" altLang="zh-CN" sz="2800" b="1" dirty="0" err="1">
                <a:solidFill>
                  <a:srgbClr val="0000FF"/>
                </a:solidFill>
                <a:latin typeface="+mn-ea"/>
              </a:rPr>
              <a:t>datalist</a:t>
            </a:r>
            <a:r>
              <a:rPr lang="en-US" altLang="zh-CN" sz="2800" b="1" dirty="0">
                <a:solidFill>
                  <a:srgbClr val="0000FF"/>
                </a:solidFill>
                <a:latin typeface="+mn-ea"/>
              </a:rPr>
              <a:t>&gt;</a:t>
            </a:r>
            <a:r>
              <a:rPr lang="zh-CN" altLang="en-US" sz="2800" b="1" dirty="0">
                <a:solidFill>
                  <a:srgbClr val="0000FF"/>
                </a:solidFill>
                <a:latin typeface="+mn-ea"/>
                <a:ea typeface="+mn-ea"/>
              </a:rPr>
              <a:t>控件元素</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7882286" cy="2882520"/>
          </a:xfrm>
          <a:prstGeom prst="rect">
            <a:avLst/>
          </a:prstGeom>
        </p:spPr>
        <p:txBody>
          <a:bodyPr wrap="non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a:t>
            </a:r>
            <a:r>
              <a:rPr lang="en-US" altLang="zh-CN" sz="2400" b="1" dirty="0" err="1">
                <a:effectLst>
                  <a:outerShdw blurRad="38100" dist="38100" dir="2700000" algn="tl">
                    <a:srgbClr val="000000">
                      <a:alpha val="43137"/>
                    </a:srgbClr>
                  </a:outerShdw>
                </a:effectLst>
                <a:latin typeface="+mn-ea"/>
                <a:ea typeface="+mn-ea"/>
              </a:rPr>
              <a:t>datalist</a:t>
            </a:r>
            <a:r>
              <a:rPr lang="en-US" altLang="zh-CN" sz="2400" b="1" dirty="0">
                <a:effectLst>
                  <a:outerShdw blurRad="38100" dist="38100" dir="2700000" algn="tl">
                    <a:srgbClr val="000000">
                      <a:alpha val="43137"/>
                    </a:srgbClr>
                  </a:outerShdw>
                </a:effectLst>
                <a:latin typeface="+mn-ea"/>
                <a:ea typeface="+mn-ea"/>
              </a:rPr>
              <a:t>&gt;</a:t>
            </a:r>
            <a:r>
              <a:rPr lang="zh-CN" altLang="en-US" sz="2400" b="1" dirty="0">
                <a:effectLst>
                  <a:outerShdw blurRad="38100" dist="38100" dir="2700000" algn="tl">
                    <a:srgbClr val="000000">
                      <a:alpha val="43137"/>
                    </a:srgbClr>
                  </a:outerShdw>
                </a:effectLst>
                <a:latin typeface="+mn-ea"/>
                <a:ea typeface="+mn-ea"/>
              </a:rPr>
              <a:t>方式</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a:t>
            </a:r>
            <a:r>
              <a:rPr lang="en-US" altLang="zh-CN" sz="2000" b="1" dirty="0" err="1">
                <a:effectLst>
                  <a:outerShdw blurRad="38100" dist="38100" dir="2700000" algn="tl">
                    <a:srgbClr val="000000">
                      <a:alpha val="43137"/>
                    </a:srgbClr>
                  </a:outerShdw>
                </a:effectLst>
                <a:latin typeface="+mn-ea"/>
                <a:ea typeface="+mn-ea"/>
              </a:rPr>
              <a:t>datalist</a:t>
            </a:r>
            <a:r>
              <a:rPr lang="en-US" altLang="zh-CN" sz="2000" b="1" dirty="0">
                <a:effectLst>
                  <a:outerShdw blurRad="38100" dist="38100" dir="2700000" algn="tl">
                    <a:srgbClr val="000000">
                      <a:alpha val="43137"/>
                    </a:srgbClr>
                  </a:outerShdw>
                </a:effectLst>
                <a:latin typeface="+mn-ea"/>
                <a:ea typeface="+mn-ea"/>
              </a:rPr>
              <a:t>&gt;</a:t>
            </a:r>
            <a:r>
              <a:rPr lang="zh-CN" altLang="en-US" sz="2000" b="1" dirty="0">
                <a:effectLst>
                  <a:outerShdw blurRad="38100" dist="38100" dir="2700000" algn="tl">
                    <a:srgbClr val="000000">
                      <a:alpha val="43137"/>
                    </a:srgbClr>
                  </a:outerShdw>
                </a:effectLst>
                <a:latin typeface="+mn-ea"/>
                <a:ea typeface="+mn-ea"/>
              </a:rPr>
              <a:t>控件是一个</a:t>
            </a:r>
            <a:r>
              <a:rPr lang="en-US" altLang="zh-CN" sz="2000" b="1" dirty="0">
                <a:effectLst>
                  <a:outerShdw blurRad="38100" dist="38100" dir="2700000" algn="tl">
                    <a:srgbClr val="000000">
                      <a:alpha val="43137"/>
                    </a:srgbClr>
                  </a:outerShdw>
                </a:effectLst>
                <a:latin typeface="+mn-ea"/>
                <a:ea typeface="+mn-ea"/>
              </a:rPr>
              <a:t>HTML5</a:t>
            </a:r>
            <a:r>
              <a:rPr lang="zh-CN" altLang="en-US" sz="2000" b="1" dirty="0">
                <a:effectLst>
                  <a:outerShdw blurRad="38100" dist="38100" dir="2700000" algn="tl">
                    <a:srgbClr val="000000">
                      <a:alpha val="43137"/>
                    </a:srgbClr>
                  </a:outerShdw>
                </a:effectLst>
                <a:latin typeface="+mn-ea"/>
                <a:ea typeface="+mn-ea"/>
              </a:rPr>
              <a:t>新增元素</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000" b="1" dirty="0">
                <a:effectLst>
                  <a:outerShdw blurRad="38100" dist="38100" dir="2700000" algn="tl">
                    <a:srgbClr val="000000">
                      <a:alpha val="43137"/>
                    </a:srgbClr>
                  </a:outerShdw>
                </a:effectLst>
                <a:latin typeface="+mn-ea"/>
                <a:ea typeface="+mn-ea"/>
              </a:rPr>
              <a:t>作为一个独立的选项容器，通过</a:t>
            </a:r>
            <a:r>
              <a:rPr lang="en-US" altLang="zh-CN" sz="2000" b="1" dirty="0">
                <a:effectLst>
                  <a:outerShdw blurRad="38100" dist="38100" dir="2700000" algn="tl">
                    <a:srgbClr val="000000">
                      <a:alpha val="43137"/>
                    </a:srgbClr>
                  </a:outerShdw>
                </a:effectLst>
                <a:latin typeface="+mn-ea"/>
                <a:ea typeface="+mn-ea"/>
              </a:rPr>
              <a:t>&lt;input&gt;</a:t>
            </a:r>
            <a:r>
              <a:rPr lang="zh-CN" altLang="en-US" sz="2000" b="1" dirty="0">
                <a:effectLst>
                  <a:outerShdw blurRad="38100" dist="38100" dir="2700000" algn="tl">
                    <a:srgbClr val="000000">
                      <a:alpha val="43137"/>
                    </a:srgbClr>
                  </a:outerShdw>
                </a:effectLst>
                <a:latin typeface="+mn-ea"/>
                <a:ea typeface="+mn-ea"/>
              </a:rPr>
              <a:t>控件的</a:t>
            </a:r>
            <a:r>
              <a:rPr lang="en-US" altLang="zh-CN" sz="2000" b="1" dirty="0">
                <a:effectLst>
                  <a:outerShdw blurRad="38100" dist="38100" dir="2700000" algn="tl">
                    <a:srgbClr val="000000">
                      <a:alpha val="43137"/>
                    </a:srgbClr>
                  </a:outerShdw>
                </a:effectLst>
                <a:latin typeface="+mn-ea"/>
                <a:ea typeface="+mn-ea"/>
              </a:rPr>
              <a:t>list</a:t>
            </a:r>
            <a:r>
              <a:rPr lang="zh-CN" altLang="en-US" sz="2000" b="1" dirty="0">
                <a:effectLst>
                  <a:outerShdw blurRad="38100" dist="38100" dir="2700000" algn="tl">
                    <a:srgbClr val="000000">
                      <a:alpha val="43137"/>
                    </a:srgbClr>
                  </a:outerShdw>
                </a:effectLst>
                <a:latin typeface="+mn-ea"/>
                <a:ea typeface="+mn-ea"/>
              </a:rPr>
              <a:t>属性绑定</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a:t>
            </a:r>
            <a:r>
              <a:rPr lang="en-US" altLang="zh-CN" sz="2000" b="1" dirty="0" err="1">
                <a:effectLst>
                  <a:outerShdw blurRad="38100" dist="38100" dir="2700000" algn="tl">
                    <a:srgbClr val="000000">
                      <a:alpha val="43137"/>
                    </a:srgbClr>
                  </a:outerShdw>
                </a:effectLst>
                <a:latin typeface="+mn-ea"/>
                <a:ea typeface="+mn-ea"/>
              </a:rPr>
              <a:t>datalist</a:t>
            </a:r>
            <a:r>
              <a:rPr lang="en-US" altLang="zh-CN" sz="2000" b="1" dirty="0">
                <a:effectLst>
                  <a:outerShdw blurRad="38100" dist="38100" dir="2700000" algn="tl">
                    <a:srgbClr val="000000">
                      <a:alpha val="43137"/>
                    </a:srgbClr>
                  </a:outerShdw>
                </a:effectLst>
                <a:latin typeface="+mn-ea"/>
                <a:ea typeface="+mn-ea"/>
              </a:rPr>
              <a:t>&gt;</a:t>
            </a:r>
            <a:r>
              <a:rPr lang="zh-CN" altLang="en-US" sz="2000" b="1" dirty="0">
                <a:effectLst>
                  <a:outerShdw blurRad="38100" dist="38100" dir="2700000" algn="tl">
                    <a:srgbClr val="000000">
                      <a:alpha val="43137"/>
                    </a:srgbClr>
                  </a:outerShdw>
                </a:effectLst>
                <a:latin typeface="+mn-ea"/>
                <a:ea typeface="+mn-ea"/>
              </a:rPr>
              <a:t>控件的</a:t>
            </a:r>
            <a:r>
              <a:rPr lang="en-US" altLang="zh-CN" sz="2000" b="1" dirty="0">
                <a:solidFill>
                  <a:schemeClr val="accent6"/>
                </a:solidFill>
                <a:effectLst>
                  <a:outerShdw blurRad="38100" dist="38100" dir="2700000" algn="tl">
                    <a:srgbClr val="000000">
                      <a:alpha val="43137"/>
                    </a:srgbClr>
                  </a:outerShdw>
                </a:effectLst>
                <a:latin typeface="+mn-ea"/>
                <a:ea typeface="+mn-ea"/>
              </a:rPr>
              <a:t>id</a:t>
            </a:r>
            <a:r>
              <a:rPr lang="zh-CN" altLang="en-US" sz="2000" b="1" dirty="0">
                <a:solidFill>
                  <a:schemeClr val="accent6"/>
                </a:solidFill>
                <a:effectLst>
                  <a:outerShdw blurRad="38100" dist="38100" dir="2700000" algn="tl">
                    <a:srgbClr val="000000">
                      <a:alpha val="43137"/>
                    </a:srgbClr>
                  </a:outerShdw>
                </a:effectLst>
                <a:latin typeface="+mn-ea"/>
                <a:ea typeface="+mn-ea"/>
              </a:rPr>
              <a:t>属性</a:t>
            </a:r>
            <a:r>
              <a:rPr lang="zh-CN" altLang="en-US" sz="2000" b="1" dirty="0">
                <a:effectLst>
                  <a:outerShdw blurRad="38100" dist="38100" dir="2700000" algn="tl">
                    <a:srgbClr val="000000">
                      <a:alpha val="43137"/>
                    </a:srgbClr>
                  </a:outerShdw>
                </a:effectLst>
                <a:latin typeface="+mn-ea"/>
                <a:ea typeface="+mn-ea"/>
              </a:rPr>
              <a:t>用于建立与</a:t>
            </a:r>
            <a:r>
              <a:rPr lang="en-US" altLang="zh-CN" sz="2000" b="1" dirty="0">
                <a:effectLst>
                  <a:outerShdw blurRad="38100" dist="38100" dir="2700000" algn="tl">
                    <a:srgbClr val="000000">
                      <a:alpha val="43137"/>
                    </a:srgbClr>
                  </a:outerShdw>
                </a:effectLst>
                <a:latin typeface="+mn-ea"/>
                <a:ea typeface="+mn-ea"/>
              </a:rPr>
              <a:t>&lt;input&gt;</a:t>
            </a:r>
            <a:r>
              <a:rPr lang="zh-CN" altLang="en-US" sz="2000" b="1" dirty="0">
                <a:effectLst>
                  <a:outerShdw blurRad="38100" dist="38100" dir="2700000" algn="tl">
                    <a:srgbClr val="000000">
                      <a:alpha val="43137"/>
                    </a:srgbClr>
                  </a:outerShdw>
                </a:effectLst>
                <a:latin typeface="+mn-ea"/>
                <a:ea typeface="+mn-ea"/>
              </a:rPr>
              <a:t>之间的绑定关系</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000" b="1" dirty="0">
                <a:effectLst>
                  <a:outerShdw blurRad="38100" dist="38100" dir="2700000" algn="tl">
                    <a:srgbClr val="000000">
                      <a:alpha val="43137"/>
                    </a:srgbClr>
                  </a:outerShdw>
                </a:effectLst>
                <a:latin typeface="+mn-ea"/>
                <a:ea typeface="+mn-ea"/>
              </a:rPr>
              <a:t>一个</a:t>
            </a:r>
            <a:r>
              <a:rPr lang="en-US" altLang="zh-CN" sz="2000" b="1" dirty="0">
                <a:effectLst>
                  <a:outerShdw blurRad="38100" dist="38100" dir="2700000" algn="tl">
                    <a:srgbClr val="000000">
                      <a:alpha val="43137"/>
                    </a:srgbClr>
                  </a:outerShdw>
                </a:effectLst>
                <a:latin typeface="+mn-ea"/>
                <a:ea typeface="+mn-ea"/>
              </a:rPr>
              <a:t>&lt;</a:t>
            </a:r>
            <a:r>
              <a:rPr lang="en-US" altLang="zh-CN" sz="2000" b="1" dirty="0" err="1">
                <a:effectLst>
                  <a:outerShdw blurRad="38100" dist="38100" dir="2700000" algn="tl">
                    <a:srgbClr val="000000">
                      <a:alpha val="43137"/>
                    </a:srgbClr>
                  </a:outerShdw>
                </a:effectLst>
                <a:latin typeface="+mn-ea"/>
                <a:ea typeface="+mn-ea"/>
              </a:rPr>
              <a:t>datalist</a:t>
            </a:r>
            <a:r>
              <a:rPr lang="en-US" altLang="zh-CN" sz="2000" b="1" dirty="0">
                <a:effectLst>
                  <a:outerShdw blurRad="38100" dist="38100" dir="2700000" algn="tl">
                    <a:srgbClr val="000000">
                      <a:alpha val="43137"/>
                    </a:srgbClr>
                  </a:outerShdw>
                </a:effectLst>
                <a:latin typeface="+mn-ea"/>
                <a:ea typeface="+mn-ea"/>
              </a:rPr>
              <a:t>&gt;</a:t>
            </a:r>
            <a:r>
              <a:rPr lang="zh-CN" altLang="en-US" sz="2000" b="1" dirty="0">
                <a:effectLst>
                  <a:outerShdw blurRad="38100" dist="38100" dir="2700000" algn="tl">
                    <a:srgbClr val="000000">
                      <a:alpha val="43137"/>
                    </a:srgbClr>
                  </a:outerShdw>
                </a:effectLst>
                <a:latin typeface="+mn-ea"/>
                <a:ea typeface="+mn-ea"/>
              </a:rPr>
              <a:t>可以被不同的</a:t>
            </a:r>
            <a:r>
              <a:rPr lang="en-US" altLang="zh-CN" sz="2000" b="1" dirty="0">
                <a:effectLst>
                  <a:outerShdw blurRad="38100" dist="38100" dir="2700000" algn="tl">
                    <a:srgbClr val="000000">
                      <a:alpha val="43137"/>
                    </a:srgbClr>
                  </a:outerShdw>
                </a:effectLst>
                <a:latin typeface="+mn-ea"/>
                <a:ea typeface="+mn-ea"/>
              </a:rPr>
              <a:t>&lt;input&gt;</a:t>
            </a:r>
            <a:r>
              <a:rPr lang="zh-CN" altLang="en-US" sz="2000" b="1" dirty="0">
                <a:effectLst>
                  <a:outerShdw blurRad="38100" dist="38100" dir="2700000" algn="tl">
                    <a:srgbClr val="000000">
                      <a:alpha val="43137"/>
                    </a:srgbClr>
                  </a:outerShdw>
                </a:effectLst>
                <a:latin typeface="+mn-ea"/>
                <a:ea typeface="+mn-ea"/>
              </a:rPr>
              <a:t>控件绑定</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a:t>
            </a:r>
            <a:r>
              <a:rPr lang="en-US" altLang="zh-CN" sz="2000" b="1" dirty="0" err="1">
                <a:effectLst>
                  <a:outerShdw blurRad="38100" dist="38100" dir="2700000" algn="tl">
                    <a:srgbClr val="000000">
                      <a:alpha val="43137"/>
                    </a:srgbClr>
                  </a:outerShdw>
                </a:effectLst>
                <a:latin typeface="+mn-ea"/>
                <a:ea typeface="+mn-ea"/>
              </a:rPr>
              <a:t>datalist</a:t>
            </a:r>
            <a:r>
              <a:rPr lang="en-US" altLang="zh-CN" sz="2000" b="1" dirty="0">
                <a:effectLst>
                  <a:outerShdw blurRad="38100" dist="38100" dir="2700000" algn="tl">
                    <a:srgbClr val="000000">
                      <a:alpha val="43137"/>
                    </a:srgbClr>
                  </a:outerShdw>
                </a:effectLst>
                <a:latin typeface="+mn-ea"/>
                <a:ea typeface="+mn-ea"/>
              </a:rPr>
              <a:t>&gt;</a:t>
            </a:r>
            <a:r>
              <a:rPr lang="zh-CN" altLang="en-US" sz="2000" b="1" dirty="0">
                <a:effectLst>
                  <a:outerShdw blurRad="38100" dist="38100" dir="2700000" algn="tl">
                    <a:srgbClr val="000000">
                      <a:alpha val="43137"/>
                    </a:srgbClr>
                  </a:outerShdw>
                </a:effectLst>
                <a:latin typeface="+mn-ea"/>
                <a:ea typeface="+mn-ea"/>
              </a:rPr>
              <a:t>控件内部可以包含多个</a:t>
            </a:r>
            <a:r>
              <a:rPr lang="en-US" altLang="zh-CN" sz="2000" b="1" dirty="0">
                <a:effectLst>
                  <a:outerShdw blurRad="38100" dist="38100" dir="2700000" algn="tl">
                    <a:srgbClr val="000000">
                      <a:alpha val="43137"/>
                    </a:srgbClr>
                  </a:outerShdw>
                </a:effectLst>
                <a:latin typeface="+mn-ea"/>
                <a:ea typeface="+mn-ea"/>
              </a:rPr>
              <a:t>&lt;option&gt;</a:t>
            </a:r>
            <a:r>
              <a:rPr lang="zh-CN" altLang="en-US" sz="2000" b="1" dirty="0">
                <a:effectLst>
                  <a:outerShdw blurRad="38100" dist="38100" dir="2700000" algn="tl">
                    <a:srgbClr val="000000">
                      <a:alpha val="43137"/>
                    </a:srgbClr>
                  </a:outerShdw>
                </a:effectLst>
                <a:latin typeface="+mn-ea"/>
                <a:ea typeface="+mn-ea"/>
              </a:rPr>
              <a:t>选项</a:t>
            </a:r>
          </a:p>
        </p:txBody>
      </p:sp>
      <p:graphicFrame>
        <p:nvGraphicFramePr>
          <p:cNvPr id="6" name="表格 5">
            <a:extLst>
              <a:ext uri="{FF2B5EF4-FFF2-40B4-BE49-F238E27FC236}">
                <a16:creationId xmlns:a16="http://schemas.microsoft.com/office/drawing/2014/main" id="{3961A1B0-5AC9-4620-A8A1-D2153FE8A2B7}"/>
              </a:ext>
            </a:extLst>
          </p:cNvPr>
          <p:cNvGraphicFramePr>
            <a:graphicFrameLocks noGrp="1"/>
          </p:cNvGraphicFramePr>
          <p:nvPr>
            <p:extLst>
              <p:ext uri="{D42A27DB-BD31-4B8C-83A1-F6EECF244321}">
                <p14:modId xmlns:p14="http://schemas.microsoft.com/office/powerpoint/2010/main" val="2799996846"/>
              </p:ext>
            </p:extLst>
          </p:nvPr>
        </p:nvGraphicFramePr>
        <p:xfrm>
          <a:off x="751533" y="4675197"/>
          <a:ext cx="10477969" cy="16154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77969">
                  <a:extLst>
                    <a:ext uri="{9D8B030D-6E8A-4147-A177-3AD203B41FA5}">
                      <a16:colId xmlns:a16="http://schemas.microsoft.com/office/drawing/2014/main" val="4020043646"/>
                    </a:ext>
                  </a:extLst>
                </a:gridCol>
              </a:tblGrid>
              <a:tr h="772236">
                <a:tc>
                  <a:txBody>
                    <a:bodyPr/>
                    <a:lstStyle/>
                    <a:p>
                      <a:pPr algn="l"/>
                      <a:r>
                        <a:rPr kumimoji="1" lang="en-US" altLang="zh-CN" sz="2000" b="1" kern="1200" dirty="0">
                          <a:solidFill>
                            <a:schemeClr val="tx1"/>
                          </a:solidFill>
                          <a:latin typeface="Times New Roman" pitchFamily="18" charset="0"/>
                          <a:ea typeface="宋体" pitchFamily="2" charset="-122"/>
                          <a:cs typeface="+mn-cs"/>
                        </a:rPr>
                        <a:t> &lt;input name="</a:t>
                      </a:r>
                      <a:r>
                        <a:rPr kumimoji="1" lang="zh-CN" altLang="en-US" sz="2000" b="1" kern="1200" dirty="0">
                          <a:solidFill>
                            <a:schemeClr val="tx1"/>
                          </a:solidFill>
                          <a:latin typeface="Times New Roman" pitchFamily="18" charset="0"/>
                          <a:ea typeface="宋体" pitchFamily="2" charset="-122"/>
                          <a:cs typeface="+mn-cs"/>
                        </a:rPr>
                        <a:t>控件名称</a:t>
                      </a:r>
                      <a:r>
                        <a:rPr kumimoji="1" lang="en-US" altLang="zh-CN" sz="2000" b="1" kern="1200" dirty="0">
                          <a:solidFill>
                            <a:schemeClr val="tx1"/>
                          </a:solidFill>
                          <a:latin typeface="Times New Roman" pitchFamily="18" charset="0"/>
                          <a:ea typeface="宋体" pitchFamily="2" charset="-122"/>
                          <a:cs typeface="+mn-cs"/>
                        </a:rPr>
                        <a:t>" type="</a:t>
                      </a:r>
                      <a:r>
                        <a:rPr kumimoji="1" lang="zh-CN" altLang="en-US" sz="2000" b="1" kern="1200" dirty="0">
                          <a:solidFill>
                            <a:schemeClr val="tx1"/>
                          </a:solidFill>
                          <a:latin typeface="Times New Roman" pitchFamily="18" charset="0"/>
                          <a:ea typeface="宋体" pitchFamily="2" charset="-122"/>
                          <a:cs typeface="+mn-cs"/>
                        </a:rPr>
                        <a:t>单行文本框控件类型</a:t>
                      </a:r>
                      <a:r>
                        <a:rPr kumimoji="1" lang="en-US" altLang="zh-CN" sz="2000" b="1" kern="1200" dirty="0">
                          <a:solidFill>
                            <a:schemeClr val="tx1"/>
                          </a:solidFill>
                          <a:latin typeface="Times New Roman" pitchFamily="18" charset="0"/>
                          <a:ea typeface="宋体" pitchFamily="2" charset="-122"/>
                          <a:cs typeface="+mn-cs"/>
                        </a:rPr>
                        <a:t>" </a:t>
                      </a:r>
                      <a:r>
                        <a:rPr kumimoji="1" lang="en-US" altLang="zh-CN" sz="2000" b="1" kern="1200" dirty="0">
                          <a:solidFill>
                            <a:schemeClr val="accent6"/>
                          </a:solidFill>
                          <a:latin typeface="Times New Roman" pitchFamily="18" charset="0"/>
                          <a:ea typeface="宋体" pitchFamily="2" charset="-122"/>
                          <a:cs typeface="+mn-cs"/>
                        </a:rPr>
                        <a:t>list="</a:t>
                      </a:r>
                      <a:r>
                        <a:rPr kumimoji="1" lang="en-US" altLang="zh-CN" sz="2000" b="1" kern="1200" dirty="0" err="1">
                          <a:solidFill>
                            <a:schemeClr val="accent6"/>
                          </a:solidFill>
                          <a:latin typeface="Times New Roman" pitchFamily="18" charset="0"/>
                          <a:ea typeface="宋体" pitchFamily="2" charset="-122"/>
                          <a:cs typeface="+mn-cs"/>
                        </a:rPr>
                        <a:t>datalist</a:t>
                      </a:r>
                      <a:r>
                        <a:rPr kumimoji="1" lang="en-US" altLang="zh-CN" sz="2000" b="1" kern="1200" dirty="0">
                          <a:solidFill>
                            <a:schemeClr val="accent6"/>
                          </a:solidFill>
                          <a:latin typeface="Times New Roman" pitchFamily="18" charset="0"/>
                          <a:ea typeface="宋体" pitchFamily="2" charset="-122"/>
                          <a:cs typeface="+mn-cs"/>
                        </a:rPr>
                        <a:t> id"</a:t>
                      </a:r>
                      <a:r>
                        <a:rPr kumimoji="1" lang="en-US" altLang="zh-CN" sz="2000" b="1" kern="1200" dirty="0">
                          <a:solidFill>
                            <a:schemeClr val="tx1"/>
                          </a:solidFill>
                          <a:latin typeface="Times New Roman" pitchFamily="18" charset="0"/>
                          <a:ea typeface="宋体" pitchFamily="2" charset="-122"/>
                          <a:cs typeface="+mn-cs"/>
                        </a:rPr>
                        <a:t>&gt;</a:t>
                      </a:r>
                    </a:p>
                    <a:p>
                      <a:pPr algn="l"/>
                      <a:r>
                        <a:rPr kumimoji="1" lang="en-US" altLang="zh-CN" sz="2000" b="1" kern="1200" dirty="0">
                          <a:solidFill>
                            <a:schemeClr val="accent6"/>
                          </a:solidFill>
                          <a:latin typeface="Times New Roman" pitchFamily="18" charset="0"/>
                          <a:ea typeface="宋体" pitchFamily="2" charset="-122"/>
                          <a:cs typeface="+mn-cs"/>
                        </a:rPr>
                        <a:t> &lt;</a:t>
                      </a:r>
                      <a:r>
                        <a:rPr kumimoji="1" lang="en-US" altLang="zh-CN" sz="2000" b="1" kern="1200" dirty="0" err="1">
                          <a:solidFill>
                            <a:schemeClr val="accent6"/>
                          </a:solidFill>
                          <a:latin typeface="Times New Roman" pitchFamily="18" charset="0"/>
                          <a:ea typeface="宋体" pitchFamily="2" charset="-122"/>
                          <a:cs typeface="+mn-cs"/>
                        </a:rPr>
                        <a:t>datalist</a:t>
                      </a:r>
                      <a:r>
                        <a:rPr kumimoji="1" lang="en-US" altLang="zh-CN" sz="2000" b="1" kern="1200" dirty="0">
                          <a:solidFill>
                            <a:schemeClr val="accent6"/>
                          </a:solidFill>
                          <a:latin typeface="Times New Roman" pitchFamily="18" charset="0"/>
                          <a:ea typeface="宋体" pitchFamily="2" charset="-122"/>
                          <a:cs typeface="+mn-cs"/>
                        </a:rPr>
                        <a:t> id="</a:t>
                      </a:r>
                      <a:r>
                        <a:rPr kumimoji="1" lang="zh-CN" altLang="en-US" sz="2000" b="1" kern="1200" dirty="0">
                          <a:solidFill>
                            <a:schemeClr val="accent6"/>
                          </a:solidFill>
                          <a:latin typeface="Times New Roman" pitchFamily="18" charset="0"/>
                          <a:ea typeface="宋体" pitchFamily="2" charset="-122"/>
                          <a:cs typeface="+mn-cs"/>
                        </a:rPr>
                        <a:t>控件</a:t>
                      </a:r>
                      <a:r>
                        <a:rPr kumimoji="1" lang="en-US" altLang="zh-CN" sz="2000" b="1" kern="1200" dirty="0">
                          <a:solidFill>
                            <a:schemeClr val="accent6"/>
                          </a:solidFill>
                          <a:latin typeface="Times New Roman" pitchFamily="18" charset="0"/>
                          <a:ea typeface="宋体" pitchFamily="2" charset="-122"/>
                          <a:cs typeface="+mn-cs"/>
                        </a:rPr>
                        <a:t>id"&gt;</a:t>
                      </a:r>
                    </a:p>
                    <a:p>
                      <a:pPr algn="l"/>
                      <a:r>
                        <a:rPr kumimoji="1" lang="en-US" altLang="zh-CN" sz="2000" b="1" kern="1200" dirty="0">
                          <a:solidFill>
                            <a:schemeClr val="tx1"/>
                          </a:solidFill>
                          <a:latin typeface="Times New Roman" pitchFamily="18" charset="0"/>
                          <a:ea typeface="宋体" pitchFamily="2" charset="-122"/>
                          <a:cs typeface="+mn-cs"/>
                        </a:rPr>
                        <a:t>     &lt;option value="</a:t>
                      </a:r>
                      <a:r>
                        <a:rPr kumimoji="1" lang="zh-CN" altLang="en-US" sz="2000" b="1" kern="1200" dirty="0">
                          <a:solidFill>
                            <a:schemeClr val="tx1"/>
                          </a:solidFill>
                          <a:latin typeface="Times New Roman" pitchFamily="18" charset="0"/>
                          <a:ea typeface="宋体" pitchFamily="2" charset="-122"/>
                          <a:cs typeface="+mn-cs"/>
                        </a:rPr>
                        <a:t>选项值</a:t>
                      </a:r>
                      <a:r>
                        <a:rPr kumimoji="1" lang="en-US" altLang="zh-CN" sz="2000" b="1" kern="1200" dirty="0">
                          <a:solidFill>
                            <a:schemeClr val="tx1"/>
                          </a:solidFill>
                          <a:latin typeface="Times New Roman" pitchFamily="18" charset="0"/>
                          <a:ea typeface="宋体" pitchFamily="2" charset="-122"/>
                          <a:cs typeface="+mn-cs"/>
                        </a:rPr>
                        <a:t>"&gt;&lt;/option&gt;</a:t>
                      </a:r>
                    </a:p>
                    <a:p>
                      <a:pPr algn="l"/>
                      <a:r>
                        <a:rPr kumimoji="1" lang="en-US" altLang="zh-CN" sz="2000" b="1" kern="1200" dirty="0">
                          <a:solidFill>
                            <a:schemeClr val="tx1"/>
                          </a:solidFill>
                          <a:latin typeface="Times New Roman" pitchFamily="18" charset="0"/>
                          <a:ea typeface="宋体" pitchFamily="2" charset="-122"/>
                          <a:cs typeface="+mn-cs"/>
                        </a:rPr>
                        <a:t>      ……</a:t>
                      </a:r>
                    </a:p>
                    <a:p>
                      <a:pPr algn="l"/>
                      <a:r>
                        <a:rPr kumimoji="1" lang="en-US" altLang="zh-CN" sz="2000" b="1" kern="1200" dirty="0">
                          <a:solidFill>
                            <a:schemeClr val="accent6"/>
                          </a:solidFill>
                          <a:latin typeface="Times New Roman" pitchFamily="18" charset="0"/>
                          <a:ea typeface="宋体" pitchFamily="2" charset="-122"/>
                          <a:cs typeface="+mn-cs"/>
                        </a:rPr>
                        <a:t> &lt;/</a:t>
                      </a:r>
                      <a:r>
                        <a:rPr kumimoji="1" lang="en-US" altLang="zh-CN" sz="2000" b="1" kern="1200" dirty="0" err="1">
                          <a:solidFill>
                            <a:schemeClr val="accent6"/>
                          </a:solidFill>
                          <a:latin typeface="Times New Roman" pitchFamily="18" charset="0"/>
                          <a:ea typeface="宋体" pitchFamily="2" charset="-122"/>
                          <a:cs typeface="+mn-cs"/>
                        </a:rPr>
                        <a:t>datalist</a:t>
                      </a:r>
                      <a:r>
                        <a:rPr kumimoji="1" lang="en-US" altLang="zh-CN" sz="2000" b="1" kern="1200" dirty="0">
                          <a:solidFill>
                            <a:schemeClr val="accent6"/>
                          </a:solidFill>
                          <a:latin typeface="Times New Roman" pitchFamily="18" charset="0"/>
                          <a:ea typeface="宋体" pitchFamily="2" charset="-122"/>
                          <a:cs typeface="+mn-cs"/>
                        </a:rPr>
                        <a:t>&gt;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7" name="圆角矩形标注 2">
            <a:extLst>
              <a:ext uri="{FF2B5EF4-FFF2-40B4-BE49-F238E27FC236}">
                <a16:creationId xmlns:a16="http://schemas.microsoft.com/office/drawing/2014/main" id="{05003836-E623-4DCD-AEF4-AAC1D7A45E11}"/>
              </a:ext>
            </a:extLst>
          </p:cNvPr>
          <p:cNvSpPr/>
          <p:nvPr/>
        </p:nvSpPr>
        <p:spPr>
          <a:xfrm>
            <a:off x="6443127" y="2239165"/>
            <a:ext cx="5608538" cy="1942914"/>
          </a:xfrm>
          <a:prstGeom prst="wedgeRoundRectCallout">
            <a:avLst>
              <a:gd name="adj1" fmla="val -48735"/>
              <a:gd name="adj2" fmla="val 82199"/>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en-US" altLang="zh-CN" sz="2000" b="1" dirty="0">
                <a:solidFill>
                  <a:srgbClr val="0000FF"/>
                </a:solidFill>
                <a:latin typeface="+mn-ea"/>
              </a:rPr>
              <a:t>1</a:t>
            </a:r>
            <a:r>
              <a:rPr lang="zh-CN" altLang="en-US" sz="2000" b="1" dirty="0">
                <a:solidFill>
                  <a:srgbClr val="0000FF"/>
                </a:solidFill>
                <a:latin typeface="+mn-ea"/>
              </a:rPr>
              <a:t>、</a:t>
            </a:r>
            <a:r>
              <a:rPr lang="en-US" altLang="zh-CN" sz="2000" b="1" dirty="0">
                <a:solidFill>
                  <a:srgbClr val="0000FF"/>
                </a:solidFill>
                <a:latin typeface="+mn-ea"/>
              </a:rPr>
              <a:t>&lt;input&gt;</a:t>
            </a:r>
            <a:r>
              <a:rPr lang="zh-CN" altLang="en-US" sz="2000" b="1" dirty="0">
                <a:solidFill>
                  <a:srgbClr val="0000FF"/>
                </a:solidFill>
                <a:latin typeface="+mn-ea"/>
              </a:rPr>
              <a:t>控件默认允许输入文字，所以从</a:t>
            </a:r>
            <a:r>
              <a:rPr lang="en-US" altLang="zh-CN" sz="2000" b="1" dirty="0">
                <a:solidFill>
                  <a:srgbClr val="0000FF"/>
                </a:solidFill>
                <a:latin typeface="+mn-ea"/>
              </a:rPr>
              <a:t>&lt;</a:t>
            </a:r>
            <a:r>
              <a:rPr lang="en-US" altLang="zh-CN" sz="2000" b="1" dirty="0" err="1">
                <a:solidFill>
                  <a:srgbClr val="0000FF"/>
                </a:solidFill>
                <a:latin typeface="+mn-ea"/>
              </a:rPr>
              <a:t>datalist</a:t>
            </a:r>
            <a:r>
              <a:rPr lang="en-US" altLang="zh-CN" sz="2000" b="1" dirty="0">
                <a:solidFill>
                  <a:srgbClr val="0000FF"/>
                </a:solidFill>
                <a:latin typeface="+mn-ea"/>
              </a:rPr>
              <a:t>&gt;</a:t>
            </a:r>
            <a:r>
              <a:rPr lang="zh-CN" altLang="en-US" sz="2000" b="1" dirty="0">
                <a:solidFill>
                  <a:srgbClr val="0000FF"/>
                </a:solidFill>
                <a:latin typeface="+mn-ea"/>
              </a:rPr>
              <a:t>选择选项后可以在</a:t>
            </a:r>
            <a:r>
              <a:rPr lang="en-US" altLang="zh-CN" sz="2000" b="1" dirty="0">
                <a:solidFill>
                  <a:srgbClr val="0000FF"/>
                </a:solidFill>
                <a:latin typeface="+mn-ea"/>
              </a:rPr>
              <a:t>&lt;input&gt;</a:t>
            </a:r>
            <a:r>
              <a:rPr lang="zh-CN" altLang="en-US" sz="2000" b="1" dirty="0">
                <a:solidFill>
                  <a:srgbClr val="0000FF"/>
                </a:solidFill>
                <a:latin typeface="+mn-ea"/>
              </a:rPr>
              <a:t>中修改</a:t>
            </a:r>
            <a:endParaRPr lang="en-US" altLang="zh-CN" sz="2000" b="1" dirty="0">
              <a:solidFill>
                <a:srgbClr val="0000FF"/>
              </a:solidFill>
              <a:latin typeface="+mn-ea"/>
            </a:endParaRPr>
          </a:p>
          <a:p>
            <a:pPr>
              <a:lnSpc>
                <a:spcPts val="3000"/>
              </a:lnSpc>
            </a:pPr>
            <a:r>
              <a:rPr lang="en-US" altLang="zh-CN" sz="2000" b="1" dirty="0">
                <a:solidFill>
                  <a:srgbClr val="0000FF"/>
                </a:solidFill>
                <a:latin typeface="+mn-ea"/>
              </a:rPr>
              <a:t>2</a:t>
            </a:r>
            <a:r>
              <a:rPr lang="zh-CN" altLang="en-US" sz="2000" b="1" dirty="0">
                <a:solidFill>
                  <a:srgbClr val="0000FF"/>
                </a:solidFill>
                <a:latin typeface="+mn-ea"/>
              </a:rPr>
              <a:t>、在</a:t>
            </a:r>
            <a:r>
              <a:rPr lang="en-US" altLang="zh-CN" sz="2000" b="1" dirty="0">
                <a:solidFill>
                  <a:srgbClr val="0000FF"/>
                </a:solidFill>
                <a:latin typeface="+mn-ea"/>
              </a:rPr>
              <a:t>&lt;input&gt;</a:t>
            </a:r>
            <a:r>
              <a:rPr lang="zh-CN" altLang="en-US" sz="2000" b="1" dirty="0">
                <a:solidFill>
                  <a:srgbClr val="0000FF"/>
                </a:solidFill>
                <a:latin typeface="+mn-ea"/>
              </a:rPr>
              <a:t>中直接输入文字，</a:t>
            </a:r>
            <a:r>
              <a:rPr lang="en-US" altLang="zh-CN" sz="2000" b="1" dirty="0">
                <a:solidFill>
                  <a:srgbClr val="0000FF"/>
                </a:solidFill>
                <a:latin typeface="+mn-ea"/>
              </a:rPr>
              <a:t>&lt;</a:t>
            </a:r>
            <a:r>
              <a:rPr lang="en-US" altLang="zh-CN" sz="2000" b="1" dirty="0" err="1">
                <a:solidFill>
                  <a:srgbClr val="0000FF"/>
                </a:solidFill>
                <a:latin typeface="+mn-ea"/>
              </a:rPr>
              <a:t>datalist</a:t>
            </a:r>
            <a:r>
              <a:rPr lang="en-US" altLang="zh-CN" sz="2000" b="1" dirty="0">
                <a:solidFill>
                  <a:srgbClr val="0000FF"/>
                </a:solidFill>
                <a:latin typeface="+mn-ea"/>
              </a:rPr>
              <a:t>&gt;</a:t>
            </a:r>
            <a:r>
              <a:rPr lang="zh-CN" altLang="en-US" sz="2000" b="1" dirty="0">
                <a:solidFill>
                  <a:srgbClr val="0000FF"/>
                </a:solidFill>
                <a:latin typeface="+mn-ea"/>
              </a:rPr>
              <a:t>将会根据输入的文字过滤不符合条件的选项</a:t>
            </a:r>
          </a:p>
        </p:txBody>
      </p:sp>
    </p:spTree>
    <p:extLst>
      <p:ext uri="{BB962C8B-B14F-4D97-AF65-F5344CB8AC3E}">
        <p14:creationId xmlns:p14="http://schemas.microsoft.com/office/powerpoint/2010/main" val="272959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例</a:t>
            </a:r>
            <a:r>
              <a:rPr lang="en-US" altLang="zh-CN" sz="2800" b="1" dirty="0">
                <a:solidFill>
                  <a:srgbClr val="0000FF"/>
                </a:solidFill>
                <a:latin typeface="+mn-ea"/>
                <a:ea typeface="+mn-ea"/>
              </a:rPr>
              <a:t>5-4</a:t>
            </a: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1627369" cy="637675"/>
          </a:xfrm>
          <a:prstGeom prst="rect">
            <a:avLst/>
          </a:prstGeom>
        </p:spPr>
        <p:txBody>
          <a:bodyPr wrap="none">
            <a:spAutoFit/>
          </a:bodyPr>
          <a:lstStyle/>
          <a:p>
            <a:pPr>
              <a:lnSpc>
                <a:spcPct val="150000"/>
              </a:lnSpc>
              <a:buClr>
                <a:schemeClr val="accent6"/>
              </a:buClr>
            </a:pPr>
            <a:r>
              <a:rPr lang="zh-CN" altLang="en-US" sz="2800" b="1" dirty="0">
                <a:solidFill>
                  <a:srgbClr val="0000FF"/>
                </a:solidFill>
                <a:effectLst>
                  <a:outerShdw blurRad="38100" dist="38100" dir="2700000" algn="tl">
                    <a:srgbClr val="000000">
                      <a:alpha val="43137"/>
                    </a:srgbClr>
                  </a:outerShdw>
                </a:effectLst>
                <a:latin typeface="+mn-ea"/>
                <a:ea typeface="+mn-ea"/>
              </a:rPr>
              <a:t>详见代码</a:t>
            </a:r>
          </a:p>
        </p:txBody>
      </p:sp>
      <p:grpSp>
        <p:nvGrpSpPr>
          <p:cNvPr id="9" name="画布 304">
            <a:extLst>
              <a:ext uri="{FF2B5EF4-FFF2-40B4-BE49-F238E27FC236}">
                <a16:creationId xmlns:a16="http://schemas.microsoft.com/office/drawing/2014/main" id="{4CD09E2A-6BA4-4458-8C40-AFC351AB3E80}"/>
              </a:ext>
            </a:extLst>
          </p:cNvPr>
          <p:cNvGrpSpPr/>
          <p:nvPr/>
        </p:nvGrpSpPr>
        <p:grpSpPr>
          <a:xfrm>
            <a:off x="967557" y="2565604"/>
            <a:ext cx="9865096" cy="3931577"/>
            <a:chOff x="0" y="0"/>
            <a:chExt cx="5274310" cy="2151380"/>
          </a:xfrm>
        </p:grpSpPr>
        <p:sp>
          <p:nvSpPr>
            <p:cNvPr id="10" name="矩形 9">
              <a:extLst>
                <a:ext uri="{FF2B5EF4-FFF2-40B4-BE49-F238E27FC236}">
                  <a16:creationId xmlns:a16="http://schemas.microsoft.com/office/drawing/2014/main" id="{69C74C81-7C5F-4910-A41C-C5CF1C0FDDC7}"/>
                </a:ext>
              </a:extLst>
            </p:cNvPr>
            <p:cNvSpPr/>
            <p:nvPr/>
          </p:nvSpPr>
          <p:spPr>
            <a:xfrm>
              <a:off x="0" y="0"/>
              <a:ext cx="5274310" cy="2151380"/>
            </a:xfrm>
            <a:prstGeom prst="rect">
              <a:avLst/>
            </a:prstGeom>
          </p:spPr>
        </p:sp>
        <p:pic>
          <p:nvPicPr>
            <p:cNvPr id="11" name="图片 10">
              <a:extLst>
                <a:ext uri="{FF2B5EF4-FFF2-40B4-BE49-F238E27FC236}">
                  <a16:creationId xmlns:a16="http://schemas.microsoft.com/office/drawing/2014/main" id="{FDE30AD5-92C8-457C-A6FF-3BD43B35CBC8}"/>
                </a:ext>
              </a:extLst>
            </p:cNvPr>
            <p:cNvPicPr/>
            <p:nvPr/>
          </p:nvPicPr>
          <p:blipFill>
            <a:blip r:embed="rId3"/>
            <a:stretch>
              <a:fillRect/>
            </a:stretch>
          </p:blipFill>
          <p:spPr>
            <a:xfrm>
              <a:off x="2602585" y="1159521"/>
              <a:ext cx="1417955" cy="789940"/>
            </a:xfrm>
            <a:prstGeom prst="rect">
              <a:avLst/>
            </a:prstGeom>
          </p:spPr>
        </p:pic>
        <p:pic>
          <p:nvPicPr>
            <p:cNvPr id="12" name="图片 11">
              <a:extLst>
                <a:ext uri="{FF2B5EF4-FFF2-40B4-BE49-F238E27FC236}">
                  <a16:creationId xmlns:a16="http://schemas.microsoft.com/office/drawing/2014/main" id="{4D99F999-400C-43D3-A382-D5FAB775F0A9}"/>
                </a:ext>
              </a:extLst>
            </p:cNvPr>
            <p:cNvPicPr/>
            <p:nvPr/>
          </p:nvPicPr>
          <p:blipFill>
            <a:blip r:embed="rId4"/>
            <a:stretch>
              <a:fillRect/>
            </a:stretch>
          </p:blipFill>
          <p:spPr>
            <a:xfrm>
              <a:off x="2587668" y="15341"/>
              <a:ext cx="1312369" cy="881050"/>
            </a:xfrm>
            <a:prstGeom prst="rect">
              <a:avLst/>
            </a:prstGeom>
          </p:spPr>
        </p:pic>
        <p:pic>
          <p:nvPicPr>
            <p:cNvPr id="13" name="图片 12">
              <a:extLst>
                <a:ext uri="{FF2B5EF4-FFF2-40B4-BE49-F238E27FC236}">
                  <a16:creationId xmlns:a16="http://schemas.microsoft.com/office/drawing/2014/main" id="{AFDBE9BD-2657-465E-87D5-901C5C29FE6D}"/>
                </a:ext>
              </a:extLst>
            </p:cNvPr>
            <p:cNvPicPr/>
            <p:nvPr/>
          </p:nvPicPr>
          <p:blipFill>
            <a:blip r:embed="rId5"/>
            <a:stretch>
              <a:fillRect/>
            </a:stretch>
          </p:blipFill>
          <p:spPr>
            <a:xfrm>
              <a:off x="4171951" y="91552"/>
              <a:ext cx="919537" cy="1790804"/>
            </a:xfrm>
            <a:prstGeom prst="rect">
              <a:avLst/>
            </a:prstGeom>
          </p:spPr>
        </p:pic>
        <p:pic>
          <p:nvPicPr>
            <p:cNvPr id="14" name="图片 13">
              <a:extLst>
                <a:ext uri="{FF2B5EF4-FFF2-40B4-BE49-F238E27FC236}">
                  <a16:creationId xmlns:a16="http://schemas.microsoft.com/office/drawing/2014/main" id="{2616E55B-164A-44FB-AC13-D39423414C29}"/>
                </a:ext>
              </a:extLst>
            </p:cNvPr>
            <p:cNvPicPr>
              <a:picLocks noChangeAspect="1"/>
            </p:cNvPicPr>
            <p:nvPr/>
          </p:nvPicPr>
          <p:blipFill>
            <a:blip r:embed="rId6"/>
            <a:stretch>
              <a:fillRect/>
            </a:stretch>
          </p:blipFill>
          <p:spPr>
            <a:xfrm>
              <a:off x="0" y="0"/>
              <a:ext cx="2471379" cy="2151380"/>
            </a:xfrm>
            <a:prstGeom prst="rect">
              <a:avLst/>
            </a:prstGeom>
          </p:spPr>
        </p:pic>
      </p:grpSp>
    </p:spTree>
    <p:extLst>
      <p:ext uri="{BB962C8B-B14F-4D97-AF65-F5344CB8AC3E}">
        <p14:creationId xmlns:p14="http://schemas.microsoft.com/office/powerpoint/2010/main" val="162903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&lt;progress&gt;</a:t>
            </a:r>
            <a:r>
              <a:rPr lang="zh-CN" altLang="en-US" sz="2800" b="1" dirty="0">
                <a:solidFill>
                  <a:srgbClr val="0000FF"/>
                </a:solidFill>
                <a:latin typeface="+mn-ea"/>
                <a:ea typeface="+mn-ea"/>
              </a:rPr>
              <a:t>、</a:t>
            </a:r>
            <a:r>
              <a:rPr lang="en-US" altLang="zh-CN" sz="2800" b="1" dirty="0">
                <a:solidFill>
                  <a:srgbClr val="0000FF"/>
                </a:solidFill>
                <a:latin typeface="+mn-ea"/>
                <a:ea typeface="+mn-ea"/>
              </a:rPr>
              <a:t>&lt;meter&gt;</a:t>
            </a:r>
            <a:r>
              <a:rPr lang="zh-CN" altLang="en-US" sz="2800" b="1" dirty="0">
                <a:solidFill>
                  <a:srgbClr val="0000FF"/>
                </a:solidFill>
                <a:latin typeface="+mn-ea"/>
                <a:ea typeface="+mn-ea"/>
              </a:rPr>
              <a:t>控件</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2882520"/>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&lt;progress&gt;</a:t>
            </a: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&lt;progress&gt;</a:t>
            </a:r>
            <a:r>
              <a:rPr lang="zh-CN" altLang="en-US" sz="2000" b="1" dirty="0">
                <a:effectLst>
                  <a:outerShdw blurRad="38100" dist="38100" dir="2700000" algn="tl">
                    <a:srgbClr val="000000">
                      <a:alpha val="43137"/>
                    </a:srgbClr>
                  </a:outerShdw>
                </a:effectLst>
                <a:latin typeface="+mn-ea"/>
                <a:ea typeface="+mn-ea"/>
              </a:rPr>
              <a:t>控件用于表示进度</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000" b="1" dirty="0">
                <a:effectLst>
                  <a:outerShdw blurRad="38100" dist="38100" dir="2700000" algn="tl">
                    <a:srgbClr val="000000">
                      <a:alpha val="43137"/>
                    </a:srgbClr>
                  </a:outerShdw>
                </a:effectLst>
                <a:latin typeface="+mn-ea"/>
                <a:ea typeface="+mn-ea"/>
              </a:rPr>
              <a:t>两种状态</a:t>
            </a:r>
            <a:endParaRPr lang="en-US" altLang="zh-CN" sz="2000" b="1" dirty="0">
              <a:effectLst>
                <a:outerShdw blurRad="38100" dist="38100" dir="2700000" algn="tl">
                  <a:srgbClr val="000000">
                    <a:alpha val="43137"/>
                  </a:srgbClr>
                </a:outerShdw>
              </a:effectLst>
              <a:latin typeface="+mn-ea"/>
              <a:ea typeface="+mn-ea"/>
            </a:endParaRPr>
          </a:p>
          <a:p>
            <a:pPr marL="1328738" lvl="2" indent="-342900">
              <a:lnSpc>
                <a:spcPct val="150000"/>
              </a:lnSpc>
              <a:buClr>
                <a:schemeClr val="accent6"/>
              </a:buClr>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mn-ea"/>
                <a:ea typeface="+mn-ea"/>
              </a:rPr>
              <a:t>不确定进度：</a:t>
            </a:r>
            <a:r>
              <a:rPr lang="zh-CN" altLang="zh-CN" dirty="0">
                <a:solidFill>
                  <a:srgbClr val="0000FF"/>
                </a:solidFill>
                <a:effectLst>
                  <a:outerShdw blurRad="38100" dist="38100" dir="2700000" algn="tl">
                    <a:srgbClr val="000000">
                      <a:alpha val="43137"/>
                    </a:srgbClr>
                  </a:outerShdw>
                </a:effectLst>
              </a:rPr>
              <a:t>来回滚动</a:t>
            </a:r>
            <a:endParaRPr lang="en-US" altLang="zh-CN" sz="2000" b="1" dirty="0">
              <a:solidFill>
                <a:srgbClr val="0000FF"/>
              </a:solidFill>
              <a:effectLst>
                <a:outerShdw blurRad="38100" dist="38100" dir="2700000" algn="tl">
                  <a:srgbClr val="000000">
                    <a:alpha val="43137"/>
                  </a:srgbClr>
                </a:outerShdw>
              </a:effectLst>
              <a:latin typeface="+mn-ea"/>
              <a:ea typeface="+mn-ea"/>
            </a:endParaRPr>
          </a:p>
          <a:p>
            <a:pPr marL="1328738" lvl="2" indent="-342900">
              <a:lnSpc>
                <a:spcPct val="150000"/>
              </a:lnSpc>
              <a:buClr>
                <a:schemeClr val="accent6"/>
              </a:buClr>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mn-ea"/>
                <a:ea typeface="+mn-ea"/>
              </a:rPr>
              <a:t>确定进度：</a:t>
            </a:r>
            <a:r>
              <a:rPr lang="zh-CN" altLang="en-US" sz="2000" dirty="0">
                <a:solidFill>
                  <a:srgbClr val="0000FF"/>
                </a:solidFill>
                <a:effectLst>
                  <a:outerShdw blurRad="38100" dist="38100" dir="2700000" algn="tl">
                    <a:srgbClr val="000000">
                      <a:alpha val="43137"/>
                    </a:srgbClr>
                  </a:outerShdw>
                </a:effectLst>
                <a:latin typeface="+mn-ea"/>
                <a:ea typeface="+mn-ea"/>
              </a:rPr>
              <a:t>通过计算</a:t>
            </a:r>
            <a:r>
              <a:rPr lang="en-US" altLang="zh-CN" sz="2000" dirty="0">
                <a:solidFill>
                  <a:srgbClr val="0000FF"/>
                </a:solidFill>
                <a:effectLst>
                  <a:outerShdw blurRad="38100" dist="38100" dir="2700000" algn="tl">
                    <a:srgbClr val="000000">
                      <a:alpha val="43137"/>
                    </a:srgbClr>
                  </a:outerShdw>
                </a:effectLst>
                <a:latin typeface="+mn-ea"/>
                <a:ea typeface="+mn-ea"/>
              </a:rPr>
              <a:t>value/max</a:t>
            </a:r>
            <a:r>
              <a:rPr lang="zh-CN" altLang="en-US" sz="2000" dirty="0">
                <a:solidFill>
                  <a:srgbClr val="0000FF"/>
                </a:solidFill>
                <a:effectLst>
                  <a:outerShdw blurRad="38100" dist="38100" dir="2700000" algn="tl">
                    <a:srgbClr val="000000">
                      <a:alpha val="43137"/>
                    </a:srgbClr>
                  </a:outerShdw>
                </a:effectLst>
                <a:latin typeface="+mn-ea"/>
                <a:ea typeface="+mn-ea"/>
              </a:rPr>
              <a:t>得到当前的进度情况</a:t>
            </a:r>
            <a:endParaRPr lang="en-US" altLang="zh-CN" sz="2000" dirty="0">
              <a:solidFill>
                <a:srgbClr val="0000FF"/>
              </a:solidFill>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Arial" panose="020B0604020202020204" pitchFamily="34" charset="0"/>
              <a:buChar char="•"/>
            </a:pPr>
            <a:endParaRPr lang="zh-CN" altLang="en-US" sz="2000" b="1" dirty="0">
              <a:effectLst>
                <a:outerShdw blurRad="38100" dist="38100" dir="2700000" algn="tl">
                  <a:srgbClr val="000000">
                    <a:alpha val="43137"/>
                  </a:srgbClr>
                </a:outerShdw>
              </a:effectLst>
              <a:latin typeface="+mn-ea"/>
              <a:ea typeface="+mn-ea"/>
            </a:endParaRPr>
          </a:p>
        </p:txBody>
      </p:sp>
      <p:graphicFrame>
        <p:nvGraphicFramePr>
          <p:cNvPr id="3" name="表格 2">
            <a:extLst>
              <a:ext uri="{FF2B5EF4-FFF2-40B4-BE49-F238E27FC236}">
                <a16:creationId xmlns:a16="http://schemas.microsoft.com/office/drawing/2014/main" id="{B4F4F2E0-B114-4804-9CCE-7F2390B15CF6}"/>
              </a:ext>
            </a:extLst>
          </p:cNvPr>
          <p:cNvGraphicFramePr>
            <a:graphicFrameLocks noGrp="1"/>
          </p:cNvGraphicFramePr>
          <p:nvPr>
            <p:extLst>
              <p:ext uri="{D42A27DB-BD31-4B8C-83A1-F6EECF244321}">
                <p14:modId xmlns:p14="http://schemas.microsoft.com/office/powerpoint/2010/main" val="2767420443"/>
              </p:ext>
            </p:extLst>
          </p:nvPr>
        </p:nvGraphicFramePr>
        <p:xfrm>
          <a:off x="816677" y="4570057"/>
          <a:ext cx="10528656" cy="1298484"/>
        </p:xfrm>
        <a:graphic>
          <a:graphicData uri="http://schemas.openxmlformats.org/drawingml/2006/table">
            <a:tbl>
              <a:tblPr firstRow="1" firstCol="1" bandRow="1"/>
              <a:tblGrid>
                <a:gridCol w="1231000">
                  <a:extLst>
                    <a:ext uri="{9D8B030D-6E8A-4147-A177-3AD203B41FA5}">
                      <a16:colId xmlns:a16="http://schemas.microsoft.com/office/drawing/2014/main" val="1228096783"/>
                    </a:ext>
                  </a:extLst>
                </a:gridCol>
                <a:gridCol w="360040">
                  <a:extLst>
                    <a:ext uri="{9D8B030D-6E8A-4147-A177-3AD203B41FA5}">
                      <a16:colId xmlns:a16="http://schemas.microsoft.com/office/drawing/2014/main" val="1020063982"/>
                    </a:ext>
                  </a:extLst>
                </a:gridCol>
                <a:gridCol w="8937616">
                  <a:extLst>
                    <a:ext uri="{9D8B030D-6E8A-4147-A177-3AD203B41FA5}">
                      <a16:colId xmlns:a16="http://schemas.microsoft.com/office/drawing/2014/main" val="1584136797"/>
                    </a:ext>
                  </a:extLst>
                </a:gridCol>
              </a:tblGrid>
              <a:tr h="432828">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20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550523"/>
                  </a:ext>
                </a:extLst>
              </a:tr>
              <a:tr h="432828">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value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表示当前进度的值，如果缺少值，则进度处于不确定状态，进度条将来回滚动</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0771966"/>
                  </a:ext>
                </a:extLst>
              </a:tr>
              <a:tr h="432828">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max</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最大值，通过</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value</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和</a:t>
                      </a:r>
                      <a:r>
                        <a:rPr lang="en-US" sz="2000" kern="0" dirty="0">
                          <a:effectLst/>
                          <a:latin typeface="Calibri" panose="020F0502020204030204" pitchFamily="34" charset="0"/>
                          <a:ea typeface="宋体" panose="02010600030101010101" pitchFamily="2" charset="-122"/>
                          <a:cs typeface="Times New Roman" panose="02020603050405020304" pitchFamily="18" charset="0"/>
                        </a:rPr>
                        <a:t>max</a:t>
                      </a:r>
                      <a:r>
                        <a:rPr lang="zh-CN" sz="2000" kern="0" dirty="0">
                          <a:effectLst/>
                          <a:latin typeface="Calibri" panose="020F0502020204030204" pitchFamily="34" charset="0"/>
                          <a:ea typeface="宋体" panose="02010600030101010101" pitchFamily="2" charset="-122"/>
                          <a:cs typeface="Times New Roman" panose="02020603050405020304" pitchFamily="18" charset="0"/>
                        </a:rPr>
                        <a:t>确定进度条显示的效果</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3269848"/>
                  </a:ext>
                </a:extLst>
              </a:tr>
            </a:tbl>
          </a:graphicData>
        </a:graphic>
      </p:graphicFrame>
      <p:pic>
        <p:nvPicPr>
          <p:cNvPr id="5122" name="图片 334" descr="https://www.w3school.com.cn/i/html5_new_note.png">
            <a:extLst>
              <a:ext uri="{FF2B5EF4-FFF2-40B4-BE49-F238E27FC236}">
                <a16:creationId xmlns:a16="http://schemas.microsoft.com/office/drawing/2014/main" id="{6F7C1675-3FF5-4D43-822A-9713EA680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669" y="5099819"/>
            <a:ext cx="296984" cy="2413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图片 335" descr="https://www.w3school.com.cn/i/html5_new_note.png">
            <a:extLst>
              <a:ext uri="{FF2B5EF4-FFF2-40B4-BE49-F238E27FC236}">
                <a16:creationId xmlns:a16="http://schemas.microsoft.com/office/drawing/2014/main" id="{5DCE2AB1-991C-40B0-A843-8C252662A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669" y="5517306"/>
            <a:ext cx="296984" cy="24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024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&lt;progress&gt;</a:t>
            </a:r>
            <a:r>
              <a:rPr lang="zh-CN" altLang="en-US" sz="2800" b="1" dirty="0">
                <a:solidFill>
                  <a:srgbClr val="0000FF"/>
                </a:solidFill>
                <a:latin typeface="+mn-ea"/>
                <a:ea typeface="+mn-ea"/>
              </a:rPr>
              <a:t>、</a:t>
            </a:r>
            <a:r>
              <a:rPr lang="en-US" altLang="zh-CN" sz="2800" b="1" dirty="0">
                <a:solidFill>
                  <a:srgbClr val="0000FF"/>
                </a:solidFill>
                <a:latin typeface="+mn-ea"/>
                <a:ea typeface="+mn-ea"/>
              </a:rPr>
              <a:t>&lt;meter&gt;</a:t>
            </a:r>
            <a:r>
              <a:rPr lang="zh-CN" altLang="en-US" sz="2800" b="1" dirty="0">
                <a:solidFill>
                  <a:srgbClr val="0000FF"/>
                </a:solidFill>
                <a:latin typeface="+mn-ea"/>
                <a:ea typeface="+mn-ea"/>
              </a:rPr>
              <a:t>控件</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1959191"/>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&lt;meter&gt;</a:t>
            </a: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&lt;progress&gt;</a:t>
            </a:r>
            <a:r>
              <a:rPr lang="zh-CN" altLang="en-US" sz="2000" b="1" dirty="0">
                <a:effectLst>
                  <a:outerShdw blurRad="38100" dist="38100" dir="2700000" algn="tl">
                    <a:srgbClr val="000000">
                      <a:alpha val="43137"/>
                    </a:srgbClr>
                  </a:outerShdw>
                </a:effectLst>
                <a:latin typeface="+mn-ea"/>
                <a:ea typeface="+mn-ea"/>
              </a:rPr>
              <a:t>控件表示已知范围内的标量，或小数，例如表示磁盘空间用量</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000" b="1" dirty="0">
                <a:effectLst>
                  <a:outerShdw blurRad="38100" dist="38100" dir="2700000" algn="tl">
                    <a:srgbClr val="000000">
                      <a:alpha val="43137"/>
                    </a:srgbClr>
                  </a:outerShdw>
                </a:effectLst>
                <a:latin typeface="+mn-ea"/>
                <a:ea typeface="+mn-ea"/>
              </a:rPr>
              <a:t>value</a:t>
            </a: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high</a:t>
            </a: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low</a:t>
            </a: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max</a:t>
            </a: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min</a:t>
            </a: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optimum</a:t>
            </a:r>
            <a:r>
              <a:rPr lang="zh-CN" altLang="en-US" sz="2000" b="1" dirty="0">
                <a:effectLst>
                  <a:outerShdw blurRad="38100" dist="38100" dir="2700000" algn="tl">
                    <a:srgbClr val="000000">
                      <a:alpha val="43137"/>
                    </a:srgbClr>
                  </a:outerShdw>
                </a:effectLst>
                <a:latin typeface="+mn-ea"/>
                <a:ea typeface="+mn-ea"/>
              </a:rPr>
              <a:t>六个属性可以用来表达不同的度量情况</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000" b="1" dirty="0">
                <a:effectLst>
                  <a:outerShdw blurRad="38100" dist="38100" dir="2700000" algn="tl">
                    <a:srgbClr val="000000">
                      <a:alpha val="43137"/>
                    </a:srgbClr>
                  </a:outerShdw>
                </a:effectLst>
                <a:latin typeface="+mn-ea"/>
                <a:ea typeface="+mn-ea"/>
              </a:rPr>
              <a:t>最优区域默认为绿色，次优区域为黄色，较差区域为红色</a:t>
            </a:r>
          </a:p>
        </p:txBody>
      </p:sp>
      <p:graphicFrame>
        <p:nvGraphicFramePr>
          <p:cNvPr id="4" name="表格 3">
            <a:extLst>
              <a:ext uri="{FF2B5EF4-FFF2-40B4-BE49-F238E27FC236}">
                <a16:creationId xmlns:a16="http://schemas.microsoft.com/office/drawing/2014/main" id="{5E9C3DCF-3B54-4B06-80A6-7C26F807E426}"/>
              </a:ext>
            </a:extLst>
          </p:cNvPr>
          <p:cNvGraphicFramePr>
            <a:graphicFrameLocks noGrp="1"/>
          </p:cNvGraphicFramePr>
          <p:nvPr>
            <p:extLst>
              <p:ext uri="{D42A27DB-BD31-4B8C-83A1-F6EECF244321}">
                <p14:modId xmlns:p14="http://schemas.microsoft.com/office/powerpoint/2010/main" val="1493666390"/>
              </p:ext>
            </p:extLst>
          </p:nvPr>
        </p:nvGraphicFramePr>
        <p:xfrm>
          <a:off x="808567" y="3564287"/>
          <a:ext cx="10543116" cy="3168350"/>
        </p:xfrm>
        <a:graphic>
          <a:graphicData uri="http://schemas.openxmlformats.org/drawingml/2006/table">
            <a:tbl>
              <a:tblPr firstRow="1" firstCol="1" bandRow="1"/>
              <a:tblGrid>
                <a:gridCol w="1798656">
                  <a:extLst>
                    <a:ext uri="{9D8B030D-6E8A-4147-A177-3AD203B41FA5}">
                      <a16:colId xmlns:a16="http://schemas.microsoft.com/office/drawing/2014/main" val="1369042271"/>
                    </a:ext>
                  </a:extLst>
                </a:gridCol>
                <a:gridCol w="598849">
                  <a:extLst>
                    <a:ext uri="{9D8B030D-6E8A-4147-A177-3AD203B41FA5}">
                      <a16:colId xmlns:a16="http://schemas.microsoft.com/office/drawing/2014/main" val="730426669"/>
                    </a:ext>
                  </a:extLst>
                </a:gridCol>
                <a:gridCol w="8145611">
                  <a:extLst>
                    <a:ext uri="{9D8B030D-6E8A-4147-A177-3AD203B41FA5}">
                      <a16:colId xmlns:a16="http://schemas.microsoft.com/office/drawing/2014/main" val="3148189377"/>
                    </a:ext>
                  </a:extLst>
                </a:gridCol>
              </a:tblGrid>
              <a:tr h="360951">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18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792899710"/>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form</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元素所属的一个或多个表单</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4860020"/>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value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度量的当前值，必须设置。如缺少</a:t>
                      </a:r>
                      <a:r>
                        <a:rPr lang="en-US" sz="1800" kern="0">
                          <a:effectLst/>
                          <a:latin typeface="Calibri" panose="020F0502020204030204" pitchFamily="34" charset="0"/>
                          <a:ea typeface="宋体" panose="02010600030101010101" pitchFamily="2" charset="-122"/>
                          <a:cs typeface="Times New Roman" panose="02020603050405020304" pitchFamily="18" charset="0"/>
                        </a:rPr>
                        <a:t>max</a:t>
                      </a:r>
                      <a:r>
                        <a:rPr lang="zh-CN" sz="1800" kern="0">
                          <a:effectLst/>
                          <a:latin typeface="Calibri" panose="020F0502020204030204" pitchFamily="34" charset="0"/>
                          <a:ea typeface="宋体" panose="02010600030101010101" pitchFamily="2" charset="-122"/>
                          <a:cs typeface="Times New Roman" panose="02020603050405020304" pitchFamily="18" charset="0"/>
                        </a:rPr>
                        <a:t>和</a:t>
                      </a:r>
                      <a:r>
                        <a:rPr lang="en-US" sz="1800" kern="0">
                          <a:effectLst/>
                          <a:latin typeface="Calibri" panose="020F0502020204030204" pitchFamily="34" charset="0"/>
                          <a:ea typeface="宋体" panose="02010600030101010101" pitchFamily="2" charset="-122"/>
                          <a:cs typeface="Times New Roman" panose="02020603050405020304" pitchFamily="18" charset="0"/>
                        </a:rPr>
                        <a:t>min</a:t>
                      </a:r>
                      <a:r>
                        <a:rPr lang="zh-CN" sz="1800" kern="0">
                          <a:effectLst/>
                          <a:latin typeface="Calibri" panose="020F0502020204030204" pitchFamily="34" charset="0"/>
                          <a:ea typeface="宋体" panose="02010600030101010101" pitchFamily="2" charset="-122"/>
                          <a:cs typeface="Times New Roman" panose="02020603050405020304" pitchFamily="18" charset="0"/>
                        </a:rPr>
                        <a:t>，</a:t>
                      </a:r>
                      <a:r>
                        <a:rPr lang="en-US" sz="1800" kern="0">
                          <a:effectLst/>
                          <a:latin typeface="Calibri" panose="020F0502020204030204" pitchFamily="34" charset="0"/>
                          <a:ea typeface="宋体" panose="02010600030101010101" pitchFamily="2" charset="-122"/>
                          <a:cs typeface="Times New Roman" panose="02020603050405020304" pitchFamily="18" charset="0"/>
                        </a:rPr>
                        <a:t>value</a:t>
                      </a:r>
                      <a:r>
                        <a:rPr lang="zh-CN" sz="1800" kern="0">
                          <a:effectLst/>
                          <a:latin typeface="Calibri" panose="020F0502020204030204" pitchFamily="34" charset="0"/>
                          <a:ea typeface="宋体" panose="02010600030101010101" pitchFamily="2" charset="-122"/>
                          <a:cs typeface="Times New Roman" panose="02020603050405020304" pitchFamily="18" charset="0"/>
                        </a:rPr>
                        <a:t>需要在</a:t>
                      </a:r>
                      <a:r>
                        <a:rPr lang="en-US" sz="1800" kern="0">
                          <a:effectLst/>
                          <a:latin typeface="Calibri" panose="020F0502020204030204" pitchFamily="34" charset="0"/>
                          <a:ea typeface="宋体" panose="02010600030101010101" pitchFamily="2" charset="-122"/>
                          <a:cs typeface="Times New Roman" panose="02020603050405020304" pitchFamily="18" charset="0"/>
                        </a:rPr>
                        <a:t>[0,1]</a:t>
                      </a:r>
                      <a:r>
                        <a:rPr lang="zh-CN" sz="1800" kern="0">
                          <a:effectLst/>
                          <a:latin typeface="Calibri" panose="020F0502020204030204" pitchFamily="34" charset="0"/>
                          <a:ea typeface="宋体" panose="02010600030101010101" pitchFamily="2" charset="-122"/>
                          <a:cs typeface="Times New Roman" panose="02020603050405020304" pitchFamily="18" charset="0"/>
                        </a:rPr>
                        <a:t>范围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5542901"/>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max</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度量的最大值，缺省值为</a:t>
                      </a:r>
                      <a:r>
                        <a:rPr lang="en-US" sz="1800" kern="0">
                          <a:effectLst/>
                          <a:latin typeface="Calibri" panose="020F0502020204030204" pitchFamily="34" charset="0"/>
                          <a:ea typeface="宋体" panose="02010600030101010101" pitchFamily="2" charset="-122"/>
                          <a:cs typeface="Times New Roman" panose="02020603050405020304" pitchFamily="18" charset="0"/>
                        </a:rPr>
                        <a:t>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5016283"/>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min</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度量的最小值，缺省值为</a:t>
                      </a:r>
                      <a:r>
                        <a:rPr lang="en-US" sz="1800" kern="0">
                          <a:effectLst/>
                          <a:latin typeface="Calibri" panose="020F0502020204030204" pitchFamily="34" charset="0"/>
                          <a:ea typeface="宋体" panose="02010600030101010101" pitchFamily="2" charset="-122"/>
                          <a:cs typeface="Times New Roman" panose="02020603050405020304" pitchFamily="18" charset="0"/>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3357774"/>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optimum</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最优值，缺省时默认为</a:t>
                      </a:r>
                      <a:r>
                        <a:rPr lang="en-US" sz="1800" kern="0">
                          <a:effectLst/>
                          <a:latin typeface="Calibri" panose="020F0502020204030204" pitchFamily="34" charset="0"/>
                          <a:ea typeface="宋体" panose="02010600030101010101" pitchFamily="2" charset="-122"/>
                          <a:cs typeface="Times New Roman" panose="02020603050405020304" pitchFamily="18" charset="0"/>
                        </a:rPr>
                        <a:t>max</a:t>
                      </a:r>
                      <a:r>
                        <a:rPr lang="zh-CN" sz="1800" kern="0">
                          <a:effectLst/>
                          <a:latin typeface="Calibri" panose="020F0502020204030204" pitchFamily="34" charset="0"/>
                          <a:ea typeface="宋体" panose="02010600030101010101" pitchFamily="2" charset="-122"/>
                          <a:cs typeface="Times New Roman" panose="02020603050405020304" pitchFamily="18" charset="0"/>
                        </a:rPr>
                        <a:t>和</a:t>
                      </a:r>
                      <a:r>
                        <a:rPr lang="en-US" sz="1800" kern="0">
                          <a:effectLst/>
                          <a:latin typeface="Calibri" panose="020F0502020204030204" pitchFamily="34" charset="0"/>
                          <a:ea typeface="宋体" panose="02010600030101010101" pitchFamily="2" charset="-122"/>
                          <a:cs typeface="Times New Roman" panose="02020603050405020304" pitchFamily="18" charset="0"/>
                        </a:rPr>
                        <a:t>min</a:t>
                      </a:r>
                      <a:r>
                        <a:rPr lang="zh-CN" sz="1800" kern="0">
                          <a:effectLst/>
                          <a:latin typeface="Calibri" panose="020F0502020204030204" pitchFamily="34" charset="0"/>
                          <a:ea typeface="宋体" panose="02010600030101010101" pitchFamily="2" charset="-122"/>
                          <a:cs typeface="Times New Roman" panose="02020603050405020304" pitchFamily="18" charset="0"/>
                        </a:rPr>
                        <a:t>的中间值</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0637461"/>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high</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dirty="0">
                          <a:effectLst/>
                          <a:latin typeface="宋体" panose="02010600030101010101" pitchFamily="2" charset="-122"/>
                          <a:ea typeface="宋体" panose="02010600030101010101" pitchFamily="2" charset="-122"/>
                          <a:cs typeface="Times New Roman" panose="02020603050405020304" pitchFamily="18" charset="0"/>
                        </a:rPr>
                        <a:t>value</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被视作高值的边界，缺省值等于</a:t>
                      </a:r>
                      <a:r>
                        <a:rPr lang="en-US" sz="1800" kern="0" dirty="0">
                          <a:effectLst/>
                          <a:latin typeface="Calibri" panose="020F0502020204030204" pitchFamily="34" charset="0"/>
                          <a:ea typeface="宋体" panose="02010600030101010101" pitchFamily="2" charset="-122"/>
                          <a:cs typeface="Times New Roman" panose="02020603050405020304" pitchFamily="18" charset="0"/>
                        </a:rPr>
                        <a:t>max</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716010"/>
                  </a:ext>
                </a:extLst>
              </a:tr>
              <a:tr h="401057">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low</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dirty="0">
                          <a:effectLst/>
                          <a:latin typeface="宋体" panose="02010600030101010101" pitchFamily="2" charset="-122"/>
                          <a:ea typeface="宋体" panose="02010600030101010101" pitchFamily="2" charset="-122"/>
                          <a:cs typeface="Times New Roman" panose="02020603050405020304" pitchFamily="18" charset="0"/>
                        </a:rPr>
                        <a:t>value</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被视作低值的边界，缺省值等于</a:t>
                      </a:r>
                      <a:r>
                        <a:rPr lang="en-US" sz="1800" kern="0" dirty="0">
                          <a:effectLst/>
                          <a:latin typeface="Calibri" panose="020F0502020204030204" pitchFamily="34" charset="0"/>
                          <a:ea typeface="宋体" panose="02010600030101010101" pitchFamily="2" charset="-122"/>
                          <a:cs typeface="Times New Roman" panose="02020603050405020304" pitchFamily="18" charset="0"/>
                        </a:rPr>
                        <a:t>min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6365079"/>
                  </a:ext>
                </a:extLst>
              </a:tr>
            </a:tbl>
          </a:graphicData>
        </a:graphic>
      </p:graphicFrame>
      <p:pic>
        <p:nvPicPr>
          <p:cNvPr id="6145" name="图片 2" descr="https://www.w3school.com.cn/i/html5_new_note.png">
            <a:extLst>
              <a:ext uri="{FF2B5EF4-FFF2-40B4-BE49-F238E27FC236}">
                <a16:creationId xmlns:a16="http://schemas.microsoft.com/office/drawing/2014/main" id="{284B920A-6085-48FE-95FC-3B073EFCC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3987882"/>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2" descr="https://www.w3school.com.cn/i/html5_new_note.png">
            <a:extLst>
              <a:ext uri="{FF2B5EF4-FFF2-40B4-BE49-F238E27FC236}">
                <a16:creationId xmlns:a16="http://schemas.microsoft.com/office/drawing/2014/main" id="{47634183-1342-4F9A-84C5-DA30B642E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4386064"/>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2" descr="https://www.w3school.com.cn/i/html5_new_note.png">
            <a:extLst>
              <a:ext uri="{FF2B5EF4-FFF2-40B4-BE49-F238E27FC236}">
                <a16:creationId xmlns:a16="http://schemas.microsoft.com/office/drawing/2014/main" id="{B4C2514B-FCA4-4C2A-A4D3-3961304A4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4788423"/>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2" descr="https://www.w3school.com.cn/i/html5_new_note.png">
            <a:extLst>
              <a:ext uri="{FF2B5EF4-FFF2-40B4-BE49-F238E27FC236}">
                <a16:creationId xmlns:a16="http://schemas.microsoft.com/office/drawing/2014/main" id="{FFBCFBE9-62D6-4E12-B492-6B1271B01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5198582"/>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22" name="图片 2" descr="https://www.w3school.com.cn/i/html5_new_note.png">
            <a:extLst>
              <a:ext uri="{FF2B5EF4-FFF2-40B4-BE49-F238E27FC236}">
                <a16:creationId xmlns:a16="http://schemas.microsoft.com/office/drawing/2014/main" id="{2AC6A316-96F4-414C-8E79-025F4DA17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5573922"/>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23" name="图片 2" descr="https://www.w3school.com.cn/i/html5_new_note.png">
            <a:extLst>
              <a:ext uri="{FF2B5EF4-FFF2-40B4-BE49-F238E27FC236}">
                <a16:creationId xmlns:a16="http://schemas.microsoft.com/office/drawing/2014/main" id="{46219916-7DE0-4DC0-B6E7-4F6C74961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6372599"/>
            <a:ext cx="323150" cy="296485"/>
          </a:xfrm>
          <a:prstGeom prst="rect">
            <a:avLst/>
          </a:prstGeom>
          <a:noFill/>
          <a:extLst>
            <a:ext uri="{909E8E84-426E-40DD-AFC4-6F175D3DCCD1}">
              <a14:hiddenFill xmlns:a14="http://schemas.microsoft.com/office/drawing/2010/main">
                <a:solidFill>
                  <a:srgbClr val="FFFFFF"/>
                </a:solidFill>
              </a14:hiddenFill>
            </a:ext>
          </a:extLst>
        </p:spPr>
      </p:pic>
      <p:pic>
        <p:nvPicPr>
          <p:cNvPr id="24" name="图片 2" descr="https://www.w3school.com.cn/i/html5_new_note.png">
            <a:extLst>
              <a:ext uri="{FF2B5EF4-FFF2-40B4-BE49-F238E27FC236}">
                <a16:creationId xmlns:a16="http://schemas.microsoft.com/office/drawing/2014/main" id="{DF43EFFD-8802-4F80-A9B1-0464E7CF3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315" y="5987173"/>
            <a:ext cx="323150" cy="296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609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&lt;progress&gt;</a:t>
            </a:r>
            <a:r>
              <a:rPr lang="zh-CN" altLang="en-US" sz="2800" b="1" dirty="0">
                <a:solidFill>
                  <a:srgbClr val="0000FF"/>
                </a:solidFill>
                <a:latin typeface="+mn-ea"/>
                <a:ea typeface="+mn-ea"/>
              </a:rPr>
              <a:t>、</a:t>
            </a:r>
            <a:r>
              <a:rPr lang="en-US" altLang="zh-CN" sz="2800" b="1" dirty="0">
                <a:solidFill>
                  <a:srgbClr val="0000FF"/>
                </a:solidFill>
                <a:latin typeface="+mn-ea"/>
                <a:ea typeface="+mn-ea"/>
              </a:rPr>
              <a:t>&lt;meter&gt;</a:t>
            </a:r>
            <a:r>
              <a:rPr lang="zh-CN" altLang="en-US" sz="2800" b="1" dirty="0">
                <a:solidFill>
                  <a:srgbClr val="0000FF"/>
                </a:solidFill>
                <a:latin typeface="+mn-ea"/>
                <a:ea typeface="+mn-ea"/>
              </a:rPr>
              <a:t>控件</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559769"/>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&lt;meter&gt;</a:t>
            </a:r>
          </a:p>
        </p:txBody>
      </p:sp>
      <p:sp>
        <p:nvSpPr>
          <p:cNvPr id="3" name="矩形 2">
            <a:extLst>
              <a:ext uri="{FF2B5EF4-FFF2-40B4-BE49-F238E27FC236}">
                <a16:creationId xmlns:a16="http://schemas.microsoft.com/office/drawing/2014/main" id="{E916C3E7-85B7-49AD-AF4B-EB7C5809EAEE}"/>
              </a:ext>
            </a:extLst>
          </p:cNvPr>
          <p:cNvSpPr/>
          <p:nvPr/>
        </p:nvSpPr>
        <p:spPr>
          <a:xfrm>
            <a:off x="471587" y="2204395"/>
            <a:ext cx="11217075" cy="3251852"/>
          </a:xfrm>
          <a:prstGeom prst="rect">
            <a:avLst/>
          </a:prstGeom>
        </p:spPr>
        <p:txBody>
          <a:bodyPr wrap="square">
            <a:spAutoFit/>
          </a:bodyPr>
          <a:lstStyle/>
          <a:p>
            <a:pPr indent="276225" algn="just">
              <a:lnSpc>
                <a:spcPct val="150000"/>
              </a:lnSpc>
              <a:spcAft>
                <a:spcPts val="0"/>
              </a:spcAft>
            </a:pP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三种不同的区域划分方式如下：</a:t>
            </a:r>
          </a:p>
          <a:p>
            <a:pPr indent="276225" algn="just">
              <a:lnSpc>
                <a:spcPct val="150000"/>
              </a:lnSpc>
              <a:spcAft>
                <a:spcPts val="0"/>
              </a:spcAft>
            </a:pP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optimum&lt;=low</a:t>
            </a:r>
          </a:p>
          <a:p>
            <a:pPr indent="276225" algn="just">
              <a:lnSpc>
                <a:spcPct val="150000"/>
              </a:lnSpc>
              <a:spcAft>
                <a:spcPts val="0"/>
              </a:spcAft>
            </a:pP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min,low</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称为最优区域，</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low,high</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称为次优区域，</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high,max</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称为更差区域；</a:t>
            </a:r>
          </a:p>
          <a:p>
            <a:pPr indent="276225" algn="just">
              <a:lnSpc>
                <a:spcPct val="150000"/>
              </a:lnSpc>
              <a:spcAft>
                <a:spcPts val="0"/>
              </a:spcAft>
            </a:pP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optimum=&gt;high</a:t>
            </a:r>
          </a:p>
          <a:p>
            <a:pPr indent="276225" algn="just">
              <a:lnSpc>
                <a:spcPct val="150000"/>
              </a:lnSpc>
              <a:spcAft>
                <a:spcPts val="0"/>
              </a:spcAft>
            </a:pP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与（</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）相反，</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high,max</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称为最优区域，</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low,high</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称为次优区域，</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min,low</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称为更差区域；</a:t>
            </a:r>
          </a:p>
          <a:p>
            <a:pPr indent="276225" algn="just">
              <a:lnSpc>
                <a:spcPct val="150000"/>
              </a:lnSpc>
              <a:spcAft>
                <a:spcPts val="0"/>
              </a:spcAft>
            </a:pP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low&lt;optimum&lt;high</a:t>
            </a:r>
          </a:p>
          <a:p>
            <a:pPr indent="276225" algn="just">
              <a:lnSpc>
                <a:spcPct val="150000"/>
              </a:lnSpc>
              <a:spcAft>
                <a:spcPts val="0"/>
              </a:spcAft>
            </a:pP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kern="100" dirty="0" err="1">
                <a:effectLst>
                  <a:outerShdw blurRad="38100" dist="38100" dir="2700000" algn="tl">
                    <a:srgbClr val="000000">
                      <a:alpha val="43137"/>
                    </a:srgbClr>
                  </a:outerShdw>
                </a:effectLst>
                <a:latin typeface="+mn-ea"/>
                <a:ea typeface="+mn-ea"/>
                <a:cs typeface="Times New Roman" panose="02020603050405020304" pitchFamily="18" charset="0"/>
              </a:rPr>
              <a:t>low,high</a:t>
            </a:r>
            <a:r>
              <a:rPr lang="en-US"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2000" b="1" kern="100" dirty="0">
                <a:effectLst>
                  <a:outerShdw blurRad="38100" dist="38100" dir="2700000" algn="tl">
                    <a:srgbClr val="000000">
                      <a:alpha val="43137"/>
                    </a:srgbClr>
                  </a:outerShdw>
                </a:effectLst>
                <a:latin typeface="+mn-ea"/>
                <a:ea typeface="+mn-ea"/>
                <a:cs typeface="Times New Roman" panose="02020603050405020304" pitchFamily="18" charset="0"/>
              </a:rPr>
              <a:t>称为最优区域，其余范围都称为次优区域，没有更差区域。</a:t>
            </a:r>
          </a:p>
        </p:txBody>
      </p:sp>
    </p:spTree>
    <p:extLst>
      <p:ext uri="{BB962C8B-B14F-4D97-AF65-F5344CB8AC3E}">
        <p14:creationId xmlns:p14="http://schemas.microsoft.com/office/powerpoint/2010/main" val="3806689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盒子模型进阶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182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zh-CN" sz="2800" b="1" dirty="0">
                <a:solidFill>
                  <a:srgbClr val="0000FF"/>
                </a:solidFill>
                <a:latin typeface="Times New Roman" panose="02020603050405020304" pitchFamily="18" charset="0"/>
                <a:cs typeface="Times New Roman" panose="02020603050405020304" pitchFamily="18" charset="0"/>
              </a:rPr>
              <a:t>例</a:t>
            </a:r>
            <a:r>
              <a:rPr lang="en-US" altLang="zh-CN" sz="2800" b="1" dirty="0">
                <a:solidFill>
                  <a:srgbClr val="0000FF"/>
                </a:solidFill>
                <a:latin typeface="Times New Roman" panose="02020603050405020304" pitchFamily="18" charset="0"/>
              </a:rPr>
              <a:t>5-5</a:t>
            </a:r>
          </a:p>
          <a:p>
            <a:pPr algn="just" eaLnBrk="1" hangingPunct="1">
              <a:spcBef>
                <a:spcPct val="50000"/>
              </a:spcBef>
            </a:pP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详见代码</a:t>
            </a:r>
            <a:endPar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ndParaRPr>
          </a:p>
          <a:p>
            <a:pPr algn="just" eaLnBrk="1" hangingPunct="1">
              <a:spcBef>
                <a:spcPct val="50000"/>
              </a:spcBef>
            </a:pPr>
            <a:endParaRPr lang="en-US" altLang="zh-CN" sz="2800" b="1" dirty="0">
              <a:solidFill>
                <a:srgbClr val="0000FF"/>
              </a:solidFill>
            </a:endParaRPr>
          </a:p>
        </p:txBody>
      </p:sp>
      <p:pic>
        <p:nvPicPr>
          <p:cNvPr id="9" name="图片 8">
            <a:extLst>
              <a:ext uri="{FF2B5EF4-FFF2-40B4-BE49-F238E27FC236}">
                <a16:creationId xmlns:a16="http://schemas.microsoft.com/office/drawing/2014/main" id="{6DFCF37E-3632-4237-A465-843568CC1108}"/>
              </a:ext>
            </a:extLst>
          </p:cNvPr>
          <p:cNvPicPr/>
          <p:nvPr/>
        </p:nvPicPr>
        <p:blipFill rotWithShape="1">
          <a:blip r:embed="rId3"/>
          <a:srcRect t="36122" b="2402"/>
          <a:stretch/>
        </p:blipFill>
        <p:spPr>
          <a:xfrm>
            <a:off x="5191053" y="2081441"/>
            <a:ext cx="6748921" cy="4266602"/>
          </a:xfrm>
          <a:prstGeom prst="rect">
            <a:avLst/>
          </a:prstGeom>
        </p:spPr>
      </p:pic>
      <p:pic>
        <p:nvPicPr>
          <p:cNvPr id="10" name="图片 9">
            <a:extLst>
              <a:ext uri="{FF2B5EF4-FFF2-40B4-BE49-F238E27FC236}">
                <a16:creationId xmlns:a16="http://schemas.microsoft.com/office/drawing/2014/main" id="{907E8931-45B7-4F74-A1F3-756CFCD8E982}"/>
              </a:ext>
            </a:extLst>
          </p:cNvPr>
          <p:cNvPicPr/>
          <p:nvPr/>
        </p:nvPicPr>
        <p:blipFill rotWithShape="1">
          <a:blip r:embed="rId3"/>
          <a:srcRect t="14967" r="38577" b="65564"/>
          <a:stretch/>
        </p:blipFill>
        <p:spPr>
          <a:xfrm>
            <a:off x="788650" y="2491816"/>
            <a:ext cx="4176463" cy="1584176"/>
          </a:xfrm>
          <a:prstGeom prst="rect">
            <a:avLst/>
          </a:prstGeom>
        </p:spPr>
      </p:pic>
      <p:sp>
        <p:nvSpPr>
          <p:cNvPr id="5" name="矩形 4">
            <a:extLst>
              <a:ext uri="{FF2B5EF4-FFF2-40B4-BE49-F238E27FC236}">
                <a16:creationId xmlns:a16="http://schemas.microsoft.com/office/drawing/2014/main" id="{28F18759-355A-4D5C-BF71-447A97AFF5B8}"/>
              </a:ext>
            </a:extLst>
          </p:cNvPr>
          <p:cNvSpPr/>
          <p:nvPr/>
        </p:nvSpPr>
        <p:spPr>
          <a:xfrm>
            <a:off x="741727" y="4251952"/>
            <a:ext cx="4449326" cy="1689373"/>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mn-ea"/>
                <a:ea typeface="+mn-ea"/>
              </a:rPr>
              <a:t>&lt;progress&gt;</a:t>
            </a:r>
            <a:r>
              <a:rPr lang="zh-CN" altLang="en-US" dirty="0">
                <a:effectLst>
                  <a:outerShdw blurRad="38100" dist="38100" dir="2700000" algn="tl">
                    <a:srgbClr val="000000">
                      <a:alpha val="43137"/>
                    </a:srgbClr>
                  </a:outerShdw>
                </a:effectLst>
                <a:latin typeface="+mn-ea"/>
                <a:ea typeface="+mn-ea"/>
              </a:rPr>
              <a:t>、</a:t>
            </a:r>
            <a:r>
              <a:rPr lang="en-US" altLang="zh-CN" dirty="0">
                <a:effectLst>
                  <a:outerShdw blurRad="38100" dist="38100" dir="2700000" algn="tl">
                    <a:srgbClr val="000000">
                      <a:alpha val="43137"/>
                    </a:srgbClr>
                  </a:outerShdw>
                </a:effectLst>
                <a:latin typeface="+mn-ea"/>
                <a:ea typeface="+mn-ea"/>
              </a:rPr>
              <a:t>&lt;meter&gt;</a:t>
            </a:r>
            <a:r>
              <a:rPr lang="zh-CN" altLang="en-US" dirty="0">
                <a:effectLst>
                  <a:outerShdw blurRad="38100" dist="38100" dir="2700000" algn="tl">
                    <a:srgbClr val="000000">
                      <a:alpha val="43137"/>
                    </a:srgbClr>
                  </a:outerShdw>
                </a:effectLst>
                <a:latin typeface="+mn-ea"/>
                <a:ea typeface="+mn-ea"/>
              </a:rPr>
              <a:t>两者在外观上比较相似，</a:t>
            </a:r>
            <a:r>
              <a:rPr lang="en-US" altLang="zh-CN" dirty="0">
                <a:effectLst>
                  <a:outerShdw blurRad="38100" dist="38100" dir="2700000" algn="tl">
                    <a:srgbClr val="000000">
                      <a:alpha val="43137"/>
                    </a:srgbClr>
                  </a:outerShdw>
                </a:effectLst>
                <a:latin typeface="+mn-ea"/>
                <a:ea typeface="+mn-ea"/>
              </a:rPr>
              <a:t>&lt;meter&gt;</a:t>
            </a:r>
            <a:r>
              <a:rPr lang="zh-CN" altLang="en-US" dirty="0">
                <a:effectLst>
                  <a:outerShdw blurRad="38100" dist="38100" dir="2700000" algn="tl">
                    <a:srgbClr val="000000">
                      <a:alpha val="43137"/>
                    </a:srgbClr>
                  </a:outerShdw>
                </a:effectLst>
                <a:latin typeface="+mn-ea"/>
                <a:ea typeface="+mn-ea"/>
              </a:rPr>
              <a:t>看上去就像</a:t>
            </a:r>
            <a:r>
              <a:rPr lang="en-US" altLang="zh-CN" dirty="0">
                <a:effectLst>
                  <a:outerShdw blurRad="38100" dist="38100" dir="2700000" algn="tl">
                    <a:srgbClr val="000000">
                      <a:alpha val="43137"/>
                    </a:srgbClr>
                  </a:outerShdw>
                </a:effectLst>
                <a:latin typeface="+mn-ea"/>
                <a:ea typeface="+mn-ea"/>
              </a:rPr>
              <a:t>&lt;progress&gt;</a:t>
            </a:r>
            <a:r>
              <a:rPr lang="zh-CN" altLang="en-US" dirty="0">
                <a:effectLst>
                  <a:outerShdw blurRad="38100" dist="38100" dir="2700000" algn="tl">
                    <a:srgbClr val="000000">
                      <a:alpha val="43137"/>
                    </a:srgbClr>
                  </a:outerShdw>
                </a:effectLst>
                <a:latin typeface="+mn-ea"/>
                <a:ea typeface="+mn-ea"/>
              </a:rPr>
              <a:t>，但是在实际使用时不建议混用，尤其不建议将</a:t>
            </a:r>
            <a:r>
              <a:rPr lang="en-US" altLang="zh-CN" dirty="0">
                <a:effectLst>
                  <a:outerShdw blurRad="38100" dist="38100" dir="2700000" algn="tl">
                    <a:srgbClr val="000000">
                      <a:alpha val="43137"/>
                    </a:srgbClr>
                  </a:outerShdw>
                </a:effectLst>
                <a:latin typeface="+mn-ea"/>
                <a:ea typeface="+mn-ea"/>
              </a:rPr>
              <a:t>&lt;meter&gt;</a:t>
            </a:r>
            <a:r>
              <a:rPr lang="zh-CN" altLang="en-US" dirty="0">
                <a:effectLst>
                  <a:outerShdw blurRad="38100" dist="38100" dir="2700000" algn="tl">
                    <a:srgbClr val="000000">
                      <a:alpha val="43137"/>
                    </a:srgbClr>
                  </a:outerShdw>
                </a:effectLst>
                <a:latin typeface="+mn-ea"/>
                <a:ea typeface="+mn-ea"/>
              </a:rPr>
              <a:t>当作进度条来使用</a:t>
            </a:r>
          </a:p>
        </p:txBody>
      </p:sp>
    </p:spTree>
    <p:extLst>
      <p:ext uri="{BB962C8B-B14F-4D97-AF65-F5344CB8AC3E}">
        <p14:creationId xmlns:p14="http://schemas.microsoft.com/office/powerpoint/2010/main" val="991023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表单控件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en-US" altLang="zh-CN" sz="2800" b="1" dirty="0">
                <a:solidFill>
                  <a:srgbClr val="0000FF"/>
                </a:solidFill>
                <a:latin typeface="+mn-ea"/>
                <a:ea typeface="+mn-ea"/>
              </a:rPr>
              <a:t>&lt;</a:t>
            </a:r>
            <a:r>
              <a:rPr lang="en-US" altLang="zh-CN" sz="2800" b="1" dirty="0" err="1">
                <a:solidFill>
                  <a:srgbClr val="0000FF"/>
                </a:solidFill>
                <a:latin typeface="+mn-ea"/>
                <a:ea typeface="+mn-ea"/>
              </a:rPr>
              <a:t>fieldset</a:t>
            </a:r>
            <a:r>
              <a:rPr lang="en-US" altLang="zh-CN" sz="2800" b="1" dirty="0">
                <a:solidFill>
                  <a:srgbClr val="0000FF"/>
                </a:solidFill>
                <a:latin typeface="+mn-ea"/>
                <a:ea typeface="+mn-ea"/>
              </a:rPr>
              <a:t>&gt;</a:t>
            </a:r>
            <a:r>
              <a:rPr lang="zh-CN" altLang="en-US" sz="2800" b="1" dirty="0">
                <a:solidFill>
                  <a:srgbClr val="0000FF"/>
                </a:solidFill>
                <a:latin typeface="+mn-ea"/>
                <a:ea typeface="+mn-ea"/>
              </a:rPr>
              <a:t>、</a:t>
            </a:r>
            <a:r>
              <a:rPr lang="en-US" altLang="zh-CN" sz="2800" b="1" dirty="0">
                <a:solidFill>
                  <a:srgbClr val="0000FF"/>
                </a:solidFill>
                <a:latin typeface="+mn-ea"/>
                <a:ea typeface="+mn-ea"/>
              </a:rPr>
              <a:t>&lt;legend&gt;</a:t>
            </a:r>
            <a:r>
              <a:rPr lang="zh-CN" altLang="en-US" sz="2800" b="1" dirty="0">
                <a:solidFill>
                  <a:srgbClr val="0000FF"/>
                </a:solidFill>
                <a:latin typeface="+mn-ea"/>
                <a:ea typeface="+mn-ea"/>
              </a:rPr>
              <a:t>控件</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2775760"/>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&lt;</a:t>
            </a:r>
            <a:r>
              <a:rPr lang="en-US" altLang="zh-CN" sz="2400" b="1" dirty="0" err="1">
                <a:effectLst>
                  <a:outerShdw blurRad="38100" dist="38100" dir="2700000" algn="tl">
                    <a:srgbClr val="000000">
                      <a:alpha val="43137"/>
                    </a:srgbClr>
                  </a:outerShdw>
                </a:effectLst>
                <a:latin typeface="+mn-ea"/>
                <a:ea typeface="+mn-ea"/>
              </a:rPr>
              <a:t>fieldset</a:t>
            </a:r>
            <a:r>
              <a:rPr lang="en-US" altLang="zh-CN" sz="2400" b="1" dirty="0">
                <a:effectLst>
                  <a:outerShdw blurRad="38100" dist="38100" dir="2700000" algn="tl">
                    <a:srgbClr val="000000">
                      <a:alpha val="43137"/>
                    </a:srgbClr>
                  </a:outerShdw>
                </a:effectLst>
                <a:latin typeface="+mn-ea"/>
                <a:ea typeface="+mn-ea"/>
              </a:rPr>
              <a:t>&gt;</a:t>
            </a:r>
          </a:p>
          <a:p>
            <a:pPr marL="835025" lvl="1"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rPr>
              <a:t>对表单中的元素（包括控件、标签和普通元素）进行分组</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rPr>
              <a:t>本身并不用于与用户直接进行交互</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Wingdings" panose="05000000000000000000" pitchFamily="2" charset="2"/>
              <a:buChar char="l"/>
            </a:pPr>
            <a:r>
              <a:rPr lang="en-US" altLang="zh-CN" sz="2400" b="1" dirty="0">
                <a:effectLst>
                  <a:outerShdw blurRad="38100" dist="38100" dir="2700000" algn="tl">
                    <a:srgbClr val="000000">
                      <a:alpha val="43137"/>
                    </a:srgbClr>
                  </a:outerShdw>
                </a:effectLst>
                <a:latin typeface="+mn-ea"/>
                <a:ea typeface="+mn-ea"/>
              </a:rPr>
              <a:t>&lt;</a:t>
            </a:r>
            <a:r>
              <a:rPr lang="en-US" altLang="zh-CN" sz="2400" b="1" dirty="0" err="1">
                <a:effectLst>
                  <a:outerShdw blurRad="38100" dist="38100" dir="2700000" algn="tl">
                    <a:srgbClr val="000000">
                      <a:alpha val="43137"/>
                    </a:srgbClr>
                  </a:outerShdw>
                </a:effectLst>
                <a:latin typeface="+mn-ea"/>
                <a:ea typeface="+mn-ea"/>
              </a:rPr>
              <a:t>fieldset</a:t>
            </a:r>
            <a:r>
              <a:rPr lang="en-US" altLang="zh-CN" sz="2400" b="1" dirty="0">
                <a:effectLst>
                  <a:outerShdw blurRad="38100" dist="38100" dir="2700000" algn="tl">
                    <a:srgbClr val="000000">
                      <a:alpha val="43137"/>
                    </a:srgbClr>
                  </a:outerShdw>
                </a:effectLst>
                <a:latin typeface="+mn-ea"/>
                <a:ea typeface="+mn-ea"/>
              </a:rPr>
              <a:t>&gt;</a:t>
            </a:r>
            <a:r>
              <a:rPr lang="zh-CN" altLang="en-US" sz="2400" b="1" dirty="0">
                <a:effectLst>
                  <a:outerShdw blurRad="38100" dist="38100" dir="2700000" algn="tl">
                    <a:srgbClr val="000000">
                      <a:alpha val="43137"/>
                    </a:srgbClr>
                  </a:outerShdw>
                </a:effectLst>
                <a:latin typeface="+mn-ea"/>
                <a:ea typeface="+mn-ea"/>
              </a:rPr>
              <a:t>可以添加最多一个</a:t>
            </a:r>
            <a:r>
              <a:rPr lang="en-US" altLang="zh-CN" sz="2400" b="1" dirty="0">
                <a:effectLst>
                  <a:outerShdw blurRad="38100" dist="38100" dir="2700000" algn="tl">
                    <a:srgbClr val="000000">
                      <a:alpha val="43137"/>
                    </a:srgbClr>
                  </a:outerShdw>
                </a:effectLst>
                <a:latin typeface="+mn-ea"/>
                <a:ea typeface="+mn-ea"/>
              </a:rPr>
              <a:t>&lt;legend&gt;</a:t>
            </a:r>
            <a:r>
              <a:rPr lang="zh-CN" altLang="en-US" sz="2400" b="1" dirty="0">
                <a:effectLst>
                  <a:outerShdw blurRad="38100" dist="38100" dir="2700000" algn="tl">
                    <a:srgbClr val="000000">
                      <a:alpha val="43137"/>
                    </a:srgbClr>
                  </a:outerShdw>
                </a:effectLst>
                <a:latin typeface="+mn-ea"/>
                <a:ea typeface="+mn-ea"/>
              </a:rPr>
              <a:t>元素作为分组的标题</a:t>
            </a:r>
          </a:p>
          <a:p>
            <a:pPr marL="342900" indent="-342900">
              <a:lnSpc>
                <a:spcPct val="150000"/>
              </a:lnSpc>
              <a:buClr>
                <a:schemeClr val="accent6"/>
              </a:buClr>
              <a:buFont typeface="Wingdings" pitchFamily="2" charset="2"/>
              <a:buChar char="ü"/>
            </a:pPr>
            <a:endParaRPr lang="en-US" altLang="zh-CN" sz="2400" b="1" dirty="0">
              <a:effectLst>
                <a:outerShdw blurRad="38100" dist="38100" dir="2700000" algn="tl">
                  <a:srgbClr val="000000">
                    <a:alpha val="43137"/>
                  </a:srgbClr>
                </a:outerShdw>
              </a:effectLst>
              <a:latin typeface="+mn-ea"/>
              <a:ea typeface="+mn-ea"/>
            </a:endParaRPr>
          </a:p>
        </p:txBody>
      </p:sp>
      <p:graphicFrame>
        <p:nvGraphicFramePr>
          <p:cNvPr id="5" name="表格 4">
            <a:extLst>
              <a:ext uri="{FF2B5EF4-FFF2-40B4-BE49-F238E27FC236}">
                <a16:creationId xmlns:a16="http://schemas.microsoft.com/office/drawing/2014/main" id="{712313EF-9B2F-49CD-80F7-AA330AD03FA6}"/>
              </a:ext>
            </a:extLst>
          </p:cNvPr>
          <p:cNvGraphicFramePr>
            <a:graphicFrameLocks noGrp="1"/>
          </p:cNvGraphicFramePr>
          <p:nvPr>
            <p:extLst>
              <p:ext uri="{D42A27DB-BD31-4B8C-83A1-F6EECF244321}">
                <p14:modId xmlns:p14="http://schemas.microsoft.com/office/powerpoint/2010/main" val="2830011918"/>
              </p:ext>
            </p:extLst>
          </p:nvPr>
        </p:nvGraphicFramePr>
        <p:xfrm>
          <a:off x="793593" y="4212357"/>
          <a:ext cx="10543116" cy="1741868"/>
        </p:xfrm>
        <a:graphic>
          <a:graphicData uri="http://schemas.openxmlformats.org/drawingml/2006/table">
            <a:tbl>
              <a:tblPr firstRow="1" firstCol="1" bandRow="1"/>
              <a:tblGrid>
                <a:gridCol w="1798656">
                  <a:extLst>
                    <a:ext uri="{9D8B030D-6E8A-4147-A177-3AD203B41FA5}">
                      <a16:colId xmlns:a16="http://schemas.microsoft.com/office/drawing/2014/main" val="4255107791"/>
                    </a:ext>
                  </a:extLst>
                </a:gridCol>
                <a:gridCol w="598849">
                  <a:extLst>
                    <a:ext uri="{9D8B030D-6E8A-4147-A177-3AD203B41FA5}">
                      <a16:colId xmlns:a16="http://schemas.microsoft.com/office/drawing/2014/main" val="3756127465"/>
                    </a:ext>
                  </a:extLst>
                </a:gridCol>
                <a:gridCol w="8145611">
                  <a:extLst>
                    <a:ext uri="{9D8B030D-6E8A-4147-A177-3AD203B41FA5}">
                      <a16:colId xmlns:a16="http://schemas.microsoft.com/office/drawing/2014/main" val="210315611"/>
                    </a:ext>
                  </a:extLst>
                </a:gridCol>
              </a:tblGrid>
              <a:tr h="435467">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属性名称</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en-US" sz="2000" b="1"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75448898"/>
                  </a:ext>
                </a:extLst>
              </a:tr>
              <a:tr h="435467">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name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分组名称，与</a:t>
                      </a:r>
                      <a:r>
                        <a:rPr lang="en-US" sz="2000" kern="0">
                          <a:effectLst/>
                          <a:latin typeface="Calibri" panose="020F0502020204030204" pitchFamily="34" charset="0"/>
                          <a:ea typeface="宋体" panose="02010600030101010101" pitchFamily="2" charset="-122"/>
                          <a:cs typeface="Times New Roman" panose="02020603050405020304" pitchFamily="18" charset="0"/>
                        </a:rPr>
                        <a:t>&lt;legend&gt;</a:t>
                      </a:r>
                      <a:r>
                        <a:rPr lang="zh-CN" sz="2000" kern="0">
                          <a:effectLst/>
                          <a:latin typeface="Calibri" panose="020F0502020204030204" pitchFamily="34" charset="0"/>
                          <a:ea typeface="宋体" panose="02010600030101010101" pitchFamily="2" charset="-122"/>
                          <a:cs typeface="Times New Roman" panose="02020603050405020304" pitchFamily="18" charset="0"/>
                        </a:rPr>
                        <a:t>标题无关，不会显示在界面</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3747393"/>
                  </a:ext>
                </a:extLst>
              </a:tr>
              <a:tr h="435467">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form</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000" kern="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将控件和一个</a:t>
                      </a:r>
                      <a:r>
                        <a:rPr lang="en-US" sz="2000" kern="0">
                          <a:effectLst/>
                          <a:latin typeface="Calibri" panose="020F0502020204030204" pitchFamily="34" charset="0"/>
                          <a:ea typeface="宋体" panose="02010600030101010101" pitchFamily="2" charset="-122"/>
                          <a:cs typeface="Times New Roman" panose="02020603050405020304" pitchFamily="18" charset="0"/>
                        </a:rPr>
                        <a:t>form</a:t>
                      </a:r>
                      <a:r>
                        <a:rPr lang="zh-CN" sz="2000" kern="0">
                          <a:effectLst/>
                          <a:latin typeface="Calibri" panose="020F0502020204030204" pitchFamily="34" charset="0"/>
                          <a:ea typeface="宋体" panose="02010600030101010101" pitchFamily="2" charset="-122"/>
                          <a:cs typeface="Times New Roman" panose="02020603050405020304" pitchFamily="18" charset="0"/>
                        </a:rPr>
                        <a:t>元素联系在一起</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9459816"/>
                  </a:ext>
                </a:extLst>
              </a:tr>
              <a:tr h="435467">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disabled</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 </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分组内的控件是否全部被禁用</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9823015"/>
                  </a:ext>
                </a:extLst>
              </a:tr>
            </a:tbl>
          </a:graphicData>
        </a:graphic>
      </p:graphicFrame>
      <p:pic>
        <p:nvPicPr>
          <p:cNvPr id="7170" name="图片 364" descr="https://www.w3school.com.cn/i/html5_new_note.png">
            <a:extLst>
              <a:ext uri="{FF2B5EF4-FFF2-40B4-BE49-F238E27FC236}">
                <a16:creationId xmlns:a16="http://schemas.microsoft.com/office/drawing/2014/main" id="{8B870230-84CC-4F75-B7B8-FEF4171B6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976" y="5154367"/>
            <a:ext cx="326682" cy="26543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3EB40F48-73D8-184B-ABDF-6069B8FA7BE7}"/>
              </a:ext>
            </a:extLst>
          </p:cNvPr>
          <p:cNvSpPr txBox="1"/>
          <p:nvPr/>
        </p:nvSpPr>
        <p:spPr>
          <a:xfrm>
            <a:off x="10929916" y="6228581"/>
            <a:ext cx="813586" cy="400110"/>
          </a:xfrm>
          <a:prstGeom prst="rect">
            <a:avLst/>
          </a:prstGeom>
          <a:noFill/>
        </p:spPr>
        <p:txBody>
          <a:bodyPr wrap="square">
            <a:spAutoFit/>
          </a:bodyPr>
          <a:lstStyle/>
          <a:p>
            <a:pPr algn="just" eaLnBrk="1" hangingPunct="1">
              <a:spcBef>
                <a:spcPct val="50000"/>
              </a:spcBef>
            </a:pPr>
            <a:r>
              <a:rPr lang="zh-CN" altLang="zh-CN" sz="2000" b="1" dirty="0">
                <a:solidFill>
                  <a:srgbClr val="0000FF"/>
                </a:solidFill>
                <a:latin typeface="Times New Roman" panose="02020603050405020304" pitchFamily="18" charset="0"/>
                <a:cs typeface="Times New Roman" panose="02020603050405020304" pitchFamily="18" charset="0"/>
              </a:rPr>
              <a:t>例</a:t>
            </a:r>
            <a:r>
              <a:rPr lang="en-US" altLang="zh-CN" sz="2000" b="1" dirty="0">
                <a:solidFill>
                  <a:srgbClr val="0000FF"/>
                </a:solidFill>
                <a:latin typeface="Times New Roman" panose="02020603050405020304" pitchFamily="18" charset="0"/>
              </a:rPr>
              <a:t>5-6</a:t>
            </a:r>
          </a:p>
        </p:txBody>
      </p:sp>
      <p:pic>
        <p:nvPicPr>
          <p:cNvPr id="9" name="图片 8">
            <a:extLst>
              <a:ext uri="{FF2B5EF4-FFF2-40B4-BE49-F238E27FC236}">
                <a16:creationId xmlns:a16="http://schemas.microsoft.com/office/drawing/2014/main" id="{474E5050-075F-4ACF-A4F3-60C1ACE383C0}"/>
              </a:ext>
            </a:extLst>
          </p:cNvPr>
          <p:cNvPicPr/>
          <p:nvPr/>
        </p:nvPicPr>
        <p:blipFill>
          <a:blip r:embed="rId4"/>
          <a:stretch>
            <a:fillRect/>
          </a:stretch>
        </p:blipFill>
        <p:spPr>
          <a:xfrm>
            <a:off x="6656189" y="1275691"/>
            <a:ext cx="5184576" cy="4952890"/>
          </a:xfrm>
          <a:prstGeom prst="rect">
            <a:avLst/>
          </a:prstGeom>
        </p:spPr>
      </p:pic>
    </p:spTree>
    <p:extLst>
      <p:ext uri="{BB962C8B-B14F-4D97-AF65-F5344CB8AC3E}">
        <p14:creationId xmlns:p14="http://schemas.microsoft.com/office/powerpoint/2010/main" val="152806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表单布局方式</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46E19304-9FDA-E941-B1C8-4714A971CEE4}"/>
              </a:ext>
            </a:extLst>
          </p:cNvPr>
          <p:cNvSpPr txBox="1"/>
          <p:nvPr/>
        </p:nvSpPr>
        <p:spPr>
          <a:xfrm>
            <a:off x="607517" y="4500389"/>
            <a:ext cx="5328592" cy="954107"/>
          </a:xfrm>
          <a:prstGeom prst="rect">
            <a:avLst/>
          </a:prstGeom>
          <a:noFill/>
        </p:spPr>
        <p:txBody>
          <a:bodyPr wrap="square">
            <a:spAutoFit/>
          </a:bodyPr>
          <a:lstStyle/>
          <a:p>
            <a:r>
              <a:rPr lang="zh-CN" altLang="en-US" sz="2800" b="1" dirty="0"/>
              <a:t>使得表单控件和标签在显示时呈现给用户较为整齐美观的效果</a:t>
            </a:r>
          </a:p>
        </p:txBody>
      </p:sp>
      <p:sp>
        <p:nvSpPr>
          <p:cNvPr id="7" name="云形标注 6">
            <a:extLst>
              <a:ext uri="{FF2B5EF4-FFF2-40B4-BE49-F238E27FC236}">
                <a16:creationId xmlns:a16="http://schemas.microsoft.com/office/drawing/2014/main" id="{DD7730BB-0DD8-9C44-A938-35741BD70E18}"/>
              </a:ext>
            </a:extLst>
          </p:cNvPr>
          <p:cNvSpPr/>
          <p:nvPr/>
        </p:nvSpPr>
        <p:spPr>
          <a:xfrm>
            <a:off x="1111572" y="1837422"/>
            <a:ext cx="3600400" cy="1800200"/>
          </a:xfrm>
          <a:prstGeom prst="cloudCallout">
            <a:avLst>
              <a:gd name="adj1" fmla="val 36311"/>
              <a:gd name="adj2" fmla="val 67035"/>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2400" dirty="0">
                <a:solidFill>
                  <a:schemeClr val="bg1"/>
                </a:solidFill>
              </a:rPr>
              <a:t>为什么</a:t>
            </a:r>
            <a:endParaRPr lang="en-US" altLang="zh-CN" sz="2400" dirty="0">
              <a:solidFill>
                <a:schemeClr val="bg1"/>
              </a:solidFill>
            </a:endParaRPr>
          </a:p>
          <a:p>
            <a:pPr algn="ctr"/>
            <a:r>
              <a:rPr lang="zh-CN" altLang="en-US" sz="2400" dirty="0">
                <a:solidFill>
                  <a:schemeClr val="bg1"/>
                </a:solidFill>
              </a:rPr>
              <a:t>需要为表单进行布局？</a:t>
            </a:r>
            <a:endParaRPr lang="en-US" altLang="zh-CN" sz="2400" dirty="0">
              <a:solidFill>
                <a:schemeClr val="bg1"/>
              </a:solidFill>
            </a:endParaRPr>
          </a:p>
        </p:txBody>
      </p:sp>
      <p:pic>
        <p:nvPicPr>
          <p:cNvPr id="13" name="图片 12">
            <a:extLst>
              <a:ext uri="{FF2B5EF4-FFF2-40B4-BE49-F238E27FC236}">
                <a16:creationId xmlns:a16="http://schemas.microsoft.com/office/drawing/2014/main" id="{301E4EBD-7AC9-7C41-9F6F-9F216CDE1720}"/>
              </a:ext>
            </a:extLst>
          </p:cNvPr>
          <p:cNvPicPr/>
          <p:nvPr/>
        </p:nvPicPr>
        <p:blipFill>
          <a:blip r:embed="rId3"/>
          <a:stretch>
            <a:fillRect/>
          </a:stretch>
        </p:blipFill>
        <p:spPr>
          <a:xfrm>
            <a:off x="6306596" y="1135306"/>
            <a:ext cx="4752528" cy="2227035"/>
          </a:xfrm>
          <a:prstGeom prst="rect">
            <a:avLst/>
          </a:prstGeom>
          <a:ln>
            <a:solidFill>
              <a:schemeClr val="bg2"/>
            </a:solidFill>
          </a:ln>
        </p:spPr>
      </p:pic>
      <p:pic>
        <p:nvPicPr>
          <p:cNvPr id="14" name="图片 13">
            <a:extLst>
              <a:ext uri="{FF2B5EF4-FFF2-40B4-BE49-F238E27FC236}">
                <a16:creationId xmlns:a16="http://schemas.microsoft.com/office/drawing/2014/main" id="{56BA835D-FC01-6142-9869-B6F1FF6012CC}"/>
              </a:ext>
            </a:extLst>
          </p:cNvPr>
          <p:cNvPicPr>
            <a:picLocks noChangeAspect="1"/>
          </p:cNvPicPr>
          <p:nvPr/>
        </p:nvPicPr>
        <p:blipFill>
          <a:blip r:embed="rId4"/>
          <a:stretch>
            <a:fillRect/>
          </a:stretch>
        </p:blipFill>
        <p:spPr>
          <a:xfrm>
            <a:off x="6236950" y="4137117"/>
            <a:ext cx="4891820" cy="2136934"/>
          </a:xfrm>
          <a:prstGeom prst="rect">
            <a:avLst/>
          </a:prstGeom>
        </p:spPr>
      </p:pic>
      <p:sp>
        <p:nvSpPr>
          <p:cNvPr id="10" name="下箭头 9">
            <a:extLst>
              <a:ext uri="{FF2B5EF4-FFF2-40B4-BE49-F238E27FC236}">
                <a16:creationId xmlns:a16="http://schemas.microsoft.com/office/drawing/2014/main" id="{B83B7A55-660F-F24E-9863-051987B3F1F7}"/>
              </a:ext>
            </a:extLst>
          </p:cNvPr>
          <p:cNvSpPr/>
          <p:nvPr/>
        </p:nvSpPr>
        <p:spPr>
          <a:xfrm>
            <a:off x="8240365" y="3637622"/>
            <a:ext cx="792088" cy="3587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27E415F0-C329-2748-9A28-3AF87A093D3C}"/>
              </a:ext>
            </a:extLst>
          </p:cNvPr>
          <p:cNvSpPr txBox="1"/>
          <p:nvPr/>
        </p:nvSpPr>
        <p:spPr>
          <a:xfrm>
            <a:off x="9248477" y="3616490"/>
            <a:ext cx="1640883" cy="369332"/>
          </a:xfrm>
          <a:prstGeom prst="rect">
            <a:avLst/>
          </a:prstGeom>
          <a:noFill/>
        </p:spPr>
        <p:txBody>
          <a:bodyPr wrap="square">
            <a:spAutoFit/>
          </a:bodyPr>
          <a:lstStyle/>
          <a:p>
            <a:r>
              <a:rPr lang="zh-CN" altLang="en-US" b="1" dirty="0"/>
              <a:t>增加样式</a:t>
            </a:r>
          </a:p>
        </p:txBody>
      </p:sp>
    </p:spTree>
    <p:extLst>
      <p:ext uri="{BB962C8B-B14F-4D97-AF65-F5344CB8AC3E}">
        <p14:creationId xmlns:p14="http://schemas.microsoft.com/office/powerpoint/2010/main" val="25252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1000" fill="hold"/>
                                        <p:tgtEl>
                                          <p:spTgt spid="13"/>
                                        </p:tgtEl>
                                        <p:attrNameLst>
                                          <p:attrName>ppt_w</p:attrName>
                                        </p:attrNameLst>
                                      </p:cBhvr>
                                      <p:tavLst>
                                        <p:tav tm="0">
                                          <p:val>
                                            <p:strVal val="#ppt_w*0.70"/>
                                          </p:val>
                                        </p:tav>
                                        <p:tav tm="100000">
                                          <p:val>
                                            <p:strVal val="#ppt_w"/>
                                          </p:val>
                                        </p:tav>
                                      </p:tavLst>
                                    </p:anim>
                                    <p:anim calcmode="lin" valueType="num">
                                      <p:cBhvr>
                                        <p:cTn id="14" dur="1000" fill="hold"/>
                                        <p:tgtEl>
                                          <p:spTgt spid="13"/>
                                        </p:tgtEl>
                                        <p:attrNameLst>
                                          <p:attrName>ppt_h</p:attrName>
                                        </p:attrNameLst>
                                      </p:cBhvr>
                                      <p:tavLst>
                                        <p:tav tm="0">
                                          <p:val>
                                            <p:strVal val="#ppt_h"/>
                                          </p:val>
                                        </p:tav>
                                        <p:tav tm="100000">
                                          <p:val>
                                            <p:strVal val="#ppt_h"/>
                                          </p:val>
                                        </p:tav>
                                      </p:tavLst>
                                    </p:anim>
                                    <p:animEffect transition="in" filter="fade">
                                      <p:cBhvr>
                                        <p:cTn id="15" dur="10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strips(downLeft)">
                                      <p:cBhvr>
                                        <p:cTn id="20" dur="500"/>
                                        <p:tgtEl>
                                          <p:spTgt spid="10"/>
                                        </p:tgtEl>
                                      </p:cBhvr>
                                    </p:animEffect>
                                  </p:childTnLst>
                                </p:cTn>
                              </p:par>
                              <p:par>
                                <p:cTn id="21" presetID="18" presetClass="entr" presetSubtype="12"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strips(down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表单布局方式</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2775760"/>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表格布局</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endParaRPr lang="en-US" altLang="zh-CN" sz="2400" b="1" dirty="0">
              <a:effectLst>
                <a:outerShdw blurRad="38100" dist="38100" dir="2700000" algn="tl">
                  <a:srgbClr val="000000">
                    <a:alpha val="43137"/>
                  </a:srgbClr>
                </a:outerShdw>
              </a:effectLst>
              <a:latin typeface="+mn-ea"/>
              <a:ea typeface="+mn-ea"/>
            </a:endParaRPr>
          </a:p>
        </p:txBody>
      </p:sp>
      <p:grpSp>
        <p:nvGrpSpPr>
          <p:cNvPr id="3" name="组合 2">
            <a:extLst>
              <a:ext uri="{FF2B5EF4-FFF2-40B4-BE49-F238E27FC236}">
                <a16:creationId xmlns:a16="http://schemas.microsoft.com/office/drawing/2014/main" id="{FD4E1348-2445-49F5-A88E-EB33305EF38F}"/>
              </a:ext>
            </a:extLst>
          </p:cNvPr>
          <p:cNvGrpSpPr/>
          <p:nvPr/>
        </p:nvGrpSpPr>
        <p:grpSpPr>
          <a:xfrm>
            <a:off x="1471613" y="2276581"/>
            <a:ext cx="1440160" cy="1664409"/>
            <a:chOff x="1471613" y="2276581"/>
            <a:chExt cx="1440160" cy="1664409"/>
          </a:xfrm>
        </p:grpSpPr>
        <p:sp>
          <p:nvSpPr>
            <p:cNvPr id="9" name="文本框 8">
              <a:extLst>
                <a:ext uri="{FF2B5EF4-FFF2-40B4-BE49-F238E27FC236}">
                  <a16:creationId xmlns:a16="http://schemas.microsoft.com/office/drawing/2014/main" id="{1F472F9C-392B-3A48-BD3B-99DBF9D3ADC7}"/>
                </a:ext>
              </a:extLst>
            </p:cNvPr>
            <p:cNvSpPr txBox="1"/>
            <p:nvPr/>
          </p:nvSpPr>
          <p:spPr>
            <a:xfrm>
              <a:off x="1802498" y="2276581"/>
              <a:ext cx="893251" cy="481863"/>
            </a:xfrm>
            <a:prstGeom prst="rect">
              <a:avLst/>
            </a:prstGeom>
            <a:noFill/>
          </p:spPr>
          <p:txBody>
            <a:bodyPr wrap="square">
              <a:spAutoFit/>
            </a:bodyPr>
            <a:lstStyle/>
            <a:p>
              <a:pPr>
                <a:lnSpc>
                  <a:spcPct val="150000"/>
                </a:lnSpc>
                <a:buClr>
                  <a:schemeClr val="accent6"/>
                </a:buClr>
              </a:pPr>
              <a:r>
                <a:rPr lang="zh-CN" altLang="en-US" sz="2000" b="1" dirty="0">
                  <a:solidFill>
                    <a:schemeClr val="accent6"/>
                  </a:solidFill>
                  <a:effectLst>
                    <a:outerShdw blurRad="38100" dist="38100" dir="2700000" algn="tl">
                      <a:srgbClr val="000000">
                        <a:alpha val="43137"/>
                      </a:srgbClr>
                    </a:outerShdw>
                  </a:effectLst>
                  <a:latin typeface="+mn-ea"/>
                  <a:ea typeface="+mn-ea"/>
                </a:rPr>
                <a:t>优点</a:t>
              </a:r>
              <a:endParaRPr lang="en-US" altLang="zh-CN" sz="2000" b="1" dirty="0">
                <a:solidFill>
                  <a:schemeClr val="accent6"/>
                </a:solidFill>
                <a:effectLst>
                  <a:outerShdw blurRad="38100" dist="38100" dir="2700000" algn="tl">
                    <a:srgbClr val="000000">
                      <a:alpha val="43137"/>
                    </a:srgbClr>
                  </a:outerShdw>
                </a:effectLst>
                <a:latin typeface="+mn-ea"/>
                <a:ea typeface="+mn-ea"/>
              </a:endParaRPr>
            </a:p>
          </p:txBody>
        </p:sp>
        <p:grpSp>
          <p:nvGrpSpPr>
            <p:cNvPr id="17" name="组合 16">
              <a:extLst>
                <a:ext uri="{FF2B5EF4-FFF2-40B4-BE49-F238E27FC236}">
                  <a16:creationId xmlns:a16="http://schemas.microsoft.com/office/drawing/2014/main" id="{3C6DB963-F356-EE4A-B077-7CC5711FB26E}"/>
                </a:ext>
              </a:extLst>
            </p:cNvPr>
            <p:cNvGrpSpPr/>
            <p:nvPr/>
          </p:nvGrpSpPr>
          <p:grpSpPr>
            <a:xfrm>
              <a:off x="1471613" y="2969184"/>
              <a:ext cx="1440160" cy="971806"/>
              <a:chOff x="1471613" y="2969184"/>
              <a:chExt cx="1440160" cy="971806"/>
            </a:xfrm>
          </p:grpSpPr>
          <p:sp>
            <p:nvSpPr>
              <p:cNvPr id="12" name="文本框 11">
                <a:extLst>
                  <a:ext uri="{FF2B5EF4-FFF2-40B4-BE49-F238E27FC236}">
                    <a16:creationId xmlns:a16="http://schemas.microsoft.com/office/drawing/2014/main" id="{F9F363CF-39DA-FF4F-ADE7-1B4417007C74}"/>
                  </a:ext>
                </a:extLst>
              </p:cNvPr>
              <p:cNvSpPr txBox="1"/>
              <p:nvPr/>
            </p:nvSpPr>
            <p:spPr>
              <a:xfrm>
                <a:off x="1471613" y="2969184"/>
                <a:ext cx="1440160" cy="461665"/>
              </a:xfrm>
              <a:prstGeom prst="rect">
                <a:avLst/>
              </a:prstGeom>
              <a:noFill/>
            </p:spPr>
            <p:txBody>
              <a:bodyPr wrap="square">
                <a:spAutoFit/>
              </a:bodyPr>
              <a:lstStyle/>
              <a:p>
                <a:r>
                  <a:rPr lang="zh-CN" altLang="zh-CN" sz="2400" dirty="0">
                    <a:effectLst/>
                    <a:ea typeface="宋体" panose="02010600030101010101" pitchFamily="2" charset="-122"/>
                    <a:cs typeface="Times New Roman" panose="02020603050405020304" pitchFamily="18" charset="0"/>
                  </a:rPr>
                  <a:t>整齐划一</a:t>
                </a:r>
                <a:r>
                  <a:rPr lang="zh-CN" altLang="zh-CN" sz="2400" dirty="0">
                    <a:effectLst/>
                  </a:rPr>
                  <a:t> </a:t>
                </a:r>
                <a:endParaRPr lang="zh-CN" altLang="en-US" sz="2400" dirty="0"/>
              </a:p>
            </p:txBody>
          </p:sp>
          <p:sp>
            <p:nvSpPr>
              <p:cNvPr id="14" name="文本框 13">
                <a:extLst>
                  <a:ext uri="{FF2B5EF4-FFF2-40B4-BE49-F238E27FC236}">
                    <a16:creationId xmlns:a16="http://schemas.microsoft.com/office/drawing/2014/main" id="{D893FC6A-FA2D-E84B-94DA-ACF7D428621C}"/>
                  </a:ext>
                </a:extLst>
              </p:cNvPr>
              <p:cNvSpPr txBox="1"/>
              <p:nvPr/>
            </p:nvSpPr>
            <p:spPr>
              <a:xfrm>
                <a:off x="1471613" y="3479325"/>
                <a:ext cx="1440160" cy="461665"/>
              </a:xfrm>
              <a:prstGeom prst="rect">
                <a:avLst/>
              </a:prstGeom>
              <a:noFill/>
            </p:spPr>
            <p:txBody>
              <a:bodyPr wrap="square">
                <a:spAutoFit/>
              </a:bodyPr>
              <a:lstStyle/>
              <a:p>
                <a:r>
                  <a:rPr lang="zh-CN" altLang="en-US" sz="2400" dirty="0">
                    <a:effectLst/>
                    <a:ea typeface="宋体" panose="02010600030101010101" pitchFamily="2" charset="-122"/>
                    <a:cs typeface="Times New Roman" panose="02020603050405020304" pitchFamily="18" charset="0"/>
                  </a:rPr>
                  <a:t>布局</a:t>
                </a:r>
                <a:r>
                  <a:rPr lang="zh-CN" altLang="zh-CN" sz="2400" dirty="0">
                    <a:effectLst/>
                    <a:ea typeface="宋体" panose="02010600030101010101" pitchFamily="2" charset="-122"/>
                    <a:cs typeface="Times New Roman" panose="02020603050405020304" pitchFamily="18" charset="0"/>
                  </a:rPr>
                  <a:t>简便</a:t>
                </a:r>
                <a:r>
                  <a:rPr lang="zh-CN" altLang="zh-CN" sz="2400" dirty="0">
                    <a:effectLst/>
                  </a:rPr>
                  <a:t> </a:t>
                </a:r>
                <a:endParaRPr lang="zh-CN" altLang="en-US" sz="2400" dirty="0"/>
              </a:p>
            </p:txBody>
          </p:sp>
        </p:grpSp>
      </p:grpSp>
      <p:grpSp>
        <p:nvGrpSpPr>
          <p:cNvPr id="4" name="组合 3">
            <a:extLst>
              <a:ext uri="{FF2B5EF4-FFF2-40B4-BE49-F238E27FC236}">
                <a16:creationId xmlns:a16="http://schemas.microsoft.com/office/drawing/2014/main" id="{CE562ECD-B194-43EA-99B8-7C5A45D4E527}"/>
              </a:ext>
            </a:extLst>
          </p:cNvPr>
          <p:cNvGrpSpPr/>
          <p:nvPr/>
        </p:nvGrpSpPr>
        <p:grpSpPr>
          <a:xfrm>
            <a:off x="5606389" y="2307023"/>
            <a:ext cx="4602543" cy="2562288"/>
            <a:chOff x="5606389" y="2307023"/>
            <a:chExt cx="4602543" cy="2562288"/>
          </a:xfrm>
        </p:grpSpPr>
        <p:sp>
          <p:nvSpPr>
            <p:cNvPr id="10" name="文本框 9">
              <a:extLst>
                <a:ext uri="{FF2B5EF4-FFF2-40B4-BE49-F238E27FC236}">
                  <a16:creationId xmlns:a16="http://schemas.microsoft.com/office/drawing/2014/main" id="{FB0A1EAD-392B-134A-93C1-37CD5103451D}"/>
                </a:ext>
              </a:extLst>
            </p:cNvPr>
            <p:cNvSpPr txBox="1"/>
            <p:nvPr/>
          </p:nvSpPr>
          <p:spPr>
            <a:xfrm>
              <a:off x="5633499" y="2307023"/>
              <a:ext cx="893251" cy="481863"/>
            </a:xfrm>
            <a:prstGeom prst="rect">
              <a:avLst/>
            </a:prstGeom>
            <a:noFill/>
          </p:spPr>
          <p:txBody>
            <a:bodyPr wrap="square">
              <a:spAutoFit/>
            </a:bodyPr>
            <a:lstStyle/>
            <a:p>
              <a:pPr>
                <a:lnSpc>
                  <a:spcPct val="150000"/>
                </a:lnSpc>
                <a:buClr>
                  <a:schemeClr val="accent6"/>
                </a:buClr>
              </a:pPr>
              <a:r>
                <a:rPr lang="zh-CN" altLang="en-US" sz="2000" b="1" dirty="0">
                  <a:solidFill>
                    <a:schemeClr val="accent6"/>
                  </a:solidFill>
                  <a:effectLst>
                    <a:outerShdw blurRad="38100" dist="38100" dir="2700000" algn="tl">
                      <a:srgbClr val="000000">
                        <a:alpha val="43137"/>
                      </a:srgbClr>
                    </a:outerShdw>
                  </a:effectLst>
                  <a:latin typeface="+mn-ea"/>
                  <a:ea typeface="+mn-ea"/>
                </a:rPr>
                <a:t>缺点</a:t>
              </a:r>
              <a:endParaRPr lang="en-US" altLang="zh-CN" sz="2000" b="1" dirty="0">
                <a:solidFill>
                  <a:schemeClr val="accent6"/>
                </a:solidFill>
                <a:effectLst>
                  <a:outerShdw blurRad="38100" dist="38100" dir="2700000" algn="tl">
                    <a:srgbClr val="000000">
                      <a:alpha val="43137"/>
                    </a:srgbClr>
                  </a:outerShdw>
                </a:effectLst>
                <a:latin typeface="+mn-ea"/>
                <a:ea typeface="+mn-ea"/>
              </a:endParaRPr>
            </a:p>
          </p:txBody>
        </p:sp>
        <p:grpSp>
          <p:nvGrpSpPr>
            <p:cNvPr id="20" name="组合 19">
              <a:extLst>
                <a:ext uri="{FF2B5EF4-FFF2-40B4-BE49-F238E27FC236}">
                  <a16:creationId xmlns:a16="http://schemas.microsoft.com/office/drawing/2014/main" id="{991C8289-1D4A-B745-827F-E7B0B8B8CD6B}"/>
                </a:ext>
              </a:extLst>
            </p:cNvPr>
            <p:cNvGrpSpPr/>
            <p:nvPr/>
          </p:nvGrpSpPr>
          <p:grpSpPr>
            <a:xfrm>
              <a:off x="5606389" y="3045732"/>
              <a:ext cx="4602543" cy="1823579"/>
              <a:chOff x="5606389" y="3045732"/>
              <a:chExt cx="4602543" cy="1823579"/>
            </a:xfrm>
          </p:grpSpPr>
          <p:sp>
            <p:nvSpPr>
              <p:cNvPr id="16" name="文本框 15">
                <a:extLst>
                  <a:ext uri="{FF2B5EF4-FFF2-40B4-BE49-F238E27FC236}">
                    <a16:creationId xmlns:a16="http://schemas.microsoft.com/office/drawing/2014/main" id="{F64FE9F9-85B7-0F4F-A891-B0AFF205B8B9}"/>
                  </a:ext>
                </a:extLst>
              </p:cNvPr>
              <p:cNvSpPr txBox="1"/>
              <p:nvPr/>
            </p:nvSpPr>
            <p:spPr>
              <a:xfrm>
                <a:off x="5608506" y="3045732"/>
                <a:ext cx="3495957" cy="461665"/>
              </a:xfrm>
              <a:prstGeom prst="rect">
                <a:avLst/>
              </a:prstGeom>
              <a:noFill/>
            </p:spPr>
            <p:txBody>
              <a:bodyPr wrap="square">
                <a:spAutoFit/>
              </a:bodyPr>
              <a:lstStyle/>
              <a:p>
                <a:r>
                  <a:rPr lang="zh-CN" altLang="zh-CN" sz="2400" dirty="0">
                    <a:effectLst/>
                    <a:ea typeface="宋体" panose="02010600030101010101" pitchFamily="2" charset="-122"/>
                    <a:cs typeface="Times New Roman" panose="02020603050405020304" pitchFamily="18" charset="0"/>
                  </a:rPr>
                  <a:t>逻辑顺序打乱</a:t>
                </a:r>
                <a:r>
                  <a:rPr lang="zh-CN" altLang="zh-CN" sz="2400" dirty="0">
                    <a:effectLst/>
                  </a:rPr>
                  <a:t> </a:t>
                </a:r>
                <a:endParaRPr lang="zh-CN" altLang="en-US" sz="2400" dirty="0"/>
              </a:p>
            </p:txBody>
          </p:sp>
          <p:sp>
            <p:nvSpPr>
              <p:cNvPr id="18" name="文本框 17">
                <a:extLst>
                  <a:ext uri="{FF2B5EF4-FFF2-40B4-BE49-F238E27FC236}">
                    <a16:creationId xmlns:a16="http://schemas.microsoft.com/office/drawing/2014/main" id="{E41DC5CA-3815-B843-A161-354C32B39628}"/>
                  </a:ext>
                </a:extLst>
              </p:cNvPr>
              <p:cNvSpPr txBox="1"/>
              <p:nvPr/>
            </p:nvSpPr>
            <p:spPr>
              <a:xfrm>
                <a:off x="5606389" y="3504332"/>
                <a:ext cx="4146144" cy="461665"/>
              </a:xfrm>
              <a:prstGeom prst="rect">
                <a:avLst/>
              </a:prstGeom>
              <a:noFill/>
            </p:spPr>
            <p:txBody>
              <a:bodyPr wrap="square">
                <a:spAutoFit/>
              </a:bodyPr>
              <a:lstStyle/>
              <a:p>
                <a:r>
                  <a:rPr lang="zh-CN" altLang="zh-CN" sz="2400" dirty="0">
                    <a:effectLst/>
                    <a:ea typeface="宋体" panose="02010600030101010101" pitchFamily="2" charset="-122"/>
                    <a:cs typeface="Times New Roman" panose="02020603050405020304" pitchFamily="18" charset="0"/>
                  </a:rPr>
                  <a:t>不利于搜索引擎抓取信息</a:t>
                </a:r>
                <a:r>
                  <a:rPr lang="zh-CN" altLang="zh-CN" sz="2400" dirty="0">
                    <a:effectLst/>
                  </a:rPr>
                  <a:t> </a:t>
                </a:r>
                <a:endParaRPr lang="zh-CN" altLang="en-US" sz="2400" dirty="0"/>
              </a:p>
            </p:txBody>
          </p:sp>
          <p:sp>
            <p:nvSpPr>
              <p:cNvPr id="13" name="文本框 12">
                <a:extLst>
                  <a:ext uri="{FF2B5EF4-FFF2-40B4-BE49-F238E27FC236}">
                    <a16:creationId xmlns:a16="http://schemas.microsoft.com/office/drawing/2014/main" id="{1CF17691-85AF-BD4F-95E0-0ACA2E21129B}"/>
                  </a:ext>
                </a:extLst>
              </p:cNvPr>
              <p:cNvSpPr txBox="1"/>
              <p:nvPr/>
            </p:nvSpPr>
            <p:spPr>
              <a:xfrm>
                <a:off x="5606390" y="3978339"/>
                <a:ext cx="3063659" cy="461665"/>
              </a:xfrm>
              <a:prstGeom prst="rect">
                <a:avLst/>
              </a:prstGeom>
              <a:noFill/>
            </p:spPr>
            <p:txBody>
              <a:bodyPr wrap="none" rtlCol="0">
                <a:spAutoFit/>
              </a:bodyPr>
              <a:lstStyle/>
              <a:p>
                <a:r>
                  <a:rPr lang="zh-CN" altLang="zh-CN" sz="2400" dirty="0"/>
                  <a:t>不利于后期维护修改 </a:t>
                </a:r>
                <a:endParaRPr kumimoji="1" lang="zh-CN" altLang="en-US" sz="2400" dirty="0"/>
              </a:p>
            </p:txBody>
          </p:sp>
          <p:sp>
            <p:nvSpPr>
              <p:cNvPr id="15" name="文本框 14">
                <a:extLst>
                  <a:ext uri="{FF2B5EF4-FFF2-40B4-BE49-F238E27FC236}">
                    <a16:creationId xmlns:a16="http://schemas.microsoft.com/office/drawing/2014/main" id="{9E904CCE-58E1-394F-9EBF-2BE29CE7ACFC}"/>
                  </a:ext>
                </a:extLst>
              </p:cNvPr>
              <p:cNvSpPr txBox="1"/>
              <p:nvPr/>
            </p:nvSpPr>
            <p:spPr>
              <a:xfrm>
                <a:off x="5606390" y="4407646"/>
                <a:ext cx="4602542" cy="461665"/>
              </a:xfrm>
              <a:prstGeom prst="rect">
                <a:avLst/>
              </a:prstGeom>
              <a:noFill/>
            </p:spPr>
            <p:txBody>
              <a:bodyPr wrap="none" rtlCol="0">
                <a:spAutoFit/>
              </a:bodyPr>
              <a:lstStyle/>
              <a:p>
                <a:r>
                  <a:rPr lang="zh-CN" altLang="zh-CN" sz="2400" dirty="0"/>
                  <a:t>元素较多</a:t>
                </a:r>
                <a:r>
                  <a:rPr lang="zh-CN" altLang="en-US" sz="2400" dirty="0"/>
                  <a:t>时，</a:t>
                </a:r>
                <a:r>
                  <a:rPr lang="zh-CN" altLang="zh-CN" sz="2400" dirty="0"/>
                  <a:t>文档结构过于复杂 </a:t>
                </a:r>
                <a:endParaRPr kumimoji="1" lang="zh-CN" altLang="en-US" sz="2400" dirty="0"/>
              </a:p>
            </p:txBody>
          </p:sp>
        </p:grpSp>
      </p:grpSp>
      <p:sp>
        <p:nvSpPr>
          <p:cNvPr id="5" name="矩形 4">
            <a:extLst>
              <a:ext uri="{FF2B5EF4-FFF2-40B4-BE49-F238E27FC236}">
                <a16:creationId xmlns:a16="http://schemas.microsoft.com/office/drawing/2014/main" id="{F9D902C6-0C64-4666-9DB7-CEEF18FCF32F}"/>
              </a:ext>
            </a:extLst>
          </p:cNvPr>
          <p:cNvSpPr/>
          <p:nvPr/>
        </p:nvSpPr>
        <p:spPr>
          <a:xfrm>
            <a:off x="967557" y="4584375"/>
            <a:ext cx="6080125" cy="1572546"/>
          </a:xfrm>
          <a:prstGeom prst="rect">
            <a:avLst/>
          </a:prstGeom>
        </p:spPr>
        <p:txBody>
          <a:bodyPr>
            <a:spAutoFit/>
          </a:bodyPr>
          <a:lstStyle/>
          <a:p>
            <a:pPr marL="342900" indent="-342900">
              <a:lnSpc>
                <a:spcPct val="150000"/>
              </a:lnSpc>
              <a:buClr>
                <a:schemeClr val="accent6"/>
              </a:buClr>
              <a:buFont typeface="Wingdings" pitchFamily="2" charset="2"/>
              <a:buChar char="ü"/>
            </a:pPr>
            <a:endParaRPr lang="en-US" altLang="zh-CN" sz="2000" b="1" dirty="0">
              <a:effectLst>
                <a:outerShdw blurRad="38100" dist="38100" dir="2700000" algn="tl">
                  <a:srgbClr val="000000">
                    <a:alpha val="43137"/>
                  </a:srgbClr>
                </a:outerShdw>
              </a:effectLst>
              <a:latin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rPr>
              <a:t>适用场景</a:t>
            </a:r>
            <a:endParaRPr lang="en-US" altLang="zh-CN" sz="2000" b="1" dirty="0">
              <a:effectLst>
                <a:outerShdw blurRad="38100" dist="38100" dir="2700000" algn="tl">
                  <a:srgbClr val="000000">
                    <a:alpha val="43137"/>
                  </a:srgbClr>
                </a:outerShdw>
              </a:effectLst>
              <a:latin typeface="+mn-ea"/>
            </a:endParaRPr>
          </a:p>
          <a:p>
            <a:pPr>
              <a:lnSpc>
                <a:spcPct val="150000"/>
              </a:lnSpc>
              <a:buClr>
                <a:schemeClr val="accent6"/>
              </a:buClr>
            </a:pPr>
            <a:r>
              <a:rPr lang="zh-CN" altLang="zh-CN" sz="2000" dirty="0"/>
              <a:t>数据表格、表单等结构明确的局部界面</a:t>
            </a:r>
            <a:r>
              <a:rPr lang="zh-CN" altLang="zh-CN" sz="2800" dirty="0"/>
              <a:t> </a:t>
            </a:r>
            <a:endParaRPr lang="en-US" altLang="zh-CN" sz="2800" b="1" dirty="0">
              <a:effectLst>
                <a:outerShdw blurRad="38100" dist="38100" dir="2700000" algn="tl">
                  <a:srgbClr val="000000">
                    <a:alpha val="43137"/>
                  </a:srgbClr>
                </a:outerShdw>
              </a:effectLst>
              <a:latin typeface="+mn-ea"/>
            </a:endParaRPr>
          </a:p>
        </p:txBody>
      </p:sp>
    </p:spTree>
    <p:extLst>
      <p:ext uri="{BB962C8B-B14F-4D97-AF65-F5344CB8AC3E}">
        <p14:creationId xmlns:p14="http://schemas.microsoft.com/office/powerpoint/2010/main" val="278575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表单布局方式</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9901905" cy="4175182"/>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en-US" altLang="zh-CN" sz="2400" b="1" dirty="0">
                <a:effectLst>
                  <a:outerShdw blurRad="38100" dist="38100" dir="2700000" algn="tl">
                    <a:srgbClr val="000000">
                      <a:alpha val="43137"/>
                    </a:srgbClr>
                  </a:outerShdw>
                </a:effectLst>
                <a:latin typeface="+mn-ea"/>
                <a:ea typeface="+mn-ea"/>
              </a:rPr>
              <a:t>DIV</a:t>
            </a:r>
            <a:r>
              <a:rPr lang="zh-CN" altLang="en-US" sz="2400" b="1" dirty="0">
                <a:effectLst>
                  <a:outerShdw blurRad="38100" dist="38100" dir="2700000" algn="tl">
                    <a:srgbClr val="000000">
                      <a:alpha val="43137"/>
                    </a:srgbClr>
                  </a:outerShdw>
                </a:effectLst>
                <a:latin typeface="+mn-ea"/>
                <a:ea typeface="+mn-ea"/>
              </a:rPr>
              <a:t>布局</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zh-CN" sz="2400" b="1" dirty="0">
                <a:effectLst>
                  <a:outerShdw blurRad="38100" dist="38100" dir="2700000" algn="tl">
                    <a:srgbClr val="000000">
                      <a:alpha val="43137"/>
                    </a:srgbClr>
                  </a:outerShdw>
                </a:effectLst>
                <a:latin typeface="+mn-ea"/>
                <a:ea typeface="+mn-ea"/>
              </a:rPr>
              <a:t>泛指使用</a:t>
            </a:r>
            <a:r>
              <a:rPr lang="en-US" altLang="zh-CN" sz="2400" b="1" dirty="0">
                <a:effectLst>
                  <a:outerShdw blurRad="38100" dist="38100" dir="2700000" algn="tl">
                    <a:srgbClr val="000000">
                      <a:alpha val="43137"/>
                    </a:srgbClr>
                  </a:outerShdw>
                </a:effectLst>
                <a:latin typeface="+mn-ea"/>
                <a:ea typeface="+mn-ea"/>
              </a:rPr>
              <a:t>HTML</a:t>
            </a:r>
            <a:r>
              <a:rPr lang="zh-CN" altLang="zh-CN" sz="2400" b="1" dirty="0">
                <a:effectLst>
                  <a:outerShdw blurRad="38100" dist="38100" dir="2700000" algn="tl">
                    <a:srgbClr val="000000">
                      <a:alpha val="43137"/>
                    </a:srgbClr>
                  </a:outerShdw>
                </a:effectLst>
                <a:latin typeface="+mn-ea"/>
                <a:ea typeface="+mn-ea"/>
              </a:rPr>
              <a:t>元素（主要指</a:t>
            </a:r>
            <a:r>
              <a:rPr lang="en-US" altLang="zh-CN" sz="2400" b="1" dirty="0">
                <a:effectLst>
                  <a:outerShdw blurRad="38100" dist="38100" dir="2700000" algn="tl">
                    <a:srgbClr val="000000">
                      <a:alpha val="43137"/>
                    </a:srgbClr>
                  </a:outerShdw>
                </a:effectLst>
                <a:latin typeface="+mn-ea"/>
                <a:ea typeface="+mn-ea"/>
              </a:rPr>
              <a:t>&lt;div&gt;</a:t>
            </a:r>
            <a:r>
              <a:rPr lang="zh-CN" altLang="zh-CN" sz="2400" b="1" dirty="0">
                <a:effectLst>
                  <a:outerShdw blurRad="38100" dist="38100" dir="2700000" algn="tl">
                    <a:srgbClr val="000000">
                      <a:alpha val="43137"/>
                    </a:srgbClr>
                  </a:outerShdw>
                </a:effectLst>
                <a:latin typeface="+mn-ea"/>
                <a:ea typeface="+mn-ea"/>
              </a:rPr>
              <a:t>元素）和</a:t>
            </a:r>
            <a:r>
              <a:rPr lang="en-US" altLang="zh-CN" sz="2400" b="1" dirty="0">
                <a:effectLst>
                  <a:outerShdw blurRad="38100" dist="38100" dir="2700000" algn="tl">
                    <a:srgbClr val="000000">
                      <a:alpha val="43137"/>
                    </a:srgbClr>
                  </a:outerShdw>
                </a:effectLst>
                <a:latin typeface="+mn-ea"/>
                <a:ea typeface="+mn-ea"/>
              </a:rPr>
              <a:t>CSS</a:t>
            </a:r>
            <a:r>
              <a:rPr lang="zh-CN" altLang="zh-CN" sz="2400" b="1" dirty="0">
                <a:effectLst>
                  <a:outerShdw blurRad="38100" dist="38100" dir="2700000" algn="tl">
                    <a:srgbClr val="000000">
                      <a:alpha val="43137"/>
                    </a:srgbClr>
                  </a:outerShdw>
                </a:effectLst>
                <a:latin typeface="+mn-ea"/>
                <a:ea typeface="+mn-ea"/>
              </a:rPr>
              <a:t>样式实现布局</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zh-CN" sz="2400" b="1" dirty="0">
                <a:effectLst>
                  <a:outerShdw blurRad="38100" dist="38100" dir="2700000" algn="tl">
                    <a:srgbClr val="000000">
                      <a:alpha val="43137"/>
                    </a:srgbClr>
                  </a:outerShdw>
                </a:effectLst>
                <a:latin typeface="+mn-ea"/>
                <a:ea typeface="+mn-ea"/>
              </a:rPr>
              <a:t>流式布局、浮动布局、定位布局 </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en-US" altLang="zh-CN" sz="2400" b="1" dirty="0">
                <a:effectLst>
                  <a:outerShdw blurRad="38100" dist="38100" dir="2700000" algn="tl">
                    <a:srgbClr val="000000">
                      <a:alpha val="43137"/>
                    </a:srgbClr>
                  </a:outerShdw>
                </a:effectLst>
                <a:latin typeface="+mn-ea"/>
                <a:ea typeface="+mn-ea"/>
              </a:rPr>
              <a:t>CSS3</a:t>
            </a:r>
            <a:r>
              <a:rPr lang="zh-CN" altLang="en-US" sz="2400" b="1" dirty="0">
                <a:effectLst>
                  <a:outerShdw blurRad="38100" dist="38100" dir="2700000" algn="tl">
                    <a:srgbClr val="000000">
                      <a:alpha val="43137"/>
                    </a:srgbClr>
                  </a:outerShdw>
                </a:effectLst>
                <a:latin typeface="+mn-ea"/>
                <a:ea typeface="+mn-ea"/>
              </a:rPr>
              <a:t>的弹性布局、网格布局</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400" b="1" dirty="0">
                <a:effectLst>
                  <a:outerShdw blurRad="38100" dist="38100" dir="2700000" algn="tl">
                    <a:srgbClr val="000000">
                      <a:alpha val="43137"/>
                    </a:srgbClr>
                  </a:outerShdw>
                </a:effectLst>
                <a:latin typeface="+mn-ea"/>
                <a:ea typeface="+mn-ea"/>
              </a:rPr>
              <a:t>与表格布局的区别</a:t>
            </a:r>
            <a:endParaRPr lang="en-US" altLang="zh-CN" sz="24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Arial" panose="020B0604020202020204" pitchFamily="34" charset="0"/>
              <a:buChar char="•"/>
            </a:pPr>
            <a:r>
              <a:rPr lang="en-US" altLang="zh-CN" sz="2000" b="1" dirty="0">
                <a:effectLst>
                  <a:outerShdw blurRad="38100" dist="38100" dir="2700000" algn="tl">
                    <a:srgbClr val="000000">
                      <a:alpha val="43137"/>
                    </a:srgbClr>
                  </a:outerShdw>
                </a:effectLst>
                <a:latin typeface="+mn-ea"/>
                <a:ea typeface="+mn-ea"/>
              </a:rPr>
              <a:t>&lt;div&gt;</a:t>
            </a:r>
            <a:r>
              <a:rPr lang="zh-CN" altLang="en-US" sz="2000" b="1" dirty="0">
                <a:effectLst>
                  <a:outerShdw blurRad="38100" dist="38100" dir="2700000" algn="tl">
                    <a:srgbClr val="000000">
                      <a:alpha val="43137"/>
                    </a:srgbClr>
                  </a:outerShdw>
                </a:effectLst>
                <a:latin typeface="+mn-ea"/>
                <a:ea typeface="+mn-ea"/>
              </a:rPr>
              <a:t>元素本身没有附加样式或功能</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mn-ea"/>
                <a:ea typeface="+mn-ea"/>
              </a:rPr>
              <a:t>可以根据页面布局需求，利用</a:t>
            </a:r>
            <a:r>
              <a:rPr lang="en-US" altLang="zh-CN" sz="2000" b="1" dirty="0">
                <a:effectLst>
                  <a:outerShdw blurRad="38100" dist="38100" dir="2700000" algn="tl">
                    <a:srgbClr val="000000">
                      <a:alpha val="43137"/>
                    </a:srgbClr>
                  </a:outerShdw>
                </a:effectLst>
                <a:latin typeface="+mn-ea"/>
                <a:ea typeface="+mn-ea"/>
              </a:rPr>
              <a:t>CSS</a:t>
            </a:r>
            <a:r>
              <a:rPr lang="zh-CN" altLang="en-US" sz="2000" b="1" dirty="0">
                <a:effectLst>
                  <a:outerShdw blurRad="38100" dist="38100" dir="2700000" algn="tl">
                    <a:srgbClr val="000000">
                      <a:alpha val="43137"/>
                    </a:srgbClr>
                  </a:outerShdw>
                </a:effectLst>
                <a:latin typeface="+mn-ea"/>
                <a:ea typeface="+mn-ea"/>
              </a:rPr>
              <a:t>实现各种自定义样式</a:t>
            </a:r>
            <a:endParaRPr lang="en-US" altLang="zh-CN" sz="2000" b="1" dirty="0">
              <a:effectLst>
                <a:outerShdw blurRad="38100" dist="38100" dir="2700000" algn="tl">
                  <a:srgbClr val="000000">
                    <a:alpha val="43137"/>
                  </a:srgbClr>
                </a:outerShdw>
              </a:effectLst>
              <a:latin typeface="+mn-ea"/>
              <a:ea typeface="+mn-ea"/>
            </a:endParaRPr>
          </a:p>
          <a:p>
            <a:pPr marL="835025" lvl="1" indent="-342900">
              <a:lnSpc>
                <a:spcPct val="150000"/>
              </a:lnSpc>
              <a:buClr>
                <a:schemeClr val="accent6"/>
              </a:buClr>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mn-ea"/>
                <a:ea typeface="+mn-ea"/>
              </a:rPr>
              <a:t>甚至能够实现表格元素样式</a:t>
            </a:r>
            <a:endParaRPr lang="en-US" altLang="zh-CN" sz="2000" b="1" dirty="0">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2745320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5-2 </a:t>
            </a:r>
            <a:r>
              <a:rPr lang="zh-CN" altLang="en-US" b="1" dirty="0">
                <a:solidFill>
                  <a:srgbClr val="C00000"/>
                </a:solidFill>
                <a:latin typeface="黑体" panose="02010609060101010101" pitchFamily="49" charset="-122"/>
                <a:ea typeface="黑体" panose="02010609060101010101" pitchFamily="49" charset="-122"/>
              </a:rPr>
              <a:t>盒子模型进阶</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117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zh-CN" sz="2800" b="1" dirty="0">
                <a:solidFill>
                  <a:srgbClr val="0000FF"/>
                </a:solidFill>
                <a:latin typeface="Times New Roman" panose="02020603050405020304" pitchFamily="18" charset="0"/>
                <a:cs typeface="Times New Roman" panose="02020603050405020304" pitchFamily="18" charset="0"/>
              </a:rPr>
              <a:t>例</a:t>
            </a:r>
            <a:r>
              <a:rPr lang="en-US" altLang="zh-CN" sz="2800" b="1" dirty="0">
                <a:solidFill>
                  <a:srgbClr val="0000FF"/>
                </a:solidFill>
                <a:latin typeface="Times New Roman" panose="02020603050405020304" pitchFamily="18" charset="0"/>
              </a:rPr>
              <a:t>5-7</a:t>
            </a:r>
          </a:p>
          <a:p>
            <a:pPr algn="just" eaLnBrk="1" hangingPunct="1">
              <a:spcBef>
                <a:spcPct val="50000"/>
              </a:spcBef>
            </a:pP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rPr>
              <a:t>详见代码</a:t>
            </a:r>
            <a:endPar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ndParaRPr>
          </a:p>
        </p:txBody>
      </p:sp>
      <p:pic>
        <p:nvPicPr>
          <p:cNvPr id="7" name="图片 6">
            <a:extLst>
              <a:ext uri="{FF2B5EF4-FFF2-40B4-BE49-F238E27FC236}">
                <a16:creationId xmlns:a16="http://schemas.microsoft.com/office/drawing/2014/main" id="{6A9DBA81-7959-3048-BBC4-669AA2CAA41F}"/>
              </a:ext>
            </a:extLst>
          </p:cNvPr>
          <p:cNvPicPr>
            <a:picLocks noChangeAspect="1"/>
          </p:cNvPicPr>
          <p:nvPr/>
        </p:nvPicPr>
        <p:blipFill rotWithShape="1">
          <a:blip r:embed="rId3"/>
          <a:srcRect t="17910" r="2351" b="1681"/>
          <a:stretch/>
        </p:blipFill>
        <p:spPr>
          <a:xfrm>
            <a:off x="103461" y="2454846"/>
            <a:ext cx="6192688" cy="2909639"/>
          </a:xfrm>
          <a:prstGeom prst="rect">
            <a:avLst/>
          </a:prstGeom>
        </p:spPr>
      </p:pic>
      <p:sp>
        <p:nvSpPr>
          <p:cNvPr id="11" name="文本框 10">
            <a:extLst>
              <a:ext uri="{FF2B5EF4-FFF2-40B4-BE49-F238E27FC236}">
                <a16:creationId xmlns:a16="http://schemas.microsoft.com/office/drawing/2014/main" id="{0E96A04D-AABF-F844-9B16-CB5737968EA1}"/>
              </a:ext>
            </a:extLst>
          </p:cNvPr>
          <p:cNvSpPr txBox="1"/>
          <p:nvPr/>
        </p:nvSpPr>
        <p:spPr>
          <a:xfrm>
            <a:off x="6368157" y="2395092"/>
            <a:ext cx="5616624" cy="3228256"/>
          </a:xfrm>
          <a:prstGeom prst="rect">
            <a:avLst/>
          </a:prstGeom>
          <a:noFill/>
        </p:spPr>
        <p:txBody>
          <a:bodyPr wrap="square">
            <a:spAutoFit/>
          </a:bodyPr>
          <a:lstStyle/>
          <a:p>
            <a:pPr marL="342900" indent="-342900" algn="just" eaLnBrk="1" hangingPunct="1">
              <a:lnSpc>
                <a:spcPct val="150000"/>
              </a:lnSpc>
              <a:spcBef>
                <a:spcPct val="50000"/>
              </a:spcBef>
              <a:buClr>
                <a:srgbClr val="C00000"/>
              </a:buClr>
              <a:buFont typeface="Wingdings" pitchFamily="2" charset="2"/>
              <a:buChar char="l"/>
            </a:pPr>
            <a:r>
              <a:rPr lang="zh-CN" altLang="en-US" sz="2000" dirty="0">
                <a:latin typeface="+mn-ea"/>
                <a:ea typeface="+mn-ea"/>
              </a:rPr>
              <a:t>使用表格布局或者</a:t>
            </a:r>
            <a:r>
              <a:rPr lang="en-US" altLang="zh-CN" sz="2000" dirty="0">
                <a:latin typeface="+mn-ea"/>
                <a:ea typeface="+mn-ea"/>
              </a:rPr>
              <a:t>DIV</a:t>
            </a:r>
            <a:r>
              <a:rPr lang="zh-CN" altLang="en-US" sz="2000" dirty="0">
                <a:latin typeface="+mn-ea"/>
                <a:ea typeface="+mn-ea"/>
              </a:rPr>
              <a:t>布局能实现相同样式</a:t>
            </a:r>
            <a:endParaRPr lang="en-US" altLang="zh-CN" sz="2000" dirty="0">
              <a:latin typeface="+mn-ea"/>
              <a:ea typeface="+mn-ea"/>
            </a:endParaRPr>
          </a:p>
          <a:p>
            <a:pPr marL="342900" indent="-342900" algn="just" eaLnBrk="1" hangingPunct="1">
              <a:lnSpc>
                <a:spcPct val="150000"/>
              </a:lnSpc>
              <a:spcBef>
                <a:spcPct val="50000"/>
              </a:spcBef>
              <a:buClr>
                <a:srgbClr val="C00000"/>
              </a:buClr>
              <a:buFont typeface="Wingdings" pitchFamily="2" charset="2"/>
              <a:buChar char="l"/>
            </a:pPr>
            <a:r>
              <a:rPr lang="zh-CN" altLang="en-US" sz="2000" dirty="0">
                <a:latin typeface="+mn-ea"/>
                <a:ea typeface="+mn-ea"/>
              </a:rPr>
              <a:t>使用</a:t>
            </a:r>
            <a:r>
              <a:rPr lang="en-US" altLang="zh-CN" sz="2000" dirty="0">
                <a:latin typeface="+mn-ea"/>
                <a:ea typeface="+mn-ea"/>
              </a:rPr>
              <a:t>DIV</a:t>
            </a:r>
            <a:r>
              <a:rPr lang="zh-CN" altLang="en-US" sz="2000" dirty="0">
                <a:latin typeface="+mn-ea"/>
                <a:ea typeface="+mn-ea"/>
              </a:rPr>
              <a:t>布局时，通常需要添加</a:t>
            </a:r>
            <a:r>
              <a:rPr lang="en-US" altLang="zh-CN" sz="2000" dirty="0">
                <a:latin typeface="+mn-ea"/>
                <a:ea typeface="+mn-ea"/>
              </a:rPr>
              <a:t>CSS</a:t>
            </a:r>
            <a:r>
              <a:rPr lang="zh-CN" altLang="en-US" sz="2000" dirty="0">
                <a:latin typeface="+mn-ea"/>
                <a:ea typeface="+mn-ea"/>
              </a:rPr>
              <a:t>样式来对齐标签和控件</a:t>
            </a:r>
            <a:endParaRPr lang="en-US" altLang="zh-CN" sz="2000" dirty="0">
              <a:latin typeface="+mn-ea"/>
              <a:ea typeface="+mn-ea"/>
            </a:endParaRPr>
          </a:p>
          <a:p>
            <a:pPr algn="just" eaLnBrk="1" hangingPunct="1">
              <a:lnSpc>
                <a:spcPct val="150000"/>
              </a:lnSpc>
              <a:spcBef>
                <a:spcPct val="50000"/>
              </a:spcBef>
              <a:buClr>
                <a:srgbClr val="C00000"/>
              </a:buClr>
            </a:pPr>
            <a:r>
              <a:rPr lang="zh-CN" altLang="en-US" dirty="0">
                <a:latin typeface="+mn-ea"/>
                <a:ea typeface="+mn-ea"/>
              </a:rPr>
              <a:t>可以考虑使用下面方式实现：</a:t>
            </a:r>
            <a:endParaRPr lang="en-US" altLang="zh-CN" dirty="0">
              <a:latin typeface="+mn-ea"/>
              <a:ea typeface="+mn-ea"/>
            </a:endParaRPr>
          </a:p>
          <a:p>
            <a:pPr algn="just" eaLnBrk="1" hangingPunct="1">
              <a:lnSpc>
                <a:spcPct val="150000"/>
              </a:lnSpc>
              <a:spcBef>
                <a:spcPct val="50000"/>
              </a:spcBef>
              <a:buClr>
                <a:srgbClr val="C00000"/>
              </a:buClr>
            </a:pPr>
            <a:r>
              <a:rPr lang="zh-CN" altLang="zh-CN" dirty="0">
                <a:latin typeface="+mn-ea"/>
                <a:ea typeface="+mn-ea"/>
              </a:rPr>
              <a:t>（</a:t>
            </a:r>
            <a:r>
              <a:rPr lang="en-US" altLang="zh-CN" dirty="0">
                <a:latin typeface="+mn-ea"/>
                <a:ea typeface="+mn-ea"/>
              </a:rPr>
              <a:t>1</a:t>
            </a:r>
            <a:r>
              <a:rPr lang="zh-CN" altLang="zh-CN" dirty="0">
                <a:latin typeface="+mn-ea"/>
                <a:ea typeface="+mn-ea"/>
              </a:rPr>
              <a:t>）使用</a:t>
            </a:r>
            <a:r>
              <a:rPr lang="en-US" altLang="zh-CN" dirty="0">
                <a:latin typeface="+mn-ea"/>
                <a:ea typeface="+mn-ea"/>
              </a:rPr>
              <a:t>margin</a:t>
            </a:r>
            <a:r>
              <a:rPr lang="zh-CN" altLang="zh-CN" dirty="0">
                <a:latin typeface="+mn-ea"/>
                <a:ea typeface="+mn-ea"/>
              </a:rPr>
              <a:t>、</a:t>
            </a:r>
            <a:r>
              <a:rPr lang="en-US" altLang="zh-CN" dirty="0">
                <a:latin typeface="+mn-ea"/>
                <a:ea typeface="+mn-ea"/>
              </a:rPr>
              <a:t>padding</a:t>
            </a:r>
            <a:r>
              <a:rPr lang="zh-CN" altLang="zh-CN" dirty="0">
                <a:latin typeface="+mn-ea"/>
                <a:ea typeface="+mn-ea"/>
              </a:rPr>
              <a:t>和</a:t>
            </a:r>
            <a:r>
              <a:rPr lang="en-US" altLang="zh-CN" dirty="0">
                <a:latin typeface="+mn-ea"/>
                <a:ea typeface="+mn-ea"/>
              </a:rPr>
              <a:t>text-align</a:t>
            </a:r>
            <a:r>
              <a:rPr lang="zh-CN" altLang="zh-CN" dirty="0">
                <a:latin typeface="+mn-ea"/>
                <a:ea typeface="+mn-ea"/>
              </a:rPr>
              <a:t>实现对齐；</a:t>
            </a:r>
            <a:endParaRPr lang="en-US" altLang="zh-CN" dirty="0">
              <a:latin typeface="+mn-ea"/>
              <a:ea typeface="+mn-ea"/>
            </a:endParaRPr>
          </a:p>
          <a:p>
            <a:pPr algn="just" eaLnBrk="1" hangingPunct="1">
              <a:lnSpc>
                <a:spcPct val="150000"/>
              </a:lnSpc>
              <a:spcBef>
                <a:spcPct val="50000"/>
              </a:spcBef>
              <a:buClr>
                <a:srgbClr val="C00000"/>
              </a:buClr>
            </a:pPr>
            <a:r>
              <a:rPr lang="zh-CN" altLang="zh-CN" dirty="0">
                <a:latin typeface="+mn-ea"/>
                <a:ea typeface="+mn-ea"/>
              </a:rPr>
              <a:t>（</a:t>
            </a:r>
            <a:r>
              <a:rPr lang="en-US" altLang="zh-CN" dirty="0">
                <a:latin typeface="+mn-ea"/>
                <a:ea typeface="+mn-ea"/>
              </a:rPr>
              <a:t>2</a:t>
            </a:r>
            <a:r>
              <a:rPr lang="zh-CN" altLang="zh-CN" dirty="0">
                <a:latin typeface="+mn-ea"/>
                <a:ea typeface="+mn-ea"/>
              </a:rPr>
              <a:t>）使用</a:t>
            </a:r>
            <a:r>
              <a:rPr lang="en-US" altLang="zh-CN" dirty="0">
                <a:latin typeface="+mn-ea"/>
                <a:ea typeface="+mn-ea"/>
              </a:rPr>
              <a:t>CSS3</a:t>
            </a:r>
            <a:r>
              <a:rPr lang="zh-CN" altLang="zh-CN" dirty="0">
                <a:latin typeface="+mn-ea"/>
                <a:ea typeface="+mn-ea"/>
              </a:rPr>
              <a:t>新增的</a:t>
            </a:r>
            <a:r>
              <a:rPr lang="en-US" altLang="zh-CN" dirty="0">
                <a:latin typeface="+mn-ea"/>
                <a:ea typeface="+mn-ea"/>
              </a:rPr>
              <a:t>flex</a:t>
            </a:r>
            <a:r>
              <a:rPr lang="zh-CN" altLang="zh-CN" dirty="0">
                <a:latin typeface="+mn-ea"/>
                <a:ea typeface="+mn-ea"/>
              </a:rPr>
              <a:t>布局属性实现对齐。 </a:t>
            </a:r>
            <a:endParaRPr lang="en-US" altLang="zh-CN" dirty="0">
              <a:latin typeface="+mn-ea"/>
              <a:ea typeface="+mn-ea"/>
            </a:endParaRPr>
          </a:p>
        </p:txBody>
      </p:sp>
    </p:spTree>
    <p:extLst>
      <p:ext uri="{BB962C8B-B14F-4D97-AF65-F5344CB8AC3E}">
        <p14:creationId xmlns:p14="http://schemas.microsoft.com/office/powerpoint/2010/main" val="34919787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5" y="1169891"/>
            <a:ext cx="11217075"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常用表单设计方案</a:t>
            </a:r>
            <a:endParaRPr lang="en-US" altLang="zh-CN" sz="2800" b="1" dirty="0">
              <a:solidFill>
                <a:srgbClr val="0000FF"/>
              </a:solidFill>
              <a:latin typeface="+mn-ea"/>
              <a:ea typeface="+mn-ea"/>
            </a:endParaRPr>
          </a:p>
        </p:txBody>
      </p:sp>
      <p:sp>
        <p:nvSpPr>
          <p:cNvPr id="19" name="Rectangle 2">
            <a:extLst>
              <a:ext uri="{FF2B5EF4-FFF2-40B4-BE49-F238E27FC236}">
                <a16:creationId xmlns:a16="http://schemas.microsoft.com/office/drawing/2014/main" id="{F410D4AF-8E17-4200-8D5F-6DDFAB53A422}"/>
              </a:ext>
            </a:extLst>
          </p:cNvPr>
          <p:cNvSpPr>
            <a:spLocks noChangeArrowheads="1"/>
          </p:cNvSpPr>
          <p:nvPr/>
        </p:nvSpPr>
        <p:spPr bwMode="auto">
          <a:xfrm>
            <a:off x="1111572" y="1700328"/>
            <a:ext cx="146290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20">
            <a:extLst>
              <a:ext uri="{FF2B5EF4-FFF2-40B4-BE49-F238E27FC236}">
                <a16:creationId xmlns:a16="http://schemas.microsoft.com/office/drawing/2014/main" id="{AFCBC14D-F67B-47AE-8E07-85957C03C58A}"/>
              </a:ext>
            </a:extLst>
          </p:cNvPr>
          <p:cNvSpPr/>
          <p:nvPr/>
        </p:nvSpPr>
        <p:spPr>
          <a:xfrm>
            <a:off x="786732" y="1620069"/>
            <a:ext cx="2592288" cy="559769"/>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左右设计方案</a:t>
            </a:r>
            <a:endParaRPr lang="en-US" altLang="zh-CN" sz="2400" b="1" dirty="0">
              <a:effectLst>
                <a:outerShdw blurRad="38100" dist="38100" dir="2700000" algn="tl">
                  <a:srgbClr val="000000">
                    <a:alpha val="43137"/>
                  </a:srgbClr>
                </a:outerShdw>
              </a:effectLst>
              <a:latin typeface="+mn-ea"/>
              <a:ea typeface="+mn-ea"/>
            </a:endParaRPr>
          </a:p>
        </p:txBody>
      </p:sp>
      <p:pic>
        <p:nvPicPr>
          <p:cNvPr id="22" name="图片 21">
            <a:extLst>
              <a:ext uri="{FF2B5EF4-FFF2-40B4-BE49-F238E27FC236}">
                <a16:creationId xmlns:a16="http://schemas.microsoft.com/office/drawing/2014/main" id="{CD14BEBF-7BA0-654C-8C39-B66D3CA3D606}"/>
              </a:ext>
            </a:extLst>
          </p:cNvPr>
          <p:cNvPicPr/>
          <p:nvPr/>
        </p:nvPicPr>
        <p:blipFill rotWithShape="1">
          <a:blip r:embed="rId3"/>
          <a:srcRect l="2822" r="7307"/>
          <a:stretch/>
        </p:blipFill>
        <p:spPr bwMode="auto">
          <a:xfrm>
            <a:off x="607517" y="2412157"/>
            <a:ext cx="2592288" cy="2728053"/>
          </a:xfrm>
          <a:prstGeom prst="rect">
            <a:avLst/>
          </a:prstGeom>
          <a:ln w="9525" cap="flat" cmpd="sng" algn="ctr">
            <a:solidFill>
              <a:srgbClr val="E7E6E6"/>
            </a:solidFill>
            <a:prstDash val="solid"/>
            <a:round/>
            <a:headEnd type="none" w="med" len="med"/>
            <a:tailEnd type="none" w="med" len="med"/>
          </a:ln>
          <a:effectLst/>
          <a:extLst>
            <a:ext uri="{53640926-AAD7-44D8-BBD7-CCE9431645EC}">
              <a14:shadowObscured xmlns:a14="http://schemas.microsoft.com/office/drawing/2010/main"/>
            </a:ext>
          </a:extLst>
        </p:spPr>
      </p:pic>
      <p:sp>
        <p:nvSpPr>
          <p:cNvPr id="23" name="文本框 22">
            <a:extLst>
              <a:ext uri="{FF2B5EF4-FFF2-40B4-BE49-F238E27FC236}">
                <a16:creationId xmlns:a16="http://schemas.microsoft.com/office/drawing/2014/main" id="{8DA9AD6C-91EE-D947-9EE8-8F98BE25B78B}"/>
              </a:ext>
            </a:extLst>
          </p:cNvPr>
          <p:cNvSpPr txBox="1"/>
          <p:nvPr/>
        </p:nvSpPr>
        <p:spPr>
          <a:xfrm>
            <a:off x="564122" y="5372529"/>
            <a:ext cx="3211747" cy="77328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zh-CN" sz="1600" dirty="0">
                <a:latin typeface="+mn-ea"/>
                <a:ea typeface="+mn-ea"/>
              </a:rPr>
              <a:t>左侧布置标签、右侧布置控件</a:t>
            </a:r>
            <a:endParaRPr lang="en-US" altLang="zh-CN" sz="1600" dirty="0">
              <a:latin typeface="+mn-ea"/>
              <a:ea typeface="+mn-ea"/>
            </a:endParaRPr>
          </a:p>
          <a:p>
            <a:pPr marL="285750" indent="-285750">
              <a:lnSpc>
                <a:spcPct val="150000"/>
              </a:lnSpc>
              <a:buFont typeface="Arial" panose="020B0604020202020204" pitchFamily="34" charset="0"/>
              <a:buChar char="•"/>
            </a:pPr>
            <a:r>
              <a:rPr lang="zh-CN" altLang="zh-CN" sz="1600" dirty="0">
                <a:latin typeface="+mn-ea"/>
                <a:ea typeface="+mn-ea"/>
              </a:rPr>
              <a:t>适合用于大部分场景  </a:t>
            </a:r>
            <a:endParaRPr lang="zh-CN" altLang="en-US" sz="1600" dirty="0">
              <a:latin typeface="+mn-ea"/>
              <a:ea typeface="+mn-ea"/>
            </a:endParaRPr>
          </a:p>
        </p:txBody>
      </p:sp>
      <p:sp>
        <p:nvSpPr>
          <p:cNvPr id="24" name="矩形 23">
            <a:extLst>
              <a:ext uri="{FF2B5EF4-FFF2-40B4-BE49-F238E27FC236}">
                <a16:creationId xmlns:a16="http://schemas.microsoft.com/office/drawing/2014/main" id="{FB943413-1F85-284D-A2DB-E57DAEF8C5CB}"/>
              </a:ext>
            </a:extLst>
          </p:cNvPr>
          <p:cNvSpPr/>
          <p:nvPr/>
        </p:nvSpPr>
        <p:spPr>
          <a:xfrm>
            <a:off x="4135909" y="1629521"/>
            <a:ext cx="2592288" cy="559769"/>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上下设计方案</a:t>
            </a:r>
            <a:endParaRPr lang="en-US" altLang="zh-CN" sz="2400" b="1" dirty="0">
              <a:effectLst>
                <a:outerShdw blurRad="38100" dist="38100" dir="2700000" algn="tl">
                  <a:srgbClr val="000000">
                    <a:alpha val="43137"/>
                  </a:srgbClr>
                </a:outerShdw>
              </a:effectLst>
              <a:latin typeface="+mn-ea"/>
              <a:ea typeface="+mn-ea"/>
            </a:endParaRPr>
          </a:p>
        </p:txBody>
      </p:sp>
      <p:sp>
        <p:nvSpPr>
          <p:cNvPr id="25" name="文本框 24">
            <a:extLst>
              <a:ext uri="{FF2B5EF4-FFF2-40B4-BE49-F238E27FC236}">
                <a16:creationId xmlns:a16="http://schemas.microsoft.com/office/drawing/2014/main" id="{A4C442D0-8270-B748-BDDB-625F53F614AD}"/>
              </a:ext>
            </a:extLst>
          </p:cNvPr>
          <p:cNvSpPr txBox="1"/>
          <p:nvPr/>
        </p:nvSpPr>
        <p:spPr>
          <a:xfrm>
            <a:off x="3919886" y="5372529"/>
            <a:ext cx="3456384" cy="114262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zh-CN" sz="1600" dirty="0">
                <a:latin typeface="+mn-ea"/>
                <a:ea typeface="+mn-ea"/>
              </a:rPr>
              <a:t>标签和控件分为两行</a:t>
            </a:r>
            <a:endParaRPr lang="en-US" altLang="zh-CN" sz="1600" dirty="0">
              <a:latin typeface="+mn-ea"/>
              <a:ea typeface="+mn-ea"/>
            </a:endParaRPr>
          </a:p>
          <a:p>
            <a:pPr>
              <a:lnSpc>
                <a:spcPct val="150000"/>
              </a:lnSpc>
            </a:pPr>
            <a:r>
              <a:rPr lang="zh-CN" altLang="en-US" sz="1600" dirty="0">
                <a:latin typeface="+mn-ea"/>
                <a:ea typeface="+mn-ea"/>
              </a:rPr>
              <a:t>   </a:t>
            </a:r>
            <a:r>
              <a:rPr lang="zh-CN" altLang="zh-CN" sz="1600" dirty="0">
                <a:latin typeface="+mn-ea"/>
                <a:ea typeface="+mn-ea"/>
              </a:rPr>
              <a:t>上方布置标签、下方布置控件</a:t>
            </a:r>
            <a:endParaRPr lang="en-US" altLang="zh-CN" sz="1600" dirty="0">
              <a:latin typeface="+mn-ea"/>
              <a:ea typeface="+mn-ea"/>
            </a:endParaRPr>
          </a:p>
          <a:p>
            <a:pPr marL="285750" indent="-285750">
              <a:lnSpc>
                <a:spcPct val="150000"/>
              </a:lnSpc>
              <a:buFont typeface="Arial" panose="020B0604020202020204" pitchFamily="34" charset="0"/>
              <a:buChar char="•"/>
            </a:pPr>
            <a:r>
              <a:rPr lang="zh-CN" altLang="zh-CN" sz="1600" dirty="0">
                <a:latin typeface="+mn-ea"/>
                <a:ea typeface="+mn-ea"/>
              </a:rPr>
              <a:t>适用界面宽度较窄的场景 </a:t>
            </a:r>
            <a:endParaRPr lang="zh-CN" altLang="en-US" sz="1600" dirty="0">
              <a:latin typeface="+mn-ea"/>
              <a:ea typeface="+mn-ea"/>
            </a:endParaRPr>
          </a:p>
        </p:txBody>
      </p:sp>
      <p:sp>
        <p:nvSpPr>
          <p:cNvPr id="26" name="矩形 25">
            <a:extLst>
              <a:ext uri="{FF2B5EF4-FFF2-40B4-BE49-F238E27FC236}">
                <a16:creationId xmlns:a16="http://schemas.microsoft.com/office/drawing/2014/main" id="{E0ED0F71-0449-9A48-8485-A7FDB7F52F65}"/>
              </a:ext>
            </a:extLst>
          </p:cNvPr>
          <p:cNvSpPr/>
          <p:nvPr/>
        </p:nvSpPr>
        <p:spPr>
          <a:xfrm>
            <a:off x="7512816" y="1627404"/>
            <a:ext cx="3535861" cy="559769"/>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无标签设计方案</a:t>
            </a:r>
            <a:endParaRPr lang="en-US" altLang="zh-CN" sz="2400" b="1" dirty="0">
              <a:effectLst>
                <a:outerShdw blurRad="38100" dist="38100" dir="2700000" algn="tl">
                  <a:srgbClr val="000000">
                    <a:alpha val="43137"/>
                  </a:srgbClr>
                </a:outerShdw>
              </a:effectLst>
              <a:latin typeface="+mn-ea"/>
              <a:ea typeface="+mn-ea"/>
            </a:endParaRPr>
          </a:p>
        </p:txBody>
      </p:sp>
      <p:pic>
        <p:nvPicPr>
          <p:cNvPr id="27" name="图片 26">
            <a:extLst>
              <a:ext uri="{FF2B5EF4-FFF2-40B4-BE49-F238E27FC236}">
                <a16:creationId xmlns:a16="http://schemas.microsoft.com/office/drawing/2014/main" id="{26FEEA55-EBB0-F54E-A9EF-1A0B74E96CBF}"/>
              </a:ext>
            </a:extLst>
          </p:cNvPr>
          <p:cNvPicPr/>
          <p:nvPr/>
        </p:nvPicPr>
        <p:blipFill>
          <a:blip r:embed="rId4"/>
          <a:stretch>
            <a:fillRect/>
          </a:stretch>
        </p:blipFill>
        <p:spPr>
          <a:xfrm>
            <a:off x="4279925" y="2295373"/>
            <a:ext cx="2234937" cy="2875641"/>
          </a:xfrm>
          <a:prstGeom prst="rect">
            <a:avLst/>
          </a:prstGeom>
          <a:ln>
            <a:solidFill>
              <a:schemeClr val="bg2"/>
            </a:solidFill>
          </a:ln>
        </p:spPr>
      </p:pic>
      <p:pic>
        <p:nvPicPr>
          <p:cNvPr id="28" name="图片 27">
            <a:extLst>
              <a:ext uri="{FF2B5EF4-FFF2-40B4-BE49-F238E27FC236}">
                <a16:creationId xmlns:a16="http://schemas.microsoft.com/office/drawing/2014/main" id="{4D4A4493-3661-7F4A-93AD-0EB06AD96D90}"/>
              </a:ext>
            </a:extLst>
          </p:cNvPr>
          <p:cNvPicPr/>
          <p:nvPr/>
        </p:nvPicPr>
        <p:blipFill>
          <a:blip r:embed="rId5"/>
          <a:stretch>
            <a:fillRect/>
          </a:stretch>
        </p:blipFill>
        <p:spPr>
          <a:xfrm>
            <a:off x="7808317" y="2295372"/>
            <a:ext cx="2448272" cy="2917761"/>
          </a:xfrm>
          <a:prstGeom prst="rect">
            <a:avLst/>
          </a:prstGeom>
          <a:ln>
            <a:solidFill>
              <a:schemeClr val="bg2"/>
            </a:solidFill>
          </a:ln>
        </p:spPr>
      </p:pic>
      <p:sp>
        <p:nvSpPr>
          <p:cNvPr id="29" name="文本框 28">
            <a:extLst>
              <a:ext uri="{FF2B5EF4-FFF2-40B4-BE49-F238E27FC236}">
                <a16:creationId xmlns:a16="http://schemas.microsoft.com/office/drawing/2014/main" id="{7A088159-8850-EF42-879C-19B6667A2E37}"/>
              </a:ext>
            </a:extLst>
          </p:cNvPr>
          <p:cNvSpPr txBox="1"/>
          <p:nvPr/>
        </p:nvSpPr>
        <p:spPr>
          <a:xfrm>
            <a:off x="7538946" y="5372529"/>
            <a:ext cx="4060398" cy="114922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zh-CN" sz="1600" dirty="0">
                <a:latin typeface="+mn-ea"/>
                <a:ea typeface="+mn-ea"/>
              </a:rPr>
              <a:t>取消标签</a:t>
            </a:r>
            <a:r>
              <a:rPr lang="zh-CN" altLang="en-US" sz="1600" dirty="0">
                <a:latin typeface="+mn-ea"/>
                <a:ea typeface="+mn-ea"/>
              </a:rPr>
              <a:t>，</a:t>
            </a:r>
            <a:r>
              <a:rPr lang="zh-CN" altLang="zh-CN" sz="1600" dirty="0">
                <a:latin typeface="+mn-ea"/>
                <a:ea typeface="+mn-ea"/>
              </a:rPr>
              <a:t>利用表单控件的</a:t>
            </a:r>
            <a:r>
              <a:rPr lang="en-US" altLang="zh-CN" sz="1600" dirty="0">
                <a:latin typeface="+mn-ea"/>
                <a:ea typeface="+mn-ea"/>
              </a:rPr>
              <a:t>placeholder</a:t>
            </a:r>
            <a:r>
              <a:rPr lang="zh-CN" altLang="zh-CN" sz="1600" dirty="0">
                <a:latin typeface="+mn-ea"/>
                <a:ea typeface="+mn-ea"/>
              </a:rPr>
              <a:t>属性，将文字移到控件内显示</a:t>
            </a:r>
            <a:endParaRPr lang="en-US" altLang="zh-CN" sz="1600" dirty="0">
              <a:effectLst/>
              <a:latin typeface="+mn-ea"/>
              <a:ea typeface="+mn-ea"/>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600" dirty="0"/>
              <a:t>适合手机端</a:t>
            </a:r>
            <a:r>
              <a:rPr lang="zh-CN" altLang="zh-CN" sz="1600" dirty="0"/>
              <a:t>界面 </a:t>
            </a:r>
            <a:endParaRPr lang="zh-CN" altLang="en-US" sz="1600" dirty="0"/>
          </a:p>
        </p:txBody>
      </p:sp>
    </p:spTree>
    <p:extLst>
      <p:ext uri="{BB962C8B-B14F-4D97-AF65-F5344CB8AC3E}">
        <p14:creationId xmlns:p14="http://schemas.microsoft.com/office/powerpoint/2010/main" val="376816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统一控件尺寸</a:t>
            </a:r>
            <a:endParaRPr lang="en-US" altLang="zh-CN" sz="2800" b="1" dirty="0">
              <a:solidFill>
                <a:srgbClr val="0000FF"/>
              </a:solidFill>
              <a:latin typeface="+mn-ea"/>
              <a:ea typeface="+mn-ea"/>
            </a:endParaRPr>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10838010" cy="4821513"/>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为何需要统一空间尺寸</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表单控件类型繁多，不同控件的默认样式不尽相同</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zh-CN" sz="2000" b="1" dirty="0">
                <a:effectLst>
                  <a:outerShdw blurRad="38100" dist="38100" dir="2700000" algn="tl">
                    <a:srgbClr val="000000">
                      <a:alpha val="43137"/>
                    </a:srgbClr>
                  </a:outerShdw>
                </a:effectLst>
                <a:latin typeface="+mn-ea"/>
                <a:ea typeface="+mn-ea"/>
              </a:rPr>
              <a:t>控件的尺寸直接影响页面的整齐 </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调整尺寸的手段</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zh-CN" sz="2000" b="1" dirty="0">
                <a:effectLst>
                  <a:outerShdw blurRad="38100" dist="38100" dir="2700000" algn="tl">
                    <a:srgbClr val="000000">
                      <a:alpha val="43137"/>
                    </a:srgbClr>
                  </a:outerShdw>
                </a:effectLst>
                <a:latin typeface="+mn-ea"/>
                <a:ea typeface="+mn-ea"/>
              </a:rPr>
              <a:t>控件属性</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zh-CN" dirty="0">
                <a:latin typeface="+mn-ea"/>
                <a:ea typeface="+mn-ea"/>
              </a:rPr>
              <a:t>例如</a:t>
            </a:r>
            <a:r>
              <a:rPr lang="en-US" altLang="zh-CN" dirty="0">
                <a:latin typeface="+mn-ea"/>
                <a:ea typeface="+mn-ea"/>
              </a:rPr>
              <a:t>&lt;input&gt;</a:t>
            </a:r>
            <a:r>
              <a:rPr lang="zh-CN" altLang="zh-CN" dirty="0">
                <a:latin typeface="+mn-ea"/>
                <a:ea typeface="+mn-ea"/>
              </a:rPr>
              <a:t>的</a:t>
            </a:r>
            <a:r>
              <a:rPr lang="en-US" altLang="zh-CN" dirty="0">
                <a:latin typeface="+mn-ea"/>
                <a:ea typeface="+mn-ea"/>
              </a:rPr>
              <a:t>length</a:t>
            </a:r>
            <a:r>
              <a:rPr lang="zh-CN" altLang="zh-CN" dirty="0">
                <a:latin typeface="+mn-ea"/>
                <a:ea typeface="+mn-ea"/>
              </a:rPr>
              <a:t>属性、</a:t>
            </a:r>
            <a:r>
              <a:rPr lang="en-US" altLang="zh-CN" dirty="0">
                <a:latin typeface="+mn-ea"/>
                <a:ea typeface="+mn-ea"/>
              </a:rPr>
              <a:t>&lt;select&gt;</a:t>
            </a:r>
            <a:r>
              <a:rPr lang="zh-CN" altLang="zh-CN" dirty="0">
                <a:latin typeface="+mn-ea"/>
                <a:ea typeface="+mn-ea"/>
              </a:rPr>
              <a:t>的</a:t>
            </a:r>
            <a:r>
              <a:rPr lang="en-US" altLang="zh-CN" dirty="0">
                <a:latin typeface="+mn-ea"/>
                <a:ea typeface="+mn-ea"/>
              </a:rPr>
              <a:t>size</a:t>
            </a:r>
            <a:r>
              <a:rPr lang="zh-CN" altLang="zh-CN" dirty="0">
                <a:latin typeface="+mn-ea"/>
                <a:ea typeface="+mn-ea"/>
              </a:rPr>
              <a:t>属性、</a:t>
            </a:r>
            <a:r>
              <a:rPr lang="en-US" altLang="zh-CN" dirty="0">
                <a:latin typeface="+mn-ea"/>
                <a:ea typeface="+mn-ea"/>
              </a:rPr>
              <a:t>&lt;</a:t>
            </a:r>
            <a:r>
              <a:rPr lang="en-US" altLang="zh-CN" dirty="0" err="1">
                <a:latin typeface="+mn-ea"/>
                <a:ea typeface="+mn-ea"/>
              </a:rPr>
              <a:t>textarea</a:t>
            </a:r>
            <a:r>
              <a:rPr lang="en-US" altLang="zh-CN" dirty="0">
                <a:latin typeface="+mn-ea"/>
                <a:ea typeface="+mn-ea"/>
              </a:rPr>
              <a:t>&gt;</a:t>
            </a:r>
            <a:r>
              <a:rPr lang="zh-CN" altLang="zh-CN" dirty="0">
                <a:latin typeface="+mn-ea"/>
                <a:ea typeface="+mn-ea"/>
              </a:rPr>
              <a:t>的</a:t>
            </a:r>
            <a:r>
              <a:rPr lang="en-US" altLang="zh-CN" dirty="0">
                <a:latin typeface="+mn-ea"/>
                <a:ea typeface="+mn-ea"/>
              </a:rPr>
              <a:t>cols</a:t>
            </a:r>
            <a:r>
              <a:rPr lang="zh-CN" altLang="zh-CN" dirty="0">
                <a:latin typeface="+mn-ea"/>
                <a:ea typeface="+mn-ea"/>
              </a:rPr>
              <a:t>、</a:t>
            </a:r>
            <a:r>
              <a:rPr lang="en-US" altLang="zh-CN" dirty="0">
                <a:latin typeface="+mn-ea"/>
                <a:ea typeface="+mn-ea"/>
              </a:rPr>
              <a:t>rows</a:t>
            </a:r>
            <a:r>
              <a:rPr lang="zh-CN" altLang="zh-CN" dirty="0">
                <a:latin typeface="+mn-ea"/>
                <a:ea typeface="+mn-ea"/>
              </a:rPr>
              <a:t>属性</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en-US" altLang="zh-CN" sz="2000" b="1" dirty="0">
                <a:solidFill>
                  <a:schemeClr val="accent6"/>
                </a:solidFill>
                <a:effectLst>
                  <a:outerShdw blurRad="38100" dist="38100" dir="2700000" algn="tl">
                    <a:srgbClr val="000000">
                      <a:alpha val="43137"/>
                    </a:srgbClr>
                  </a:outerShdw>
                </a:effectLst>
                <a:latin typeface="+mn-ea"/>
                <a:ea typeface="+mn-ea"/>
              </a:rPr>
              <a:t>CSS</a:t>
            </a:r>
            <a:r>
              <a:rPr lang="zh-CN" altLang="zh-CN" sz="2000" b="1" dirty="0">
                <a:solidFill>
                  <a:schemeClr val="accent6"/>
                </a:solidFill>
                <a:effectLst>
                  <a:outerShdw blurRad="38100" dist="38100" dir="2700000" algn="tl">
                    <a:srgbClr val="000000">
                      <a:alpha val="43137"/>
                    </a:srgbClr>
                  </a:outerShdw>
                </a:effectLst>
                <a:latin typeface="+mn-ea"/>
                <a:ea typeface="+mn-ea"/>
              </a:rPr>
              <a:t>样式</a:t>
            </a:r>
            <a:endParaRPr lang="en-US" altLang="zh-CN" sz="2000" b="1" dirty="0">
              <a:solidFill>
                <a:schemeClr val="accent6"/>
              </a:solidFill>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sz="2000" b="1" dirty="0">
                <a:solidFill>
                  <a:schemeClr val="accent6"/>
                </a:solidFill>
                <a:effectLst>
                  <a:outerShdw blurRad="38100" dist="38100" dir="2700000" algn="tl">
                    <a:srgbClr val="000000">
                      <a:alpha val="43137"/>
                    </a:srgbClr>
                  </a:outerShdw>
                </a:effectLst>
                <a:latin typeface="+mn-ea"/>
                <a:ea typeface="+mn-ea"/>
              </a:rPr>
              <a:t>例如</a:t>
            </a:r>
            <a:r>
              <a:rPr lang="en-US" altLang="zh-CN" sz="2000" b="1" dirty="0">
                <a:solidFill>
                  <a:schemeClr val="accent6"/>
                </a:solidFill>
                <a:effectLst>
                  <a:outerShdw blurRad="38100" dist="38100" dir="2700000" algn="tl">
                    <a:srgbClr val="000000">
                      <a:alpha val="43137"/>
                    </a:srgbClr>
                  </a:outerShdw>
                </a:effectLst>
                <a:latin typeface="+mn-ea"/>
                <a:ea typeface="+mn-ea"/>
              </a:rPr>
              <a:t>width</a:t>
            </a:r>
            <a:r>
              <a:rPr lang="zh-CN" altLang="en-US" sz="2000" b="1" dirty="0">
                <a:solidFill>
                  <a:schemeClr val="accent6"/>
                </a:solidFill>
                <a:effectLst>
                  <a:outerShdw blurRad="38100" dist="38100" dir="2700000" algn="tl">
                    <a:srgbClr val="000000">
                      <a:alpha val="43137"/>
                    </a:srgbClr>
                  </a:outerShdw>
                </a:effectLst>
                <a:latin typeface="+mn-ea"/>
                <a:ea typeface="+mn-ea"/>
              </a:rPr>
              <a:t>、</a:t>
            </a:r>
            <a:r>
              <a:rPr lang="en-US" altLang="zh-CN" sz="2000" b="1" dirty="0">
                <a:solidFill>
                  <a:schemeClr val="accent6"/>
                </a:solidFill>
                <a:effectLst>
                  <a:outerShdw blurRad="38100" dist="38100" dir="2700000" algn="tl">
                    <a:srgbClr val="000000">
                      <a:alpha val="43137"/>
                    </a:srgbClr>
                  </a:outerShdw>
                </a:effectLst>
                <a:latin typeface="+mn-ea"/>
                <a:ea typeface="+mn-ea"/>
              </a:rPr>
              <a:t>height</a:t>
            </a:r>
            <a:r>
              <a:rPr lang="zh-CN" altLang="en-US" sz="2000" b="1" dirty="0">
                <a:solidFill>
                  <a:schemeClr val="accent6"/>
                </a:solidFill>
                <a:effectLst>
                  <a:outerShdw blurRad="38100" dist="38100" dir="2700000" algn="tl">
                    <a:srgbClr val="000000">
                      <a:alpha val="43137"/>
                    </a:srgbClr>
                  </a:outerShdw>
                </a:effectLst>
                <a:latin typeface="+mn-ea"/>
                <a:ea typeface="+mn-ea"/>
              </a:rPr>
              <a:t>属性</a:t>
            </a:r>
            <a:r>
              <a:rPr lang="zh-CN" altLang="zh-CN" sz="2000" b="1" dirty="0">
                <a:effectLst>
                  <a:outerShdw blurRad="38100" dist="38100" dir="2700000" algn="tl">
                    <a:srgbClr val="000000">
                      <a:alpha val="43137"/>
                    </a:srgbClr>
                  </a:outerShdw>
                </a:effectLst>
                <a:latin typeface="+mn-ea"/>
                <a:ea typeface="+mn-ea"/>
              </a:rPr>
              <a:t> </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endParaRPr lang="en-US" altLang="zh-CN" sz="2000" b="1" dirty="0">
              <a:effectLst>
                <a:outerShdw blurRad="38100" dist="38100" dir="2700000" algn="tl">
                  <a:srgbClr val="000000">
                    <a:alpha val="43137"/>
                  </a:srgbClr>
                </a:outerShdw>
              </a:effectLst>
              <a:latin typeface="+mn-ea"/>
              <a:ea typeface="+mn-ea"/>
            </a:endParaRPr>
          </a:p>
        </p:txBody>
      </p:sp>
      <p:sp>
        <p:nvSpPr>
          <p:cNvPr id="15" name="圆角矩形标注 2">
            <a:extLst>
              <a:ext uri="{FF2B5EF4-FFF2-40B4-BE49-F238E27FC236}">
                <a16:creationId xmlns:a16="http://schemas.microsoft.com/office/drawing/2014/main" id="{87C0E2BF-4C3F-644B-8704-9E5EAD1443C5}"/>
              </a:ext>
            </a:extLst>
          </p:cNvPr>
          <p:cNvSpPr/>
          <p:nvPr/>
        </p:nvSpPr>
        <p:spPr>
          <a:xfrm>
            <a:off x="5576069" y="3104771"/>
            <a:ext cx="4752528" cy="955051"/>
          </a:xfrm>
          <a:prstGeom prst="wedgeRoundRectCallout">
            <a:avLst>
              <a:gd name="adj1" fmla="val -93433"/>
              <a:gd name="adj2" fmla="val 36319"/>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000" b="1" dirty="0">
                <a:solidFill>
                  <a:srgbClr val="0000FF"/>
                </a:solidFill>
              </a:rPr>
              <a:t>经过实践发现，给不同类型的控件设置相同的值后，控件尺寸并不完全一致。</a:t>
            </a:r>
          </a:p>
        </p:txBody>
      </p:sp>
    </p:spTree>
    <p:extLst>
      <p:ext uri="{BB962C8B-B14F-4D97-AF65-F5344CB8AC3E}">
        <p14:creationId xmlns:p14="http://schemas.microsoft.com/office/powerpoint/2010/main" val="4042716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ircle(in)">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例</a:t>
            </a:r>
            <a:r>
              <a:rPr lang="en-US" altLang="zh-CN" sz="2800" b="1" dirty="0">
                <a:solidFill>
                  <a:srgbClr val="0000FF"/>
                </a:solidFill>
                <a:latin typeface="+mn-ea"/>
                <a:ea typeface="+mn-ea"/>
              </a:rPr>
              <a:t>5-9</a:t>
            </a:r>
          </a:p>
        </p:txBody>
      </p:sp>
      <p:sp>
        <p:nvSpPr>
          <p:cNvPr id="6" name="文本框 5">
            <a:extLst>
              <a:ext uri="{FF2B5EF4-FFF2-40B4-BE49-F238E27FC236}">
                <a16:creationId xmlns:a16="http://schemas.microsoft.com/office/drawing/2014/main" id="{8B23F681-F765-8E4E-92F0-6A0EE5900C1F}"/>
              </a:ext>
            </a:extLst>
          </p:cNvPr>
          <p:cNvSpPr txBox="1"/>
          <p:nvPr/>
        </p:nvSpPr>
        <p:spPr>
          <a:xfrm>
            <a:off x="1148249" y="2443787"/>
            <a:ext cx="10260468" cy="4031873"/>
          </a:xfrm>
          <a:prstGeom prst="rect">
            <a:avLst/>
          </a:prstGeom>
          <a:noFill/>
        </p:spPr>
        <p:txBody>
          <a:bodyPr wrap="square">
            <a:spAutoFit/>
          </a:bodyPr>
          <a:lstStyle/>
          <a:p>
            <a:r>
              <a:rPr lang="en-US" altLang="zh-CN" sz="1600" kern="100" dirty="0">
                <a:latin typeface="+mn-ea"/>
                <a:ea typeface="+mn-ea"/>
                <a:cs typeface="Times New Roman" panose="02020603050405020304" pitchFamily="18" charset="0"/>
              </a:rPr>
              <a:t>&lt;style&gt;</a:t>
            </a:r>
          </a:p>
          <a:p>
            <a:r>
              <a:rPr lang="en-US" altLang="zh-CN" sz="1600" kern="100" dirty="0">
                <a:latin typeface="+mn-ea"/>
                <a:ea typeface="+mn-ea"/>
                <a:cs typeface="Times New Roman" panose="02020603050405020304" pitchFamily="18" charset="0"/>
              </a:rPr>
              <a:t>……</a:t>
            </a:r>
          </a:p>
          <a:p>
            <a:r>
              <a:rPr lang="en-US" altLang="zh-CN" sz="1600" dirty="0">
                <a:latin typeface="+mn-ea"/>
                <a:ea typeface="+mn-ea"/>
              </a:rPr>
              <a:t>input, select, </a:t>
            </a:r>
            <a:r>
              <a:rPr lang="en-US" altLang="zh-CN" sz="1600" dirty="0" err="1">
                <a:latin typeface="+mn-ea"/>
                <a:ea typeface="+mn-ea"/>
              </a:rPr>
              <a:t>textarea</a:t>
            </a:r>
            <a:r>
              <a:rPr lang="en-US" altLang="zh-CN" sz="1600" dirty="0">
                <a:latin typeface="+mn-ea"/>
                <a:ea typeface="+mn-ea"/>
              </a:rPr>
              <a:t>{</a:t>
            </a:r>
            <a:endParaRPr lang="zh-CN" altLang="zh-CN" sz="1600" dirty="0">
              <a:latin typeface="+mn-ea"/>
              <a:ea typeface="+mn-ea"/>
            </a:endParaRPr>
          </a:p>
          <a:p>
            <a:r>
              <a:rPr lang="en-US" altLang="zh-CN" sz="1600" dirty="0">
                <a:latin typeface="+mn-ea"/>
                <a:ea typeface="+mn-ea"/>
              </a:rPr>
              <a:t>  </a:t>
            </a:r>
            <a:r>
              <a:rPr lang="en-US" altLang="zh-CN" sz="1600" b="1" dirty="0">
                <a:solidFill>
                  <a:schemeClr val="accent6"/>
                </a:solidFill>
                <a:latin typeface="+mn-ea"/>
                <a:ea typeface="+mn-ea"/>
              </a:rPr>
              <a:t>width: 200px;</a:t>
            </a:r>
            <a:endParaRPr lang="zh-CN" altLang="zh-CN" sz="1600" b="1" dirty="0">
              <a:solidFill>
                <a:schemeClr val="accent6"/>
              </a:solidFill>
              <a:latin typeface="+mn-ea"/>
              <a:ea typeface="+mn-ea"/>
            </a:endParaRPr>
          </a:p>
          <a:p>
            <a:r>
              <a:rPr lang="en-US" altLang="zh-CN" sz="1600" b="1" dirty="0">
                <a:solidFill>
                  <a:schemeClr val="accent6"/>
                </a:solidFill>
                <a:latin typeface="+mn-ea"/>
                <a:ea typeface="+mn-ea"/>
              </a:rPr>
              <a:t>  height: 30px;   /* </a:t>
            </a:r>
            <a:r>
              <a:rPr lang="zh-CN" altLang="zh-CN" sz="1600" b="1" dirty="0">
                <a:solidFill>
                  <a:schemeClr val="accent6"/>
                </a:solidFill>
                <a:latin typeface="+mn-ea"/>
                <a:ea typeface="+mn-ea"/>
              </a:rPr>
              <a:t>设置相同的高和高</a:t>
            </a:r>
            <a:r>
              <a:rPr lang="en-US" altLang="zh-CN" sz="1600" b="1" dirty="0">
                <a:solidFill>
                  <a:schemeClr val="accent6"/>
                </a:solidFill>
                <a:latin typeface="+mn-ea"/>
                <a:ea typeface="+mn-ea"/>
              </a:rPr>
              <a:t> */</a:t>
            </a:r>
            <a:endParaRPr lang="zh-CN" altLang="zh-CN" sz="1600" b="1" dirty="0">
              <a:solidFill>
                <a:schemeClr val="accent6"/>
              </a:solidFill>
              <a:latin typeface="+mn-ea"/>
              <a:ea typeface="+mn-ea"/>
            </a:endParaRPr>
          </a:p>
          <a:p>
            <a:r>
              <a:rPr lang="en-US" altLang="zh-CN" sz="1600" dirty="0">
                <a:latin typeface="+mn-ea"/>
                <a:ea typeface="+mn-ea"/>
              </a:rPr>
              <a:t>}</a:t>
            </a:r>
            <a:endParaRPr lang="en-US" altLang="zh-CN" sz="1600" kern="100" dirty="0">
              <a:latin typeface="+mn-ea"/>
              <a:ea typeface="+mn-ea"/>
              <a:cs typeface="Times New Roman" panose="02020603050405020304" pitchFamily="18" charset="0"/>
            </a:endParaRPr>
          </a:p>
          <a:p>
            <a:r>
              <a:rPr lang="en-US" altLang="zh-CN" sz="1600" kern="100" dirty="0">
                <a:latin typeface="+mn-ea"/>
                <a:ea typeface="+mn-ea"/>
                <a:cs typeface="Times New Roman" panose="02020603050405020304" pitchFamily="18" charset="0"/>
              </a:rPr>
              <a:t>&lt;/style&gt;</a:t>
            </a:r>
          </a:p>
          <a:p>
            <a:r>
              <a:rPr lang="en-US" altLang="zh-CN" sz="1600" kern="100" dirty="0">
                <a:latin typeface="+mn-ea"/>
                <a:ea typeface="+mn-ea"/>
                <a:cs typeface="Times New Roman" panose="02020603050405020304" pitchFamily="18" charset="0"/>
              </a:rPr>
              <a:t>&lt;form method="get" action="/</a:t>
            </a:r>
            <a:r>
              <a:rPr lang="en-US" altLang="zh-CN" sz="1600" kern="100" dirty="0" err="1">
                <a:latin typeface="+mn-ea"/>
                <a:ea typeface="+mn-ea"/>
                <a:cs typeface="Times New Roman" panose="02020603050405020304" pitchFamily="18" charset="0"/>
              </a:rPr>
              <a:t>submit.html</a:t>
            </a:r>
            <a:r>
              <a:rPr lang="en-US" altLang="zh-CN" sz="1600" kern="100" dirty="0">
                <a:latin typeface="+mn-ea"/>
                <a:ea typeface="+mn-ea"/>
                <a:cs typeface="Times New Roman" panose="02020603050405020304" pitchFamily="18" charset="0"/>
              </a:rPr>
              <a:t>"</a:t>
            </a:r>
            <a:r>
              <a:rPr lang="zh-CN" altLang="zh-CN" sz="1600" kern="100" dirty="0">
                <a:latin typeface="+mn-ea"/>
                <a:ea typeface="+mn-ea"/>
                <a:cs typeface="Times New Roman" panose="02020603050405020304" pitchFamily="18" charset="0"/>
              </a:rPr>
              <a:t> </a:t>
            </a:r>
            <a:r>
              <a:rPr lang="en-US" altLang="zh-CN" sz="1600" kern="100" dirty="0">
                <a:latin typeface="+mn-ea"/>
                <a:ea typeface="+mn-ea"/>
                <a:cs typeface="Times New Roman" panose="02020603050405020304" pitchFamily="18" charset="0"/>
              </a:rPr>
              <a:t>&gt;</a:t>
            </a:r>
          </a:p>
          <a:p>
            <a:r>
              <a:rPr lang="en-US" altLang="zh-CN" sz="1600" kern="100" dirty="0">
                <a:latin typeface="+mn-ea"/>
                <a:ea typeface="+mn-ea"/>
                <a:cs typeface="Times New Roman" panose="02020603050405020304" pitchFamily="18" charset="0"/>
              </a:rPr>
              <a:t>  ……</a:t>
            </a:r>
          </a:p>
          <a:p>
            <a:r>
              <a:rPr lang="en-US" altLang="zh-CN" sz="1600" kern="100" dirty="0">
                <a:latin typeface="+mn-ea"/>
                <a:ea typeface="+mn-ea"/>
                <a:cs typeface="Times New Roman" panose="02020603050405020304" pitchFamily="18" charset="0"/>
              </a:rPr>
              <a:t>  &lt;div</a:t>
            </a:r>
            <a:r>
              <a:rPr lang="en-US" altLang="zh-CN" sz="1600" kern="100" dirty="0">
                <a:solidFill>
                  <a:schemeClr val="accent4"/>
                </a:solidFill>
                <a:latin typeface="+mn-ea"/>
                <a:ea typeface="+mn-ea"/>
                <a:cs typeface="Times New Roman" panose="02020603050405020304" pitchFamily="18" charset="0"/>
              </a:rPr>
              <a:t>&gt;</a:t>
            </a:r>
            <a:r>
              <a:rPr lang="en-US" altLang="zh-CN" sz="1600" b="1" kern="100" dirty="0">
                <a:solidFill>
                  <a:schemeClr val="accent6"/>
                </a:solidFill>
                <a:latin typeface="+mn-ea"/>
                <a:ea typeface="+mn-ea"/>
                <a:cs typeface="Times New Roman" panose="02020603050405020304" pitchFamily="18" charset="0"/>
              </a:rPr>
              <a:t>&lt;input name="input" type="text" placeholder="</a:t>
            </a:r>
            <a:r>
              <a:rPr lang="zh-CN" altLang="en-US" sz="1600" b="1" kern="100" dirty="0">
                <a:solidFill>
                  <a:schemeClr val="accent6"/>
                </a:solidFill>
                <a:latin typeface="+mn-ea"/>
                <a:ea typeface="+mn-ea"/>
                <a:cs typeface="Times New Roman" panose="02020603050405020304" pitchFamily="18" charset="0"/>
              </a:rPr>
              <a:t>单行文本框</a:t>
            </a:r>
            <a:r>
              <a:rPr lang="en-US" altLang="zh-CN" sz="1600" b="1" kern="100" dirty="0">
                <a:solidFill>
                  <a:schemeClr val="accent6"/>
                </a:solidFill>
                <a:latin typeface="+mn-ea"/>
                <a:ea typeface="+mn-ea"/>
                <a:cs typeface="Times New Roman" panose="02020603050405020304" pitchFamily="18" charset="0"/>
              </a:rPr>
              <a: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  &lt;div&gt;</a:t>
            </a:r>
            <a:r>
              <a:rPr lang="en-US" altLang="zh-CN" sz="1600" b="1" kern="100" dirty="0">
                <a:solidFill>
                  <a:schemeClr val="accent6"/>
                </a:solidFill>
                <a:latin typeface="+mn-ea"/>
                <a:ea typeface="+mn-ea"/>
                <a:cs typeface="Times New Roman" panose="02020603050405020304" pitchFamily="18" charset="0"/>
              </a:rPr>
              <a:t>&lt;select name="select"&gt;</a:t>
            </a:r>
          </a:p>
          <a:p>
            <a:r>
              <a:rPr lang="zh-CN" altLang="en-US" sz="1600" b="1" kern="100" dirty="0">
                <a:solidFill>
                  <a:schemeClr val="accent6"/>
                </a:solidFill>
                <a:latin typeface="+mn-ea"/>
                <a:ea typeface="+mn-ea"/>
                <a:cs typeface="Times New Roman" panose="02020603050405020304" pitchFamily="18" charset="0"/>
              </a:rPr>
              <a:t> </a:t>
            </a:r>
            <a:r>
              <a:rPr lang="en-US" altLang="zh-CN" sz="1600" b="1" kern="100" dirty="0">
                <a:solidFill>
                  <a:schemeClr val="accent6"/>
                </a:solidFill>
                <a:latin typeface="+mn-ea"/>
                <a:ea typeface="+mn-ea"/>
                <a:cs typeface="Times New Roman" panose="02020603050405020304" pitchFamily="18" charset="0"/>
              </a:rPr>
              <a:t>        &lt;option&gt;</a:t>
            </a:r>
            <a:r>
              <a:rPr lang="zh-CN" altLang="en-US" sz="1600" b="1" kern="100" dirty="0">
                <a:solidFill>
                  <a:schemeClr val="accent6"/>
                </a:solidFill>
                <a:latin typeface="+mn-ea"/>
                <a:ea typeface="+mn-ea"/>
                <a:cs typeface="Times New Roman" panose="02020603050405020304" pitchFamily="18" charset="0"/>
              </a:rPr>
              <a:t>下拉菜单</a:t>
            </a:r>
            <a:r>
              <a:rPr lang="en-US" altLang="zh-CN" sz="1600" b="1" kern="100" dirty="0">
                <a:solidFill>
                  <a:schemeClr val="accent6"/>
                </a:solidFill>
                <a:latin typeface="+mn-ea"/>
                <a:ea typeface="+mn-ea"/>
                <a:cs typeface="Times New Roman" panose="02020603050405020304" pitchFamily="18" charset="0"/>
              </a:rPr>
              <a:t>&lt;/option&gt;</a:t>
            </a:r>
          </a:p>
          <a:p>
            <a:r>
              <a:rPr lang="en-US" altLang="zh-CN" sz="1600" b="1" kern="100" dirty="0">
                <a:solidFill>
                  <a:schemeClr val="accent6"/>
                </a:solidFill>
                <a:latin typeface="+mn-ea"/>
                <a:ea typeface="+mn-ea"/>
                <a:cs typeface="Times New Roman" panose="02020603050405020304" pitchFamily="18" charset="0"/>
              </a:rPr>
              <a:t>         &lt;option&gt;</a:t>
            </a:r>
            <a:r>
              <a:rPr lang="zh-CN" altLang="en-US" sz="1600" b="1" kern="100" dirty="0">
                <a:solidFill>
                  <a:schemeClr val="accent6"/>
                </a:solidFill>
                <a:latin typeface="+mn-ea"/>
                <a:ea typeface="+mn-ea"/>
                <a:cs typeface="Times New Roman" panose="02020603050405020304" pitchFamily="18" charset="0"/>
              </a:rPr>
              <a:t>下拉菜单选项</a:t>
            </a:r>
            <a:r>
              <a:rPr lang="en-US" altLang="zh-CN" sz="1600" b="1" kern="100" dirty="0">
                <a:solidFill>
                  <a:schemeClr val="accent6"/>
                </a:solidFill>
                <a:latin typeface="+mn-ea"/>
                <a:ea typeface="+mn-ea"/>
                <a:cs typeface="Times New Roman" panose="02020603050405020304" pitchFamily="18" charset="0"/>
              </a:rPr>
              <a:t>&lt;/option&gt;</a:t>
            </a:r>
          </a:p>
          <a:p>
            <a:r>
              <a:rPr lang="en-US" altLang="zh-CN" sz="1600" b="1" kern="100" dirty="0">
                <a:solidFill>
                  <a:schemeClr val="accent6"/>
                </a:solidFill>
                <a:latin typeface="+mn-ea"/>
                <a:ea typeface="+mn-ea"/>
                <a:cs typeface="Times New Roman" panose="02020603050405020304" pitchFamily="18" charset="0"/>
              </a:rPr>
              <a:t>       &lt;/select&gt;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  &lt;div</a:t>
            </a:r>
            <a:r>
              <a:rPr lang="en-US" altLang="zh-CN" sz="1600" kern="100" dirty="0">
                <a:solidFill>
                  <a:schemeClr val="accent4"/>
                </a:solidFill>
                <a:latin typeface="+mn-ea"/>
                <a:ea typeface="+mn-ea"/>
                <a:cs typeface="Times New Roman" panose="02020603050405020304" pitchFamily="18" charset="0"/>
              </a:rPr>
              <a:t>&gt;</a:t>
            </a:r>
            <a:r>
              <a:rPr lang="en-US" altLang="zh-CN" sz="1600" b="1" kern="100" dirty="0">
                <a:solidFill>
                  <a:schemeClr val="accent6"/>
                </a:solidFill>
                <a:latin typeface="+mn-ea"/>
                <a:ea typeface="+mn-ea"/>
                <a:cs typeface="Times New Roman" panose="02020603050405020304" pitchFamily="18" charset="0"/>
              </a:rPr>
              <a:t>&lt;</a:t>
            </a:r>
            <a:r>
              <a:rPr lang="en-US" altLang="zh-CN" sz="1600" b="1" kern="100" dirty="0" err="1">
                <a:solidFill>
                  <a:schemeClr val="accent6"/>
                </a:solidFill>
                <a:latin typeface="+mn-ea"/>
                <a:ea typeface="+mn-ea"/>
                <a:cs typeface="Times New Roman" panose="02020603050405020304" pitchFamily="18" charset="0"/>
              </a:rPr>
              <a:t>textarea</a:t>
            </a:r>
            <a:r>
              <a:rPr lang="en-US" altLang="zh-CN" sz="1600" b="1" kern="100" dirty="0">
                <a:solidFill>
                  <a:schemeClr val="accent6"/>
                </a:solidFill>
                <a:latin typeface="+mn-ea"/>
                <a:ea typeface="+mn-ea"/>
                <a:cs typeface="Times New Roman" panose="02020603050405020304" pitchFamily="18" charset="0"/>
              </a:rPr>
              <a:t> name="Signature"&gt;</a:t>
            </a:r>
            <a:r>
              <a:rPr lang="zh-CN" altLang="en-US" sz="1600" b="1" kern="100" dirty="0">
                <a:solidFill>
                  <a:schemeClr val="accent6"/>
                </a:solidFill>
                <a:latin typeface="+mn-ea"/>
                <a:ea typeface="+mn-ea"/>
                <a:cs typeface="Times New Roman" panose="02020603050405020304" pitchFamily="18" charset="0"/>
              </a:rPr>
              <a:t>多行文本框</a:t>
            </a:r>
            <a:r>
              <a:rPr lang="en-US" altLang="zh-CN" sz="1600" b="1" kern="100" dirty="0">
                <a:solidFill>
                  <a:schemeClr val="accent6"/>
                </a:solidFill>
                <a:latin typeface="+mn-ea"/>
                <a:ea typeface="+mn-ea"/>
                <a:cs typeface="Times New Roman" panose="02020603050405020304" pitchFamily="18" charset="0"/>
              </a:rPr>
              <a:t>&lt;/</a:t>
            </a:r>
            <a:r>
              <a:rPr lang="en-US" altLang="zh-CN" sz="1600" b="1" kern="100" dirty="0" err="1">
                <a:solidFill>
                  <a:schemeClr val="accent6"/>
                </a:solidFill>
                <a:latin typeface="+mn-ea"/>
                <a:ea typeface="+mn-ea"/>
                <a:cs typeface="Times New Roman" panose="02020603050405020304" pitchFamily="18" charset="0"/>
              </a:rPr>
              <a:t>textarea</a:t>
            </a:r>
            <a:r>
              <a:rPr lang="en-US" altLang="zh-CN" sz="1600" b="1" kern="100" dirty="0">
                <a:solidFill>
                  <a:schemeClr val="accent6"/>
                </a:solidFill>
                <a:latin typeface="+mn-ea"/>
                <a:ea typeface="+mn-ea"/>
                <a:cs typeface="Times New Roman" panose="02020603050405020304" pitchFamily="18" charset="0"/>
              </a:rPr>
              <a: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&lt;/form&gt;</a:t>
            </a:r>
          </a:p>
        </p:txBody>
      </p:sp>
      <p:pic>
        <p:nvPicPr>
          <p:cNvPr id="7" name="图片 6">
            <a:extLst>
              <a:ext uri="{FF2B5EF4-FFF2-40B4-BE49-F238E27FC236}">
                <a16:creationId xmlns:a16="http://schemas.microsoft.com/office/drawing/2014/main" id="{DF3D73C1-FD5C-8B4C-99CD-94E2C7B51248}"/>
              </a:ext>
            </a:extLst>
          </p:cNvPr>
          <p:cNvPicPr>
            <a:picLocks noChangeAspect="1"/>
          </p:cNvPicPr>
          <p:nvPr/>
        </p:nvPicPr>
        <p:blipFill>
          <a:blip r:embed="rId3"/>
          <a:stretch>
            <a:fillRect/>
          </a:stretch>
        </p:blipFill>
        <p:spPr>
          <a:xfrm>
            <a:off x="1148250" y="1700329"/>
            <a:ext cx="9009595" cy="712654"/>
          </a:xfrm>
          <a:prstGeom prst="rect">
            <a:avLst/>
          </a:prstGeom>
        </p:spPr>
      </p:pic>
      <p:sp>
        <p:nvSpPr>
          <p:cNvPr id="10" name="圆角矩形标注 2">
            <a:extLst>
              <a:ext uri="{FF2B5EF4-FFF2-40B4-BE49-F238E27FC236}">
                <a16:creationId xmlns:a16="http://schemas.microsoft.com/office/drawing/2014/main" id="{901139A5-A84E-9F40-A758-774D769D0F60}"/>
              </a:ext>
            </a:extLst>
          </p:cNvPr>
          <p:cNvSpPr/>
          <p:nvPr/>
        </p:nvSpPr>
        <p:spPr>
          <a:xfrm>
            <a:off x="7304261" y="2756808"/>
            <a:ext cx="3707740" cy="955051"/>
          </a:xfrm>
          <a:prstGeom prst="wedgeRoundRectCallout">
            <a:avLst>
              <a:gd name="adj1" fmla="val -59413"/>
              <a:gd name="adj2" fmla="val -77032"/>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000" b="1" dirty="0">
                <a:solidFill>
                  <a:srgbClr val="0000FF"/>
                </a:solidFill>
              </a:rPr>
              <a:t>观察运行结果，存在什么问题？</a:t>
            </a:r>
          </a:p>
        </p:txBody>
      </p:sp>
    </p:spTree>
    <p:extLst>
      <p:ext uri="{BB962C8B-B14F-4D97-AF65-F5344CB8AC3E}">
        <p14:creationId xmlns:p14="http://schemas.microsoft.com/office/powerpoint/2010/main" val="388490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例</a:t>
            </a:r>
            <a:r>
              <a:rPr lang="en-US" altLang="zh-CN" sz="2800" b="1" dirty="0">
                <a:solidFill>
                  <a:srgbClr val="0000FF"/>
                </a:solidFill>
                <a:latin typeface="+mn-ea"/>
                <a:ea typeface="+mn-ea"/>
              </a:rPr>
              <a:t>5-9</a:t>
            </a:r>
          </a:p>
        </p:txBody>
      </p:sp>
      <p:pic>
        <p:nvPicPr>
          <p:cNvPr id="7" name="图片 6">
            <a:extLst>
              <a:ext uri="{FF2B5EF4-FFF2-40B4-BE49-F238E27FC236}">
                <a16:creationId xmlns:a16="http://schemas.microsoft.com/office/drawing/2014/main" id="{DF3D73C1-FD5C-8B4C-99CD-94E2C7B51248}"/>
              </a:ext>
            </a:extLst>
          </p:cNvPr>
          <p:cNvPicPr>
            <a:picLocks noChangeAspect="1"/>
          </p:cNvPicPr>
          <p:nvPr/>
        </p:nvPicPr>
        <p:blipFill>
          <a:blip r:embed="rId3"/>
          <a:stretch>
            <a:fillRect/>
          </a:stretch>
        </p:blipFill>
        <p:spPr>
          <a:xfrm>
            <a:off x="1148250" y="1700329"/>
            <a:ext cx="9009595" cy="712654"/>
          </a:xfrm>
          <a:prstGeom prst="rect">
            <a:avLst/>
          </a:prstGeom>
        </p:spPr>
      </p:pic>
      <p:pic>
        <p:nvPicPr>
          <p:cNvPr id="3" name="图片 2">
            <a:extLst>
              <a:ext uri="{FF2B5EF4-FFF2-40B4-BE49-F238E27FC236}">
                <a16:creationId xmlns:a16="http://schemas.microsoft.com/office/drawing/2014/main" id="{DDC3F898-0ACC-4EC5-BD93-43083E41CA72}"/>
              </a:ext>
            </a:extLst>
          </p:cNvPr>
          <p:cNvPicPr>
            <a:picLocks noChangeAspect="1"/>
          </p:cNvPicPr>
          <p:nvPr/>
        </p:nvPicPr>
        <p:blipFill>
          <a:blip r:embed="rId4"/>
          <a:stretch>
            <a:fillRect/>
          </a:stretch>
        </p:blipFill>
        <p:spPr>
          <a:xfrm>
            <a:off x="1130492" y="3632315"/>
            <a:ext cx="9275899" cy="2493072"/>
          </a:xfrm>
          <a:prstGeom prst="rect">
            <a:avLst/>
          </a:prstGeom>
        </p:spPr>
      </p:pic>
      <p:sp>
        <p:nvSpPr>
          <p:cNvPr id="4" name="矩形 3">
            <a:extLst>
              <a:ext uri="{FF2B5EF4-FFF2-40B4-BE49-F238E27FC236}">
                <a16:creationId xmlns:a16="http://schemas.microsoft.com/office/drawing/2014/main" id="{E3C66659-8FF4-467F-A107-DC20A1EF1077}"/>
              </a:ext>
            </a:extLst>
          </p:cNvPr>
          <p:cNvSpPr/>
          <p:nvPr/>
        </p:nvSpPr>
        <p:spPr>
          <a:xfrm>
            <a:off x="4747190" y="6300589"/>
            <a:ext cx="1811714" cy="369332"/>
          </a:xfrm>
          <a:prstGeom prst="rect">
            <a:avLst/>
          </a:prstGeom>
        </p:spPr>
        <p:txBody>
          <a:bodyPr wrap="none">
            <a:spAutoFit/>
          </a:bodyPr>
          <a:lstStyle/>
          <a:p>
            <a:r>
              <a:rPr lang="zh-CN" altLang="zh-CN" b="1" dirty="0">
                <a:cs typeface="Times New Roman" panose="02020603050405020304" pitchFamily="18" charset="0"/>
              </a:rPr>
              <a:t>对应的实际尺寸</a:t>
            </a:r>
            <a:endParaRPr lang="zh-CN" altLang="en-US" dirty="0"/>
          </a:p>
        </p:txBody>
      </p:sp>
      <p:sp>
        <p:nvSpPr>
          <p:cNvPr id="5" name="矩形 4">
            <a:extLst>
              <a:ext uri="{FF2B5EF4-FFF2-40B4-BE49-F238E27FC236}">
                <a16:creationId xmlns:a16="http://schemas.microsoft.com/office/drawing/2014/main" id="{1F85A4E6-1CE6-46CD-A21E-8CB2CDD6C14C}"/>
              </a:ext>
            </a:extLst>
          </p:cNvPr>
          <p:cNvSpPr/>
          <p:nvPr/>
        </p:nvSpPr>
        <p:spPr>
          <a:xfrm>
            <a:off x="1180695" y="2343256"/>
            <a:ext cx="6080125" cy="1200329"/>
          </a:xfrm>
          <a:prstGeom prst="rect">
            <a:avLst/>
          </a:prstGeom>
        </p:spPr>
        <p:txBody>
          <a:bodyPr>
            <a:spAutoFit/>
          </a:bodyPr>
          <a:lstStyle/>
          <a:p>
            <a:r>
              <a:rPr lang="en-US" altLang="zh-CN" dirty="0">
                <a:latin typeface="+mn-ea"/>
              </a:rPr>
              <a:t>input, select, </a:t>
            </a:r>
            <a:r>
              <a:rPr lang="en-US" altLang="zh-CN" dirty="0" err="1">
                <a:latin typeface="+mn-ea"/>
              </a:rPr>
              <a:t>textarea</a:t>
            </a:r>
            <a:r>
              <a:rPr lang="en-US" altLang="zh-CN" dirty="0">
                <a:latin typeface="+mn-ea"/>
              </a:rPr>
              <a:t>{</a:t>
            </a:r>
            <a:endParaRPr lang="zh-CN" altLang="zh-CN" dirty="0">
              <a:latin typeface="+mn-ea"/>
            </a:endParaRPr>
          </a:p>
          <a:p>
            <a:r>
              <a:rPr lang="en-US" altLang="zh-CN" dirty="0">
                <a:latin typeface="+mn-ea"/>
              </a:rPr>
              <a:t>  </a:t>
            </a:r>
            <a:r>
              <a:rPr lang="en-US" altLang="zh-CN" b="1" dirty="0">
                <a:solidFill>
                  <a:schemeClr val="accent6"/>
                </a:solidFill>
                <a:latin typeface="+mn-ea"/>
              </a:rPr>
              <a:t>width: 200px;</a:t>
            </a:r>
            <a:endParaRPr lang="zh-CN" altLang="zh-CN" b="1" dirty="0">
              <a:solidFill>
                <a:schemeClr val="accent6"/>
              </a:solidFill>
              <a:latin typeface="+mn-ea"/>
            </a:endParaRPr>
          </a:p>
          <a:p>
            <a:r>
              <a:rPr lang="en-US" altLang="zh-CN" b="1" dirty="0">
                <a:solidFill>
                  <a:schemeClr val="accent6"/>
                </a:solidFill>
                <a:latin typeface="+mn-ea"/>
              </a:rPr>
              <a:t>  height: 30px;   /* </a:t>
            </a:r>
            <a:r>
              <a:rPr lang="zh-CN" altLang="zh-CN" b="1" dirty="0">
                <a:solidFill>
                  <a:schemeClr val="accent6"/>
                </a:solidFill>
                <a:latin typeface="+mn-ea"/>
              </a:rPr>
              <a:t>设置相同的高和高</a:t>
            </a:r>
            <a:r>
              <a:rPr lang="en-US" altLang="zh-CN" b="1" dirty="0">
                <a:solidFill>
                  <a:schemeClr val="accent6"/>
                </a:solidFill>
                <a:latin typeface="+mn-ea"/>
              </a:rPr>
              <a:t> */</a:t>
            </a:r>
            <a:endParaRPr lang="zh-CN" altLang="zh-CN" b="1" dirty="0">
              <a:solidFill>
                <a:schemeClr val="accent6"/>
              </a:solidFill>
              <a:latin typeface="+mn-ea"/>
            </a:endParaRPr>
          </a:p>
          <a:p>
            <a:r>
              <a:rPr lang="en-US" altLang="zh-CN" dirty="0">
                <a:latin typeface="+mn-ea"/>
              </a:rPr>
              <a:t>}</a:t>
            </a:r>
            <a:endParaRPr lang="en-US" altLang="zh-CN" kern="100" dirty="0">
              <a:latin typeface="+mn-ea"/>
              <a:cs typeface="Times New Roman" panose="02020603050405020304" pitchFamily="18" charset="0"/>
            </a:endParaRPr>
          </a:p>
        </p:txBody>
      </p:sp>
    </p:spTree>
    <p:extLst>
      <p:ext uri="{BB962C8B-B14F-4D97-AF65-F5344CB8AC3E}">
        <p14:creationId xmlns:p14="http://schemas.microsoft.com/office/powerpoint/2010/main" val="3538953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统一控件尺寸</a:t>
            </a:r>
            <a:endParaRPr lang="en-US" altLang="zh-CN" sz="2800" b="1" dirty="0">
              <a:solidFill>
                <a:srgbClr val="0000FF"/>
              </a:solidFill>
              <a:latin typeface="+mn-ea"/>
              <a:ea typeface="+mn-ea"/>
            </a:endParaRPr>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10838010" cy="2420856"/>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统一尺寸的途径</a:t>
            </a:r>
            <a:endParaRPr lang="en-US" altLang="zh-CN" sz="24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1</a:t>
            </a:r>
            <a:r>
              <a:rPr lang="zh-CN" altLang="en-US" sz="2000" b="1" dirty="0">
                <a:effectLst>
                  <a:outerShdw blurRad="38100" dist="38100" dir="2700000" algn="tl">
                    <a:srgbClr val="000000">
                      <a:alpha val="43137"/>
                    </a:srgbClr>
                  </a:outerShdw>
                </a:effectLst>
                <a:latin typeface="+mn-ea"/>
                <a:ea typeface="+mn-ea"/>
              </a:rPr>
              <a:t>）对不同的控件设置不同的尺寸</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sz="2000" dirty="0">
                <a:effectLst>
                  <a:outerShdw blurRad="38100" dist="38100" dir="2700000" algn="tl">
                    <a:srgbClr val="000000">
                      <a:alpha val="43137"/>
                    </a:srgbClr>
                  </a:outerShdw>
                </a:effectLst>
                <a:latin typeface="+mn-ea"/>
                <a:ea typeface="+mn-ea"/>
              </a:rPr>
              <a:t>需要了解每种控件尺寸的差别，实施起来较为复杂，这是在</a:t>
            </a:r>
            <a:r>
              <a:rPr lang="en-US" altLang="zh-CN" sz="2000" dirty="0">
                <a:effectLst>
                  <a:outerShdw blurRad="38100" dist="38100" dir="2700000" algn="tl">
                    <a:srgbClr val="000000">
                      <a:alpha val="43137"/>
                    </a:srgbClr>
                  </a:outerShdw>
                </a:effectLst>
                <a:latin typeface="+mn-ea"/>
                <a:ea typeface="+mn-ea"/>
              </a:rPr>
              <a:t>CSS3</a:t>
            </a:r>
            <a:r>
              <a:rPr lang="zh-CN" altLang="en-US" sz="2000" dirty="0">
                <a:effectLst>
                  <a:outerShdw blurRad="38100" dist="38100" dir="2700000" algn="tl">
                    <a:srgbClr val="000000">
                      <a:alpha val="43137"/>
                    </a:srgbClr>
                  </a:outerShdw>
                </a:effectLst>
                <a:latin typeface="+mn-ea"/>
                <a:ea typeface="+mn-ea"/>
              </a:rPr>
              <a:t>之前唯一可行的方案；</a:t>
            </a:r>
            <a:endParaRPr lang="en-US" altLang="zh-CN" sz="2000"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rPr>
              <a:t>（</a:t>
            </a:r>
            <a:r>
              <a:rPr lang="en-US" altLang="zh-CN" sz="2000" b="1" dirty="0">
                <a:effectLst>
                  <a:outerShdw blurRad="38100" dist="38100" dir="2700000" algn="tl">
                    <a:srgbClr val="000000">
                      <a:alpha val="43137"/>
                    </a:srgbClr>
                  </a:outerShdw>
                </a:effectLst>
                <a:latin typeface="+mn-ea"/>
                <a:ea typeface="+mn-ea"/>
              </a:rPr>
              <a:t>2</a:t>
            </a:r>
            <a:r>
              <a:rPr lang="zh-CN" altLang="en-US" sz="2000" b="1" dirty="0">
                <a:effectLst>
                  <a:outerShdw blurRad="38100" dist="38100" dir="2700000" algn="tl">
                    <a:srgbClr val="000000">
                      <a:alpha val="43137"/>
                    </a:srgbClr>
                  </a:outerShdw>
                </a:effectLst>
                <a:latin typeface="+mn-ea"/>
                <a:ea typeface="+mn-ea"/>
              </a:rPr>
              <a:t>）使用</a:t>
            </a:r>
            <a:r>
              <a:rPr lang="en-US" altLang="zh-CN" sz="2000" b="1" dirty="0">
                <a:effectLst>
                  <a:outerShdw blurRad="38100" dist="38100" dir="2700000" algn="tl">
                    <a:srgbClr val="000000">
                      <a:alpha val="43137"/>
                    </a:srgbClr>
                  </a:outerShdw>
                </a:effectLst>
                <a:latin typeface="+mn-ea"/>
                <a:ea typeface="+mn-ea"/>
              </a:rPr>
              <a:t>CSS3</a:t>
            </a:r>
            <a:r>
              <a:rPr lang="zh-CN" altLang="en-US" sz="2000" b="1" dirty="0">
                <a:effectLst>
                  <a:outerShdw blurRad="38100" dist="38100" dir="2700000" algn="tl">
                    <a:srgbClr val="000000">
                      <a:alpha val="43137"/>
                    </a:srgbClr>
                  </a:outerShdw>
                </a:effectLst>
                <a:latin typeface="+mn-ea"/>
                <a:ea typeface="+mn-ea"/>
              </a:rPr>
              <a:t>新增的</a:t>
            </a:r>
            <a:r>
              <a:rPr lang="en-US" altLang="zh-CN" sz="2000" b="1" dirty="0">
                <a:effectLst>
                  <a:outerShdw blurRad="38100" dist="38100" dir="2700000" algn="tl">
                    <a:srgbClr val="000000">
                      <a:alpha val="43137"/>
                    </a:srgbClr>
                  </a:outerShdw>
                </a:effectLst>
                <a:latin typeface="+mn-ea"/>
                <a:ea typeface="+mn-ea"/>
              </a:rPr>
              <a:t>box-sizing</a:t>
            </a:r>
            <a:r>
              <a:rPr lang="zh-CN" altLang="en-US" sz="2000" b="1" dirty="0">
                <a:effectLst>
                  <a:outerShdw blurRad="38100" dist="38100" dir="2700000" algn="tl">
                    <a:srgbClr val="000000">
                      <a:alpha val="43137"/>
                    </a:srgbClr>
                  </a:outerShdw>
                </a:effectLst>
                <a:latin typeface="+mn-ea"/>
                <a:ea typeface="+mn-ea"/>
              </a:rPr>
              <a:t>属性</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sz="2000" dirty="0">
                <a:effectLst>
                  <a:outerShdw blurRad="38100" dist="38100" dir="2700000" algn="tl">
                    <a:srgbClr val="000000">
                      <a:alpha val="43137"/>
                    </a:srgbClr>
                  </a:outerShdw>
                </a:effectLst>
                <a:latin typeface="+mn-ea"/>
                <a:ea typeface="+mn-ea"/>
              </a:rPr>
              <a:t>让需要统一尺寸的控件使用相同的尺寸计算方法</a:t>
            </a:r>
            <a:endParaRPr lang="en-US" altLang="zh-CN" sz="2000" dirty="0">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1495685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统一控件尺寸</a:t>
            </a:r>
            <a:endParaRPr lang="en-US" altLang="zh-CN" sz="2800" b="1" dirty="0">
              <a:solidFill>
                <a:srgbClr val="0000FF"/>
              </a:solidFill>
              <a:latin typeface="+mn-ea"/>
              <a:ea typeface="+mn-ea"/>
            </a:endParaRPr>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10838010" cy="559769"/>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统一尺寸的途径</a:t>
            </a:r>
            <a:endParaRPr lang="en-US" altLang="zh-CN" sz="2400" b="1" dirty="0">
              <a:effectLst>
                <a:outerShdw blurRad="38100" dist="38100" dir="2700000" algn="tl">
                  <a:srgbClr val="000000">
                    <a:alpha val="43137"/>
                  </a:srgbClr>
                </a:outerShdw>
              </a:effectLst>
              <a:latin typeface="+mn-ea"/>
              <a:ea typeface="+mn-ea"/>
            </a:endParaRPr>
          </a:p>
        </p:txBody>
      </p:sp>
      <p:graphicFrame>
        <p:nvGraphicFramePr>
          <p:cNvPr id="6" name="表格 5">
            <a:extLst>
              <a:ext uri="{FF2B5EF4-FFF2-40B4-BE49-F238E27FC236}">
                <a16:creationId xmlns:a16="http://schemas.microsoft.com/office/drawing/2014/main" id="{D9E160EF-EE3B-4E4E-A4B4-58660FF267D7}"/>
              </a:ext>
            </a:extLst>
          </p:cNvPr>
          <p:cNvGraphicFramePr>
            <a:graphicFrameLocks noGrp="1"/>
          </p:cNvGraphicFramePr>
          <p:nvPr>
            <p:extLst>
              <p:ext uri="{D42A27DB-BD31-4B8C-83A1-F6EECF244321}">
                <p14:modId xmlns:p14="http://schemas.microsoft.com/office/powerpoint/2010/main" val="171048213"/>
              </p:ext>
            </p:extLst>
          </p:nvPr>
        </p:nvGraphicFramePr>
        <p:xfrm>
          <a:off x="841140" y="2340149"/>
          <a:ext cx="10477969" cy="652788"/>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77969">
                  <a:extLst>
                    <a:ext uri="{9D8B030D-6E8A-4147-A177-3AD203B41FA5}">
                      <a16:colId xmlns:a16="http://schemas.microsoft.com/office/drawing/2014/main" val="4020043646"/>
                    </a:ext>
                  </a:extLst>
                </a:gridCol>
              </a:tblGrid>
              <a:tr h="652788">
                <a:tc>
                  <a:txBody>
                    <a:bodyPr/>
                    <a:lstStyle/>
                    <a:p>
                      <a:pPr algn="l"/>
                      <a:r>
                        <a:rPr kumimoji="1" lang="zh-CN" altLang="en-US" sz="2400" b="1" kern="1200" dirty="0">
                          <a:solidFill>
                            <a:schemeClr val="tx1"/>
                          </a:solidFill>
                          <a:latin typeface="Times New Roman" pitchFamily="18" charset="0"/>
                          <a:ea typeface="宋体" pitchFamily="2" charset="-122"/>
                          <a:cs typeface="+mn-cs"/>
                        </a:rPr>
                        <a:t>  </a:t>
                      </a:r>
                      <a:r>
                        <a:rPr kumimoji="1" lang="en-US" altLang="zh-CN" sz="2400" b="1" kern="1200" dirty="0">
                          <a:solidFill>
                            <a:schemeClr val="tx1"/>
                          </a:solidFill>
                          <a:latin typeface="Times New Roman" pitchFamily="18" charset="0"/>
                          <a:ea typeface="宋体" pitchFamily="2" charset="-122"/>
                          <a:cs typeface="+mn-cs"/>
                        </a:rPr>
                        <a:t>box-sizing </a:t>
                      </a:r>
                      <a:r>
                        <a:rPr kumimoji="1" lang="zh-CN" altLang="en-US" sz="2400" b="1" kern="1200" dirty="0">
                          <a:solidFill>
                            <a:schemeClr val="tx1"/>
                          </a:solidFill>
                          <a:latin typeface="Times New Roman" pitchFamily="18" charset="0"/>
                          <a:ea typeface="宋体" pitchFamily="2" charset="-122"/>
                          <a:cs typeface="+mn-cs"/>
                        </a:rPr>
                        <a:t>： </a:t>
                      </a:r>
                      <a:r>
                        <a:rPr kumimoji="1" lang="en-US" altLang="zh-CN" sz="2400" b="1" kern="1200" dirty="0">
                          <a:solidFill>
                            <a:schemeClr val="tx1"/>
                          </a:solidFill>
                          <a:latin typeface="Times New Roman" pitchFamily="18" charset="0"/>
                          <a:ea typeface="宋体" pitchFamily="2" charset="-122"/>
                          <a:cs typeface="+mn-cs"/>
                        </a:rPr>
                        <a:t>content-box | border-box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文本框 8">
            <a:extLst>
              <a:ext uri="{FF2B5EF4-FFF2-40B4-BE49-F238E27FC236}">
                <a16:creationId xmlns:a16="http://schemas.microsoft.com/office/drawing/2014/main" id="{D2A3B2FB-81F4-A849-AF7B-D33B8DF7130E}"/>
              </a:ext>
            </a:extLst>
          </p:cNvPr>
          <p:cNvSpPr txBox="1"/>
          <p:nvPr/>
        </p:nvSpPr>
        <p:spPr>
          <a:xfrm>
            <a:off x="895549" y="3060229"/>
            <a:ext cx="9793088" cy="3713517"/>
          </a:xfrm>
          <a:prstGeom prst="rect">
            <a:avLst/>
          </a:prstGeom>
          <a:noFill/>
        </p:spPr>
        <p:txBody>
          <a:bodyPr wrap="square">
            <a:spAutoFit/>
          </a:bodyPr>
          <a:lstStyle/>
          <a:p>
            <a:pPr marL="342900" indent="-342900">
              <a:lnSpc>
                <a:spcPct val="150000"/>
              </a:lnSpc>
              <a:buClr>
                <a:schemeClr val="accent6"/>
              </a:buClr>
              <a:buFont typeface="Wingdings" pitchFamily="2" charset="2"/>
              <a:buChar char="l"/>
            </a:pPr>
            <a:r>
              <a:rPr lang="en-US" altLang="zh-CN" sz="2000" b="1" dirty="0">
                <a:effectLst>
                  <a:outerShdw blurRad="38100" dist="38100" dir="2700000" algn="tl">
                    <a:srgbClr val="000000">
                      <a:alpha val="43137"/>
                    </a:srgbClr>
                  </a:outerShdw>
                </a:effectLst>
                <a:latin typeface="+mn-ea"/>
                <a:ea typeface="+mn-ea"/>
              </a:rPr>
              <a:t>content-box</a:t>
            </a:r>
          </a:p>
          <a:p>
            <a:pPr>
              <a:lnSpc>
                <a:spcPct val="150000"/>
              </a:lnSpc>
              <a:buClr>
                <a:schemeClr val="accent6"/>
              </a:buClr>
            </a:pPr>
            <a:r>
              <a:rPr lang="zh-CN" altLang="zh-CN" sz="2000" b="1" dirty="0">
                <a:effectLst>
                  <a:outerShdw blurRad="38100" dist="38100" dir="2700000" algn="tl">
                    <a:srgbClr val="000000">
                      <a:alpha val="43137"/>
                    </a:srgbClr>
                  </a:outerShdw>
                </a:effectLst>
                <a:latin typeface="+mn-ea"/>
                <a:ea typeface="+mn-ea"/>
              </a:rPr>
              <a:t>浏览器默认的计算方式，也是</a:t>
            </a:r>
            <a:r>
              <a:rPr lang="en-US" altLang="zh-CN" sz="2000" b="1" dirty="0">
                <a:effectLst>
                  <a:outerShdw blurRad="38100" dist="38100" dir="2700000" algn="tl">
                    <a:srgbClr val="000000">
                      <a:alpha val="43137"/>
                    </a:srgbClr>
                  </a:outerShdw>
                </a:effectLst>
                <a:latin typeface="+mn-ea"/>
                <a:ea typeface="+mn-ea"/>
              </a:rPr>
              <a:t>W3C</a:t>
            </a:r>
            <a:r>
              <a:rPr lang="zh-CN" altLang="zh-CN" sz="2000" b="1" dirty="0">
                <a:effectLst>
                  <a:outerShdw blurRad="38100" dist="38100" dir="2700000" algn="tl">
                    <a:srgbClr val="000000">
                      <a:alpha val="43137"/>
                    </a:srgbClr>
                  </a:outerShdw>
                </a:effectLst>
                <a:latin typeface="+mn-ea"/>
                <a:ea typeface="+mn-ea"/>
              </a:rPr>
              <a:t>定义的盒子模型尺寸的计算方式</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zh-CN" sz="2000" b="1" dirty="0">
                <a:effectLst>
                  <a:outerShdw blurRad="38100" dist="38100" dir="2700000" algn="tl">
                    <a:srgbClr val="000000">
                      <a:alpha val="43137"/>
                    </a:srgbClr>
                  </a:outerShdw>
                </a:effectLst>
                <a:latin typeface="+mn-ea"/>
                <a:ea typeface="+mn-ea"/>
              </a:rPr>
              <a:t>宽度和高度分别等于内容区域的宽度和高度</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en-US" altLang="zh-CN" sz="2000" b="1" dirty="0">
                <a:effectLst>
                  <a:outerShdw blurRad="38100" dist="38100" dir="2700000" algn="tl">
                    <a:srgbClr val="000000">
                      <a:alpha val="43137"/>
                    </a:srgbClr>
                  </a:outerShdw>
                </a:effectLst>
                <a:latin typeface="+mn-ea"/>
                <a:ea typeface="+mn-ea"/>
              </a:rPr>
              <a:t>border-box</a:t>
            </a:r>
          </a:p>
          <a:p>
            <a:pPr>
              <a:lnSpc>
                <a:spcPct val="150000"/>
              </a:lnSpc>
              <a:buClr>
                <a:schemeClr val="accent6"/>
              </a:buClr>
            </a:pPr>
            <a:r>
              <a:rPr lang="en-US" altLang="zh-CN" sz="2000" b="1" dirty="0">
                <a:effectLst>
                  <a:outerShdw blurRad="38100" dist="38100" dir="2700000" algn="tl">
                    <a:srgbClr val="000000">
                      <a:alpha val="43137"/>
                    </a:srgbClr>
                  </a:outerShdw>
                </a:effectLst>
                <a:latin typeface="+mn-ea"/>
                <a:ea typeface="+mn-ea"/>
              </a:rPr>
              <a:t>IE</a:t>
            </a:r>
            <a:r>
              <a:rPr lang="zh-CN" altLang="zh-CN" sz="2000" b="1" dirty="0">
                <a:effectLst>
                  <a:outerShdw blurRad="38100" dist="38100" dir="2700000" algn="tl">
                    <a:srgbClr val="000000">
                      <a:alpha val="43137"/>
                    </a:srgbClr>
                  </a:outerShdw>
                </a:effectLst>
                <a:latin typeface="+mn-ea"/>
                <a:ea typeface="+mn-ea"/>
              </a:rPr>
              <a:t>浏览器的计算方式，宽度等于左右边框、左右内边距和内容区域宽度三者之和，高度等于顶部底部边框、顶部底部内边距和内容区域宽度三者之和</a:t>
            </a:r>
            <a:endParaRPr lang="en-US" altLang="zh-CN" sz="2000" b="1" dirty="0">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zh-CN" sz="2000" b="1" dirty="0">
                <a:solidFill>
                  <a:schemeClr val="accent6"/>
                </a:solidFill>
                <a:effectLst>
                  <a:outerShdw blurRad="38100" dist="38100" dir="2700000" algn="tl">
                    <a:srgbClr val="000000">
                      <a:alpha val="43137"/>
                    </a:srgbClr>
                  </a:outerShdw>
                </a:effectLst>
                <a:latin typeface="+mn-ea"/>
                <a:ea typeface="+mn-ea"/>
              </a:rPr>
              <a:t>实际上，</a:t>
            </a:r>
            <a:r>
              <a:rPr lang="zh-CN" altLang="en-US" sz="2000" b="1" dirty="0">
                <a:solidFill>
                  <a:schemeClr val="accent6"/>
                </a:solidFill>
                <a:effectLst>
                  <a:outerShdw blurRad="38100" dist="38100" dir="2700000" algn="tl">
                    <a:srgbClr val="000000">
                      <a:alpha val="43137"/>
                    </a:srgbClr>
                  </a:outerShdw>
                </a:effectLst>
                <a:latin typeface="+mn-ea"/>
                <a:ea typeface="+mn-ea"/>
              </a:rPr>
              <a:t>表单中</a:t>
            </a:r>
            <a:r>
              <a:rPr lang="zh-CN" altLang="zh-CN" sz="2000" b="1" dirty="0">
                <a:solidFill>
                  <a:schemeClr val="accent6"/>
                </a:solidFill>
                <a:effectLst>
                  <a:outerShdw blurRad="38100" dist="38100" dir="2700000" algn="tl">
                    <a:srgbClr val="000000">
                      <a:alpha val="43137"/>
                    </a:srgbClr>
                  </a:outerShdw>
                </a:effectLst>
                <a:latin typeface="+mn-ea"/>
                <a:ea typeface="+mn-ea"/>
              </a:rPr>
              <a:t>只有</a:t>
            </a:r>
            <a:r>
              <a:rPr lang="en-US" altLang="zh-CN" sz="2000" b="1" dirty="0">
                <a:solidFill>
                  <a:schemeClr val="accent6"/>
                </a:solidFill>
                <a:effectLst>
                  <a:outerShdw blurRad="38100" dist="38100" dir="2700000" algn="tl">
                    <a:srgbClr val="000000">
                      <a:alpha val="43137"/>
                    </a:srgbClr>
                  </a:outerShdw>
                </a:effectLst>
                <a:latin typeface="+mn-ea"/>
                <a:ea typeface="+mn-ea"/>
              </a:rPr>
              <a:t>&lt;input&gt;</a:t>
            </a:r>
            <a:r>
              <a:rPr lang="zh-CN" altLang="zh-CN" sz="2000" b="1" dirty="0">
                <a:solidFill>
                  <a:schemeClr val="accent6"/>
                </a:solidFill>
                <a:effectLst>
                  <a:outerShdw blurRad="38100" dist="38100" dir="2700000" algn="tl">
                    <a:srgbClr val="000000">
                      <a:alpha val="43137"/>
                    </a:srgbClr>
                  </a:outerShdw>
                </a:effectLst>
                <a:latin typeface="+mn-ea"/>
                <a:ea typeface="+mn-ea"/>
              </a:rPr>
              <a:t>中</a:t>
            </a:r>
            <a:r>
              <a:rPr lang="en-US" altLang="zh-CN" sz="2000" b="1" dirty="0">
                <a:solidFill>
                  <a:schemeClr val="accent6"/>
                </a:solidFill>
                <a:effectLst>
                  <a:outerShdw blurRad="38100" dist="38100" dir="2700000" algn="tl">
                    <a:srgbClr val="000000">
                      <a:alpha val="43137"/>
                    </a:srgbClr>
                  </a:outerShdw>
                </a:effectLst>
                <a:latin typeface="+mn-ea"/>
                <a:ea typeface="+mn-ea"/>
              </a:rPr>
              <a:t>type</a:t>
            </a:r>
            <a:r>
              <a:rPr lang="zh-CN" altLang="zh-CN" sz="2000" b="1" dirty="0">
                <a:solidFill>
                  <a:schemeClr val="accent6"/>
                </a:solidFill>
                <a:effectLst>
                  <a:outerShdw blurRad="38100" dist="38100" dir="2700000" algn="tl">
                    <a:srgbClr val="000000">
                      <a:alpha val="43137"/>
                    </a:srgbClr>
                  </a:outerShdw>
                </a:effectLst>
                <a:latin typeface="+mn-ea"/>
                <a:ea typeface="+mn-ea"/>
              </a:rPr>
              <a:t>为</a:t>
            </a:r>
            <a:r>
              <a:rPr lang="en-US" altLang="zh-CN" sz="2000" b="1" dirty="0">
                <a:solidFill>
                  <a:schemeClr val="accent6"/>
                </a:solidFill>
                <a:effectLst>
                  <a:outerShdw blurRad="38100" dist="38100" dir="2700000" algn="tl">
                    <a:srgbClr val="000000">
                      <a:alpha val="43137"/>
                    </a:srgbClr>
                  </a:outerShdw>
                </a:effectLst>
                <a:latin typeface="+mn-ea"/>
                <a:ea typeface="+mn-ea"/>
              </a:rPr>
              <a:t>text</a:t>
            </a:r>
            <a:r>
              <a:rPr lang="zh-CN" altLang="zh-CN" sz="2000" b="1" dirty="0">
                <a:solidFill>
                  <a:schemeClr val="accent6"/>
                </a:solidFill>
                <a:effectLst>
                  <a:outerShdw blurRad="38100" dist="38100" dir="2700000" algn="tl">
                    <a:srgbClr val="000000">
                      <a:alpha val="43137"/>
                    </a:srgbClr>
                  </a:outerShdw>
                </a:effectLst>
                <a:latin typeface="+mn-ea"/>
                <a:ea typeface="+mn-ea"/>
              </a:rPr>
              <a:t>、</a:t>
            </a:r>
            <a:r>
              <a:rPr lang="en-US" altLang="zh-CN" sz="2000" b="1" dirty="0">
                <a:solidFill>
                  <a:schemeClr val="accent6"/>
                </a:solidFill>
                <a:effectLst>
                  <a:outerShdw blurRad="38100" dist="38100" dir="2700000" algn="tl">
                    <a:srgbClr val="000000">
                      <a:alpha val="43137"/>
                    </a:srgbClr>
                  </a:outerShdw>
                </a:effectLst>
                <a:latin typeface="+mn-ea"/>
                <a:ea typeface="+mn-ea"/>
              </a:rPr>
              <a:t>email</a:t>
            </a:r>
            <a:r>
              <a:rPr lang="zh-CN" altLang="zh-CN" sz="2000" b="1" dirty="0">
                <a:solidFill>
                  <a:schemeClr val="accent6"/>
                </a:solidFill>
                <a:effectLst>
                  <a:outerShdw blurRad="38100" dist="38100" dir="2700000" algn="tl">
                    <a:srgbClr val="000000">
                      <a:alpha val="43137"/>
                    </a:srgbClr>
                  </a:outerShdw>
                </a:effectLst>
                <a:latin typeface="+mn-ea"/>
                <a:ea typeface="+mn-ea"/>
              </a:rPr>
              <a:t>、</a:t>
            </a:r>
            <a:r>
              <a:rPr lang="en-US" altLang="zh-CN" sz="2000" b="1" dirty="0" err="1">
                <a:solidFill>
                  <a:schemeClr val="accent6"/>
                </a:solidFill>
                <a:effectLst>
                  <a:outerShdw blurRad="38100" dist="38100" dir="2700000" algn="tl">
                    <a:srgbClr val="000000">
                      <a:alpha val="43137"/>
                    </a:srgbClr>
                  </a:outerShdw>
                </a:effectLst>
                <a:latin typeface="+mn-ea"/>
                <a:ea typeface="+mn-ea"/>
              </a:rPr>
              <a:t>tel</a:t>
            </a:r>
            <a:r>
              <a:rPr lang="zh-CN" altLang="zh-CN" sz="2000" b="1" dirty="0">
                <a:solidFill>
                  <a:schemeClr val="accent6"/>
                </a:solidFill>
                <a:effectLst>
                  <a:outerShdw blurRad="38100" dist="38100" dir="2700000" algn="tl">
                    <a:srgbClr val="000000">
                      <a:alpha val="43137"/>
                    </a:srgbClr>
                  </a:outerShdw>
                </a:effectLst>
                <a:latin typeface="+mn-ea"/>
                <a:ea typeface="+mn-ea"/>
              </a:rPr>
              <a:t>等单行文本框以及</a:t>
            </a:r>
            <a:r>
              <a:rPr lang="en-US" altLang="zh-CN" sz="2000" b="1" dirty="0">
                <a:solidFill>
                  <a:schemeClr val="accent6"/>
                </a:solidFill>
                <a:effectLst>
                  <a:outerShdw blurRad="38100" dist="38100" dir="2700000" algn="tl">
                    <a:srgbClr val="000000">
                      <a:alpha val="43137"/>
                    </a:srgbClr>
                  </a:outerShdw>
                </a:effectLst>
                <a:latin typeface="+mn-ea"/>
                <a:ea typeface="+mn-ea"/>
              </a:rPr>
              <a:t>&lt;</a:t>
            </a:r>
            <a:r>
              <a:rPr lang="en-US" altLang="zh-CN" sz="2000" b="1" dirty="0" err="1">
                <a:solidFill>
                  <a:schemeClr val="accent6"/>
                </a:solidFill>
                <a:effectLst>
                  <a:outerShdw blurRad="38100" dist="38100" dir="2700000" algn="tl">
                    <a:srgbClr val="000000">
                      <a:alpha val="43137"/>
                    </a:srgbClr>
                  </a:outerShdw>
                </a:effectLst>
                <a:latin typeface="+mn-ea"/>
                <a:ea typeface="+mn-ea"/>
              </a:rPr>
              <a:t>textarea</a:t>
            </a:r>
            <a:r>
              <a:rPr lang="en-US" altLang="zh-CN" sz="2000" b="1" dirty="0">
                <a:solidFill>
                  <a:schemeClr val="accent6"/>
                </a:solidFill>
                <a:effectLst>
                  <a:outerShdw blurRad="38100" dist="38100" dir="2700000" algn="tl">
                    <a:srgbClr val="000000">
                      <a:alpha val="43137"/>
                    </a:srgbClr>
                  </a:outerShdw>
                </a:effectLst>
                <a:latin typeface="+mn-ea"/>
                <a:ea typeface="+mn-ea"/>
              </a:rPr>
              <a:t>&gt;</a:t>
            </a:r>
            <a:r>
              <a:rPr lang="zh-CN" altLang="zh-CN" sz="2000" b="1" dirty="0">
                <a:solidFill>
                  <a:schemeClr val="accent6"/>
                </a:solidFill>
                <a:effectLst>
                  <a:outerShdw blurRad="38100" dist="38100" dir="2700000" algn="tl">
                    <a:srgbClr val="000000">
                      <a:alpha val="43137"/>
                    </a:srgbClr>
                  </a:outerShdw>
                </a:effectLst>
                <a:latin typeface="+mn-ea"/>
                <a:ea typeface="+mn-ea"/>
              </a:rPr>
              <a:t>文本框遵循了</a:t>
            </a:r>
            <a:r>
              <a:rPr lang="en-US" altLang="zh-CN" sz="2000" b="1" dirty="0">
                <a:solidFill>
                  <a:schemeClr val="accent6"/>
                </a:solidFill>
                <a:effectLst>
                  <a:outerShdw blurRad="38100" dist="38100" dir="2700000" algn="tl">
                    <a:srgbClr val="000000">
                      <a:alpha val="43137"/>
                    </a:srgbClr>
                  </a:outerShdw>
                </a:effectLst>
                <a:latin typeface="+mn-ea"/>
                <a:ea typeface="+mn-ea"/>
              </a:rPr>
              <a:t>W3C</a:t>
            </a:r>
            <a:r>
              <a:rPr lang="zh-CN" altLang="zh-CN" sz="2000" b="1" dirty="0">
                <a:solidFill>
                  <a:schemeClr val="accent6"/>
                </a:solidFill>
                <a:effectLst>
                  <a:outerShdw blurRad="38100" dist="38100" dir="2700000" algn="tl">
                    <a:srgbClr val="000000">
                      <a:alpha val="43137"/>
                    </a:srgbClr>
                  </a:outerShdw>
                </a:effectLst>
                <a:latin typeface="+mn-ea"/>
                <a:ea typeface="+mn-ea"/>
              </a:rPr>
              <a:t>盒子模型，其他控件</a:t>
            </a:r>
            <a:r>
              <a:rPr lang="zh-CN" altLang="en-US" sz="2000" b="1" dirty="0">
                <a:solidFill>
                  <a:schemeClr val="accent6"/>
                </a:solidFill>
                <a:effectLst>
                  <a:outerShdw blurRad="38100" dist="38100" dir="2700000" algn="tl">
                    <a:srgbClr val="000000">
                      <a:alpha val="43137"/>
                    </a:srgbClr>
                  </a:outerShdw>
                </a:effectLst>
                <a:latin typeface="+mn-ea"/>
                <a:ea typeface="+mn-ea"/>
              </a:rPr>
              <a:t>尺寸</a:t>
            </a:r>
            <a:r>
              <a:rPr lang="zh-CN" altLang="zh-CN" sz="2000" b="1" dirty="0">
                <a:solidFill>
                  <a:schemeClr val="accent6"/>
                </a:solidFill>
                <a:effectLst>
                  <a:outerShdw blurRad="38100" dist="38100" dir="2700000" algn="tl">
                    <a:srgbClr val="000000">
                      <a:alpha val="43137"/>
                    </a:srgbClr>
                  </a:outerShdw>
                </a:effectLst>
                <a:latin typeface="+mn-ea"/>
                <a:ea typeface="+mn-ea"/>
              </a:rPr>
              <a:t>依旧使用</a:t>
            </a:r>
            <a:r>
              <a:rPr lang="en-US" altLang="zh-CN" sz="2000" b="1" dirty="0">
                <a:solidFill>
                  <a:schemeClr val="accent6"/>
                </a:solidFill>
                <a:effectLst>
                  <a:outerShdw blurRad="38100" dist="38100" dir="2700000" algn="tl">
                    <a:srgbClr val="000000">
                      <a:alpha val="43137"/>
                    </a:srgbClr>
                  </a:outerShdw>
                </a:effectLst>
                <a:latin typeface="+mn-ea"/>
                <a:ea typeface="+mn-ea"/>
              </a:rPr>
              <a:t>IE</a:t>
            </a:r>
            <a:r>
              <a:rPr lang="zh-CN" altLang="zh-CN" sz="2000" b="1" dirty="0">
                <a:solidFill>
                  <a:schemeClr val="accent6"/>
                </a:solidFill>
                <a:effectLst>
                  <a:outerShdw blurRad="38100" dist="38100" dir="2700000" algn="tl">
                    <a:srgbClr val="000000">
                      <a:alpha val="43137"/>
                    </a:srgbClr>
                  </a:outerShdw>
                </a:effectLst>
                <a:latin typeface="+mn-ea"/>
                <a:ea typeface="+mn-ea"/>
              </a:rPr>
              <a:t>盒子模型计算 </a:t>
            </a:r>
            <a:endParaRPr lang="zh-CN" altLang="en-US" sz="2000" b="1" dirty="0">
              <a:solidFill>
                <a:schemeClr val="accent6"/>
              </a:solidFill>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2019832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例</a:t>
            </a:r>
            <a:r>
              <a:rPr lang="en-US" altLang="zh-CN" sz="2800" b="1" dirty="0">
                <a:solidFill>
                  <a:srgbClr val="0000FF"/>
                </a:solidFill>
                <a:latin typeface="+mn-ea"/>
                <a:ea typeface="+mn-ea"/>
              </a:rPr>
              <a:t>5-9</a:t>
            </a:r>
            <a:r>
              <a:rPr lang="zh-CN" altLang="en-US" sz="2800" b="1" dirty="0">
                <a:solidFill>
                  <a:srgbClr val="0000FF"/>
                </a:solidFill>
                <a:latin typeface="+mn-ea"/>
                <a:ea typeface="+mn-ea"/>
              </a:rPr>
              <a:t>（续）</a:t>
            </a:r>
            <a:endParaRPr lang="en-US" altLang="zh-CN" sz="2800" b="1" dirty="0">
              <a:solidFill>
                <a:srgbClr val="0000FF"/>
              </a:solidFill>
              <a:latin typeface="+mn-ea"/>
              <a:ea typeface="+mn-ea"/>
            </a:endParaRPr>
          </a:p>
        </p:txBody>
      </p:sp>
      <p:sp>
        <p:nvSpPr>
          <p:cNvPr id="6" name="文本框 5">
            <a:extLst>
              <a:ext uri="{FF2B5EF4-FFF2-40B4-BE49-F238E27FC236}">
                <a16:creationId xmlns:a16="http://schemas.microsoft.com/office/drawing/2014/main" id="{8B23F681-F765-8E4E-92F0-6A0EE5900C1F}"/>
              </a:ext>
            </a:extLst>
          </p:cNvPr>
          <p:cNvSpPr txBox="1"/>
          <p:nvPr/>
        </p:nvSpPr>
        <p:spPr>
          <a:xfrm>
            <a:off x="1148249" y="2443787"/>
            <a:ext cx="10260468" cy="4278094"/>
          </a:xfrm>
          <a:prstGeom prst="rect">
            <a:avLst/>
          </a:prstGeom>
          <a:noFill/>
        </p:spPr>
        <p:txBody>
          <a:bodyPr wrap="square">
            <a:spAutoFit/>
          </a:bodyPr>
          <a:lstStyle/>
          <a:p>
            <a:r>
              <a:rPr lang="en-US" altLang="zh-CN" sz="1600" kern="100" dirty="0">
                <a:latin typeface="+mn-ea"/>
                <a:ea typeface="+mn-ea"/>
                <a:cs typeface="Times New Roman" panose="02020603050405020304" pitchFamily="18" charset="0"/>
              </a:rPr>
              <a:t>&lt;style&gt;</a:t>
            </a:r>
          </a:p>
          <a:p>
            <a:r>
              <a:rPr lang="zh-CN" altLang="en-US" sz="1600" kern="100" dirty="0">
                <a:latin typeface="+mn-ea"/>
                <a:ea typeface="+mn-ea"/>
                <a:cs typeface="Times New Roman" panose="02020603050405020304" pitchFamily="18" charset="0"/>
              </a:rPr>
              <a:t>  </a:t>
            </a:r>
            <a:r>
              <a:rPr lang="en-US" altLang="zh-CN" sz="1600" kern="100" dirty="0">
                <a:latin typeface="+mn-ea"/>
                <a:ea typeface="+mn-ea"/>
                <a:cs typeface="Times New Roman" panose="02020603050405020304" pitchFamily="18" charset="0"/>
              </a:rPr>
              <a:t>……</a:t>
            </a:r>
          </a:p>
          <a:p>
            <a:r>
              <a:rPr lang="zh-CN" altLang="en-US" sz="1600" dirty="0">
                <a:latin typeface="+mn-ea"/>
                <a:ea typeface="+mn-ea"/>
              </a:rPr>
              <a:t>  </a:t>
            </a:r>
            <a:r>
              <a:rPr lang="en-US" altLang="zh-CN" sz="1600" dirty="0">
                <a:latin typeface="+mn-ea"/>
                <a:ea typeface="+mn-ea"/>
              </a:rPr>
              <a:t>input, select, </a:t>
            </a:r>
            <a:r>
              <a:rPr lang="en-US" altLang="zh-CN" sz="1600" dirty="0" err="1">
                <a:latin typeface="+mn-ea"/>
                <a:ea typeface="+mn-ea"/>
              </a:rPr>
              <a:t>textarea</a:t>
            </a:r>
            <a:r>
              <a:rPr lang="en-US" altLang="zh-CN" sz="1600" dirty="0">
                <a:latin typeface="+mn-ea"/>
                <a:ea typeface="+mn-ea"/>
              </a:rPr>
              <a:t>{</a:t>
            </a:r>
            <a:endParaRPr lang="zh-CN" altLang="zh-CN" sz="1600" dirty="0">
              <a:latin typeface="+mn-ea"/>
              <a:ea typeface="+mn-ea"/>
            </a:endParaRPr>
          </a:p>
          <a:p>
            <a:r>
              <a:rPr lang="en-US" altLang="zh-CN" sz="1600" dirty="0">
                <a:latin typeface="+mn-ea"/>
                <a:ea typeface="+mn-ea"/>
              </a:rPr>
              <a:t>  </a:t>
            </a:r>
            <a:r>
              <a:rPr lang="zh-CN" altLang="en-US" sz="1600" dirty="0">
                <a:latin typeface="+mn-ea"/>
                <a:ea typeface="+mn-ea"/>
              </a:rPr>
              <a:t>  </a:t>
            </a:r>
            <a:r>
              <a:rPr lang="en-US" altLang="zh-CN" sz="1600" b="1" dirty="0">
                <a:solidFill>
                  <a:schemeClr val="accent6"/>
                </a:solidFill>
                <a:latin typeface="+mn-ea"/>
                <a:ea typeface="+mn-ea"/>
              </a:rPr>
              <a:t>width: 200px;</a:t>
            </a:r>
            <a:endParaRPr lang="zh-CN" altLang="zh-CN" sz="1600" b="1" dirty="0">
              <a:solidFill>
                <a:schemeClr val="accent6"/>
              </a:solidFill>
              <a:latin typeface="+mn-ea"/>
              <a:ea typeface="+mn-ea"/>
            </a:endParaRPr>
          </a:p>
          <a:p>
            <a:r>
              <a:rPr lang="en-US" altLang="zh-CN" sz="1600" b="1" dirty="0">
                <a:solidFill>
                  <a:schemeClr val="accent6"/>
                </a:solidFill>
                <a:latin typeface="+mn-ea"/>
                <a:ea typeface="+mn-ea"/>
              </a:rPr>
              <a:t>  </a:t>
            </a:r>
            <a:r>
              <a:rPr lang="zh-CN" altLang="en-US" sz="1600" b="1" dirty="0">
                <a:solidFill>
                  <a:schemeClr val="accent6"/>
                </a:solidFill>
                <a:latin typeface="+mn-ea"/>
                <a:ea typeface="+mn-ea"/>
              </a:rPr>
              <a:t>  </a:t>
            </a:r>
            <a:r>
              <a:rPr lang="en-US" altLang="zh-CN" sz="1600" b="1" dirty="0">
                <a:solidFill>
                  <a:schemeClr val="accent6"/>
                </a:solidFill>
                <a:latin typeface="+mn-ea"/>
                <a:ea typeface="+mn-ea"/>
              </a:rPr>
              <a:t>height: 30px;   /* </a:t>
            </a:r>
            <a:r>
              <a:rPr lang="zh-CN" altLang="zh-CN" sz="1600" b="1" dirty="0">
                <a:solidFill>
                  <a:schemeClr val="accent6"/>
                </a:solidFill>
                <a:latin typeface="+mn-ea"/>
                <a:ea typeface="+mn-ea"/>
              </a:rPr>
              <a:t>设置相同的高和高</a:t>
            </a:r>
            <a:r>
              <a:rPr lang="en-US" altLang="zh-CN" sz="1600" b="1" dirty="0">
                <a:solidFill>
                  <a:schemeClr val="accent6"/>
                </a:solidFill>
                <a:latin typeface="+mn-ea"/>
                <a:ea typeface="+mn-ea"/>
              </a:rPr>
              <a:t> */</a:t>
            </a:r>
          </a:p>
          <a:p>
            <a:r>
              <a:rPr lang="zh-CN" altLang="en-US" b="1">
                <a:solidFill>
                  <a:srgbClr val="0432FF"/>
                </a:solidFill>
                <a:latin typeface="+mn-ea"/>
                <a:ea typeface="+mn-ea"/>
              </a:rPr>
              <a:t>    </a:t>
            </a:r>
            <a:r>
              <a:rPr lang="en-US" altLang="zh-CN" b="1">
                <a:solidFill>
                  <a:srgbClr val="0432FF"/>
                </a:solidFill>
                <a:latin typeface="+mn-ea"/>
                <a:ea typeface="+mn-ea"/>
              </a:rPr>
              <a:t>box-sizing</a:t>
            </a:r>
            <a:r>
              <a:rPr lang="en-US" altLang="zh-CN" b="1" dirty="0">
                <a:solidFill>
                  <a:srgbClr val="0432FF"/>
                </a:solidFill>
                <a:latin typeface="+mn-ea"/>
                <a:ea typeface="+mn-ea"/>
              </a:rPr>
              <a:t>: border-box;</a:t>
            </a:r>
            <a:r>
              <a:rPr lang="zh-CN" altLang="zh-CN" b="1" dirty="0">
                <a:solidFill>
                  <a:srgbClr val="0432FF"/>
                </a:solidFill>
                <a:latin typeface="+mn-ea"/>
                <a:ea typeface="+mn-ea"/>
              </a:rPr>
              <a:t> </a:t>
            </a:r>
          </a:p>
          <a:p>
            <a:r>
              <a:rPr lang="en-US" altLang="zh-CN" sz="1600" dirty="0">
                <a:latin typeface="+mn-ea"/>
                <a:ea typeface="+mn-ea"/>
              </a:rPr>
              <a:t>  }</a:t>
            </a:r>
            <a:endParaRPr lang="en-US" altLang="zh-CN" sz="1600" kern="100" dirty="0">
              <a:latin typeface="+mn-ea"/>
              <a:ea typeface="+mn-ea"/>
              <a:cs typeface="Times New Roman" panose="02020603050405020304" pitchFamily="18" charset="0"/>
            </a:endParaRPr>
          </a:p>
          <a:p>
            <a:r>
              <a:rPr lang="en-US" altLang="zh-CN" sz="1600" kern="100" dirty="0">
                <a:latin typeface="+mn-ea"/>
                <a:ea typeface="+mn-ea"/>
                <a:cs typeface="Times New Roman" panose="02020603050405020304" pitchFamily="18" charset="0"/>
              </a:rPr>
              <a:t>&lt;/style&gt;</a:t>
            </a:r>
          </a:p>
          <a:p>
            <a:r>
              <a:rPr lang="en-US" altLang="zh-CN" sz="1600" kern="100" dirty="0">
                <a:latin typeface="+mn-ea"/>
                <a:ea typeface="+mn-ea"/>
                <a:cs typeface="Times New Roman" panose="02020603050405020304" pitchFamily="18" charset="0"/>
              </a:rPr>
              <a:t>&lt;form method="get" action="/</a:t>
            </a:r>
            <a:r>
              <a:rPr lang="en-US" altLang="zh-CN" sz="1600" kern="100" dirty="0" err="1">
                <a:latin typeface="+mn-ea"/>
                <a:ea typeface="+mn-ea"/>
                <a:cs typeface="Times New Roman" panose="02020603050405020304" pitchFamily="18" charset="0"/>
              </a:rPr>
              <a:t>submit.html</a:t>
            </a:r>
            <a:r>
              <a:rPr lang="en-US" altLang="zh-CN" sz="1600" kern="100" dirty="0">
                <a:latin typeface="+mn-ea"/>
                <a:ea typeface="+mn-ea"/>
                <a:cs typeface="Times New Roman" panose="02020603050405020304" pitchFamily="18" charset="0"/>
              </a:rPr>
              <a:t>"</a:t>
            </a:r>
            <a:r>
              <a:rPr lang="zh-CN" altLang="zh-CN" sz="1600" kern="100" dirty="0">
                <a:latin typeface="+mn-ea"/>
                <a:ea typeface="+mn-ea"/>
                <a:cs typeface="Times New Roman" panose="02020603050405020304" pitchFamily="18" charset="0"/>
              </a:rPr>
              <a:t> </a:t>
            </a:r>
            <a:r>
              <a:rPr lang="en-US" altLang="zh-CN" sz="1600" kern="100" dirty="0">
                <a:latin typeface="+mn-ea"/>
                <a:ea typeface="+mn-ea"/>
                <a:cs typeface="Times New Roman" panose="02020603050405020304" pitchFamily="18" charset="0"/>
              </a:rPr>
              <a:t>&gt;</a:t>
            </a:r>
          </a:p>
          <a:p>
            <a:r>
              <a:rPr lang="en-US" altLang="zh-CN" sz="1600" kern="100" dirty="0">
                <a:latin typeface="+mn-ea"/>
                <a:ea typeface="+mn-ea"/>
                <a:cs typeface="Times New Roman" panose="02020603050405020304" pitchFamily="18" charset="0"/>
              </a:rPr>
              <a:t>  ……</a:t>
            </a:r>
          </a:p>
          <a:p>
            <a:r>
              <a:rPr lang="en-US" altLang="zh-CN" sz="1600" kern="100" dirty="0">
                <a:latin typeface="+mn-ea"/>
                <a:ea typeface="+mn-ea"/>
                <a:cs typeface="Times New Roman" panose="02020603050405020304" pitchFamily="18" charset="0"/>
              </a:rPr>
              <a:t>  &lt;div</a:t>
            </a:r>
            <a:r>
              <a:rPr lang="en-US" altLang="zh-CN" sz="1600" kern="100" dirty="0">
                <a:solidFill>
                  <a:schemeClr val="accent4"/>
                </a:solidFill>
                <a:latin typeface="+mn-ea"/>
                <a:ea typeface="+mn-ea"/>
                <a:cs typeface="Times New Roman" panose="02020603050405020304" pitchFamily="18" charset="0"/>
              </a:rPr>
              <a:t>&gt;</a:t>
            </a:r>
            <a:r>
              <a:rPr lang="en-US" altLang="zh-CN" sz="1600" b="1" kern="100" dirty="0">
                <a:solidFill>
                  <a:schemeClr val="accent6"/>
                </a:solidFill>
                <a:latin typeface="+mn-ea"/>
                <a:ea typeface="+mn-ea"/>
                <a:cs typeface="Times New Roman" panose="02020603050405020304" pitchFamily="18" charset="0"/>
              </a:rPr>
              <a:t>&lt;input name="input" type="text" placeholder="</a:t>
            </a:r>
            <a:r>
              <a:rPr lang="zh-CN" altLang="en-US" sz="1600" b="1" kern="100" dirty="0">
                <a:solidFill>
                  <a:schemeClr val="accent6"/>
                </a:solidFill>
                <a:latin typeface="+mn-ea"/>
                <a:ea typeface="+mn-ea"/>
                <a:cs typeface="Times New Roman" panose="02020603050405020304" pitchFamily="18" charset="0"/>
              </a:rPr>
              <a:t>单行文本框</a:t>
            </a:r>
            <a:r>
              <a:rPr lang="en-US" altLang="zh-CN" sz="1600" b="1" kern="100" dirty="0">
                <a:solidFill>
                  <a:schemeClr val="accent6"/>
                </a:solidFill>
                <a:latin typeface="+mn-ea"/>
                <a:ea typeface="+mn-ea"/>
                <a:cs typeface="Times New Roman" panose="02020603050405020304" pitchFamily="18" charset="0"/>
              </a:rPr>
              <a: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  &lt;div&gt;</a:t>
            </a:r>
            <a:r>
              <a:rPr lang="en-US" altLang="zh-CN" sz="1600" b="1" kern="100" dirty="0">
                <a:solidFill>
                  <a:schemeClr val="accent6"/>
                </a:solidFill>
                <a:latin typeface="+mn-ea"/>
                <a:ea typeface="+mn-ea"/>
                <a:cs typeface="Times New Roman" panose="02020603050405020304" pitchFamily="18" charset="0"/>
              </a:rPr>
              <a:t>&lt;select name="select"&gt;</a:t>
            </a:r>
          </a:p>
          <a:p>
            <a:r>
              <a:rPr lang="zh-CN" altLang="en-US" sz="1600" b="1" kern="100" dirty="0">
                <a:solidFill>
                  <a:schemeClr val="accent6"/>
                </a:solidFill>
                <a:latin typeface="+mn-ea"/>
                <a:ea typeface="+mn-ea"/>
                <a:cs typeface="Times New Roman" panose="02020603050405020304" pitchFamily="18" charset="0"/>
              </a:rPr>
              <a:t> </a:t>
            </a:r>
            <a:r>
              <a:rPr lang="en-US" altLang="zh-CN" sz="1600" b="1" kern="100" dirty="0">
                <a:solidFill>
                  <a:schemeClr val="accent6"/>
                </a:solidFill>
                <a:latin typeface="+mn-ea"/>
                <a:ea typeface="+mn-ea"/>
                <a:cs typeface="Times New Roman" panose="02020603050405020304" pitchFamily="18" charset="0"/>
              </a:rPr>
              <a:t>        &lt;option&gt;</a:t>
            </a:r>
            <a:r>
              <a:rPr lang="zh-CN" altLang="en-US" sz="1600" b="1" kern="100" dirty="0">
                <a:solidFill>
                  <a:schemeClr val="accent6"/>
                </a:solidFill>
                <a:latin typeface="+mn-ea"/>
                <a:ea typeface="+mn-ea"/>
                <a:cs typeface="Times New Roman" panose="02020603050405020304" pitchFamily="18" charset="0"/>
              </a:rPr>
              <a:t>下拉菜单</a:t>
            </a:r>
            <a:r>
              <a:rPr lang="en-US" altLang="zh-CN" sz="1600" b="1" kern="100" dirty="0">
                <a:solidFill>
                  <a:schemeClr val="accent6"/>
                </a:solidFill>
                <a:latin typeface="+mn-ea"/>
                <a:ea typeface="+mn-ea"/>
                <a:cs typeface="Times New Roman" panose="02020603050405020304" pitchFamily="18" charset="0"/>
              </a:rPr>
              <a:t>&lt;/option&gt;</a:t>
            </a:r>
          </a:p>
          <a:p>
            <a:r>
              <a:rPr lang="en-US" altLang="zh-CN" sz="1600" b="1" kern="100" dirty="0">
                <a:solidFill>
                  <a:schemeClr val="accent6"/>
                </a:solidFill>
                <a:latin typeface="+mn-ea"/>
                <a:ea typeface="+mn-ea"/>
                <a:cs typeface="Times New Roman" panose="02020603050405020304" pitchFamily="18" charset="0"/>
              </a:rPr>
              <a:t>         &lt;option&gt;</a:t>
            </a:r>
            <a:r>
              <a:rPr lang="zh-CN" altLang="en-US" sz="1600" b="1" kern="100" dirty="0">
                <a:solidFill>
                  <a:schemeClr val="accent6"/>
                </a:solidFill>
                <a:latin typeface="+mn-ea"/>
                <a:ea typeface="+mn-ea"/>
                <a:cs typeface="Times New Roman" panose="02020603050405020304" pitchFamily="18" charset="0"/>
              </a:rPr>
              <a:t>下拉菜单选项</a:t>
            </a:r>
            <a:r>
              <a:rPr lang="en-US" altLang="zh-CN" sz="1600" b="1" kern="100" dirty="0">
                <a:solidFill>
                  <a:schemeClr val="accent6"/>
                </a:solidFill>
                <a:latin typeface="+mn-ea"/>
                <a:ea typeface="+mn-ea"/>
                <a:cs typeface="Times New Roman" panose="02020603050405020304" pitchFamily="18" charset="0"/>
              </a:rPr>
              <a:t>&lt;/option&gt;</a:t>
            </a:r>
          </a:p>
          <a:p>
            <a:r>
              <a:rPr lang="en-US" altLang="zh-CN" sz="1600" b="1" kern="100" dirty="0">
                <a:solidFill>
                  <a:schemeClr val="accent6"/>
                </a:solidFill>
                <a:latin typeface="+mn-ea"/>
                <a:ea typeface="+mn-ea"/>
                <a:cs typeface="Times New Roman" panose="02020603050405020304" pitchFamily="18" charset="0"/>
              </a:rPr>
              <a:t>       &lt;/select&gt;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  &lt;div</a:t>
            </a:r>
            <a:r>
              <a:rPr lang="en-US" altLang="zh-CN" sz="1600" kern="100" dirty="0">
                <a:solidFill>
                  <a:schemeClr val="accent4"/>
                </a:solidFill>
                <a:latin typeface="+mn-ea"/>
                <a:ea typeface="+mn-ea"/>
                <a:cs typeface="Times New Roman" panose="02020603050405020304" pitchFamily="18" charset="0"/>
              </a:rPr>
              <a:t>&gt;</a:t>
            </a:r>
            <a:r>
              <a:rPr lang="en-US" altLang="zh-CN" sz="1600" b="1" kern="100" dirty="0">
                <a:solidFill>
                  <a:schemeClr val="accent6"/>
                </a:solidFill>
                <a:latin typeface="+mn-ea"/>
                <a:ea typeface="+mn-ea"/>
                <a:cs typeface="Times New Roman" panose="02020603050405020304" pitchFamily="18" charset="0"/>
              </a:rPr>
              <a:t>&lt;</a:t>
            </a:r>
            <a:r>
              <a:rPr lang="en-US" altLang="zh-CN" sz="1600" b="1" kern="100" dirty="0" err="1">
                <a:solidFill>
                  <a:schemeClr val="accent6"/>
                </a:solidFill>
                <a:latin typeface="+mn-ea"/>
                <a:ea typeface="+mn-ea"/>
                <a:cs typeface="Times New Roman" panose="02020603050405020304" pitchFamily="18" charset="0"/>
              </a:rPr>
              <a:t>textarea</a:t>
            </a:r>
            <a:r>
              <a:rPr lang="en-US" altLang="zh-CN" sz="1600" b="1" kern="100" dirty="0">
                <a:solidFill>
                  <a:schemeClr val="accent6"/>
                </a:solidFill>
                <a:latin typeface="+mn-ea"/>
                <a:ea typeface="+mn-ea"/>
                <a:cs typeface="Times New Roman" panose="02020603050405020304" pitchFamily="18" charset="0"/>
              </a:rPr>
              <a:t> name="Signature"&gt;</a:t>
            </a:r>
            <a:r>
              <a:rPr lang="zh-CN" altLang="en-US" sz="1600" b="1" kern="100" dirty="0">
                <a:solidFill>
                  <a:schemeClr val="accent6"/>
                </a:solidFill>
                <a:latin typeface="+mn-ea"/>
                <a:ea typeface="+mn-ea"/>
                <a:cs typeface="Times New Roman" panose="02020603050405020304" pitchFamily="18" charset="0"/>
              </a:rPr>
              <a:t>多行文本框</a:t>
            </a:r>
            <a:r>
              <a:rPr lang="en-US" altLang="zh-CN" sz="1600" b="1" kern="100" dirty="0">
                <a:solidFill>
                  <a:schemeClr val="accent6"/>
                </a:solidFill>
                <a:latin typeface="+mn-ea"/>
                <a:ea typeface="+mn-ea"/>
                <a:cs typeface="Times New Roman" panose="02020603050405020304" pitchFamily="18" charset="0"/>
              </a:rPr>
              <a:t>&lt;/</a:t>
            </a:r>
            <a:r>
              <a:rPr lang="en-US" altLang="zh-CN" sz="1600" b="1" kern="100" dirty="0" err="1">
                <a:solidFill>
                  <a:schemeClr val="accent6"/>
                </a:solidFill>
                <a:latin typeface="+mn-ea"/>
                <a:ea typeface="+mn-ea"/>
                <a:cs typeface="Times New Roman" panose="02020603050405020304" pitchFamily="18" charset="0"/>
              </a:rPr>
              <a:t>textarea</a:t>
            </a:r>
            <a:r>
              <a:rPr lang="en-US" altLang="zh-CN" sz="1600" b="1" kern="100" dirty="0">
                <a:solidFill>
                  <a:schemeClr val="accent6"/>
                </a:solidFill>
                <a:latin typeface="+mn-ea"/>
                <a:ea typeface="+mn-ea"/>
                <a:cs typeface="Times New Roman" panose="02020603050405020304" pitchFamily="18" charset="0"/>
              </a:rPr>
              <a:t>&gt;</a:t>
            </a:r>
            <a:r>
              <a:rPr lang="en-US" altLang="zh-CN" sz="1600" kern="100" dirty="0">
                <a:latin typeface="+mn-ea"/>
                <a:ea typeface="+mn-ea"/>
                <a:cs typeface="Times New Roman" panose="02020603050405020304" pitchFamily="18" charset="0"/>
              </a:rPr>
              <a:t>&lt;/div&gt;</a:t>
            </a:r>
          </a:p>
          <a:p>
            <a:r>
              <a:rPr lang="en-US" altLang="zh-CN" sz="1600" kern="100" dirty="0">
                <a:latin typeface="+mn-ea"/>
                <a:ea typeface="+mn-ea"/>
                <a:cs typeface="Times New Roman" panose="02020603050405020304" pitchFamily="18" charset="0"/>
              </a:rPr>
              <a:t>&lt;/form&gt;</a:t>
            </a:r>
          </a:p>
        </p:txBody>
      </p:sp>
      <p:sp>
        <p:nvSpPr>
          <p:cNvPr id="10" name="圆角矩形标注 2">
            <a:extLst>
              <a:ext uri="{FF2B5EF4-FFF2-40B4-BE49-F238E27FC236}">
                <a16:creationId xmlns:a16="http://schemas.microsoft.com/office/drawing/2014/main" id="{901139A5-A84E-9F40-A758-774D769D0F60}"/>
              </a:ext>
            </a:extLst>
          </p:cNvPr>
          <p:cNvSpPr/>
          <p:nvPr/>
        </p:nvSpPr>
        <p:spPr>
          <a:xfrm>
            <a:off x="7304261" y="2756808"/>
            <a:ext cx="3707740" cy="955051"/>
          </a:xfrm>
          <a:prstGeom prst="wedgeRoundRectCallout">
            <a:avLst>
              <a:gd name="adj1" fmla="val -59413"/>
              <a:gd name="adj2" fmla="val -77032"/>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000" b="1" dirty="0">
                <a:solidFill>
                  <a:srgbClr val="0000FF"/>
                </a:solidFill>
              </a:rPr>
              <a:t>再次观察运行结果</a:t>
            </a:r>
          </a:p>
        </p:txBody>
      </p:sp>
      <p:pic>
        <p:nvPicPr>
          <p:cNvPr id="9" name="图片 8">
            <a:extLst>
              <a:ext uri="{FF2B5EF4-FFF2-40B4-BE49-F238E27FC236}">
                <a16:creationId xmlns:a16="http://schemas.microsoft.com/office/drawing/2014/main" id="{84B51A87-BBBA-C44F-A7B1-C5FB11C00C23}"/>
              </a:ext>
            </a:extLst>
          </p:cNvPr>
          <p:cNvPicPr>
            <a:picLocks noChangeAspect="1"/>
          </p:cNvPicPr>
          <p:nvPr/>
        </p:nvPicPr>
        <p:blipFill>
          <a:blip r:embed="rId3"/>
          <a:stretch>
            <a:fillRect/>
          </a:stretch>
        </p:blipFill>
        <p:spPr>
          <a:xfrm>
            <a:off x="1148249" y="1710310"/>
            <a:ext cx="9474744" cy="733477"/>
          </a:xfrm>
          <a:prstGeom prst="rect">
            <a:avLst/>
          </a:prstGeom>
        </p:spPr>
      </p:pic>
    </p:spTree>
    <p:extLst>
      <p:ext uri="{BB962C8B-B14F-4D97-AF65-F5344CB8AC3E}">
        <p14:creationId xmlns:p14="http://schemas.microsoft.com/office/powerpoint/2010/main" val="43887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5-3 </a:t>
            </a:r>
            <a:r>
              <a:rPr lang="zh-CN" altLang="en-US" b="1" dirty="0">
                <a:solidFill>
                  <a:srgbClr val="C00000"/>
                </a:solidFill>
                <a:latin typeface="黑体" panose="02010609060101010101" pitchFamily="49" charset="-122"/>
                <a:ea typeface="黑体" panose="02010609060101010101" pitchFamily="49" charset="-122"/>
              </a:rPr>
              <a:t>表单样式设计</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372824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eaLnBrk="1" hangingPunct="1">
              <a:spcBef>
                <a:spcPts val="1800"/>
              </a:spcBef>
              <a:buFont typeface="Wingdings" panose="05000000000000000000" pitchFamily="2" charset="2"/>
              <a:buChar char="Ø"/>
            </a:pPr>
            <a:r>
              <a:rPr lang="zh-CN" altLang="en-US" sz="2800" b="1" dirty="0">
                <a:solidFill>
                  <a:srgbClr val="0000FF"/>
                </a:solidFill>
                <a:latin typeface="+mn-ea"/>
                <a:ea typeface="+mn-ea"/>
              </a:rPr>
              <a:t>美化控件外观</a:t>
            </a:r>
            <a:endParaRPr lang="en-US" altLang="zh-CN" sz="2800" b="1" dirty="0">
              <a:solidFill>
                <a:srgbClr val="0000FF"/>
              </a:solidFill>
              <a:latin typeface="+mn-ea"/>
              <a:ea typeface="+mn-ea"/>
            </a:endParaRPr>
          </a:p>
        </p:txBody>
      </p:sp>
      <p:sp>
        <p:nvSpPr>
          <p:cNvPr id="21" name="矩形 20">
            <a:extLst>
              <a:ext uri="{FF2B5EF4-FFF2-40B4-BE49-F238E27FC236}">
                <a16:creationId xmlns:a16="http://schemas.microsoft.com/office/drawing/2014/main" id="{AFCBC14D-F67B-47AE-8E07-85957C03C58A}"/>
              </a:ext>
            </a:extLst>
          </p:cNvPr>
          <p:cNvSpPr/>
          <p:nvPr/>
        </p:nvSpPr>
        <p:spPr>
          <a:xfrm>
            <a:off x="786731" y="1620069"/>
            <a:ext cx="10838010" cy="3990516"/>
          </a:xfrm>
          <a:prstGeom prst="rect">
            <a:avLst/>
          </a:prstGeom>
        </p:spPr>
        <p:txBody>
          <a:bodyPr wrap="square">
            <a:spAutoFit/>
          </a:bodyPr>
          <a:lstStyle/>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为什么需要美化</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不同的浏览器样式不同</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默认的样式并不美观</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ü"/>
            </a:pPr>
            <a:r>
              <a:rPr lang="zh-CN" altLang="en-US" sz="2400" b="1" dirty="0">
                <a:effectLst>
                  <a:outerShdw blurRad="38100" dist="38100" dir="2700000" algn="tl">
                    <a:srgbClr val="000000">
                      <a:alpha val="43137"/>
                    </a:srgbClr>
                  </a:outerShdw>
                </a:effectLst>
                <a:latin typeface="+mn-ea"/>
                <a:ea typeface="+mn-ea"/>
              </a:rPr>
              <a:t>如何美化</a:t>
            </a:r>
            <a:endParaRPr lang="en-US" altLang="zh-CN" sz="24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通过设置</a:t>
            </a:r>
            <a:r>
              <a:rPr lang="en-US" altLang="zh-CN" sz="2000" b="1" dirty="0">
                <a:effectLst>
                  <a:outerShdw blurRad="38100" dist="38100" dir="2700000" algn="tl">
                    <a:srgbClr val="000000">
                      <a:alpha val="43137"/>
                    </a:srgbClr>
                  </a:outerShdw>
                </a:effectLst>
                <a:latin typeface="+mn-ea"/>
                <a:ea typeface="+mn-ea"/>
              </a:rPr>
              <a:t>CSS</a:t>
            </a:r>
            <a:r>
              <a:rPr lang="zh-CN" altLang="en-US" sz="2000" b="1" dirty="0">
                <a:effectLst>
                  <a:outerShdw blurRad="38100" dist="38100" dir="2700000" algn="tl">
                    <a:srgbClr val="000000">
                      <a:alpha val="43137"/>
                    </a:srgbClr>
                  </a:outerShdw>
                </a:effectLst>
                <a:latin typeface="+mn-ea"/>
                <a:ea typeface="+mn-ea"/>
              </a:rPr>
              <a:t>样式，重新定义控件的外观</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一方面统一不同浏览器的浏览效果</a:t>
            </a:r>
            <a:endParaRPr lang="en-US" altLang="zh-CN" sz="2000" b="1" dirty="0">
              <a:effectLst>
                <a:outerShdw blurRad="38100" dist="38100" dir="2700000" algn="tl">
                  <a:srgbClr val="000000">
                    <a:alpha val="43137"/>
                  </a:srgbClr>
                </a:outerShdw>
              </a:effectLst>
              <a:latin typeface="+mn-ea"/>
              <a:ea typeface="+mn-ea"/>
            </a:endParaRPr>
          </a:p>
          <a:p>
            <a:pPr marL="342900" indent="-342900">
              <a:lnSpc>
                <a:spcPct val="150000"/>
              </a:lnSpc>
              <a:buClr>
                <a:schemeClr val="accent6"/>
              </a:buClr>
              <a:buFont typeface="Wingdings" pitchFamily="2" charset="2"/>
              <a:buChar char="l"/>
            </a:pPr>
            <a:r>
              <a:rPr lang="zh-CN" altLang="en-US" sz="2000" b="1" dirty="0">
                <a:effectLst>
                  <a:outerShdw blurRad="38100" dist="38100" dir="2700000" algn="tl">
                    <a:srgbClr val="000000">
                      <a:alpha val="43137"/>
                    </a:srgbClr>
                  </a:outerShdw>
                </a:effectLst>
                <a:latin typeface="+mn-ea"/>
                <a:ea typeface="+mn-ea"/>
              </a:rPr>
              <a:t>另一方面可以美化控件，提升用户交互体验</a:t>
            </a:r>
            <a:endParaRPr lang="en-US" altLang="zh-CN" sz="2000" b="1" dirty="0">
              <a:effectLst>
                <a:outerShdw blurRad="38100" dist="38100" dir="2700000" algn="tl">
                  <a:srgbClr val="000000">
                    <a:alpha val="43137"/>
                  </a:srgbClr>
                </a:outerShdw>
              </a:effectLst>
              <a:latin typeface="+mn-ea"/>
              <a:ea typeface="+mn-ea"/>
            </a:endParaRPr>
          </a:p>
        </p:txBody>
      </p:sp>
      <p:pic>
        <p:nvPicPr>
          <p:cNvPr id="7" name="图片 6">
            <a:extLst>
              <a:ext uri="{FF2B5EF4-FFF2-40B4-BE49-F238E27FC236}">
                <a16:creationId xmlns:a16="http://schemas.microsoft.com/office/drawing/2014/main" id="{79395A4D-95CB-004D-A30C-26BC6289C216}"/>
              </a:ext>
            </a:extLst>
          </p:cNvPr>
          <p:cNvPicPr>
            <a:picLocks noChangeAspect="1"/>
          </p:cNvPicPr>
          <p:nvPr/>
        </p:nvPicPr>
        <p:blipFill>
          <a:blip r:embed="rId3"/>
          <a:stretch>
            <a:fillRect/>
          </a:stretch>
        </p:blipFill>
        <p:spPr>
          <a:xfrm>
            <a:off x="7370961" y="1290080"/>
            <a:ext cx="4002558" cy="3930389"/>
          </a:xfrm>
          <a:prstGeom prst="rect">
            <a:avLst/>
          </a:prstGeom>
        </p:spPr>
      </p:pic>
      <p:sp>
        <p:nvSpPr>
          <p:cNvPr id="10" name="文本框 9">
            <a:extLst>
              <a:ext uri="{FF2B5EF4-FFF2-40B4-BE49-F238E27FC236}">
                <a16:creationId xmlns:a16="http://schemas.microsoft.com/office/drawing/2014/main" id="{E3C2DE0B-1BBF-134C-A70D-B5798A1CBF47}"/>
              </a:ext>
            </a:extLst>
          </p:cNvPr>
          <p:cNvSpPr txBox="1"/>
          <p:nvPr/>
        </p:nvSpPr>
        <p:spPr>
          <a:xfrm>
            <a:off x="8888437" y="5283185"/>
            <a:ext cx="1167800" cy="369332"/>
          </a:xfrm>
          <a:prstGeom prst="rect">
            <a:avLst/>
          </a:prstGeom>
          <a:noFill/>
        </p:spPr>
        <p:txBody>
          <a:bodyPr wrap="square">
            <a:spAutoFit/>
          </a:bodyPr>
          <a:lstStyle/>
          <a:p>
            <a:r>
              <a:rPr lang="zh-CN" altLang="en-US" b="1" dirty="0">
                <a:solidFill>
                  <a:srgbClr val="0432FF"/>
                </a:solidFill>
                <a:effectLst>
                  <a:outerShdw blurRad="38100" dist="38100" dir="2700000" algn="tl">
                    <a:srgbClr val="000000">
                      <a:alpha val="43137"/>
                    </a:srgbClr>
                  </a:outerShdw>
                </a:effectLst>
                <a:latin typeface="+mn-ea"/>
                <a:ea typeface="+mn-ea"/>
              </a:rPr>
              <a:t>例</a:t>
            </a:r>
            <a:r>
              <a:rPr lang="en-US" altLang="zh-CN" b="1" dirty="0">
                <a:solidFill>
                  <a:srgbClr val="0432FF"/>
                </a:solidFill>
                <a:effectLst>
                  <a:outerShdw blurRad="38100" dist="38100" dir="2700000" algn="tl">
                    <a:srgbClr val="000000">
                      <a:alpha val="43137"/>
                    </a:srgbClr>
                  </a:outerShdw>
                </a:effectLst>
                <a:latin typeface="+mn-ea"/>
                <a:ea typeface="+mn-ea"/>
              </a:rPr>
              <a:t>5-10</a:t>
            </a:r>
            <a:endParaRPr lang="zh-CN" altLang="en-US" dirty="0">
              <a:solidFill>
                <a:srgbClr val="0432FF"/>
              </a:solidFill>
            </a:endParaRPr>
          </a:p>
        </p:txBody>
      </p:sp>
    </p:spTree>
    <p:extLst>
      <p:ext uri="{BB962C8B-B14F-4D97-AF65-F5344CB8AC3E}">
        <p14:creationId xmlns:p14="http://schemas.microsoft.com/office/powerpoint/2010/main" val="2298656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5-4~</a:t>
            </a:r>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5-5</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41030CB7-09CD-4D65-AFC0-92183B1414E7}"/>
              </a:ext>
            </a:extLst>
          </p:cNvPr>
          <p:cNvSpPr/>
          <p:nvPr/>
        </p:nvSpPr>
        <p:spPr>
          <a:xfrm>
            <a:off x="751533" y="1833687"/>
            <a:ext cx="3744416" cy="3543471"/>
          </a:xfrm>
          <a:prstGeom prst="rect">
            <a:avLst/>
          </a:prstGeom>
        </p:spPr>
        <p:txBody>
          <a:bodyPr wrap="square">
            <a:spAutoFit/>
          </a:bodyPr>
          <a:lstStyle/>
          <a:p>
            <a:pPr>
              <a:lnSpc>
                <a:spcPct val="150000"/>
              </a:lnSpc>
            </a:pP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企业</a:t>
            </a: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用户注册页面</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按页面功能区域</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从顶部到底部分割为</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个模块</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①导航</a:t>
            </a:r>
            <a:endParaRPr lang="en-US" altLang="zh-CN"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②巨幕</a:t>
            </a:r>
            <a:endParaRPr lang="en-US" altLang="zh-CN"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③表单</a:t>
            </a:r>
            <a:endParaRPr lang="en-US" altLang="zh-CN"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④页脚</a:t>
            </a:r>
            <a:endParaRPr lang="en-US" altLang="zh-CN" sz="2000"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en-US"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具体实现请对照书本学习</a:t>
            </a:r>
            <a:endParaRPr lang="zh-CN" altLang="en-US" dirty="0">
              <a:solidFill>
                <a:schemeClr val="accent6"/>
              </a:solidFill>
              <a:effectLst>
                <a:outerShdw blurRad="38100" dist="38100" dir="2700000" algn="tl">
                  <a:srgbClr val="000000">
                    <a:alpha val="43137"/>
                  </a:srgbClr>
                </a:outerShdw>
              </a:effectLst>
            </a:endParaRPr>
          </a:p>
        </p:txBody>
      </p:sp>
      <p:sp>
        <p:nvSpPr>
          <p:cNvPr id="16" name="Text Box 7">
            <a:extLst>
              <a:ext uri="{FF2B5EF4-FFF2-40B4-BE49-F238E27FC236}">
                <a16:creationId xmlns:a16="http://schemas.microsoft.com/office/drawing/2014/main" id="{8E1FC958-4B26-4066-A7BF-16C99023EC9C}"/>
              </a:ext>
            </a:extLst>
          </p:cNvPr>
          <p:cNvSpPr txBox="1">
            <a:spLocks noChangeArrowheads="1"/>
          </p:cNvSpPr>
          <p:nvPr/>
        </p:nvSpPr>
        <p:spPr bwMode="auto">
          <a:xfrm>
            <a:off x="751533" y="1094913"/>
            <a:ext cx="11001051"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页面分析</a:t>
            </a:r>
          </a:p>
        </p:txBody>
      </p:sp>
    </p:spTree>
    <p:extLst>
      <p:ext uri="{BB962C8B-B14F-4D97-AF65-F5344CB8AC3E}">
        <p14:creationId xmlns:p14="http://schemas.microsoft.com/office/powerpoint/2010/main" val="1610846766"/>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15837</TotalTime>
  <Words>4255</Words>
  <Application>Microsoft Office PowerPoint</Application>
  <PresentationFormat>自定义</PresentationFormat>
  <Paragraphs>710</Paragraphs>
  <Slides>45</Slides>
  <Notes>36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45</vt:i4>
      </vt:variant>
    </vt:vector>
  </HeadingPairs>
  <TitlesOfParts>
    <vt:vector size="54" baseType="lpstr">
      <vt:lpstr>黑体</vt:lpstr>
      <vt:lpstr>宋体</vt:lpstr>
      <vt:lpstr>微软雅黑</vt:lpstr>
      <vt:lpstr>Arial</vt:lpstr>
      <vt:lpstr>Calibri</vt:lpstr>
      <vt:lpstr>Times New Roman</vt:lpstr>
      <vt:lpstr>Verdana</vt:lpstr>
      <vt:lpstr>Wingdings</vt:lpstr>
      <vt:lpstr>Profile</vt:lpstr>
      <vt:lpstr>企业网站设计篇 项目5 用户注册页面</vt:lpstr>
      <vt:lpstr>项目5 用户注册页面</vt:lpstr>
      <vt:lpstr>项目5 用户注册页面</vt:lpstr>
      <vt:lpstr>任务 5-1 表单基本概念</vt:lpstr>
      <vt:lpstr>任务 5-1 表单基本概念</vt:lpstr>
      <vt:lpstr>任务 5-1 表单基本概念</vt:lpstr>
      <vt:lpstr>任务 5-1 表单基本概念</vt:lpstr>
      <vt:lpstr>任务 5-1 表单基本概念</vt:lpstr>
      <vt:lpstr>任务 5-1 表单基本概念</vt:lpstr>
      <vt:lpstr>任务5-2 表单控件</vt:lpstr>
      <vt:lpstr>任务5-2 表单控件</vt:lpstr>
      <vt:lpstr>任务5-2 表单控件</vt:lpstr>
      <vt:lpstr>任务5-2 表单控件</vt:lpstr>
      <vt:lpstr>任务5-2 表单控件</vt:lpstr>
      <vt:lpstr>任务5-2 表单控件</vt:lpstr>
      <vt:lpstr>任务5-2 表单控件</vt:lpstr>
      <vt:lpstr>任务5-2 表单控件</vt:lpstr>
      <vt:lpstr>任务5-2 盒子模型进阶</vt:lpstr>
      <vt:lpstr>任务5-2 表单控件</vt:lpstr>
      <vt:lpstr>任务5-2 表单控件</vt:lpstr>
      <vt:lpstr>任务5-2 盒子模型进阶</vt:lpstr>
      <vt:lpstr>任务5-2 表单控件</vt:lpstr>
      <vt:lpstr>任务5-2 表单控件</vt:lpstr>
      <vt:lpstr>任务5-2 表单控件</vt:lpstr>
      <vt:lpstr>任务5-2 表单控件</vt:lpstr>
      <vt:lpstr>任务5-2 表单控件</vt:lpstr>
      <vt:lpstr>任务5-2 表单控件</vt:lpstr>
      <vt:lpstr>任务5-2 表单控件</vt:lpstr>
      <vt:lpstr>任务5-2 表单控件</vt:lpstr>
      <vt:lpstr>任务5-2 表单控件</vt:lpstr>
      <vt:lpstr>任务5-2 盒子模型进阶</vt:lpstr>
      <vt:lpstr>任务5-2 表单控件</vt:lpstr>
      <vt:lpstr>任务5-3 表单样式设计</vt:lpstr>
      <vt:lpstr>任务5-3 表单样式设计</vt:lpstr>
      <vt:lpstr>任务5-3 表单样式设计</vt:lpstr>
      <vt:lpstr>任务5-2 盒子模型进阶</vt:lpstr>
      <vt:lpstr>任务5-3 表单样式设计</vt:lpstr>
      <vt:lpstr>任务5-3 表单样式设计</vt:lpstr>
      <vt:lpstr>任务5-3 表单样式设计</vt:lpstr>
      <vt:lpstr>任务5-3 表单样式设计</vt:lpstr>
      <vt:lpstr>任务5-3 表单样式设计</vt:lpstr>
      <vt:lpstr>任务5-3 表单样式设计</vt:lpstr>
      <vt:lpstr>任务5-3 表单样式设计</vt:lpstr>
      <vt:lpstr>任务5-3 表单样式设计</vt:lpstr>
      <vt:lpstr>任务5-4~任务5-5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企业网站设计篇 项目5 用户注册页面</dc:title>
  <dc:subject>Web前端开发与项目实践</dc:subject>
  <dc:creator/>
  <cp:lastModifiedBy>John Hu</cp:lastModifiedBy>
  <cp:revision>1414</cp:revision>
  <dcterms:created xsi:type="dcterms:W3CDTF">2008-02-14T05:21:14Z</dcterms:created>
  <dcterms:modified xsi:type="dcterms:W3CDTF">2024-03-22T03:42:26Z</dcterms:modified>
</cp:coreProperties>
</file>