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1" r:id="rId1"/>
  </p:sldMasterIdLst>
  <p:notesMasterIdLst>
    <p:notesMasterId r:id="rId39"/>
  </p:notesMasterIdLst>
  <p:sldIdLst>
    <p:sldId id="423" r:id="rId2"/>
    <p:sldId id="427" r:id="rId3"/>
    <p:sldId id="428" r:id="rId4"/>
    <p:sldId id="429" r:id="rId5"/>
    <p:sldId id="551" r:id="rId6"/>
    <p:sldId id="552" r:id="rId7"/>
    <p:sldId id="553" r:id="rId8"/>
    <p:sldId id="554" r:id="rId9"/>
    <p:sldId id="555" r:id="rId10"/>
    <p:sldId id="556" r:id="rId11"/>
    <p:sldId id="557" r:id="rId12"/>
    <p:sldId id="558" r:id="rId13"/>
    <p:sldId id="559" r:id="rId14"/>
    <p:sldId id="560" r:id="rId15"/>
    <p:sldId id="561" r:id="rId16"/>
    <p:sldId id="562" r:id="rId17"/>
    <p:sldId id="582" r:id="rId18"/>
    <p:sldId id="563" r:id="rId19"/>
    <p:sldId id="564" r:id="rId20"/>
    <p:sldId id="565" r:id="rId21"/>
    <p:sldId id="566" r:id="rId22"/>
    <p:sldId id="567" r:id="rId23"/>
    <p:sldId id="568" r:id="rId24"/>
    <p:sldId id="569" r:id="rId25"/>
    <p:sldId id="570" r:id="rId26"/>
    <p:sldId id="571" r:id="rId27"/>
    <p:sldId id="573" r:id="rId28"/>
    <p:sldId id="574" r:id="rId29"/>
    <p:sldId id="575" r:id="rId30"/>
    <p:sldId id="546" r:id="rId31"/>
    <p:sldId id="576" r:id="rId32"/>
    <p:sldId id="577" r:id="rId33"/>
    <p:sldId id="578" r:id="rId34"/>
    <p:sldId id="580" r:id="rId35"/>
    <p:sldId id="579" r:id="rId36"/>
    <p:sldId id="581" r:id="rId37"/>
    <p:sldId id="514" r:id="rId38"/>
  </p:sldIdLst>
  <p:sldSz cx="12160250" cy="6840538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1pPr>
    <a:lvl2pPr marL="492125" indent="-3492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2pPr>
    <a:lvl3pPr marL="985838" indent="-714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3pPr>
    <a:lvl4pPr marL="1477963" indent="-10636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4pPr>
    <a:lvl5pPr marL="1971675" indent="-1428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 userDrawn="1">
          <p15:clr>
            <a:srgbClr val="A4A3A4"/>
          </p15:clr>
        </p15:guide>
        <p15:guide id="2" pos="38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FFFF00"/>
    <a:srgbClr val="0000FF"/>
    <a:srgbClr val="000000"/>
    <a:srgbClr val="33CCCC"/>
    <a:srgbClr val="99CCFF"/>
    <a:srgbClr val="00CCFF"/>
    <a:srgbClr val="00FFFF"/>
    <a:srgbClr val="FFFF99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53" autoAdjust="0"/>
    <p:restoredTop sz="94309" autoAdjust="0"/>
  </p:normalViewPr>
  <p:slideViewPr>
    <p:cSldViewPr>
      <p:cViewPr varScale="1">
        <p:scale>
          <a:sx n="114" d="100"/>
          <a:sy n="114" d="100"/>
        </p:scale>
        <p:origin x="773" y="91"/>
      </p:cViewPr>
      <p:guideLst>
        <p:guide orient="horz" pos="2155"/>
        <p:guide pos="383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213e45b8a479442b" providerId="LiveId" clId="{1EA855CB-FAA2-4949-B254-905C6875DC13}"/>
    <pc:docChg chg="undo custSel addSld modSld">
      <pc:chgData name="" userId="213e45b8a479442b" providerId="LiveId" clId="{1EA855CB-FAA2-4949-B254-905C6875DC13}" dt="2024-03-30T12:58:51.599" v="660" actId="207"/>
      <pc:docMkLst>
        <pc:docMk/>
      </pc:docMkLst>
      <pc:sldChg chg="modSp">
        <pc:chgData name="" userId="213e45b8a479442b" providerId="LiveId" clId="{1EA855CB-FAA2-4949-B254-905C6875DC13}" dt="2024-03-30T12:53:20.955" v="233" actId="1076"/>
        <pc:sldMkLst>
          <pc:docMk/>
          <pc:sldMk cId="2700365870" sldId="563"/>
        </pc:sldMkLst>
        <pc:picChg chg="mod">
          <ac:chgData name="" userId="213e45b8a479442b" providerId="LiveId" clId="{1EA855CB-FAA2-4949-B254-905C6875DC13}" dt="2024-03-30T12:53:20.955" v="233" actId="1076"/>
          <ac:picMkLst>
            <pc:docMk/>
            <pc:sldMk cId="2700365870" sldId="563"/>
            <ac:picMk id="11" creationId="{4950FB89-5310-4610-8F84-AC535D506A92}"/>
          </ac:picMkLst>
        </pc:picChg>
      </pc:sldChg>
      <pc:sldChg chg="modSp">
        <pc:chgData name="" userId="213e45b8a479442b" providerId="LiveId" clId="{1EA855CB-FAA2-4949-B254-905C6875DC13}" dt="2024-03-30T12:55:00.050" v="342" actId="1076"/>
        <pc:sldMkLst>
          <pc:docMk/>
          <pc:sldMk cId="711567637" sldId="564"/>
        </pc:sldMkLst>
        <pc:picChg chg="mod">
          <ac:chgData name="" userId="213e45b8a479442b" providerId="LiveId" clId="{1EA855CB-FAA2-4949-B254-905C6875DC13}" dt="2024-03-30T12:55:00.050" v="342" actId="1076"/>
          <ac:picMkLst>
            <pc:docMk/>
            <pc:sldMk cId="711567637" sldId="564"/>
            <ac:picMk id="4" creationId="{02F2FF05-F7ED-4446-A7AD-210AC910E90A}"/>
          </ac:picMkLst>
        </pc:picChg>
      </pc:sldChg>
      <pc:sldChg chg="modSp">
        <pc:chgData name="" userId="213e45b8a479442b" providerId="LiveId" clId="{1EA855CB-FAA2-4949-B254-905C6875DC13}" dt="2024-03-07T13:48:17.891" v="1" actId="1076"/>
        <pc:sldMkLst>
          <pc:docMk/>
          <pc:sldMk cId="751247828" sldId="566"/>
        </pc:sldMkLst>
        <pc:picChg chg="mod">
          <ac:chgData name="" userId="213e45b8a479442b" providerId="LiveId" clId="{1EA855CB-FAA2-4949-B254-905C6875DC13}" dt="2024-03-07T13:48:17.891" v="1" actId="1076"/>
          <ac:picMkLst>
            <pc:docMk/>
            <pc:sldMk cId="751247828" sldId="566"/>
            <ac:picMk id="4" creationId="{3AA1EDDB-2901-46B4-9D21-7F43A3CB5487}"/>
          </ac:picMkLst>
        </pc:picChg>
      </pc:sldChg>
      <pc:sldChg chg="modSp">
        <pc:chgData name="" userId="213e45b8a479442b" providerId="LiveId" clId="{1EA855CB-FAA2-4949-B254-905C6875DC13}" dt="2024-03-30T12:56:09.423" v="425" actId="1076"/>
        <pc:sldMkLst>
          <pc:docMk/>
          <pc:sldMk cId="1989233166" sldId="568"/>
        </pc:sldMkLst>
        <pc:picChg chg="mod">
          <ac:chgData name="" userId="213e45b8a479442b" providerId="LiveId" clId="{1EA855CB-FAA2-4949-B254-905C6875DC13}" dt="2024-03-30T12:56:09.423" v="425" actId="1076"/>
          <ac:picMkLst>
            <pc:docMk/>
            <pc:sldMk cId="1989233166" sldId="568"/>
            <ac:picMk id="9" creationId="{C8DDAC7E-A00A-4E32-BDB6-BA45E3560660}"/>
          </ac:picMkLst>
        </pc:picChg>
      </pc:sldChg>
      <pc:sldChg chg="delSp modSp add delAnim">
        <pc:chgData name="" userId="213e45b8a479442b" providerId="LiveId" clId="{1EA855CB-FAA2-4949-B254-905C6875DC13}" dt="2024-03-30T12:58:51.599" v="660" actId="207"/>
        <pc:sldMkLst>
          <pc:docMk/>
          <pc:sldMk cId="1529012783" sldId="582"/>
        </pc:sldMkLst>
        <pc:spChg chg="del">
          <ac:chgData name="" userId="213e45b8a479442b" providerId="LiveId" clId="{1EA855CB-FAA2-4949-B254-905C6875DC13}" dt="2024-03-30T12:51:39.850" v="78" actId="478"/>
          <ac:spMkLst>
            <pc:docMk/>
            <pc:sldMk cId="1529012783" sldId="582"/>
            <ac:spMk id="4" creationId="{A15A08F3-6873-4E33-85B7-71AA72BF1416}"/>
          </ac:spMkLst>
        </pc:spChg>
        <pc:spChg chg="mod">
          <ac:chgData name="" userId="213e45b8a479442b" providerId="LiveId" clId="{1EA855CB-FAA2-4949-B254-905C6875DC13}" dt="2024-03-30T12:58:51.599" v="660" actId="207"/>
          <ac:spMkLst>
            <pc:docMk/>
            <pc:sldMk cId="1529012783" sldId="582"/>
            <ac:spMk id="5" creationId="{92C714C4-09CB-4AC3-BD4F-361504D220AC}"/>
          </ac:spMkLst>
        </pc:spChg>
        <pc:spChg chg="del">
          <ac:chgData name="" userId="213e45b8a479442b" providerId="LiveId" clId="{1EA855CB-FAA2-4949-B254-905C6875DC13}" dt="2024-03-30T12:51:44.890" v="80" actId="478"/>
          <ac:spMkLst>
            <pc:docMk/>
            <pc:sldMk cId="1529012783" sldId="582"/>
            <ac:spMk id="7" creationId="{3B7F8984-F94E-4B02-BFDA-B3F396DE3CD1}"/>
          </ac:spMkLst>
        </pc:spChg>
        <pc:spChg chg="del">
          <ac:chgData name="" userId="213e45b8a479442b" providerId="LiveId" clId="{1EA855CB-FAA2-4949-B254-905C6875DC13}" dt="2024-03-30T12:51:42.143" v="79" actId="478"/>
          <ac:spMkLst>
            <pc:docMk/>
            <pc:sldMk cId="1529012783" sldId="582"/>
            <ac:spMk id="12" creationId="{7364A50C-2195-4FA1-AF93-26CD85A4A87C}"/>
          </ac:spMkLst>
        </pc:spChg>
        <pc:spChg chg="del">
          <ac:chgData name="" userId="213e45b8a479442b" providerId="LiveId" clId="{1EA855CB-FAA2-4949-B254-905C6875DC13}" dt="2024-03-30T12:51:42.143" v="79" actId="478"/>
          <ac:spMkLst>
            <pc:docMk/>
            <pc:sldMk cId="1529012783" sldId="582"/>
            <ac:spMk id="13" creationId="{A3102051-BB69-421C-A55A-045C34584C3B}"/>
          </ac:spMkLst>
        </pc:spChg>
        <pc:spChg chg="del">
          <ac:chgData name="" userId="213e45b8a479442b" providerId="LiveId" clId="{1EA855CB-FAA2-4949-B254-905C6875DC13}" dt="2024-03-30T12:51:42.143" v="79" actId="478"/>
          <ac:spMkLst>
            <pc:docMk/>
            <pc:sldMk cId="1529012783" sldId="582"/>
            <ac:spMk id="14" creationId="{D1B29085-6D50-42AF-B0B6-60103C1CF1B0}"/>
          </ac:spMkLst>
        </pc:spChg>
        <pc:graphicFrameChg chg="del">
          <ac:chgData name="" userId="213e45b8a479442b" providerId="LiveId" clId="{1EA855CB-FAA2-4949-B254-905C6875DC13}" dt="2024-03-30T12:51:36.505" v="77" actId="478"/>
          <ac:graphicFrameMkLst>
            <pc:docMk/>
            <pc:sldMk cId="1529012783" sldId="582"/>
            <ac:graphicFrameMk id="6" creationId="{4BEC0FAB-A07F-474B-BB26-C5E923ED8428}"/>
          </ac:graphicFrameMkLst>
        </pc:graphicFrameChg>
        <pc:picChg chg="del">
          <ac:chgData name="" userId="213e45b8a479442b" providerId="LiveId" clId="{1EA855CB-FAA2-4949-B254-905C6875DC13}" dt="2024-03-30T12:51:42.143" v="79" actId="478"/>
          <ac:picMkLst>
            <pc:docMk/>
            <pc:sldMk cId="1529012783" sldId="582"/>
            <ac:picMk id="10" creationId="{00A4A064-DFD5-4408-8DAF-550DA73536F4}"/>
          </ac:picMkLst>
        </pc:picChg>
      </pc:sldChg>
    </pc:docChg>
  </pc:docChgLst>
  <pc:docChgLst>
    <pc:chgData name="John Hu" userId="213e45b8a479442b" providerId="LiveId" clId="{01499659-5332-45E7-8BDC-D9B774DA1694}"/>
    <pc:docChg chg="modSld">
      <pc:chgData name="John Hu" userId="213e45b8a479442b" providerId="LiveId" clId="{01499659-5332-45E7-8BDC-D9B774DA1694}" dt="2024-03-29T05:40:31.305" v="0" actId="1076"/>
      <pc:docMkLst>
        <pc:docMk/>
      </pc:docMkLst>
      <pc:sldChg chg="modSp mod">
        <pc:chgData name="John Hu" userId="213e45b8a479442b" providerId="LiveId" clId="{01499659-5332-45E7-8BDC-D9B774DA1694}" dt="2024-03-29T05:40:31.305" v="0" actId="1076"/>
        <pc:sldMkLst>
          <pc:docMk/>
          <pc:sldMk cId="577413950" sldId="569"/>
        </pc:sldMkLst>
        <pc:picChg chg="mod">
          <ac:chgData name="John Hu" userId="213e45b8a479442b" providerId="LiveId" clId="{01499659-5332-45E7-8BDC-D9B774DA1694}" dt="2024-03-29T05:40:31.305" v="0" actId="1076"/>
          <ac:picMkLst>
            <pc:docMk/>
            <pc:sldMk cId="577413950" sldId="569"/>
            <ac:picMk id="4" creationId="{63FD9B26-60D3-4DED-9A05-E3BD6070421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6D314487-0CE3-481E-A6CD-359E0D2485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33179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9212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8583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47796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97167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464677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957612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450547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943482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9055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3420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17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1136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0814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4301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7510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6270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2026" y="2125012"/>
            <a:ext cx="10336213" cy="146628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4038" y="3876308"/>
            <a:ext cx="8512175" cy="1748137"/>
          </a:xfrm>
        </p:spPr>
        <p:txBody>
          <a:bodyPr/>
          <a:lstStyle>
            <a:lvl1pPr marL="0" indent="0" algn="ctr">
              <a:buNone/>
              <a:defRPr/>
            </a:lvl1pPr>
            <a:lvl2pPr marL="492948" indent="0" algn="ctr">
              <a:buNone/>
              <a:defRPr/>
            </a:lvl2pPr>
            <a:lvl3pPr marL="985898" indent="0" algn="ctr">
              <a:buNone/>
              <a:defRPr/>
            </a:lvl3pPr>
            <a:lvl4pPr marL="1478845" indent="0" algn="ctr">
              <a:buNone/>
              <a:defRPr/>
            </a:lvl4pPr>
            <a:lvl5pPr marL="1971795" indent="0" algn="ctr">
              <a:buNone/>
              <a:defRPr/>
            </a:lvl5pPr>
            <a:lvl6pPr marL="2464745" indent="0" algn="ctr">
              <a:buNone/>
              <a:defRPr/>
            </a:lvl6pPr>
            <a:lvl7pPr marL="2957693" indent="0" algn="ctr">
              <a:buNone/>
              <a:defRPr/>
            </a:lvl7pPr>
            <a:lvl8pPr marL="3450642" indent="0" algn="ctr">
              <a:buNone/>
              <a:defRPr/>
            </a:lvl8pPr>
            <a:lvl9pPr marL="394359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647947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78205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0580" y="4395683"/>
            <a:ext cx="10336213" cy="1358607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0580" y="2899314"/>
            <a:ext cx="10336213" cy="1496367"/>
          </a:xfrm>
        </p:spPr>
        <p:txBody>
          <a:bodyPr anchor="b"/>
          <a:lstStyle>
            <a:lvl1pPr marL="0" indent="0">
              <a:buNone/>
              <a:defRPr sz="2100"/>
            </a:lvl1pPr>
            <a:lvl2pPr marL="492948" indent="0">
              <a:buNone/>
              <a:defRPr sz="1900"/>
            </a:lvl2pPr>
            <a:lvl3pPr marL="985898" indent="0">
              <a:buNone/>
              <a:defRPr sz="1700"/>
            </a:lvl3pPr>
            <a:lvl4pPr marL="1478845" indent="0">
              <a:buNone/>
              <a:defRPr sz="1500"/>
            </a:lvl4pPr>
            <a:lvl5pPr marL="1971795" indent="0">
              <a:buNone/>
              <a:defRPr sz="1500"/>
            </a:lvl5pPr>
            <a:lvl6pPr marL="2464745" indent="0">
              <a:buNone/>
              <a:defRPr sz="1500"/>
            </a:lvl6pPr>
            <a:lvl7pPr marL="2957693" indent="0">
              <a:buNone/>
              <a:defRPr sz="1500"/>
            </a:lvl7pPr>
            <a:lvl8pPr marL="3450642" indent="0">
              <a:buNone/>
              <a:defRPr sz="1500"/>
            </a:lvl8pPr>
            <a:lvl9pPr marL="3943590" indent="0">
              <a:buNone/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05034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3691" y="1748139"/>
            <a:ext cx="5218773" cy="4256335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5131" y="1748139"/>
            <a:ext cx="5218773" cy="4256335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75862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020" y="273940"/>
            <a:ext cx="10944225" cy="114009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014" y="1531208"/>
            <a:ext cx="5372889" cy="638134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2948" indent="0">
              <a:buNone/>
              <a:defRPr sz="2100" b="1"/>
            </a:lvl2pPr>
            <a:lvl3pPr marL="985898" indent="0">
              <a:buNone/>
              <a:defRPr sz="1900" b="1"/>
            </a:lvl3pPr>
            <a:lvl4pPr marL="1478845" indent="0">
              <a:buNone/>
              <a:defRPr sz="1700" b="1"/>
            </a:lvl4pPr>
            <a:lvl5pPr marL="1971795" indent="0">
              <a:buNone/>
              <a:defRPr sz="1700" b="1"/>
            </a:lvl5pPr>
            <a:lvl6pPr marL="2464745" indent="0">
              <a:buNone/>
              <a:defRPr sz="1700" b="1"/>
            </a:lvl6pPr>
            <a:lvl7pPr marL="2957693" indent="0">
              <a:buNone/>
              <a:defRPr sz="1700" b="1"/>
            </a:lvl7pPr>
            <a:lvl8pPr marL="3450642" indent="0">
              <a:buNone/>
              <a:defRPr sz="1700" b="1"/>
            </a:lvl8pPr>
            <a:lvl9pPr marL="3943590" indent="0">
              <a:buNone/>
              <a:defRPr sz="17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014" y="2169338"/>
            <a:ext cx="5372889" cy="3941227"/>
          </a:xfrm>
        </p:spPr>
        <p:txBody>
          <a:bodyPr/>
          <a:lstStyle>
            <a:lvl1pPr>
              <a:defRPr sz="26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7259" y="1531208"/>
            <a:ext cx="5374999" cy="638134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2948" indent="0">
              <a:buNone/>
              <a:defRPr sz="2100" b="1"/>
            </a:lvl2pPr>
            <a:lvl3pPr marL="985898" indent="0">
              <a:buNone/>
              <a:defRPr sz="1900" b="1"/>
            </a:lvl3pPr>
            <a:lvl4pPr marL="1478845" indent="0">
              <a:buNone/>
              <a:defRPr sz="1700" b="1"/>
            </a:lvl4pPr>
            <a:lvl5pPr marL="1971795" indent="0">
              <a:buNone/>
              <a:defRPr sz="1700" b="1"/>
            </a:lvl5pPr>
            <a:lvl6pPr marL="2464745" indent="0">
              <a:buNone/>
              <a:defRPr sz="1700" b="1"/>
            </a:lvl6pPr>
            <a:lvl7pPr marL="2957693" indent="0">
              <a:buNone/>
              <a:defRPr sz="1700" b="1"/>
            </a:lvl7pPr>
            <a:lvl8pPr marL="3450642" indent="0">
              <a:buNone/>
              <a:defRPr sz="1700" b="1"/>
            </a:lvl8pPr>
            <a:lvl9pPr marL="3943590" indent="0">
              <a:buNone/>
              <a:defRPr sz="17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7259" y="2169338"/>
            <a:ext cx="5374999" cy="3941227"/>
          </a:xfrm>
        </p:spPr>
        <p:txBody>
          <a:bodyPr/>
          <a:lstStyle>
            <a:lvl1pPr>
              <a:defRPr sz="26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73633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79120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525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027" y="272356"/>
            <a:ext cx="4000638" cy="1159092"/>
          </a:xfrm>
        </p:spPr>
        <p:txBody>
          <a:bodyPr/>
          <a:lstStyle>
            <a:lvl1pPr algn="l">
              <a:defRPr sz="21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54326" y="272361"/>
            <a:ext cx="6797918" cy="5838210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8027" y="1431451"/>
            <a:ext cx="4000638" cy="4679120"/>
          </a:xfrm>
        </p:spPr>
        <p:txBody>
          <a:bodyPr/>
          <a:lstStyle>
            <a:lvl1pPr marL="0" indent="0">
              <a:buNone/>
              <a:defRPr sz="1500"/>
            </a:lvl1pPr>
            <a:lvl2pPr marL="492948" indent="0">
              <a:buNone/>
              <a:defRPr sz="1300"/>
            </a:lvl2pPr>
            <a:lvl3pPr marL="985898" indent="0">
              <a:buNone/>
              <a:defRPr sz="1100"/>
            </a:lvl3pPr>
            <a:lvl4pPr marL="1478845" indent="0">
              <a:buNone/>
              <a:defRPr sz="1000"/>
            </a:lvl4pPr>
            <a:lvl5pPr marL="1971795" indent="0">
              <a:buNone/>
              <a:defRPr sz="1000"/>
            </a:lvl5pPr>
            <a:lvl6pPr marL="2464745" indent="0">
              <a:buNone/>
              <a:defRPr sz="1000"/>
            </a:lvl6pPr>
            <a:lvl7pPr marL="2957693" indent="0">
              <a:buNone/>
              <a:defRPr sz="1000"/>
            </a:lvl7pPr>
            <a:lvl8pPr marL="3450642" indent="0">
              <a:buNone/>
              <a:defRPr sz="1000"/>
            </a:lvl8pPr>
            <a:lvl9pPr marL="394359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91523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3494" y="4788380"/>
            <a:ext cx="7296150" cy="565296"/>
          </a:xfrm>
        </p:spPr>
        <p:txBody>
          <a:bodyPr/>
          <a:lstStyle>
            <a:lvl1pPr algn="l">
              <a:defRPr sz="21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3494" y="611219"/>
            <a:ext cx="7296150" cy="4104323"/>
          </a:xfrm>
        </p:spPr>
        <p:txBody>
          <a:bodyPr/>
          <a:lstStyle>
            <a:lvl1pPr marL="0" indent="0">
              <a:buNone/>
              <a:defRPr sz="3500"/>
            </a:lvl1pPr>
            <a:lvl2pPr marL="492948" indent="0">
              <a:buNone/>
              <a:defRPr sz="3000"/>
            </a:lvl2pPr>
            <a:lvl3pPr marL="985898" indent="0">
              <a:buNone/>
              <a:defRPr sz="2600"/>
            </a:lvl3pPr>
            <a:lvl4pPr marL="1478845" indent="0">
              <a:buNone/>
              <a:defRPr sz="2100"/>
            </a:lvl4pPr>
            <a:lvl5pPr marL="1971795" indent="0">
              <a:buNone/>
              <a:defRPr sz="2100"/>
            </a:lvl5pPr>
            <a:lvl6pPr marL="2464745" indent="0">
              <a:buNone/>
              <a:defRPr sz="2100"/>
            </a:lvl6pPr>
            <a:lvl7pPr marL="2957693" indent="0">
              <a:buNone/>
              <a:defRPr sz="2100"/>
            </a:lvl7pPr>
            <a:lvl8pPr marL="3450642" indent="0">
              <a:buNone/>
              <a:defRPr sz="2100"/>
            </a:lvl8pPr>
            <a:lvl9pPr marL="3943590" indent="0">
              <a:buNone/>
              <a:defRPr sz="21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3494" y="5353683"/>
            <a:ext cx="7296150" cy="802814"/>
          </a:xfrm>
        </p:spPr>
        <p:txBody>
          <a:bodyPr/>
          <a:lstStyle>
            <a:lvl1pPr marL="0" indent="0">
              <a:buNone/>
              <a:defRPr sz="1500"/>
            </a:lvl1pPr>
            <a:lvl2pPr marL="492948" indent="0">
              <a:buNone/>
              <a:defRPr sz="1300"/>
            </a:lvl2pPr>
            <a:lvl3pPr marL="985898" indent="0">
              <a:buNone/>
              <a:defRPr sz="1100"/>
            </a:lvl3pPr>
            <a:lvl4pPr marL="1478845" indent="0">
              <a:buNone/>
              <a:defRPr sz="1000"/>
            </a:lvl4pPr>
            <a:lvl5pPr marL="1971795" indent="0">
              <a:buNone/>
              <a:defRPr sz="1000"/>
            </a:lvl5pPr>
            <a:lvl6pPr marL="2464745" indent="0">
              <a:buNone/>
              <a:defRPr sz="1000"/>
            </a:lvl6pPr>
            <a:lvl7pPr marL="2957693" indent="0">
              <a:buNone/>
              <a:defRPr sz="1000"/>
            </a:lvl7pPr>
            <a:lvl8pPr marL="3450642" indent="0">
              <a:buNone/>
              <a:defRPr sz="1000"/>
            </a:lvl8pPr>
            <a:lvl9pPr marL="394359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81641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04169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42310" y="304024"/>
            <a:ext cx="2662166" cy="570044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3686" y="304024"/>
            <a:ext cx="7785939" cy="570044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79287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4238" y="304032"/>
            <a:ext cx="10640219" cy="121292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753683" y="1748139"/>
            <a:ext cx="10640219" cy="4256335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518206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4067" y="298329"/>
            <a:ext cx="10641057" cy="60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587" tIns="49294" rIns="98587" bIns="49294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2895" y="1049338"/>
            <a:ext cx="10641055" cy="5100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587" tIns="49294" rIns="98587" bIns="492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0984" y="906463"/>
            <a:ext cx="10582968" cy="10795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33CCCC"/>
          </a:solidFill>
          <a:ln w="9525">
            <a:solidFill>
              <a:srgbClr val="33CCCC"/>
            </a:solidFill>
            <a:round/>
            <a:headEnd/>
            <a:tailEnd/>
          </a:ln>
        </p:spPr>
        <p:txBody>
          <a:bodyPr lIns="98587" tIns="49294" rIns="98587" bIns="49294"/>
          <a:lstStyle/>
          <a:p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宋体" panose="02010600030101010101" pitchFamily="2" charset="-122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92948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85898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478845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971795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506427" indent="-506427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200">
          <a:solidFill>
            <a:schemeClr val="tx1"/>
          </a:solidFill>
          <a:latin typeface="宋体" panose="02010600030101010101" pitchFamily="2" charset="-122"/>
          <a:ea typeface="+mn-ea"/>
          <a:cs typeface="+mn-cs"/>
        </a:defRPr>
      </a:lvl1pPr>
      <a:lvl2pPr marL="977927" indent="-469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800">
          <a:solidFill>
            <a:schemeClr val="tx1"/>
          </a:solidFill>
          <a:latin typeface="宋体" panose="02010600030101010101" pitchFamily="2" charset="-122"/>
          <a:ea typeface="+mn-ea"/>
        </a:defRPr>
      </a:lvl2pPr>
      <a:lvl3pPr marL="1406564" indent="-425462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500">
          <a:solidFill>
            <a:schemeClr val="tx1"/>
          </a:solidFill>
          <a:latin typeface="宋体" panose="02010600030101010101" pitchFamily="2" charset="-122"/>
          <a:ea typeface="+mn-ea"/>
        </a:defRPr>
      </a:lvl3pPr>
      <a:lvl4pPr marL="1825675" indent="-417524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100">
          <a:solidFill>
            <a:schemeClr val="tx1"/>
          </a:solidFill>
          <a:latin typeface="宋体" panose="02010600030101010101" pitchFamily="2" charset="-122"/>
          <a:ea typeface="+mn-ea"/>
        </a:defRPr>
      </a:lvl4pPr>
      <a:lvl5pPr marL="2257487" indent="-428637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宋体" panose="02010600030101010101" pitchFamily="2" charset="-122"/>
          <a:ea typeface="+mn-ea"/>
        </a:defRPr>
      </a:lvl5pPr>
      <a:lvl6pPr marL="2750588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6pPr>
      <a:lvl7pPr marL="3243535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7pPr>
      <a:lvl8pPr marL="3736483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8pPr>
      <a:lvl9pPr marL="4229433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92948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85898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78845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71795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64745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57693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50642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943590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30.xml"/><Relationship Id="rId5" Type="http://schemas.openxmlformats.org/officeDocument/2006/relationships/slide" Target="slide15.xml"/><Relationship Id="rId4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b="1" dirty="0"/>
              <a:t>响应式网站设计篇</a:t>
            </a:r>
            <a:br>
              <a:rPr lang="en-US" altLang="zh-CN" b="1" dirty="0"/>
            </a:br>
            <a:r>
              <a:rPr lang="zh-CN" altLang="en-US" b="1" dirty="0"/>
              <a:t>项目</a:t>
            </a:r>
            <a:r>
              <a:rPr lang="en-US" altLang="zh-CN" b="1" dirty="0"/>
              <a:t>8</a:t>
            </a:r>
            <a:r>
              <a:rPr lang="zh-CN" altLang="en-US" b="1" dirty="0"/>
              <a:t> 在线订餐页面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96D9ABC-25BC-4983-925D-0FAE8DD9BC52}"/>
              </a:ext>
            </a:extLst>
          </p:cNvPr>
          <p:cNvSpPr/>
          <p:nvPr/>
        </p:nvSpPr>
        <p:spPr>
          <a:xfrm>
            <a:off x="751533" y="323925"/>
            <a:ext cx="35103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Web</a:t>
            </a:r>
            <a:r>
              <a:rPr lang="zh-CN" alt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前端开发与项目实践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75978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在线订餐页面</a:t>
            </a:r>
          </a:p>
        </p:txBody>
      </p:sp>
      <p:sp>
        <p:nvSpPr>
          <p:cNvPr id="8" name="Text Box 7">
            <a:hlinkClick r:id="rId2" action="ppaction://hlinksldjump"/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549" y="3891541"/>
            <a:ext cx="5400600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 8-5~8-7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在线订餐页面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hlinkClick r:id="rId3" action="ppaction://hlinksldjump"/>
            <a:extLst>
              <a:ext uri="{FF2B5EF4-FFF2-40B4-BE49-F238E27FC236}">
                <a16:creationId xmlns:a16="http://schemas.microsoft.com/office/drawing/2014/main" id="{D5C76E7E-D3FC-4A87-86FD-46E62190380B}"/>
              </a:ext>
            </a:extLst>
          </p:cNvPr>
          <p:cNvSpPr/>
          <p:nvPr/>
        </p:nvSpPr>
        <p:spPr>
          <a:xfrm>
            <a:off x="895549" y="1188021"/>
            <a:ext cx="36199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8-1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响应式设计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>
            <a:hlinkClick r:id="rId4" action="ppaction://hlinksldjump"/>
            <a:extLst>
              <a:ext uri="{FF2B5EF4-FFF2-40B4-BE49-F238E27FC236}">
                <a16:creationId xmlns:a16="http://schemas.microsoft.com/office/drawing/2014/main" id="{22E57A13-9C71-4FAB-98F0-845434EB25E0}"/>
              </a:ext>
            </a:extLst>
          </p:cNvPr>
          <p:cNvSpPr/>
          <p:nvPr/>
        </p:nvSpPr>
        <p:spPr>
          <a:xfrm>
            <a:off x="895549" y="1863901"/>
            <a:ext cx="32608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8-2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媒体查询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>
            <a:hlinkClick r:id="rId5" action="ppaction://hlinksldjump"/>
            <a:extLst>
              <a:ext uri="{FF2B5EF4-FFF2-40B4-BE49-F238E27FC236}">
                <a16:creationId xmlns:a16="http://schemas.microsoft.com/office/drawing/2014/main" id="{A27331B8-A50C-492C-8A2F-054C4C81086C}"/>
              </a:ext>
            </a:extLst>
          </p:cNvPr>
          <p:cNvSpPr/>
          <p:nvPr/>
        </p:nvSpPr>
        <p:spPr>
          <a:xfrm>
            <a:off x="895549" y="2539781"/>
            <a:ext cx="32608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8-3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弹性布局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>
            <a:hlinkClick r:id="rId6" action="ppaction://hlinksldjump"/>
            <a:extLst>
              <a:ext uri="{FF2B5EF4-FFF2-40B4-BE49-F238E27FC236}">
                <a16:creationId xmlns:a16="http://schemas.microsoft.com/office/drawing/2014/main" id="{2759DA7F-8BDD-489D-B902-5F308AA339E1}"/>
              </a:ext>
            </a:extLst>
          </p:cNvPr>
          <p:cNvSpPr/>
          <p:nvPr/>
        </p:nvSpPr>
        <p:spPr>
          <a:xfrm>
            <a:off x="895549" y="3215661"/>
            <a:ext cx="64924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8-4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  使用弹性布局进行响应式设计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663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在线订餐页面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23414B-884D-44D2-950C-D69CAF6027EC}"/>
              </a:ext>
            </a:extLst>
          </p:cNvPr>
          <p:cNvSpPr/>
          <p:nvPr/>
        </p:nvSpPr>
        <p:spPr>
          <a:xfrm>
            <a:off x="5430391" y="1259766"/>
            <a:ext cx="51347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本项目将介绍如何制作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在线订餐页面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818C01-AC85-4E74-B6C9-A4967A0A45EF}"/>
              </a:ext>
            </a:extLst>
          </p:cNvPr>
          <p:cNvSpPr/>
          <p:nvPr/>
        </p:nvSpPr>
        <p:spPr>
          <a:xfrm>
            <a:off x="5430391" y="1764085"/>
            <a:ext cx="6080125" cy="1684244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Times New Roman" panose="02020603050405020304" pitchFamily="18" charset="0"/>
              <a:buChar char="⁕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页面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同时兼容移动设备和大屏幕设备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Times New Roman" panose="02020603050405020304" pitchFamily="18" charset="0"/>
              <a:buChar char="⁕"/>
            </a:pP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针对两种类型的设备，页面采用的布局不同，部分元素的呈现效果也不同</a:t>
            </a:r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B4A61B-1058-4112-A6CF-0FCCFD2C4035}"/>
              </a:ext>
            </a:extLst>
          </p:cNvPr>
          <p:cNvSpPr/>
          <p:nvPr/>
        </p:nvSpPr>
        <p:spPr>
          <a:xfrm>
            <a:off x="5459430" y="3490983"/>
            <a:ext cx="6080125" cy="197599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主要知识点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响应式设计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媒体查询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弹性布局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D214AD8-6BD1-6841-98F5-65FDDB8FF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533" y="1777286"/>
            <a:ext cx="3998306" cy="2985058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9C235F7-AFD7-4A4E-82F3-1DBC90E68186}"/>
              </a:ext>
            </a:extLst>
          </p:cNvPr>
          <p:cNvPicPr/>
          <p:nvPr/>
        </p:nvPicPr>
        <p:blipFill rotWithShape="1">
          <a:blip r:embed="rId3"/>
          <a:srcRect l="-235" r="-563"/>
          <a:stretch/>
        </p:blipFill>
        <p:spPr>
          <a:xfrm>
            <a:off x="3055789" y="2988221"/>
            <a:ext cx="2198106" cy="3146495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3958866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8-1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响应式设计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响应式设计与响应式布局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5270" y="1671838"/>
            <a:ext cx="8730275" cy="43454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响应式设计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响应式设计是一种设计概念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开发的网页能够</a:t>
            </a:r>
            <a:r>
              <a:rPr lang="zh-CN" altLang="en-US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尽可能适应不同的终端设备</a:t>
            </a:r>
            <a:endParaRPr lang="en-US" altLang="zh-CN" sz="24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响应式布局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是实现响应式设计的关键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响应式布局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响应式布局的核心是布局方式和尺寸</a:t>
            </a: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用户访问网页时通过表单可以与页面或后台</a:t>
            </a:r>
            <a:r>
              <a:rPr lang="zh-CN" altLang="zh-CN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服务器进行交互 </a:t>
            </a:r>
            <a:endParaRPr lang="en-US" altLang="zh-CN" sz="2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950BCCF-4187-4A26-A565-798879B34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261" y="1044005"/>
            <a:ext cx="3998306" cy="2985058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80C439F-251C-47D3-B822-E9DA8194E83E}"/>
              </a:ext>
            </a:extLst>
          </p:cNvPr>
          <p:cNvPicPr/>
          <p:nvPr/>
        </p:nvPicPr>
        <p:blipFill rotWithShape="1">
          <a:blip r:embed="rId3"/>
          <a:srcRect l="-235" r="-563"/>
          <a:stretch/>
        </p:blipFill>
        <p:spPr>
          <a:xfrm>
            <a:off x="9608517" y="2254940"/>
            <a:ext cx="2198106" cy="3146495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15E1486-68E3-4249-9B4F-85AE940028E3}"/>
              </a:ext>
            </a:extLst>
          </p:cNvPr>
          <p:cNvSpPr/>
          <p:nvPr/>
        </p:nvSpPr>
        <p:spPr>
          <a:xfrm>
            <a:off x="8696119" y="4079521"/>
            <a:ext cx="5806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</a:rPr>
              <a:t>图</a:t>
            </a:r>
            <a:r>
              <a:rPr lang="en-US" altLang="zh-CN" b="1" dirty="0">
                <a:solidFill>
                  <a:srgbClr val="0000FF"/>
                </a:solidFill>
              </a:rPr>
              <a:t>1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C1897B-1D5F-4FFC-B681-F0C1378FA4D9}"/>
              </a:ext>
            </a:extLst>
          </p:cNvPr>
          <p:cNvSpPr/>
          <p:nvPr/>
        </p:nvSpPr>
        <p:spPr>
          <a:xfrm>
            <a:off x="10472613" y="5432826"/>
            <a:ext cx="5806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</a:rPr>
              <a:t>图</a:t>
            </a:r>
            <a:r>
              <a:rPr lang="en-US" altLang="zh-CN" b="1" dirty="0">
                <a:solidFill>
                  <a:srgbClr val="0000FF"/>
                </a:solidFill>
              </a:rPr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8383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8-1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响应式设计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视口（</a:t>
            </a:r>
            <a:r>
              <a:rPr lang="en-US" altLang="zh-CN" sz="2800" b="1" dirty="0">
                <a:solidFill>
                  <a:srgbClr val="0000FF"/>
                </a:solidFill>
              </a:rPr>
              <a:t>Viewport</a:t>
            </a:r>
            <a:r>
              <a:rPr lang="zh-CN" altLang="en-US" sz="2800" b="1" dirty="0">
                <a:solidFill>
                  <a:srgbClr val="0000FF"/>
                </a:solidFill>
              </a:rPr>
              <a:t>）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2263" y="1693910"/>
            <a:ext cx="10976082" cy="44496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浏览器向用户提供查阅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Web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页面的一个多边形区域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通常是一个矩形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可视视口（</a:t>
            </a:r>
            <a:r>
              <a:rPr lang="en-US" altLang="zh-CN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Visual viewport</a:t>
            </a:r>
            <a:r>
              <a:rPr lang="zh-CN" altLang="en-US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endParaRPr lang="en-US" altLang="zh-CN" sz="24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zh-CN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用户可见的窗口</a:t>
            </a:r>
            <a:endParaRPr lang="en-US" altLang="zh-CN" sz="32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布局视口（</a:t>
            </a:r>
            <a:r>
              <a:rPr lang="en-US" altLang="zh-CN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Layout viewport</a:t>
            </a:r>
            <a:r>
              <a:rPr lang="zh-CN" altLang="en-US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endParaRPr lang="en-US" altLang="zh-CN" sz="24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浏览器渲染文档的视口，</a:t>
            </a:r>
            <a:r>
              <a:rPr lang="zh-CN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布局视口通常比可视视口大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无论如何缩放，布局视口不会变，但可视视口中显示的页面内容将会发生变化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zh-CN" sz="24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553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8-1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响应式设计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视口（</a:t>
            </a:r>
            <a:r>
              <a:rPr lang="en-US" altLang="zh-CN" sz="2800" b="1" dirty="0">
                <a:solidFill>
                  <a:srgbClr val="0000FF"/>
                </a:solidFill>
              </a:rPr>
              <a:t>Viewport</a:t>
            </a:r>
            <a:r>
              <a:rPr lang="zh-CN" altLang="en-US" sz="2800" b="1" dirty="0">
                <a:solidFill>
                  <a:srgbClr val="0000FF"/>
                </a:solidFill>
              </a:rPr>
              <a:t>）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2263" y="1693910"/>
            <a:ext cx="9148658" cy="11256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为了让页面能够适应多种尺寸，需要显式地声明页面的视口属性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HTML5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支持在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&lt;head&gt;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中通过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&lt;meta&gt;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标签设置视口属性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ED6ACA0-F354-4EBE-BE5A-A1980DD7C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267487"/>
              </p:ext>
            </p:extLst>
          </p:nvPr>
        </p:nvGraphicFramePr>
        <p:xfrm>
          <a:off x="767706" y="2876779"/>
          <a:ext cx="10641013" cy="53043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10641013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3043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&lt;meta name="viewport" content="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属性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1=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属性值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1,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属性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2=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属性值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2...... ,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属性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N=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属性值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N "/&gt;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46FFA88-B6B7-44E0-892B-74ECC25CA5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384188"/>
              </p:ext>
            </p:extLst>
          </p:nvPr>
        </p:nvGraphicFramePr>
        <p:xfrm>
          <a:off x="767705" y="3537047"/>
          <a:ext cx="10641013" cy="2133600"/>
        </p:xfrm>
        <a:graphic>
          <a:graphicData uri="http://schemas.openxmlformats.org/drawingml/2006/table">
            <a:tbl>
              <a:tblPr firstRow="1" firstCol="1" bandRow="1"/>
              <a:tblGrid>
                <a:gridCol w="2175023">
                  <a:extLst>
                    <a:ext uri="{9D8B030D-6E8A-4147-A177-3AD203B41FA5}">
                      <a16:colId xmlns:a16="http://schemas.microsoft.com/office/drawing/2014/main" val="3067002349"/>
                    </a:ext>
                  </a:extLst>
                </a:gridCol>
                <a:gridCol w="8465990">
                  <a:extLst>
                    <a:ext uri="{9D8B030D-6E8A-4147-A177-3AD203B41FA5}">
                      <a16:colId xmlns:a16="http://schemas.microsoft.com/office/drawing/2014/main" val="5859920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属性值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b="1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31100"/>
                  </a:ext>
                </a:extLst>
              </a:tr>
              <a:tr h="4318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width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布局视口的像素宽度，使用正整数或使用“</a:t>
                      </a:r>
                      <a:r>
                        <a:rPr lang="en-US" sz="20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device-width</a:t>
                      </a:r>
                      <a:r>
                        <a:rPr lang="zh-CN" sz="20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”代表设备宽度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616826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initial-scale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页面的初始缩放值，使用正数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21785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minimum-scale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允许用户的最小缩放值，使用正数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379547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maximum-scale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允许用户的最大缩放值，使用正数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402482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height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布局视口的像素高度，很少使用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95035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user-scalable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是否允许用户进行缩放，使用</a:t>
                      </a:r>
                      <a:r>
                        <a:rPr lang="en-US" sz="20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yes</a:t>
                      </a:r>
                      <a:r>
                        <a:rPr lang="zh-CN" sz="20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lang="en-US" sz="20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no</a:t>
                      </a:r>
                      <a:r>
                        <a:rPr lang="zh-CN" sz="20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，除有特殊需要，通常应设为</a:t>
                      </a:r>
                      <a:r>
                        <a:rPr lang="en-US" sz="20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yes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2736182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E5EDF8AA-DA6B-4148-9790-97D2608E70E9}"/>
              </a:ext>
            </a:extLst>
          </p:cNvPr>
          <p:cNvSpPr/>
          <p:nvPr/>
        </p:nvSpPr>
        <p:spPr>
          <a:xfrm>
            <a:off x="721891" y="5800477"/>
            <a:ext cx="3647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一般情况下，可以使用下面的设置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9E4EAF8-8F34-4DD3-A765-0813556473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311377"/>
              </p:ext>
            </p:extLst>
          </p:nvPr>
        </p:nvGraphicFramePr>
        <p:xfrm>
          <a:off x="778996" y="6169809"/>
          <a:ext cx="10629721" cy="472264"/>
        </p:xfrm>
        <a:graphic>
          <a:graphicData uri="http://schemas.openxmlformats.org/drawingml/2006/table">
            <a:tbl>
              <a:tblPr firstRow="1" firstCol="1" bandRow="1"/>
              <a:tblGrid>
                <a:gridCol w="10629721">
                  <a:extLst>
                    <a:ext uri="{9D8B030D-6E8A-4147-A177-3AD203B41FA5}">
                      <a16:colId xmlns:a16="http://schemas.microsoft.com/office/drawing/2014/main" val="2416674913"/>
                    </a:ext>
                  </a:extLst>
                </a:gridCol>
              </a:tblGrid>
              <a:tr h="47226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&lt;meta name="viewport" content="width=device-width, initial-scale=1"&gt;</a:t>
                      </a:r>
                      <a:endParaRPr lang="zh-CN" sz="2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709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5927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8-1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响应式设计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尺寸单位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2263" y="1693910"/>
            <a:ext cx="9299341" cy="3883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响应式页面，通常不使用绝对尺寸进行设计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%</a:t>
            </a:r>
            <a:r>
              <a:rPr lang="zh-CN" altLang="en-US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400" b="1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em</a:t>
            </a:r>
            <a:r>
              <a:rPr lang="en-US" altLang="zh-CN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传统的相对尺寸，依赖父元素的尺寸，存在一定局限性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CSS3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新增</a:t>
            </a:r>
            <a:r>
              <a:rPr lang="en-US" altLang="zh-CN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rem</a:t>
            </a:r>
            <a:r>
              <a:rPr lang="zh-CN" altLang="en-US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400" b="1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vw</a:t>
            </a:r>
            <a:r>
              <a:rPr lang="zh-CN" altLang="en-US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400" b="1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vh</a:t>
            </a:r>
            <a:r>
              <a:rPr lang="zh-CN" altLang="en-US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400" b="1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vmin</a:t>
            </a:r>
            <a:r>
              <a:rPr lang="zh-CN" altLang="en-US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400" b="1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vmax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等诸多相对尺寸单位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835025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rem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相对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html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根元素大小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lvl="1" indent="0">
              <a:lnSpc>
                <a:spcPct val="150000"/>
              </a:lnSpc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只要调整根元素尺寸就能实现全局的尺寸调整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835025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vw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vh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vmin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vmax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单位相对的对象是视口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lvl="1" indent="0">
              <a:lnSpc>
                <a:spcPct val="150000"/>
              </a:lnSpc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元素能够在不刷新页面的情况下实时的随视口大小变化而变化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9" name="云形标注 6">
            <a:extLst>
              <a:ext uri="{FF2B5EF4-FFF2-40B4-BE49-F238E27FC236}">
                <a16:creationId xmlns:a16="http://schemas.microsoft.com/office/drawing/2014/main" id="{0247DD70-FFA8-4901-87BD-23429093A3C6}"/>
              </a:ext>
            </a:extLst>
          </p:cNvPr>
          <p:cNvSpPr/>
          <p:nvPr/>
        </p:nvSpPr>
        <p:spPr>
          <a:xfrm>
            <a:off x="7822530" y="179909"/>
            <a:ext cx="3600400" cy="1800200"/>
          </a:xfrm>
          <a:prstGeom prst="cloudCallout">
            <a:avLst>
              <a:gd name="adj1" fmla="val -69269"/>
              <a:gd name="adj2" fmla="val 57602"/>
            </a:avLst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在之前的学习中，哪个长度单位使用频次最高？其特点是什么？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圆角矩形标注 2">
            <a:extLst>
              <a:ext uri="{FF2B5EF4-FFF2-40B4-BE49-F238E27FC236}">
                <a16:creationId xmlns:a16="http://schemas.microsoft.com/office/drawing/2014/main" id="{4A105FC4-7C71-4258-AA71-3387FAA4402D}"/>
              </a:ext>
            </a:extLst>
          </p:cNvPr>
          <p:cNvSpPr/>
          <p:nvPr/>
        </p:nvSpPr>
        <p:spPr>
          <a:xfrm>
            <a:off x="5441933" y="3818652"/>
            <a:ext cx="5760640" cy="2083555"/>
          </a:xfrm>
          <a:prstGeom prst="wedgeRoundRectCallout">
            <a:avLst>
              <a:gd name="adj1" fmla="val -37048"/>
              <a:gd name="adj2" fmla="val 74892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注意</a:t>
            </a:r>
            <a:endParaRPr lang="en-US" altLang="zh-CN" b="1" dirty="0">
              <a:solidFill>
                <a:srgbClr val="0000FF"/>
              </a:solidFill>
            </a:endParaRPr>
          </a:p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对于移动设备，浏览器获取的分辨率是设备汇报的逻辑分辨率，例如</a:t>
            </a:r>
            <a:r>
              <a:rPr lang="en-US" altLang="zh-CN" b="1" dirty="0">
                <a:solidFill>
                  <a:srgbClr val="0000FF"/>
                </a:solidFill>
              </a:rPr>
              <a:t>iPhone 13 Pro Max</a:t>
            </a:r>
            <a:r>
              <a:rPr lang="zh-CN" altLang="en-US" b="1" dirty="0">
                <a:solidFill>
                  <a:srgbClr val="0000FF"/>
                </a:solidFill>
              </a:rPr>
              <a:t>物理分辨率</a:t>
            </a:r>
            <a:r>
              <a:rPr lang="en-US" altLang="zh-CN" b="1" dirty="0">
                <a:solidFill>
                  <a:srgbClr val="0000FF"/>
                </a:solidFill>
              </a:rPr>
              <a:t>1284x2778</a:t>
            </a:r>
            <a:r>
              <a:rPr lang="zh-CN" altLang="en-US" b="1" dirty="0">
                <a:solidFill>
                  <a:srgbClr val="0000FF"/>
                </a:solidFill>
              </a:rPr>
              <a:t>，逻辑分辨率</a:t>
            </a:r>
            <a:r>
              <a:rPr lang="en-US" altLang="zh-CN" b="1" dirty="0">
                <a:solidFill>
                  <a:srgbClr val="0000FF"/>
                </a:solidFill>
              </a:rPr>
              <a:t>428x926</a:t>
            </a:r>
          </a:p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垂直和水平方向的物理分辨率均是逻辑分辨率的</a:t>
            </a:r>
            <a:r>
              <a:rPr lang="en-US" altLang="zh-CN" b="1" dirty="0">
                <a:solidFill>
                  <a:srgbClr val="0000FF"/>
                </a:solidFill>
              </a:rPr>
              <a:t>3</a:t>
            </a:r>
            <a:r>
              <a:rPr lang="zh-CN" altLang="en-US" b="1" dirty="0">
                <a:solidFill>
                  <a:srgbClr val="0000FF"/>
                </a:solidFill>
              </a:rPr>
              <a:t>倍</a:t>
            </a:r>
          </a:p>
        </p:txBody>
      </p:sp>
    </p:spTree>
    <p:extLst>
      <p:ext uri="{BB962C8B-B14F-4D97-AF65-F5344CB8AC3E}">
        <p14:creationId xmlns:p14="http://schemas.microsoft.com/office/powerpoint/2010/main" val="2357584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8-1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响应式设计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适合响应式设计的布局方式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2263" y="1693910"/>
            <a:ext cx="8994770" cy="49917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百分比布局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主要使用百分比单位来设置元素的大小和定位尺寸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采用普通流（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Normal Flow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）定位方案对元素进行定位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弹性盒布局（</a:t>
            </a:r>
            <a:r>
              <a:rPr lang="en-US" altLang="zh-CN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Flexible Box Layout</a:t>
            </a:r>
            <a:r>
              <a:rPr lang="zh-CN" altLang="en-US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</a:t>
            </a:r>
            <a:endParaRPr lang="en-US" altLang="zh-CN" sz="24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CSS3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中新增的布局模块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一维布局模型，容器的子元素只能按水平或垂直方向中的一种进行排列布局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网格布局（</a:t>
            </a:r>
            <a:r>
              <a:rPr lang="en-US" altLang="zh-CN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 Layout</a:t>
            </a:r>
            <a:r>
              <a:rPr lang="zh-CN" altLang="en-US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</a:t>
            </a:r>
            <a:endParaRPr lang="en-US" altLang="zh-CN" sz="24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CSS3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中新增的布局模块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二维布局模型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11" name="圆角矩形标注 2">
            <a:extLst>
              <a:ext uri="{FF2B5EF4-FFF2-40B4-BE49-F238E27FC236}">
                <a16:creationId xmlns:a16="http://schemas.microsoft.com/office/drawing/2014/main" id="{7D9F7FB6-2360-4813-8621-D2DE66AB56E8}"/>
              </a:ext>
            </a:extLst>
          </p:cNvPr>
          <p:cNvSpPr/>
          <p:nvPr/>
        </p:nvSpPr>
        <p:spPr>
          <a:xfrm>
            <a:off x="5432053" y="5580509"/>
            <a:ext cx="5760640" cy="720080"/>
          </a:xfrm>
          <a:prstGeom prst="wedgeRoundRectCallout">
            <a:avLst>
              <a:gd name="adj1" fmla="val -40450"/>
              <a:gd name="adj2" fmla="val -119799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在实际网页设计过程中，通常会结合多种布局方式。</a:t>
            </a:r>
          </a:p>
        </p:txBody>
      </p:sp>
    </p:spTree>
    <p:extLst>
      <p:ext uri="{BB962C8B-B14F-4D97-AF65-F5344CB8AC3E}">
        <p14:creationId xmlns:p14="http://schemas.microsoft.com/office/powerpoint/2010/main" val="2139962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8-2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媒体查询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525" y="257428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媒体类型（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Media Types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）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04082" y="3098300"/>
            <a:ext cx="6261651" cy="1113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实现了对不同显示媒体的分类</a:t>
            </a:r>
            <a:endParaRPr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CSS3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中仅保留了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CSS2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中定义的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3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种媒体类型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11" name="圆角矩形标注 2">
            <a:extLst>
              <a:ext uri="{FF2B5EF4-FFF2-40B4-BE49-F238E27FC236}">
                <a16:creationId xmlns:a16="http://schemas.microsoft.com/office/drawing/2014/main" id="{7D9F7FB6-2360-4813-8621-D2DE66AB56E8}"/>
              </a:ext>
            </a:extLst>
          </p:cNvPr>
          <p:cNvSpPr/>
          <p:nvPr/>
        </p:nvSpPr>
        <p:spPr>
          <a:xfrm>
            <a:off x="931553" y="1198506"/>
            <a:ext cx="10297144" cy="1113765"/>
          </a:xfrm>
          <a:prstGeom prst="wedgeRoundRectCallout">
            <a:avLst>
              <a:gd name="adj1" fmla="val -13832"/>
              <a:gd name="adj2" fmla="val -45394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媒体类型和媒体查询是实现响应式设计的重要手段。利用媒体类型和媒体查询，可以根据设备特性，加载不同的样式。媒体查询是媒体类型的增强和扩展，进一步简化了响应式设计的难度。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C029836-E926-4DAC-8818-42BF5A2593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13793"/>
              </p:ext>
            </p:extLst>
          </p:nvPr>
        </p:nvGraphicFramePr>
        <p:xfrm>
          <a:off x="1167408" y="4349657"/>
          <a:ext cx="9073008" cy="1420792"/>
        </p:xfrm>
        <a:graphic>
          <a:graphicData uri="http://schemas.openxmlformats.org/drawingml/2006/table">
            <a:tbl>
              <a:tblPr firstRow="1" firstCol="1" bandRow="1"/>
              <a:tblGrid>
                <a:gridCol w="1854523">
                  <a:extLst>
                    <a:ext uri="{9D8B030D-6E8A-4147-A177-3AD203B41FA5}">
                      <a16:colId xmlns:a16="http://schemas.microsoft.com/office/drawing/2014/main" val="3067442521"/>
                    </a:ext>
                  </a:extLst>
                </a:gridCol>
                <a:gridCol w="7218485">
                  <a:extLst>
                    <a:ext uri="{9D8B030D-6E8A-4147-A177-3AD203B41FA5}">
                      <a16:colId xmlns:a16="http://schemas.microsoft.com/office/drawing/2014/main" val="2765687949"/>
                    </a:ext>
                  </a:extLst>
                </a:gridCol>
              </a:tblGrid>
              <a:tr h="35519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媒体类型值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032099"/>
                  </a:ext>
                </a:extLst>
              </a:tr>
              <a:tr h="35519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all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匹配所有设备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565905"/>
                  </a:ext>
                </a:extLst>
              </a:tr>
              <a:tr h="35519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print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匹配打印机或者用于展示打印效果的设备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7514258"/>
                  </a:ext>
                </a:extLst>
              </a:tr>
              <a:tr h="35519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solidFill>
                            <a:schemeClr val="accent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screen</a:t>
                      </a:r>
                      <a:endParaRPr lang="zh-CN" sz="1800" b="1" kern="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匹配除打印机类型外的所有设备，可以认为就是各种尺寸的屏幕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9382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8317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8-2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媒体查询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媒体类型（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Media Types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）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2263" y="1693910"/>
            <a:ext cx="7956024" cy="1113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浏览器在应用样式时，可以根据设备匹配的媒体类型，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加载不同的样式文件，实现更好的页面布局效果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ED1A02E-04B2-46F9-A5A2-0D1E7556D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40284"/>
              </p:ext>
            </p:extLst>
          </p:nvPr>
        </p:nvGraphicFramePr>
        <p:xfrm>
          <a:off x="1513361" y="3852317"/>
          <a:ext cx="8637149" cy="53043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637149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3043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@import </a:t>
                      </a:r>
                      <a:r>
                        <a:rPr kumimoji="1" lang="en-US" altLang="zh-CN" sz="20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url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("foo.css") </a:t>
                      </a:r>
                      <a:r>
                        <a:rPr kumimoji="1" lang="en-US" altLang="zh-CN" sz="2000" b="1" kern="1200" dirty="0">
                          <a:solidFill>
                            <a:schemeClr val="accent6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screen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54C42DF0-6A59-45E7-BA9B-7532D0A89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615213"/>
              </p:ext>
            </p:extLst>
          </p:nvPr>
        </p:nvGraphicFramePr>
        <p:xfrm>
          <a:off x="1513361" y="4903898"/>
          <a:ext cx="8637149" cy="53043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637149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3043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@media </a:t>
                      </a:r>
                      <a:r>
                        <a:rPr kumimoji="1" lang="en-US" altLang="zh-CN" sz="2000" b="1" kern="1200" dirty="0">
                          <a:solidFill>
                            <a:schemeClr val="accent6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print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{  /* 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内部自定义相关样式 *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/ }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39DD2606-B7DD-49AB-8D44-BE5398180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137496"/>
              </p:ext>
            </p:extLst>
          </p:nvPr>
        </p:nvGraphicFramePr>
        <p:xfrm>
          <a:off x="1513361" y="5912693"/>
          <a:ext cx="8637149" cy="53043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637149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3043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&lt;link </a:t>
                      </a:r>
                      <a:r>
                        <a:rPr kumimoji="1" lang="en-US" altLang="zh-CN" sz="20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rel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="stylesheet" type="text/</a:t>
                      </a:r>
                      <a:r>
                        <a:rPr kumimoji="1" lang="en-US" altLang="zh-CN" sz="20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css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 media="print" </a:t>
                      </a:r>
                      <a:r>
                        <a:rPr kumimoji="1" lang="en-US" altLang="zh-CN" sz="20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href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="foo.css"&gt;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B52B59D8-7231-441C-8A5E-5B3880C838A9}"/>
              </a:ext>
            </a:extLst>
          </p:cNvPr>
          <p:cNvSpPr/>
          <p:nvPr/>
        </p:nvSpPr>
        <p:spPr>
          <a:xfrm>
            <a:off x="751533" y="5387903"/>
            <a:ext cx="7423827" cy="4818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（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3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在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HTML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文档中，在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&lt;link&gt;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外联样式表链接中添加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media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属性</a:t>
            </a:r>
            <a:endParaRPr lang="en-US" altLang="zh-CN" sz="2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F5531C3-8A93-446C-BEAF-1459D2F25D6A}"/>
              </a:ext>
            </a:extLst>
          </p:cNvPr>
          <p:cNvSpPr/>
          <p:nvPr/>
        </p:nvSpPr>
        <p:spPr>
          <a:xfrm>
            <a:off x="756921" y="3336634"/>
            <a:ext cx="7290778" cy="4818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（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在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CSS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样式中使用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@import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给选定的媒体类型指定外部样式</a:t>
            </a:r>
            <a:endParaRPr lang="en-US" altLang="zh-CN" sz="2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4633B51-739A-4B2A-87DC-69A125BD67F1}"/>
              </a:ext>
            </a:extLst>
          </p:cNvPr>
          <p:cNvSpPr/>
          <p:nvPr/>
        </p:nvSpPr>
        <p:spPr>
          <a:xfrm>
            <a:off x="751533" y="4357715"/>
            <a:ext cx="7935186" cy="4818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（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2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在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CSS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样式中使用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@media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给指定媒体类型引入对应的样式表文件</a:t>
            </a:r>
            <a:endParaRPr lang="en-US" altLang="zh-CN" sz="2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6070FC-6191-41DA-8A04-EF5FAE4F600C}"/>
              </a:ext>
            </a:extLst>
          </p:cNvPr>
          <p:cNvSpPr/>
          <p:nvPr/>
        </p:nvSpPr>
        <p:spPr>
          <a:xfrm>
            <a:off x="785036" y="2776865"/>
            <a:ext cx="3934090" cy="559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定义媒体依赖关系的方式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49299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8-2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媒体查询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媒体查询（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Media Queries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）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944663" y="3564285"/>
            <a:ext cx="5280613" cy="22217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一条媒体查询语句的构成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9525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一个可选的媒体查询修饰词</a:t>
            </a:r>
            <a:endParaRPr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9525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一个可选的媒体类型</a:t>
            </a:r>
            <a:endParaRPr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9525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零个或若干个媒体特性查询条件</a:t>
            </a:r>
            <a:endParaRPr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9654119-FDBB-4F73-95BA-FAEA55CB133A}"/>
              </a:ext>
            </a:extLst>
          </p:cNvPr>
          <p:cNvSpPr/>
          <p:nvPr/>
        </p:nvSpPr>
        <p:spPr>
          <a:xfrm>
            <a:off x="944663" y="1846310"/>
            <a:ext cx="7494359" cy="16677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媒体类型的扩展和增强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用于测试显示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Web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文档的用户代理或设备的某些特性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简化了检测难度和设置页面样式的难度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95702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8-2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媒体查询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媒体查询（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Media Queries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）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2263" y="1693910"/>
            <a:ext cx="1768433" cy="20515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语法结构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ED1A02E-04B2-46F9-A5A2-0D1E7556D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068727"/>
              </p:ext>
            </p:extLst>
          </p:nvPr>
        </p:nvGraphicFramePr>
        <p:xfrm>
          <a:off x="1255589" y="2412157"/>
          <a:ext cx="8637149" cy="53043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637149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3043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@media [only | not] [&lt;media type&gt;] [ and (&lt;media condition&gt;) ]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4" name="箭头: 上 3">
            <a:extLst>
              <a:ext uri="{FF2B5EF4-FFF2-40B4-BE49-F238E27FC236}">
                <a16:creationId xmlns:a16="http://schemas.microsoft.com/office/drawing/2014/main" id="{71785EA1-F0A2-4DF2-B91B-4F7CC1176275}"/>
              </a:ext>
            </a:extLst>
          </p:cNvPr>
          <p:cNvSpPr/>
          <p:nvPr/>
        </p:nvSpPr>
        <p:spPr>
          <a:xfrm>
            <a:off x="2767757" y="2942595"/>
            <a:ext cx="216024" cy="29091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上 8">
            <a:extLst>
              <a:ext uri="{FF2B5EF4-FFF2-40B4-BE49-F238E27FC236}">
                <a16:creationId xmlns:a16="http://schemas.microsoft.com/office/drawing/2014/main" id="{62134F1E-07F8-4358-9358-7E8EB299D39A}"/>
              </a:ext>
            </a:extLst>
          </p:cNvPr>
          <p:cNvSpPr/>
          <p:nvPr/>
        </p:nvSpPr>
        <p:spPr>
          <a:xfrm>
            <a:off x="4136704" y="2935514"/>
            <a:ext cx="216024" cy="29091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C98D44E2-E50D-4AFB-B31F-DCE449FAB1B8}"/>
              </a:ext>
            </a:extLst>
          </p:cNvPr>
          <p:cNvSpPr/>
          <p:nvPr/>
        </p:nvSpPr>
        <p:spPr>
          <a:xfrm>
            <a:off x="6368157" y="2995611"/>
            <a:ext cx="216024" cy="29091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BC9045-ECF2-4D4D-880A-2C887AEC8CD8}"/>
              </a:ext>
            </a:extLst>
          </p:cNvPr>
          <p:cNvSpPr/>
          <p:nvPr/>
        </p:nvSpPr>
        <p:spPr>
          <a:xfrm>
            <a:off x="1499792" y="3251594"/>
            <a:ext cx="2238113" cy="4428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>
              <a:lnSpc>
                <a:spcPct val="150000"/>
              </a:lnSpc>
              <a:buClr>
                <a:schemeClr val="accent6"/>
              </a:buClr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媒体查询修饰词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D4AC5C-5187-4291-B8EA-FE8B6F464E76}"/>
              </a:ext>
            </a:extLst>
          </p:cNvPr>
          <p:cNvSpPr/>
          <p:nvPr/>
        </p:nvSpPr>
        <p:spPr>
          <a:xfrm>
            <a:off x="3406376" y="3233508"/>
            <a:ext cx="1460656" cy="4428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>
              <a:lnSpc>
                <a:spcPct val="150000"/>
              </a:lnSpc>
              <a:buClr>
                <a:schemeClr val="accent6"/>
              </a:buClr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媒体类型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8B079C6-8E86-4464-A8E1-64C116A0F8E6}"/>
              </a:ext>
            </a:extLst>
          </p:cNvPr>
          <p:cNvSpPr/>
          <p:nvPr/>
        </p:nvSpPr>
        <p:spPr>
          <a:xfrm>
            <a:off x="4910484" y="3226427"/>
            <a:ext cx="4958409" cy="4428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>
              <a:lnSpc>
                <a:spcPct val="150000"/>
              </a:lnSpc>
              <a:buClr>
                <a:schemeClr val="accent6"/>
              </a:buClr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待测试媒体特性（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media features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）的集合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F9D927-928C-4B44-942A-E425C07E9A59}"/>
              </a:ext>
            </a:extLst>
          </p:cNvPr>
          <p:cNvSpPr/>
          <p:nvPr/>
        </p:nvSpPr>
        <p:spPr>
          <a:xfrm>
            <a:off x="751533" y="3336419"/>
            <a:ext cx="7071167" cy="18668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>
              <a:lnSpc>
                <a:spcPct val="150000"/>
              </a:lnSpc>
              <a:buClr>
                <a:schemeClr val="accent6"/>
              </a:buClr>
            </a:pP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9525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媒体查询修饰词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only     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让不支持媒体查询的浏览器忽略当前的媒体查询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not      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逻辑非，用来排除符合条件的设备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B1300A-DD87-4309-B914-EDA3CFEFE34F}"/>
              </a:ext>
            </a:extLst>
          </p:cNvPr>
          <p:cNvSpPr/>
          <p:nvPr/>
        </p:nvSpPr>
        <p:spPr>
          <a:xfrm>
            <a:off x="751533" y="5253172"/>
            <a:ext cx="4881465" cy="4818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8580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媒体类型 即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CSS2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中定义的媒体类型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DB0FA35-3862-4CA1-8EA7-D9E0DA32DFBE}"/>
              </a:ext>
            </a:extLst>
          </p:cNvPr>
          <p:cNvSpPr/>
          <p:nvPr/>
        </p:nvSpPr>
        <p:spPr>
          <a:xfrm>
            <a:off x="734618" y="5727677"/>
            <a:ext cx="5791970" cy="9435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8580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待测试媒体特性（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media features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）的集合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媒体特性是对媒体类别的更加细粒度的划分</a:t>
            </a:r>
            <a:endParaRPr lang="en-US" altLang="zh-CN" sz="2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09282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8-2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媒体查询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媒体查询（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Media Queries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）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2263" y="1693910"/>
            <a:ext cx="10472438" cy="4729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语法结构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68580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媒体特性（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media features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大部分特性都支持使用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min-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max-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前缀，表示小于等于、大于等于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68580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待测试的媒体特性定义方法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（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）键值对（媒体特性名称：测试值）  （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2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）仅媒体特性名称； （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3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）范围（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&gt;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=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</a:t>
            </a:r>
            <a:endParaRPr lang="en-US" altLang="zh-CN" sz="2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06BDC3C1-4067-49F5-AB26-15D2337062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796183"/>
              </p:ext>
            </p:extLst>
          </p:nvPr>
        </p:nvGraphicFramePr>
        <p:xfrm>
          <a:off x="792263" y="3276253"/>
          <a:ext cx="9680351" cy="2182148"/>
        </p:xfrm>
        <a:graphic>
          <a:graphicData uri="http://schemas.openxmlformats.org/drawingml/2006/table">
            <a:tbl>
              <a:tblPr firstRow="1" firstCol="1" bandRow="1"/>
              <a:tblGrid>
                <a:gridCol w="1785057">
                  <a:extLst>
                    <a:ext uri="{9D8B030D-6E8A-4147-A177-3AD203B41FA5}">
                      <a16:colId xmlns:a16="http://schemas.microsoft.com/office/drawing/2014/main" val="4193261484"/>
                    </a:ext>
                  </a:extLst>
                </a:gridCol>
                <a:gridCol w="311708">
                  <a:extLst>
                    <a:ext uri="{9D8B030D-6E8A-4147-A177-3AD203B41FA5}">
                      <a16:colId xmlns:a16="http://schemas.microsoft.com/office/drawing/2014/main" val="3631531235"/>
                    </a:ext>
                  </a:extLst>
                </a:gridCol>
                <a:gridCol w="7583586">
                  <a:extLst>
                    <a:ext uri="{9D8B030D-6E8A-4147-A177-3AD203B41FA5}">
                      <a16:colId xmlns:a16="http://schemas.microsoft.com/office/drawing/2014/main" val="658345589"/>
                    </a:ext>
                  </a:extLst>
                </a:gridCol>
              </a:tblGrid>
              <a:tr h="30214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特性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416718"/>
                  </a:ext>
                </a:extLst>
              </a:tr>
              <a:tr h="26857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width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输出设备的目标显示区域的宽度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8258148"/>
                  </a:ext>
                </a:extLst>
              </a:tr>
              <a:tr h="26857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height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输出设备的目标显示区域的高度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110299"/>
                  </a:ext>
                </a:extLst>
              </a:tr>
              <a:tr h="26857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aspect-ratio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输出设备目标显示区域宽度与高度的比率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2745574"/>
                  </a:ext>
                </a:extLst>
              </a:tr>
              <a:tr h="26857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orientation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屏幕方向，横屏（</a:t>
                      </a:r>
                      <a:r>
                        <a:rPr lang="en-US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landscape</a:t>
                      </a:r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）或竖屏（</a:t>
                      </a:r>
                      <a:r>
                        <a:rPr lang="en-US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portrait</a:t>
                      </a:r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），不支持</a:t>
                      </a:r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min</a:t>
                      </a:r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max</a:t>
                      </a:r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前缀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4494861"/>
                  </a:ext>
                </a:extLst>
              </a:tr>
              <a:tr h="26857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resolution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设备分辨率，使用</a:t>
                      </a:r>
                      <a:r>
                        <a:rPr lang="en-US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dpi</a:t>
                      </a:r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dpcm</a:t>
                      </a:r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或</a:t>
                      </a:r>
                      <a:r>
                        <a:rPr lang="en-US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dppx</a:t>
                      </a:r>
                      <a:r>
                        <a:rPr lang="zh-CN" sz="16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单位进行描述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671475"/>
                  </a:ext>
                </a:extLst>
              </a:tr>
              <a:tr h="26857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pointer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主要输入设备是否是指针设备，如果是，则提供设备精度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464942"/>
                  </a:ext>
                </a:extLst>
              </a:tr>
              <a:tr h="268572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hover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主要输入模式是否允许用户在元素上悬停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5382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7826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8-2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媒体查询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8-1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C848B83-6528-4828-993A-8F7BCE531A94}"/>
              </a:ext>
            </a:extLst>
          </p:cNvPr>
          <p:cNvSpPr/>
          <p:nvPr/>
        </p:nvSpPr>
        <p:spPr>
          <a:xfrm>
            <a:off x="5504061" y="1290745"/>
            <a:ext cx="6480721" cy="526297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&lt;link </a:t>
            </a:r>
            <a:r>
              <a:rPr lang="en-US" altLang="zh-CN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rel</a:t>
            </a:r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="stylesheet" type="text/</a:t>
            </a:r>
            <a:r>
              <a:rPr lang="en-US" altLang="zh-CN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css</a:t>
            </a:r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" media="print" </a:t>
            </a:r>
            <a:r>
              <a:rPr lang="en-US" altLang="zh-CN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href</a:t>
            </a:r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="ex8-1-print.css"&gt;</a:t>
            </a:r>
          </a:p>
          <a:p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&lt;style&gt;</a:t>
            </a:r>
          </a:p>
          <a:p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@import </a:t>
            </a:r>
            <a:r>
              <a:rPr lang="en-US" altLang="zh-CN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url</a:t>
            </a:r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("ex8-1-portrait.css") screen and (</a:t>
            </a:r>
            <a:r>
              <a:rPr lang="en-US" altLang="zh-CN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orientation:portrait</a:t>
            </a:r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);</a:t>
            </a:r>
          </a:p>
          <a:p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@media all and (orientation: landscape){</a:t>
            </a:r>
          </a:p>
          <a:p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.box2::after{ content: "landscape"; }</a:t>
            </a:r>
          </a:p>
          <a:p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}</a:t>
            </a:r>
          </a:p>
          <a:p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@media screen{</a:t>
            </a:r>
          </a:p>
          <a:p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.box3::after{ content: "</a:t>
            </a:r>
            <a:r>
              <a:rPr lang="zh-CN" alt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普通分辨率</a:t>
            </a:r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"; }</a:t>
            </a:r>
          </a:p>
          <a:p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.box1::after{ content: "</a:t>
            </a:r>
            <a:r>
              <a:rPr lang="zh-CN" alt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移动设备</a:t>
            </a:r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"; }</a:t>
            </a:r>
          </a:p>
          <a:p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}</a:t>
            </a:r>
          </a:p>
          <a:p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@media screen and (min-width :768px ){</a:t>
            </a:r>
          </a:p>
          <a:p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.box1::after{ content: "</a:t>
            </a:r>
            <a:r>
              <a:rPr lang="zh-CN" alt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平板或小尺寸显示器</a:t>
            </a:r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"; }</a:t>
            </a:r>
          </a:p>
          <a:p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}</a:t>
            </a:r>
          </a:p>
          <a:p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@media screen and (min-width :1024px ) {</a:t>
            </a:r>
          </a:p>
          <a:p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.box1::after{ content: "</a:t>
            </a:r>
            <a:r>
              <a:rPr lang="zh-CN" alt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大尺寸平板或显示器</a:t>
            </a:r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"; }</a:t>
            </a:r>
          </a:p>
          <a:p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}</a:t>
            </a:r>
          </a:p>
          <a:p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@media screen and (min-width :2560px ) {</a:t>
            </a:r>
          </a:p>
          <a:p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.box1::after{ content: "2K</a:t>
            </a:r>
            <a:r>
              <a:rPr lang="zh-CN" alt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以上超高清显示器</a:t>
            </a:r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"; }</a:t>
            </a:r>
          </a:p>
          <a:p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}</a:t>
            </a:r>
          </a:p>
          <a:p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@media screen and (min-resolution :2dppx){</a:t>
            </a:r>
          </a:p>
          <a:p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.box3::after{ content: "</a:t>
            </a:r>
            <a:r>
              <a:rPr lang="zh-CN" alt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视网膜分辨率</a:t>
            </a:r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"; }</a:t>
            </a:r>
          </a:p>
          <a:p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}</a:t>
            </a:r>
          </a:p>
          <a:p>
            <a:r>
              <a:rPr lang="en-US" altLang="zh-CN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&lt;/style&gt;</a:t>
            </a:r>
            <a:endParaRPr lang="zh-CN" alt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B3BB9B8-7E3E-40AD-B822-A07F837DCCE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63501" y="2124125"/>
            <a:ext cx="4680520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114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587A361A-B80D-4F58-9906-31D630D6CEB1}"/>
              </a:ext>
            </a:extLst>
          </p:cNvPr>
          <p:cNvGrpSpPr/>
          <p:nvPr/>
        </p:nvGrpSpPr>
        <p:grpSpPr>
          <a:xfrm>
            <a:off x="5360045" y="1356020"/>
            <a:ext cx="6625529" cy="3498985"/>
            <a:chOff x="5216029" y="2700188"/>
            <a:chExt cx="6625529" cy="349898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2AF09B91-03A0-49AE-A8D7-6D69A4D19DC2}"/>
                </a:ext>
              </a:extLst>
            </p:cNvPr>
            <p:cNvSpPr/>
            <p:nvPr/>
          </p:nvSpPr>
          <p:spPr>
            <a:xfrm>
              <a:off x="5216029" y="2700188"/>
              <a:ext cx="6625529" cy="3498985"/>
            </a:xfrm>
            <a:prstGeom prst="roundRect">
              <a:avLst>
                <a:gd name="adj" fmla="val 4857"/>
              </a:avLst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6F61EF3-26A3-4422-9F67-511810E3D5A0}"/>
                </a:ext>
              </a:extLst>
            </p:cNvPr>
            <p:cNvSpPr txBox="1"/>
            <p:nvPr/>
          </p:nvSpPr>
          <p:spPr>
            <a:xfrm>
              <a:off x="5360045" y="2784473"/>
              <a:ext cx="25921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+mn-ea"/>
                  <a:ea typeface="+mn-ea"/>
                </a:rPr>
                <a:t>flex container</a:t>
              </a:r>
              <a:endParaRPr lang="en-US" sz="1600" dirty="0">
                <a:latin typeface="+mn-ea"/>
                <a:ea typeface="+mn-ea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8-3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弹性布局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385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弹性布局概念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  <a:p>
            <a:pPr marL="457200" indent="-457200" algn="just" eaLnBrk="1" hangingPunct="1">
              <a:spcBef>
                <a:spcPct val="50000"/>
              </a:spcBef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chemeClr val="accent6"/>
                </a:solidFill>
                <a:latin typeface="+mn-ea"/>
                <a:ea typeface="+mn-ea"/>
              </a:rPr>
              <a:t>弹性容器</a:t>
            </a:r>
            <a:endParaRPr lang="en-US" altLang="zh-CN" sz="2400" b="1" dirty="0">
              <a:solidFill>
                <a:schemeClr val="accent6"/>
              </a:solidFill>
              <a:latin typeface="+mn-ea"/>
              <a:ea typeface="+mn-ea"/>
            </a:endParaRPr>
          </a:p>
          <a:p>
            <a:pPr marL="457200" indent="-457200" algn="just" eaLnBrk="1" hangingPunct="1">
              <a:spcBef>
                <a:spcPct val="50000"/>
              </a:spcBef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chemeClr val="accent6"/>
                </a:solidFill>
                <a:latin typeface="+mn-ea"/>
                <a:ea typeface="+mn-ea"/>
              </a:rPr>
              <a:t>弹性项目</a:t>
            </a:r>
            <a:endParaRPr lang="en-US" altLang="zh-CN" sz="2400" b="1" dirty="0">
              <a:solidFill>
                <a:schemeClr val="accent6"/>
              </a:solidFill>
              <a:latin typeface="+mn-ea"/>
              <a:ea typeface="+mn-ea"/>
            </a:endParaRPr>
          </a:p>
          <a:p>
            <a:pPr marL="457200" indent="-457200" algn="just" eaLnBrk="1" hangingPunct="1">
              <a:spcBef>
                <a:spcPct val="50000"/>
              </a:spcBef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chemeClr val="accent6"/>
                </a:solidFill>
                <a:latin typeface="+mn-ea"/>
                <a:ea typeface="+mn-ea"/>
              </a:rPr>
              <a:t>主轴、主轴起点、终点</a:t>
            </a:r>
            <a:endParaRPr lang="en-US" altLang="zh-CN" sz="2400" b="1" dirty="0">
              <a:solidFill>
                <a:schemeClr val="accent6"/>
              </a:solidFill>
              <a:latin typeface="+mn-ea"/>
              <a:ea typeface="+mn-ea"/>
            </a:endParaRPr>
          </a:p>
          <a:p>
            <a:pPr marL="457200" indent="-457200" algn="just" eaLnBrk="1" hangingPunct="1">
              <a:spcBef>
                <a:spcPct val="50000"/>
              </a:spcBef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chemeClr val="accent6"/>
                </a:solidFill>
                <a:latin typeface="+mn-ea"/>
                <a:ea typeface="+mn-ea"/>
              </a:rPr>
              <a:t>交叉轴、交叉轴起点、终点</a:t>
            </a:r>
            <a:endParaRPr lang="en-US" altLang="zh-CN" sz="2400" b="1" dirty="0">
              <a:solidFill>
                <a:schemeClr val="accent6"/>
              </a:solidFill>
              <a:latin typeface="+mn-ea"/>
              <a:ea typeface="+mn-ea"/>
            </a:endParaRPr>
          </a:p>
          <a:p>
            <a:pPr marL="457200" indent="-457200" algn="just" eaLnBrk="1" hangingPunct="1">
              <a:spcBef>
                <a:spcPct val="50000"/>
              </a:spcBef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chemeClr val="accent6"/>
                </a:solidFill>
                <a:latin typeface="+mn-ea"/>
                <a:ea typeface="+mn-ea"/>
              </a:rPr>
              <a:t>主尺寸</a:t>
            </a:r>
            <a:endParaRPr lang="en-US" altLang="zh-CN" sz="2400" b="1" dirty="0">
              <a:solidFill>
                <a:schemeClr val="accent6"/>
              </a:solidFill>
              <a:latin typeface="+mn-ea"/>
              <a:ea typeface="+mn-ea"/>
            </a:endParaRPr>
          </a:p>
          <a:p>
            <a:pPr marL="457200" indent="-457200" algn="just" eaLnBrk="1" hangingPunct="1">
              <a:spcBef>
                <a:spcPct val="50000"/>
              </a:spcBef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chemeClr val="accent6"/>
                </a:solidFill>
                <a:latin typeface="+mn-ea"/>
                <a:ea typeface="+mn-ea"/>
              </a:rPr>
              <a:t>交叉尺寸</a:t>
            </a:r>
            <a:endParaRPr lang="en-US" altLang="zh-CN" sz="2400" b="1" dirty="0">
              <a:solidFill>
                <a:schemeClr val="accent6"/>
              </a:solidFill>
              <a:latin typeface="+mn-ea"/>
              <a:ea typeface="+mn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3EA9CA6-9A38-4AFA-BF09-879D157EEC96}"/>
              </a:ext>
            </a:extLst>
          </p:cNvPr>
          <p:cNvGrpSpPr/>
          <p:nvPr/>
        </p:nvGrpSpPr>
        <p:grpSpPr>
          <a:xfrm>
            <a:off x="5611990" y="2490533"/>
            <a:ext cx="1872208" cy="1649816"/>
            <a:chOff x="5715124" y="2280604"/>
            <a:chExt cx="1872208" cy="1649816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6E10F7F1-CF9E-4B1F-A69E-970065BFEA97}"/>
                </a:ext>
              </a:extLst>
            </p:cNvPr>
            <p:cNvSpPr/>
            <p:nvPr/>
          </p:nvSpPr>
          <p:spPr>
            <a:xfrm>
              <a:off x="5715124" y="2280604"/>
              <a:ext cx="1872208" cy="1649816"/>
            </a:xfrm>
            <a:prstGeom prst="roundRect">
              <a:avLst>
                <a:gd name="adj" fmla="val 4857"/>
              </a:avLst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EDDCA79-9208-4447-A3AD-E79DEDA6C03E}"/>
                </a:ext>
              </a:extLst>
            </p:cNvPr>
            <p:cNvSpPr txBox="1"/>
            <p:nvPr/>
          </p:nvSpPr>
          <p:spPr>
            <a:xfrm>
              <a:off x="5780152" y="2391994"/>
              <a:ext cx="15241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+mn-ea"/>
                  <a:ea typeface="+mn-ea"/>
                </a:rPr>
                <a:t>flex item</a:t>
              </a:r>
              <a:endParaRPr lang="en-US" sz="1600" dirty="0">
                <a:latin typeface="+mn-ea"/>
                <a:ea typeface="+mn-ea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B5C9D2E-ACC6-4750-8F20-654FC9A6025F}"/>
              </a:ext>
            </a:extLst>
          </p:cNvPr>
          <p:cNvGrpSpPr/>
          <p:nvPr/>
        </p:nvGrpSpPr>
        <p:grpSpPr>
          <a:xfrm>
            <a:off x="7763082" y="2490533"/>
            <a:ext cx="1872208" cy="1649816"/>
            <a:chOff x="5715124" y="2280604"/>
            <a:chExt cx="1872208" cy="1649816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06376C45-73B6-48C3-A769-681665D543AA}"/>
                </a:ext>
              </a:extLst>
            </p:cNvPr>
            <p:cNvSpPr/>
            <p:nvPr/>
          </p:nvSpPr>
          <p:spPr>
            <a:xfrm>
              <a:off x="5715124" y="2280604"/>
              <a:ext cx="1872208" cy="1649816"/>
            </a:xfrm>
            <a:prstGeom prst="roundRect">
              <a:avLst>
                <a:gd name="adj" fmla="val 4857"/>
              </a:avLst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20F6A61-9764-4F9C-8744-105FA089DFD9}"/>
                </a:ext>
              </a:extLst>
            </p:cNvPr>
            <p:cNvSpPr txBox="1"/>
            <p:nvPr/>
          </p:nvSpPr>
          <p:spPr>
            <a:xfrm>
              <a:off x="5780152" y="2391994"/>
              <a:ext cx="15241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+mn-ea"/>
                  <a:ea typeface="+mn-ea"/>
                </a:rPr>
                <a:t>flex item</a:t>
              </a:r>
              <a:endParaRPr lang="en-US" sz="1600" dirty="0">
                <a:latin typeface="+mn-ea"/>
                <a:ea typeface="+mn-ea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D488A39-4FDE-400D-BC13-E734E0C5D179}"/>
              </a:ext>
            </a:extLst>
          </p:cNvPr>
          <p:cNvGrpSpPr/>
          <p:nvPr/>
        </p:nvGrpSpPr>
        <p:grpSpPr>
          <a:xfrm>
            <a:off x="9921259" y="2481037"/>
            <a:ext cx="1872208" cy="1649816"/>
            <a:chOff x="5715124" y="2280604"/>
            <a:chExt cx="1872208" cy="1649816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41609AA8-DADE-4C43-BAE9-474B8D5249F2}"/>
                </a:ext>
              </a:extLst>
            </p:cNvPr>
            <p:cNvSpPr/>
            <p:nvPr/>
          </p:nvSpPr>
          <p:spPr>
            <a:xfrm>
              <a:off x="5715124" y="2280604"/>
              <a:ext cx="1872208" cy="1649816"/>
            </a:xfrm>
            <a:prstGeom prst="roundRect">
              <a:avLst>
                <a:gd name="adj" fmla="val 4857"/>
              </a:avLst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7311013-8987-4810-9FF8-BEB0B24D7538}"/>
                </a:ext>
              </a:extLst>
            </p:cNvPr>
            <p:cNvSpPr txBox="1"/>
            <p:nvPr/>
          </p:nvSpPr>
          <p:spPr>
            <a:xfrm>
              <a:off x="5780152" y="2391994"/>
              <a:ext cx="15241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+mn-ea"/>
                  <a:ea typeface="+mn-ea"/>
                </a:rPr>
                <a:t>flex item</a:t>
              </a:r>
              <a:endParaRPr lang="en-US" sz="1600" dirty="0">
                <a:latin typeface="+mn-ea"/>
                <a:ea typeface="+mn-ea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AD2A1446-19DA-40A3-8A78-F3A4C2DB95FB}"/>
              </a:ext>
            </a:extLst>
          </p:cNvPr>
          <p:cNvGrpSpPr/>
          <p:nvPr/>
        </p:nvGrpSpPr>
        <p:grpSpPr>
          <a:xfrm>
            <a:off x="5360045" y="1818219"/>
            <a:ext cx="6625529" cy="377914"/>
            <a:chOff x="5360045" y="1818219"/>
            <a:chExt cx="6625529" cy="377914"/>
          </a:xfrm>
        </p:grpSpPr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1573DFE1-5BDF-4214-9B51-9DCF19E4FEA9}"/>
                </a:ext>
              </a:extLst>
            </p:cNvPr>
            <p:cNvCxnSpPr>
              <a:cxnSpLocks/>
            </p:cNvCxnSpPr>
            <p:nvPr/>
          </p:nvCxnSpPr>
          <p:spPr>
            <a:xfrm>
              <a:off x="5360045" y="2196133"/>
              <a:ext cx="6625529" cy="0"/>
            </a:xfrm>
            <a:prstGeom prst="straightConnector1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19366B7-1214-4D1B-A8AB-2599393B2D12}"/>
                </a:ext>
              </a:extLst>
            </p:cNvPr>
            <p:cNvSpPr txBox="1"/>
            <p:nvPr/>
          </p:nvSpPr>
          <p:spPr>
            <a:xfrm>
              <a:off x="5611990" y="1818219"/>
              <a:ext cx="15241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+mn-ea"/>
                  <a:ea typeface="+mn-ea"/>
                </a:rPr>
                <a:t>main </a:t>
              </a:r>
              <a:r>
                <a:rPr lang="en-US" altLang="zh-CN" sz="1600" dirty="0">
                  <a:latin typeface="+mn-ea"/>
                  <a:ea typeface="+mn-ea"/>
                </a:rPr>
                <a:t>axis</a:t>
              </a:r>
              <a:endParaRPr lang="en-US" sz="1600" dirty="0">
                <a:latin typeface="+mn-ea"/>
                <a:ea typeface="+mn-ea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9279F54-1488-4C9D-938E-A3978161A92C}"/>
              </a:ext>
            </a:extLst>
          </p:cNvPr>
          <p:cNvGrpSpPr/>
          <p:nvPr/>
        </p:nvGrpSpPr>
        <p:grpSpPr>
          <a:xfrm>
            <a:off x="9797051" y="1384987"/>
            <a:ext cx="1524110" cy="3470017"/>
            <a:chOff x="11985574" y="-291099"/>
            <a:chExt cx="1524110" cy="2487232"/>
          </a:xfrm>
        </p:grpSpPr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3A4897C6-E531-4D7D-9D80-3CC397785DF7}"/>
                </a:ext>
              </a:extLst>
            </p:cNvPr>
            <p:cNvCxnSpPr>
              <a:cxnSpLocks/>
              <a:stCxn id="20" idx="3"/>
            </p:cNvCxnSpPr>
            <p:nvPr/>
          </p:nvCxnSpPr>
          <p:spPr>
            <a:xfrm>
              <a:off x="11985574" y="-291099"/>
              <a:ext cx="0" cy="2487232"/>
            </a:xfrm>
            <a:prstGeom prst="straightConnector1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4F6DA44-743B-41F9-A257-71B4AA9B6160}"/>
                </a:ext>
              </a:extLst>
            </p:cNvPr>
            <p:cNvSpPr txBox="1"/>
            <p:nvPr/>
          </p:nvSpPr>
          <p:spPr>
            <a:xfrm>
              <a:off x="11985574" y="-177835"/>
              <a:ext cx="15241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+mn-ea"/>
                  <a:ea typeface="+mn-ea"/>
                </a:rPr>
                <a:t>cross axis</a:t>
              </a:r>
              <a:endParaRPr lang="en-US" sz="1600" dirty="0">
                <a:latin typeface="+mn-ea"/>
                <a:ea typeface="+mn-ea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8F870022-4D80-4515-AC72-01CC37BEECFE}"/>
              </a:ext>
            </a:extLst>
          </p:cNvPr>
          <p:cNvGrpSpPr/>
          <p:nvPr/>
        </p:nvGrpSpPr>
        <p:grpSpPr>
          <a:xfrm>
            <a:off x="7799105" y="3126606"/>
            <a:ext cx="1841862" cy="338554"/>
            <a:chOff x="5117566" y="2180328"/>
            <a:chExt cx="6868008" cy="338554"/>
          </a:xfrm>
        </p:grpSpPr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22E6F5EB-EB2C-421B-A7E0-0FCBFDF31E12}"/>
                </a:ext>
              </a:extLst>
            </p:cNvPr>
            <p:cNvCxnSpPr>
              <a:cxnSpLocks/>
              <a:stCxn id="17" idx="1"/>
            </p:cNvCxnSpPr>
            <p:nvPr/>
          </p:nvCxnSpPr>
          <p:spPr>
            <a:xfrm>
              <a:off x="5117566" y="2193183"/>
              <a:ext cx="6868008" cy="2950"/>
            </a:xfrm>
            <a:prstGeom prst="straightConnector1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C2F17A2E-E3B7-4113-997F-11105E0CF071}"/>
                </a:ext>
              </a:extLst>
            </p:cNvPr>
            <p:cNvSpPr txBox="1"/>
            <p:nvPr/>
          </p:nvSpPr>
          <p:spPr>
            <a:xfrm>
              <a:off x="6569479" y="2180328"/>
              <a:ext cx="432604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+mn-ea"/>
                  <a:ea typeface="+mn-ea"/>
                </a:rPr>
                <a:t>main </a:t>
              </a:r>
              <a:r>
                <a:rPr lang="en-US" altLang="zh-CN" sz="1600" dirty="0">
                  <a:latin typeface="+mn-ea"/>
                  <a:ea typeface="+mn-ea"/>
                </a:rPr>
                <a:t>axis</a:t>
              </a:r>
              <a:endParaRPr lang="en-US" sz="1600" dirty="0">
                <a:latin typeface="+mn-ea"/>
                <a:ea typeface="+mn-ea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39B5497-DFD6-4483-8FB3-FFBDBFB2F4BC}"/>
              </a:ext>
            </a:extLst>
          </p:cNvPr>
          <p:cNvGrpSpPr/>
          <p:nvPr/>
        </p:nvGrpSpPr>
        <p:grpSpPr>
          <a:xfrm>
            <a:off x="10272806" y="2502201"/>
            <a:ext cx="1524110" cy="1628652"/>
            <a:chOff x="12139451" y="-1724271"/>
            <a:chExt cx="1524110" cy="4621334"/>
          </a:xfrm>
        </p:grpSpPr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133EBAA0-AA70-4FE9-A89A-29BBAB66EEDA}"/>
                </a:ext>
              </a:extLst>
            </p:cNvPr>
            <p:cNvCxnSpPr>
              <a:cxnSpLocks/>
            </p:cNvCxnSpPr>
            <p:nvPr/>
          </p:nvCxnSpPr>
          <p:spPr>
            <a:xfrm>
              <a:off x="13337983" y="-1724271"/>
              <a:ext cx="0" cy="4621334"/>
            </a:xfrm>
            <a:prstGeom prst="straightConnector1">
              <a:avLst/>
            </a:prstGeom>
            <a:ln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74BE5E90-3DEA-42AA-BF25-07F64AB28E02}"/>
                </a:ext>
              </a:extLst>
            </p:cNvPr>
            <p:cNvSpPr txBox="1"/>
            <p:nvPr/>
          </p:nvSpPr>
          <p:spPr>
            <a:xfrm>
              <a:off x="12139451" y="4449"/>
              <a:ext cx="1524110" cy="338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+mn-ea"/>
                  <a:ea typeface="+mn-ea"/>
                </a:rPr>
                <a:t>cross axis</a:t>
              </a:r>
              <a:endParaRPr lang="en-US" sz="1600" dirty="0">
                <a:latin typeface="+mn-ea"/>
                <a:ea typeface="+mn-ea"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9224D837-A487-490E-9342-657E422C99C1}"/>
              </a:ext>
            </a:extLst>
          </p:cNvPr>
          <p:cNvGrpSpPr/>
          <p:nvPr/>
        </p:nvGrpSpPr>
        <p:grpSpPr>
          <a:xfrm>
            <a:off x="5386754" y="4352839"/>
            <a:ext cx="2135918" cy="338554"/>
            <a:chOff x="5371025" y="4323375"/>
            <a:chExt cx="2135918" cy="338554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BB42D8B5-1AEF-4081-8702-D5DA30597274}"/>
                </a:ext>
              </a:extLst>
            </p:cNvPr>
            <p:cNvSpPr txBox="1"/>
            <p:nvPr/>
          </p:nvSpPr>
          <p:spPr>
            <a:xfrm>
              <a:off x="5982833" y="4323375"/>
              <a:ext cx="15241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+mn-ea"/>
                  <a:ea typeface="+mn-ea"/>
                </a:rPr>
                <a:t>main </a:t>
              </a:r>
              <a:r>
                <a:rPr lang="en-US" altLang="zh-CN" sz="1600" dirty="0">
                  <a:latin typeface="+mn-ea"/>
                  <a:ea typeface="+mn-ea"/>
                </a:rPr>
                <a:t>start</a:t>
              </a:r>
              <a:endParaRPr lang="en-US" sz="1600" dirty="0">
                <a:latin typeface="+mn-ea"/>
                <a:ea typeface="+mn-ea"/>
              </a:endParaRPr>
            </a:p>
          </p:txBody>
        </p: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C8FC1CA5-B953-4585-9E3B-B3D679B303DE}"/>
                </a:ext>
              </a:extLst>
            </p:cNvPr>
            <p:cNvCxnSpPr/>
            <p:nvPr/>
          </p:nvCxnSpPr>
          <p:spPr>
            <a:xfrm flipH="1">
              <a:off x="5371025" y="4541544"/>
              <a:ext cx="61198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FB2791E6-A7FB-4601-9291-9B79C5D50E85}"/>
              </a:ext>
            </a:extLst>
          </p:cNvPr>
          <p:cNvGrpSpPr/>
          <p:nvPr/>
        </p:nvGrpSpPr>
        <p:grpSpPr>
          <a:xfrm>
            <a:off x="8296249" y="1373515"/>
            <a:ext cx="1672778" cy="535292"/>
            <a:chOff x="5983010" y="4006252"/>
            <a:chExt cx="1672778" cy="535292"/>
          </a:xfrm>
        </p:grpSpPr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A3C8A68A-911C-4048-8BA8-6FE57AE0DAD1}"/>
                </a:ext>
              </a:extLst>
            </p:cNvPr>
            <p:cNvSpPr txBox="1"/>
            <p:nvPr/>
          </p:nvSpPr>
          <p:spPr>
            <a:xfrm>
              <a:off x="6131678" y="4104621"/>
              <a:ext cx="15241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+mn-ea"/>
                  <a:ea typeface="+mn-ea"/>
                </a:rPr>
                <a:t>cross start</a:t>
              </a:r>
            </a:p>
          </p:txBody>
        </p: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01A5FD29-2322-4D63-AC00-6078D46045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83010" y="4006252"/>
              <a:ext cx="1" cy="5352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CCBC7F47-4033-4069-A2DD-27B0A2D30CEC}"/>
              </a:ext>
            </a:extLst>
          </p:cNvPr>
          <p:cNvGrpSpPr/>
          <p:nvPr/>
        </p:nvGrpSpPr>
        <p:grpSpPr>
          <a:xfrm>
            <a:off x="10272806" y="4352839"/>
            <a:ext cx="1712768" cy="338554"/>
            <a:chOff x="5218396" y="4251056"/>
            <a:chExt cx="1712768" cy="338554"/>
          </a:xfrm>
        </p:grpSpPr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A6390C84-33BC-4690-9B36-C2169C1AB1EF}"/>
                </a:ext>
              </a:extLst>
            </p:cNvPr>
            <p:cNvSpPr txBox="1"/>
            <p:nvPr/>
          </p:nvSpPr>
          <p:spPr>
            <a:xfrm>
              <a:off x="5218396" y="4251056"/>
              <a:ext cx="15241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+mn-ea"/>
                  <a:ea typeface="+mn-ea"/>
                </a:rPr>
                <a:t>main end</a:t>
              </a:r>
            </a:p>
          </p:txBody>
        </p: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97CD9ECF-2739-41BF-8211-19BA42852EBB}"/>
                </a:ext>
              </a:extLst>
            </p:cNvPr>
            <p:cNvCxnSpPr>
              <a:cxnSpLocks/>
            </p:cNvCxnSpPr>
            <p:nvPr/>
          </p:nvCxnSpPr>
          <p:spPr>
            <a:xfrm>
              <a:off x="6266751" y="4470614"/>
              <a:ext cx="6644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72594F9-23C2-4B3B-AB21-D77E9382135B}"/>
              </a:ext>
            </a:extLst>
          </p:cNvPr>
          <p:cNvGrpSpPr/>
          <p:nvPr/>
        </p:nvGrpSpPr>
        <p:grpSpPr>
          <a:xfrm>
            <a:off x="8444917" y="4399052"/>
            <a:ext cx="1575953" cy="468808"/>
            <a:chOff x="6079835" y="4077357"/>
            <a:chExt cx="1575953" cy="468808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59324A46-19D7-48C4-B473-929B1D54F9F2}"/>
                </a:ext>
              </a:extLst>
            </p:cNvPr>
            <p:cNvSpPr txBox="1"/>
            <p:nvPr/>
          </p:nvSpPr>
          <p:spPr>
            <a:xfrm>
              <a:off x="6131678" y="4104621"/>
              <a:ext cx="15241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+mn-ea"/>
                  <a:ea typeface="+mn-ea"/>
                </a:rPr>
                <a:t>cross end</a:t>
              </a:r>
            </a:p>
          </p:txBody>
        </p: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C17F7410-FE8E-44AA-8954-E200D62F88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79835" y="4077357"/>
              <a:ext cx="1" cy="4688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7800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8-3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弹性布局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117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弹性布局概念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C714C4-09CB-4AC3-BD4F-361504D220AC}"/>
              </a:ext>
            </a:extLst>
          </p:cNvPr>
          <p:cNvSpPr/>
          <p:nvPr/>
        </p:nvSpPr>
        <p:spPr>
          <a:xfrm>
            <a:off x="751533" y="1597659"/>
            <a:ext cx="1768433" cy="20515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语法结构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BEC0FAB-A07F-474B-BB26-C5E923ED8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976205"/>
              </p:ext>
            </p:extLst>
          </p:nvPr>
        </p:nvGraphicFramePr>
        <p:xfrm>
          <a:off x="1183581" y="2432921"/>
          <a:ext cx="8637149" cy="53043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637149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3043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display: flex | inline-flex;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7" name="圆角矩形标注 2">
            <a:extLst>
              <a:ext uri="{FF2B5EF4-FFF2-40B4-BE49-F238E27FC236}">
                <a16:creationId xmlns:a16="http://schemas.microsoft.com/office/drawing/2014/main" id="{3B7F8984-F94E-4B02-BFDA-B3F396DE3CD1}"/>
              </a:ext>
            </a:extLst>
          </p:cNvPr>
          <p:cNvSpPr/>
          <p:nvPr/>
        </p:nvSpPr>
        <p:spPr>
          <a:xfrm>
            <a:off x="6442705" y="1194927"/>
            <a:ext cx="5287862" cy="1176769"/>
          </a:xfrm>
          <a:prstGeom prst="wedgeRoundRectCallout">
            <a:avLst>
              <a:gd name="adj1" fmla="val -60751"/>
              <a:gd name="adj2" fmla="val 90128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将元素设置为弹性容器</a:t>
            </a:r>
            <a:endParaRPr lang="en-US" altLang="zh-CN" b="1" dirty="0">
              <a:solidFill>
                <a:srgbClr val="0000FF"/>
              </a:solidFill>
            </a:endParaRPr>
          </a:p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设为弹性布局以后，容器子元素的</a:t>
            </a:r>
            <a:r>
              <a:rPr lang="en-US" altLang="zh-CN" b="1" dirty="0">
                <a:solidFill>
                  <a:srgbClr val="0000FF"/>
                </a:solidFill>
              </a:rPr>
              <a:t>float</a:t>
            </a:r>
            <a:r>
              <a:rPr lang="zh-CN" altLang="en-US" b="1" dirty="0">
                <a:solidFill>
                  <a:srgbClr val="0000FF"/>
                </a:solidFill>
              </a:rPr>
              <a:t>、</a:t>
            </a:r>
            <a:r>
              <a:rPr lang="en-US" altLang="zh-CN" b="1" dirty="0">
                <a:solidFill>
                  <a:srgbClr val="0000FF"/>
                </a:solidFill>
              </a:rPr>
              <a:t>clear</a:t>
            </a:r>
            <a:r>
              <a:rPr lang="zh-CN" altLang="en-US" b="1" dirty="0">
                <a:solidFill>
                  <a:srgbClr val="0000FF"/>
                </a:solidFill>
              </a:rPr>
              <a:t>和</a:t>
            </a:r>
            <a:r>
              <a:rPr lang="en-US" altLang="zh-CN" b="1" dirty="0">
                <a:solidFill>
                  <a:srgbClr val="0000FF"/>
                </a:solidFill>
              </a:rPr>
              <a:t>vertical-align</a:t>
            </a:r>
            <a:r>
              <a:rPr lang="zh-CN" altLang="en-US" b="1" dirty="0">
                <a:solidFill>
                  <a:srgbClr val="0000FF"/>
                </a:solidFill>
              </a:rPr>
              <a:t>属性将完全失效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5A08F3-6873-4E33-85B7-71AA72BF1416}"/>
              </a:ext>
            </a:extLst>
          </p:cNvPr>
          <p:cNvSpPr/>
          <p:nvPr/>
        </p:nvSpPr>
        <p:spPr>
          <a:xfrm>
            <a:off x="751533" y="3145733"/>
            <a:ext cx="6080125" cy="8583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9525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flex               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块级弹性显示方式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marL="342900" indent="9525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Inline-flex        </a:t>
            </a:r>
            <a:r>
              <a:rPr lang="zh-CN" altLang="en-US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行内弹性显示方式</a:t>
            </a:r>
            <a:endParaRPr lang="en-US" altLang="zh-CN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0A4A064-DFD5-4408-8DAF-550DA73536F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422125" y="3671169"/>
            <a:ext cx="4392488" cy="2939438"/>
          </a:xfrm>
          <a:prstGeom prst="rect">
            <a:avLst/>
          </a:prstGeom>
        </p:spPr>
      </p:pic>
      <p:sp>
        <p:nvSpPr>
          <p:cNvPr id="12" name="Text Box 7">
            <a:extLst>
              <a:ext uri="{FF2B5EF4-FFF2-40B4-BE49-F238E27FC236}">
                <a16:creationId xmlns:a16="http://schemas.microsoft.com/office/drawing/2014/main" id="{7364A50C-2195-4FA1-AF93-26CD85A4A8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4344681"/>
            <a:ext cx="6104507" cy="117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8-2</a:t>
            </a:r>
          </a:p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3102051-BB69-421C-A55A-045C34584C3B}"/>
              </a:ext>
            </a:extLst>
          </p:cNvPr>
          <p:cNvSpPr/>
          <p:nvPr/>
        </p:nvSpPr>
        <p:spPr>
          <a:xfrm>
            <a:off x="319485" y="4921285"/>
            <a:ext cx="33123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.container{</a:t>
            </a:r>
          </a:p>
          <a:p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display: flex;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border:3px solid gray;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}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1B29085-6D50-42AF-B0B6-60103C1CF1B0}"/>
              </a:ext>
            </a:extLst>
          </p:cNvPr>
          <p:cNvSpPr/>
          <p:nvPr/>
        </p:nvSpPr>
        <p:spPr>
          <a:xfrm>
            <a:off x="3487837" y="5008582"/>
            <a:ext cx="537787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sz="16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&lt;div class="</a:t>
            </a:r>
            <a:r>
              <a:rPr lang="en-US" altLang="zh-CN" sz="1600" b="1" kern="1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container</a:t>
            </a:r>
            <a:r>
              <a:rPr lang="en-US" altLang="zh-CN" sz="16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"&gt;</a:t>
            </a:r>
            <a:endParaRPr lang="zh-CN" altLang="zh-CN" sz="16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6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  &lt;div class="item box1"&gt;box1&lt;/div&gt;</a:t>
            </a:r>
            <a:endParaRPr lang="zh-CN" altLang="zh-CN" sz="16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6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  &lt;div class="item box2"&gt;box2&lt;/div&gt;</a:t>
            </a:r>
            <a:endParaRPr lang="zh-CN" altLang="zh-CN" sz="16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6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  &lt;div class="item box3"&gt;box3&lt;/div&gt;</a:t>
            </a:r>
            <a:endParaRPr lang="zh-CN" altLang="zh-CN" sz="16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16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cs typeface="Times New Roman" panose="02020603050405020304" pitchFamily="18" charset="0"/>
              </a:rPr>
              <a:t>&lt;/div&gt;</a:t>
            </a:r>
            <a:endParaRPr lang="zh-CN" alt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81857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8-3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弹性布局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117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弹性布局概念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C714C4-09CB-4AC3-BD4F-361504D220AC}"/>
              </a:ext>
            </a:extLst>
          </p:cNvPr>
          <p:cNvSpPr/>
          <p:nvPr/>
        </p:nvSpPr>
        <p:spPr>
          <a:xfrm>
            <a:off x="751533" y="1597659"/>
            <a:ext cx="10369152" cy="4359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弹性布局的实现步骤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）将容器元素的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display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属性设置为弹性布局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（必要条件）</a:t>
            </a:r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）设置容器的主轴方向、排列方向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3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）设置容器的交叉轴排列方向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4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）设置容器的主轴方向对齐方式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5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）设置容器的交叉轴方向对齐方式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6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）设置单个项目在容器内的排列顺序、弹性伸缩方式、对齐方式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29012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8-3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弹性布局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设置弹性容器属性（方向相关）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C714C4-09CB-4AC3-BD4F-361504D220AC}"/>
              </a:ext>
            </a:extLst>
          </p:cNvPr>
          <p:cNvSpPr/>
          <p:nvPr/>
        </p:nvSpPr>
        <p:spPr>
          <a:xfrm>
            <a:off x="767705" y="2227755"/>
            <a:ext cx="1768433" cy="20515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语法结构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BEC0FAB-A07F-474B-BB26-C5E923ED8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631442"/>
              </p:ext>
            </p:extLst>
          </p:nvPr>
        </p:nvGraphicFramePr>
        <p:xfrm>
          <a:off x="1183581" y="2981896"/>
          <a:ext cx="8637149" cy="53043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637149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3043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flex-direction : row | row-reverse | column | column-reverse;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7" name="圆角矩形标注 2">
            <a:extLst>
              <a:ext uri="{FF2B5EF4-FFF2-40B4-BE49-F238E27FC236}">
                <a16:creationId xmlns:a16="http://schemas.microsoft.com/office/drawing/2014/main" id="{3B7F8984-F94E-4B02-BFDA-B3F396DE3CD1}"/>
              </a:ext>
            </a:extLst>
          </p:cNvPr>
          <p:cNvSpPr/>
          <p:nvPr/>
        </p:nvSpPr>
        <p:spPr>
          <a:xfrm>
            <a:off x="7304261" y="1744635"/>
            <a:ext cx="4426306" cy="627061"/>
          </a:xfrm>
          <a:prstGeom prst="wedgeRoundRectCallout">
            <a:avLst>
              <a:gd name="adj1" fmla="val -42425"/>
              <a:gd name="adj2" fmla="val 171372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定义主轴的方向，切换弹性项目排列方向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2070A1-E81C-427D-812C-83E266E459CD}"/>
              </a:ext>
            </a:extLst>
          </p:cNvPr>
          <p:cNvSpPr/>
          <p:nvPr/>
        </p:nvSpPr>
        <p:spPr>
          <a:xfrm>
            <a:off x="684164" y="1733209"/>
            <a:ext cx="31357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6"/>
                </a:solidFill>
                <a:latin typeface="+mn-ea"/>
                <a:ea typeface="+mn-ea"/>
              </a:rPr>
              <a:t> flex-direction</a:t>
            </a:r>
            <a:r>
              <a:rPr lang="zh-CN" altLang="en-US" sz="2400" b="1" dirty="0">
                <a:solidFill>
                  <a:schemeClr val="accent6"/>
                </a:solidFill>
                <a:latin typeface="+mn-ea"/>
                <a:ea typeface="+mn-ea"/>
              </a:rPr>
              <a:t>属性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200D61A-05EC-4798-881B-52C1746CCC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739052"/>
              </p:ext>
            </p:extLst>
          </p:nvPr>
        </p:nvGraphicFramePr>
        <p:xfrm>
          <a:off x="1183581" y="3803247"/>
          <a:ext cx="6984775" cy="1371600"/>
        </p:xfrm>
        <a:graphic>
          <a:graphicData uri="http://schemas.openxmlformats.org/drawingml/2006/table">
            <a:tbl>
              <a:tblPr firstRow="1" firstCol="1" bandRow="1"/>
              <a:tblGrid>
                <a:gridCol w="1800200">
                  <a:extLst>
                    <a:ext uri="{9D8B030D-6E8A-4147-A177-3AD203B41FA5}">
                      <a16:colId xmlns:a16="http://schemas.microsoft.com/office/drawing/2014/main" val="4270488492"/>
                    </a:ext>
                  </a:extLst>
                </a:gridCol>
                <a:gridCol w="5184575">
                  <a:extLst>
                    <a:ext uri="{9D8B030D-6E8A-4147-A177-3AD203B41FA5}">
                      <a16:colId xmlns:a16="http://schemas.microsoft.com/office/drawing/2014/main" val="3047240629"/>
                    </a:ext>
                  </a:extLst>
                </a:gridCol>
              </a:tblGrid>
              <a:tr h="17970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属性值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211593"/>
                  </a:ext>
                </a:extLst>
              </a:tr>
              <a:tr h="20764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row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主轴为水平方向，主轴起点在左侧，默认值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545544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row-reverse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主轴为水平方向，主轴起点在右侧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1165691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column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主轴为垂直方向，主轴起点在顶部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3962443"/>
                  </a:ext>
                </a:extLst>
              </a:tr>
              <a:tr h="12001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column-reverse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主轴为垂直方向，主轴起点在底部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331255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9CFE821C-7671-4621-8EE0-E6197BF7D420}"/>
              </a:ext>
            </a:extLst>
          </p:cNvPr>
          <p:cNvSpPr/>
          <p:nvPr/>
        </p:nvSpPr>
        <p:spPr>
          <a:xfrm>
            <a:off x="1" y="1"/>
            <a:ext cx="12160249" cy="684053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950FB89-5310-4610-8F84-AC535D506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965" y="1665691"/>
            <a:ext cx="8354950" cy="433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36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8-3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弹性布局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设置弹性容器属性（方向相关）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C714C4-09CB-4AC3-BD4F-361504D220AC}"/>
              </a:ext>
            </a:extLst>
          </p:cNvPr>
          <p:cNvSpPr/>
          <p:nvPr/>
        </p:nvSpPr>
        <p:spPr>
          <a:xfrm>
            <a:off x="767705" y="2227755"/>
            <a:ext cx="1768433" cy="20515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语法结构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BEC0FAB-A07F-474B-BB26-C5E923ED8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256918"/>
              </p:ext>
            </p:extLst>
          </p:nvPr>
        </p:nvGraphicFramePr>
        <p:xfrm>
          <a:off x="1183581" y="2981896"/>
          <a:ext cx="8637149" cy="53043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637149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3043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flex-wrap : </a:t>
                      </a:r>
                      <a:r>
                        <a:rPr kumimoji="1" lang="en-US" altLang="zh-CN" sz="20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nowrap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| wrap | wrap-reverse;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7" name="圆角矩形标注 2">
            <a:extLst>
              <a:ext uri="{FF2B5EF4-FFF2-40B4-BE49-F238E27FC236}">
                <a16:creationId xmlns:a16="http://schemas.microsoft.com/office/drawing/2014/main" id="{3B7F8984-F94E-4B02-BFDA-B3F396DE3CD1}"/>
              </a:ext>
            </a:extLst>
          </p:cNvPr>
          <p:cNvSpPr/>
          <p:nvPr/>
        </p:nvSpPr>
        <p:spPr>
          <a:xfrm>
            <a:off x="7304261" y="1548061"/>
            <a:ext cx="4426306" cy="823635"/>
          </a:xfrm>
          <a:prstGeom prst="wedgeRoundRectCallout">
            <a:avLst>
              <a:gd name="adj1" fmla="val -42425"/>
              <a:gd name="adj2" fmla="val 171372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控制弹性项目以单行或多行方式显示，以及交叉轴的方向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2070A1-E81C-427D-812C-83E266E459CD}"/>
              </a:ext>
            </a:extLst>
          </p:cNvPr>
          <p:cNvSpPr/>
          <p:nvPr/>
        </p:nvSpPr>
        <p:spPr>
          <a:xfrm>
            <a:off x="684164" y="1733209"/>
            <a:ext cx="23583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6"/>
                </a:solidFill>
                <a:latin typeface="+mn-ea"/>
                <a:ea typeface="+mn-ea"/>
              </a:rPr>
              <a:t> flex-wrap</a:t>
            </a:r>
            <a:r>
              <a:rPr lang="zh-CN" altLang="en-US" sz="2400" b="1" dirty="0">
                <a:solidFill>
                  <a:schemeClr val="accent6"/>
                </a:solidFill>
                <a:latin typeface="+mn-ea"/>
                <a:ea typeface="+mn-ea"/>
              </a:rPr>
              <a:t>属性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200D61A-05EC-4798-881B-52C1746CCC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38975"/>
              </p:ext>
            </p:extLst>
          </p:nvPr>
        </p:nvGraphicFramePr>
        <p:xfrm>
          <a:off x="1183581" y="3803247"/>
          <a:ext cx="6984775" cy="1263054"/>
        </p:xfrm>
        <a:graphic>
          <a:graphicData uri="http://schemas.openxmlformats.org/drawingml/2006/table">
            <a:tbl>
              <a:tblPr firstRow="1" firstCol="1" bandRow="1"/>
              <a:tblGrid>
                <a:gridCol w="1728192">
                  <a:extLst>
                    <a:ext uri="{9D8B030D-6E8A-4147-A177-3AD203B41FA5}">
                      <a16:colId xmlns:a16="http://schemas.microsoft.com/office/drawing/2014/main" val="4270488492"/>
                    </a:ext>
                  </a:extLst>
                </a:gridCol>
                <a:gridCol w="5256583">
                  <a:extLst>
                    <a:ext uri="{9D8B030D-6E8A-4147-A177-3AD203B41FA5}">
                      <a16:colId xmlns:a16="http://schemas.microsoft.com/office/drawing/2014/main" val="3047240629"/>
                    </a:ext>
                  </a:extLst>
                </a:gridCol>
              </a:tblGrid>
              <a:tr h="34446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属性值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211593"/>
                  </a:ext>
                </a:extLst>
              </a:tr>
              <a:tr h="30619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nowrap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单行模式，弹性项目可能溢出容器，默认值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5455442"/>
                  </a:ext>
                </a:extLst>
              </a:tr>
              <a:tr h="30619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wrap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多行模式，沿交叉轴换行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1165691"/>
                  </a:ext>
                </a:extLst>
              </a:tr>
              <a:tr h="30619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wrap-reverse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多行模式，与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wrap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相似，但交叉轴起点和终点与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wrap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相反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3962443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B3679E9F-2326-4AD8-90D1-DA833C36A13E}"/>
              </a:ext>
            </a:extLst>
          </p:cNvPr>
          <p:cNvSpPr/>
          <p:nvPr/>
        </p:nvSpPr>
        <p:spPr>
          <a:xfrm>
            <a:off x="1" y="1"/>
            <a:ext cx="12160249" cy="684053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2F2FF05-F7ED-4446-A7AD-210AC910E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613" y="1875061"/>
            <a:ext cx="9664920" cy="332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567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8-3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弹性布局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设置弹性容器属性（方向相关）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C714C4-09CB-4AC3-BD4F-361504D220AC}"/>
              </a:ext>
            </a:extLst>
          </p:cNvPr>
          <p:cNvSpPr/>
          <p:nvPr/>
        </p:nvSpPr>
        <p:spPr>
          <a:xfrm>
            <a:off x="767705" y="2227755"/>
            <a:ext cx="1768433" cy="20515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语法结构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BEC0FAB-A07F-474B-BB26-C5E923ED8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064655"/>
              </p:ext>
            </p:extLst>
          </p:nvPr>
        </p:nvGraphicFramePr>
        <p:xfrm>
          <a:off x="1183581" y="2981896"/>
          <a:ext cx="8637149" cy="53043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637149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3043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flex-flow :  &lt;flex-direction&gt; || &lt;flex-wrap&gt;;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D72070A1-E81C-427D-812C-83E266E459CD}"/>
              </a:ext>
            </a:extLst>
          </p:cNvPr>
          <p:cNvSpPr/>
          <p:nvPr/>
        </p:nvSpPr>
        <p:spPr>
          <a:xfrm>
            <a:off x="684164" y="1733209"/>
            <a:ext cx="29770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6"/>
                </a:solidFill>
                <a:latin typeface="+mn-ea"/>
                <a:ea typeface="+mn-ea"/>
              </a:rPr>
              <a:t> flex-flow</a:t>
            </a:r>
            <a:r>
              <a:rPr lang="zh-CN" altLang="en-US" sz="2400" b="1" dirty="0">
                <a:solidFill>
                  <a:schemeClr val="accent6"/>
                </a:solidFill>
                <a:latin typeface="+mn-ea"/>
                <a:ea typeface="+mn-ea"/>
              </a:rPr>
              <a:t>简写属性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FF4E1D5-8885-4CC6-A855-C404AECD90AA}"/>
              </a:ext>
            </a:extLst>
          </p:cNvPr>
          <p:cNvSpPr/>
          <p:nvPr/>
        </p:nvSpPr>
        <p:spPr>
          <a:xfrm>
            <a:off x="967557" y="3955304"/>
            <a:ext cx="27382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</a:rPr>
              <a:t>例：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</a:rPr>
              <a:t>flex-flow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</a:rPr>
              <a:t>column wrap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942770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8-3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弹性布局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设置弹性容器属性（对齐相关）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C714C4-09CB-4AC3-BD4F-361504D220AC}"/>
              </a:ext>
            </a:extLst>
          </p:cNvPr>
          <p:cNvSpPr/>
          <p:nvPr/>
        </p:nvSpPr>
        <p:spPr>
          <a:xfrm>
            <a:off x="767705" y="2227755"/>
            <a:ext cx="1768433" cy="20515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语法结构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BEC0FAB-A07F-474B-BB26-C5E923ED8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296167"/>
              </p:ext>
            </p:extLst>
          </p:nvPr>
        </p:nvGraphicFramePr>
        <p:xfrm>
          <a:off x="1183581" y="2981896"/>
          <a:ext cx="8637149" cy="53043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637149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3043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justify-content : flex-start | flex-end | center | space-between | space-around;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7" name="圆角矩形标注 2">
            <a:extLst>
              <a:ext uri="{FF2B5EF4-FFF2-40B4-BE49-F238E27FC236}">
                <a16:creationId xmlns:a16="http://schemas.microsoft.com/office/drawing/2014/main" id="{3B7F8984-F94E-4B02-BFDA-B3F396DE3CD1}"/>
              </a:ext>
            </a:extLst>
          </p:cNvPr>
          <p:cNvSpPr/>
          <p:nvPr/>
        </p:nvSpPr>
        <p:spPr>
          <a:xfrm>
            <a:off x="7304261" y="1548061"/>
            <a:ext cx="4426306" cy="823635"/>
          </a:xfrm>
          <a:prstGeom prst="wedgeRoundRectCallout">
            <a:avLst>
              <a:gd name="adj1" fmla="val -43901"/>
              <a:gd name="adj2" fmla="val 142824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自定义弹性项目主轴方向上的对齐方式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2070A1-E81C-427D-812C-83E266E459CD}"/>
              </a:ext>
            </a:extLst>
          </p:cNvPr>
          <p:cNvSpPr/>
          <p:nvPr/>
        </p:nvSpPr>
        <p:spPr>
          <a:xfrm>
            <a:off x="684164" y="1733209"/>
            <a:ext cx="32912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6"/>
                </a:solidFill>
                <a:latin typeface="+mn-ea"/>
                <a:ea typeface="+mn-ea"/>
              </a:rPr>
              <a:t> justify-content</a:t>
            </a:r>
            <a:r>
              <a:rPr lang="zh-CN" altLang="en-US" sz="2400" b="1" dirty="0">
                <a:solidFill>
                  <a:schemeClr val="accent6"/>
                </a:solidFill>
                <a:latin typeface="+mn-ea"/>
                <a:ea typeface="+mn-ea"/>
              </a:rPr>
              <a:t>属性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286EF87-38C6-40B9-AB11-839370F3E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245683"/>
              </p:ext>
            </p:extLst>
          </p:nvPr>
        </p:nvGraphicFramePr>
        <p:xfrm>
          <a:off x="1183582" y="3902689"/>
          <a:ext cx="8712967" cy="2261462"/>
        </p:xfrm>
        <a:graphic>
          <a:graphicData uri="http://schemas.openxmlformats.org/drawingml/2006/table">
            <a:tbl>
              <a:tblPr firstRow="1" firstCol="1" bandRow="1"/>
              <a:tblGrid>
                <a:gridCol w="1650182">
                  <a:extLst>
                    <a:ext uri="{9D8B030D-6E8A-4147-A177-3AD203B41FA5}">
                      <a16:colId xmlns:a16="http://schemas.microsoft.com/office/drawing/2014/main" val="2812158612"/>
                    </a:ext>
                  </a:extLst>
                </a:gridCol>
                <a:gridCol w="7062785">
                  <a:extLst>
                    <a:ext uri="{9D8B030D-6E8A-4147-A177-3AD203B41FA5}">
                      <a16:colId xmlns:a16="http://schemas.microsoft.com/office/drawing/2014/main" val="1227801922"/>
                    </a:ext>
                  </a:extLst>
                </a:gridCol>
              </a:tblGrid>
              <a:tr h="3230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属性值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681398"/>
                  </a:ext>
                </a:extLst>
              </a:tr>
              <a:tr h="3230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flex-start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所有弹性项目朝主轴起点对齐，默认值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8279012"/>
                  </a:ext>
                </a:extLst>
              </a:tr>
              <a:tr h="3230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flex-end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所有弹性项目朝主轴终点对齐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842579"/>
                  </a:ext>
                </a:extLst>
              </a:tr>
              <a:tr h="3230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center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所有弹性项目居中对齐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461956"/>
                  </a:ext>
                </a:extLst>
              </a:tr>
              <a:tr h="3230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space-between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两端对齐，弹性项目之间的间隔都相等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069627"/>
                  </a:ext>
                </a:extLst>
              </a:tr>
              <a:tr h="3230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space-around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每个弹性项目两侧的间隔相等，项目间距离是容器与项目间的</a:t>
                      </a:r>
                      <a:r>
                        <a:rPr lang="en-US" sz="18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18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倍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4553102"/>
                  </a:ext>
                </a:extLst>
              </a:tr>
              <a:tr h="3230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space-around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平均分配项目间隔相等，项目间距离和容器与项目间距离相等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3558884"/>
                  </a:ext>
                </a:extLst>
              </a:tr>
            </a:tbl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F5754C0B-2A0D-4F5B-925B-E40D8C7225BF}"/>
              </a:ext>
            </a:extLst>
          </p:cNvPr>
          <p:cNvSpPr/>
          <p:nvPr/>
        </p:nvSpPr>
        <p:spPr>
          <a:xfrm>
            <a:off x="1" y="1"/>
            <a:ext cx="12160249" cy="684053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AA1EDDB-2901-46B4-9D21-7F43A3CB5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510" y="2369412"/>
            <a:ext cx="7471667" cy="347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24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8-3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弹性布局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设置弹性容器属性（对齐相关）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C714C4-09CB-4AC3-BD4F-361504D220AC}"/>
              </a:ext>
            </a:extLst>
          </p:cNvPr>
          <p:cNvSpPr/>
          <p:nvPr/>
        </p:nvSpPr>
        <p:spPr>
          <a:xfrm>
            <a:off x="767705" y="2227755"/>
            <a:ext cx="1768433" cy="20515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语法结构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BEC0FAB-A07F-474B-BB26-C5E923ED8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66783"/>
              </p:ext>
            </p:extLst>
          </p:nvPr>
        </p:nvGraphicFramePr>
        <p:xfrm>
          <a:off x="1183581" y="2981896"/>
          <a:ext cx="9793088" cy="53043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9793088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3043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align-content : flex-start | flex-end | center | space-between | space-around | stretch;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7" name="圆角矩形标注 2">
            <a:extLst>
              <a:ext uri="{FF2B5EF4-FFF2-40B4-BE49-F238E27FC236}">
                <a16:creationId xmlns:a16="http://schemas.microsoft.com/office/drawing/2014/main" id="{3B7F8984-F94E-4B02-BFDA-B3F396DE3CD1}"/>
              </a:ext>
            </a:extLst>
          </p:cNvPr>
          <p:cNvSpPr/>
          <p:nvPr/>
        </p:nvSpPr>
        <p:spPr>
          <a:xfrm>
            <a:off x="7304261" y="878979"/>
            <a:ext cx="4320480" cy="1492718"/>
          </a:xfrm>
          <a:prstGeom prst="wedgeRoundRectCallout">
            <a:avLst>
              <a:gd name="adj1" fmla="val 846"/>
              <a:gd name="adj2" fmla="val 99068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自定义多行弹性项目时各行在交叉轴方向上的对齐方式，需要</a:t>
            </a:r>
            <a:r>
              <a:rPr lang="en-US" altLang="zh-CN" b="1" dirty="0">
                <a:solidFill>
                  <a:srgbClr val="0000FF"/>
                </a:solidFill>
              </a:rPr>
              <a:t>flex-warp</a:t>
            </a:r>
            <a:r>
              <a:rPr lang="zh-CN" altLang="en-US" b="1" dirty="0">
                <a:solidFill>
                  <a:srgbClr val="0000FF"/>
                </a:solidFill>
              </a:rPr>
              <a:t>属性设置为</a:t>
            </a:r>
            <a:r>
              <a:rPr lang="en-US" altLang="zh-CN" b="1" dirty="0">
                <a:solidFill>
                  <a:srgbClr val="0000FF"/>
                </a:solidFill>
              </a:rPr>
              <a:t>wrap</a:t>
            </a:r>
            <a:r>
              <a:rPr lang="zh-CN" altLang="en-US" b="1" dirty="0">
                <a:solidFill>
                  <a:srgbClr val="0000FF"/>
                </a:solidFill>
              </a:rPr>
              <a:t>或</a:t>
            </a:r>
            <a:r>
              <a:rPr lang="en-US" altLang="zh-CN" b="1" dirty="0">
                <a:solidFill>
                  <a:srgbClr val="0000FF"/>
                </a:solidFill>
              </a:rPr>
              <a:t>wrap-reverse</a:t>
            </a:r>
            <a:r>
              <a:rPr lang="zh-CN" altLang="en-US" b="1" dirty="0">
                <a:solidFill>
                  <a:srgbClr val="0000FF"/>
                </a:solidFill>
              </a:rPr>
              <a:t>时才有效，</a:t>
            </a:r>
            <a:r>
              <a:rPr lang="en-US" altLang="zh-CN" b="1" dirty="0" err="1">
                <a:solidFill>
                  <a:srgbClr val="0000FF"/>
                </a:solidFill>
              </a:rPr>
              <a:t>nowrap</a:t>
            </a:r>
            <a:r>
              <a:rPr lang="zh-CN" altLang="en-US" b="1" dirty="0">
                <a:solidFill>
                  <a:srgbClr val="0000FF"/>
                </a:solidFill>
              </a:rPr>
              <a:t>时无效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2070A1-E81C-427D-812C-83E266E459CD}"/>
              </a:ext>
            </a:extLst>
          </p:cNvPr>
          <p:cNvSpPr/>
          <p:nvPr/>
        </p:nvSpPr>
        <p:spPr>
          <a:xfrm>
            <a:off x="684164" y="1733209"/>
            <a:ext cx="29803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6"/>
                </a:solidFill>
                <a:latin typeface="+mn-ea"/>
                <a:ea typeface="+mn-ea"/>
              </a:rPr>
              <a:t> align-content</a:t>
            </a:r>
            <a:r>
              <a:rPr lang="zh-CN" altLang="en-US" sz="2400" b="1" dirty="0">
                <a:solidFill>
                  <a:schemeClr val="accent6"/>
                </a:solidFill>
                <a:latin typeface="+mn-ea"/>
                <a:ea typeface="+mn-ea"/>
              </a:rPr>
              <a:t>属性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08FD604-7BEC-4562-8439-C0B115B5B0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149897"/>
              </p:ext>
            </p:extLst>
          </p:nvPr>
        </p:nvGraphicFramePr>
        <p:xfrm>
          <a:off x="751532" y="3761297"/>
          <a:ext cx="10225137" cy="2562584"/>
        </p:xfrm>
        <a:graphic>
          <a:graphicData uri="http://schemas.openxmlformats.org/drawingml/2006/table">
            <a:tbl>
              <a:tblPr firstRow="1" firstCol="1" bandRow="1"/>
              <a:tblGrid>
                <a:gridCol w="2265890">
                  <a:extLst>
                    <a:ext uri="{9D8B030D-6E8A-4147-A177-3AD203B41FA5}">
                      <a16:colId xmlns:a16="http://schemas.microsoft.com/office/drawing/2014/main" val="3671760829"/>
                    </a:ext>
                  </a:extLst>
                </a:gridCol>
                <a:gridCol w="7959247">
                  <a:extLst>
                    <a:ext uri="{9D8B030D-6E8A-4147-A177-3AD203B41FA5}">
                      <a16:colId xmlns:a16="http://schemas.microsoft.com/office/drawing/2014/main" val="1188780837"/>
                    </a:ext>
                  </a:extLst>
                </a:gridCol>
              </a:tblGrid>
              <a:tr h="32032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属性值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52181"/>
                  </a:ext>
                </a:extLst>
              </a:tr>
              <a:tr h="32032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flex-start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所有弹性项目朝交叉轴起点对齐，默认值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984400"/>
                  </a:ext>
                </a:extLst>
              </a:tr>
              <a:tr h="32032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flex-end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所有弹性项目朝交叉轴终点对齐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4652200"/>
                  </a:ext>
                </a:extLst>
              </a:tr>
              <a:tr h="32032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center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所有弹性项目居中对齐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593037"/>
                  </a:ext>
                </a:extLst>
              </a:tr>
              <a:tr h="32032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space-between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两端对齐，弹性项目之间的间隔都相等。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8776549"/>
                  </a:ext>
                </a:extLst>
              </a:tr>
              <a:tr h="32032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space-around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每个弹性项目两侧的间隔相等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0676145"/>
                  </a:ext>
                </a:extLst>
              </a:tr>
              <a:tr h="32032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space-evenly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平均分布项目，项目间、第一个项目与起点、最后一个项目与终点距离相等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540761"/>
                  </a:ext>
                </a:extLst>
              </a:tr>
              <a:tr h="32032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stretch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占满整个交叉轴，默认值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3138883"/>
                  </a:ext>
                </a:extLst>
              </a:tr>
            </a:tbl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157A1963-0F66-4007-842A-2827BB1DA444}"/>
              </a:ext>
            </a:extLst>
          </p:cNvPr>
          <p:cNvSpPr/>
          <p:nvPr/>
        </p:nvSpPr>
        <p:spPr>
          <a:xfrm>
            <a:off x="1" y="1"/>
            <a:ext cx="12160249" cy="684053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DFD88E9-6233-410C-8CD4-851BABE27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553" y="1893616"/>
            <a:ext cx="8392874" cy="366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209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8-3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弹性布局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设置弹性容器属性（对齐相关）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C714C4-09CB-4AC3-BD4F-361504D220AC}"/>
              </a:ext>
            </a:extLst>
          </p:cNvPr>
          <p:cNvSpPr/>
          <p:nvPr/>
        </p:nvSpPr>
        <p:spPr>
          <a:xfrm>
            <a:off x="767705" y="2227755"/>
            <a:ext cx="1768433" cy="20515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语法结构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BEC0FAB-A07F-474B-BB26-C5E923ED8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774750"/>
              </p:ext>
            </p:extLst>
          </p:nvPr>
        </p:nvGraphicFramePr>
        <p:xfrm>
          <a:off x="1183581" y="2981896"/>
          <a:ext cx="8540316" cy="53043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54031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3043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align-items : flex-start | flex-end | center | baseline | stretch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7" name="圆角矩形标注 2">
            <a:extLst>
              <a:ext uri="{FF2B5EF4-FFF2-40B4-BE49-F238E27FC236}">
                <a16:creationId xmlns:a16="http://schemas.microsoft.com/office/drawing/2014/main" id="{3B7F8984-F94E-4B02-BFDA-B3F396DE3CD1}"/>
              </a:ext>
            </a:extLst>
          </p:cNvPr>
          <p:cNvSpPr/>
          <p:nvPr/>
        </p:nvSpPr>
        <p:spPr>
          <a:xfrm>
            <a:off x="7376269" y="1435110"/>
            <a:ext cx="4680520" cy="752159"/>
          </a:xfrm>
          <a:prstGeom prst="wedgeRoundRectCallout">
            <a:avLst>
              <a:gd name="adj1" fmla="val -38654"/>
              <a:gd name="adj2" fmla="val 173746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自定义弹性项目在交叉轴方向上的对齐方式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2070A1-E81C-427D-812C-83E266E459CD}"/>
              </a:ext>
            </a:extLst>
          </p:cNvPr>
          <p:cNvSpPr/>
          <p:nvPr/>
        </p:nvSpPr>
        <p:spPr>
          <a:xfrm>
            <a:off x="684164" y="1733209"/>
            <a:ext cx="26693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6"/>
                </a:solidFill>
                <a:latin typeface="+mn-ea"/>
                <a:ea typeface="+mn-ea"/>
              </a:rPr>
              <a:t> align-items</a:t>
            </a:r>
            <a:r>
              <a:rPr lang="zh-CN" altLang="en-US" sz="2400" b="1" dirty="0">
                <a:solidFill>
                  <a:schemeClr val="accent6"/>
                </a:solidFill>
                <a:latin typeface="+mn-ea"/>
                <a:ea typeface="+mn-ea"/>
              </a:rPr>
              <a:t>属性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08FD604-7BEC-4562-8439-C0B115B5B0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300615"/>
              </p:ext>
            </p:extLst>
          </p:nvPr>
        </p:nvGraphicFramePr>
        <p:xfrm>
          <a:off x="866912" y="3748709"/>
          <a:ext cx="8856985" cy="1921938"/>
        </p:xfrm>
        <a:graphic>
          <a:graphicData uri="http://schemas.openxmlformats.org/drawingml/2006/table">
            <a:tbl>
              <a:tblPr firstRow="1" firstCol="1" bandRow="1"/>
              <a:tblGrid>
                <a:gridCol w="1543263">
                  <a:extLst>
                    <a:ext uri="{9D8B030D-6E8A-4147-A177-3AD203B41FA5}">
                      <a16:colId xmlns:a16="http://schemas.microsoft.com/office/drawing/2014/main" val="3671760829"/>
                    </a:ext>
                  </a:extLst>
                </a:gridCol>
                <a:gridCol w="7313722">
                  <a:extLst>
                    <a:ext uri="{9D8B030D-6E8A-4147-A177-3AD203B41FA5}">
                      <a16:colId xmlns:a16="http://schemas.microsoft.com/office/drawing/2014/main" val="1188780837"/>
                    </a:ext>
                  </a:extLst>
                </a:gridCol>
              </a:tblGrid>
              <a:tr h="32032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属性值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52181"/>
                  </a:ext>
                </a:extLst>
              </a:tr>
              <a:tr h="32032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flex-start</a:t>
                      </a:r>
                      <a:endParaRPr lang="zh-CN" sz="2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所有弹性项目朝交叉轴起点对齐</a:t>
                      </a:r>
                      <a:endParaRPr lang="zh-CN" sz="2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984400"/>
                  </a:ext>
                </a:extLst>
              </a:tr>
              <a:tr h="32032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flex-end</a:t>
                      </a:r>
                      <a:endParaRPr lang="zh-CN" sz="2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所有弹性项目朝交叉轴终点对齐</a:t>
                      </a:r>
                      <a:endParaRPr lang="zh-CN" sz="2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4652200"/>
                  </a:ext>
                </a:extLst>
              </a:tr>
              <a:tr h="32032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center</a:t>
                      </a:r>
                      <a:endParaRPr lang="zh-CN" sz="2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所有弹性项目朝交叉轴居中对齐</a:t>
                      </a:r>
                      <a:endParaRPr lang="zh-CN" sz="2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593037"/>
                  </a:ext>
                </a:extLst>
              </a:tr>
              <a:tr h="32032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baseline</a:t>
                      </a:r>
                      <a:endParaRPr lang="zh-CN" sz="2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所有弹性项目的第一行文字的基线对齐</a:t>
                      </a:r>
                      <a:endParaRPr lang="zh-CN" sz="2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8776549"/>
                  </a:ext>
                </a:extLst>
              </a:tr>
              <a:tr h="32032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stretch</a:t>
                      </a:r>
                      <a:endParaRPr lang="zh-CN" sz="2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如果弹性项目未设置高度或设为</a:t>
                      </a:r>
                      <a:r>
                        <a:rPr lang="en-US" sz="18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auto</a:t>
                      </a:r>
                      <a:r>
                        <a:rPr lang="zh-CN" sz="18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，占满整个容器交叉轴，默认值</a:t>
                      </a:r>
                      <a:endParaRPr lang="zh-CN" sz="2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0676145"/>
                  </a:ext>
                </a:extLst>
              </a:tr>
            </a:tbl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3CDE11FD-2646-4083-AC5B-AF087DA8B8C6}"/>
              </a:ext>
            </a:extLst>
          </p:cNvPr>
          <p:cNvSpPr/>
          <p:nvPr/>
        </p:nvSpPr>
        <p:spPr>
          <a:xfrm>
            <a:off x="1" y="1"/>
            <a:ext cx="12160249" cy="684053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8DDAC7E-A00A-4E32-BDB6-BA45E3560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996" y="1723872"/>
            <a:ext cx="7237550" cy="449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23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8-3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弹性布局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558" y="1140507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设置单个弹性项目属性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C714C4-09CB-4AC3-BD4F-361504D220AC}"/>
              </a:ext>
            </a:extLst>
          </p:cNvPr>
          <p:cNvSpPr/>
          <p:nvPr/>
        </p:nvSpPr>
        <p:spPr>
          <a:xfrm>
            <a:off x="767705" y="3096937"/>
            <a:ext cx="1768433" cy="20515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语法结构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BEC0FAB-A07F-474B-BB26-C5E923ED8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37868"/>
              </p:ext>
            </p:extLst>
          </p:nvPr>
        </p:nvGraphicFramePr>
        <p:xfrm>
          <a:off x="1183581" y="3833822"/>
          <a:ext cx="8540316" cy="53043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54031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3043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order : &lt;integer&gt; 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7" name="圆角矩形标注 2">
            <a:extLst>
              <a:ext uri="{FF2B5EF4-FFF2-40B4-BE49-F238E27FC236}">
                <a16:creationId xmlns:a16="http://schemas.microsoft.com/office/drawing/2014/main" id="{3B7F8984-F94E-4B02-BFDA-B3F396DE3CD1}"/>
              </a:ext>
            </a:extLst>
          </p:cNvPr>
          <p:cNvSpPr/>
          <p:nvPr/>
        </p:nvSpPr>
        <p:spPr>
          <a:xfrm>
            <a:off x="7491649" y="2852715"/>
            <a:ext cx="4464496" cy="752159"/>
          </a:xfrm>
          <a:prstGeom prst="wedgeRoundRectCallout">
            <a:avLst>
              <a:gd name="adj1" fmla="val -55585"/>
              <a:gd name="adj2" fmla="val 107288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自定义单个弹性项目显示排列的顺序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2070A1-E81C-427D-812C-83E266E459CD}"/>
              </a:ext>
            </a:extLst>
          </p:cNvPr>
          <p:cNvSpPr/>
          <p:nvPr/>
        </p:nvSpPr>
        <p:spPr>
          <a:xfrm>
            <a:off x="607517" y="2772197"/>
            <a:ext cx="17363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6"/>
                </a:solidFill>
                <a:latin typeface="+mn-ea"/>
                <a:ea typeface="+mn-ea"/>
              </a:rPr>
              <a:t> order</a:t>
            </a:r>
            <a:r>
              <a:rPr lang="zh-CN" altLang="en-US" sz="2400" b="1" dirty="0">
                <a:solidFill>
                  <a:schemeClr val="accent6"/>
                </a:solidFill>
                <a:latin typeface="+mn-ea"/>
                <a:ea typeface="+mn-ea"/>
              </a:rPr>
              <a:t>属性</a:t>
            </a:r>
          </a:p>
        </p:txBody>
      </p:sp>
      <p:sp>
        <p:nvSpPr>
          <p:cNvPr id="11" name="圆角矩形标注 2">
            <a:extLst>
              <a:ext uri="{FF2B5EF4-FFF2-40B4-BE49-F238E27FC236}">
                <a16:creationId xmlns:a16="http://schemas.microsoft.com/office/drawing/2014/main" id="{BB804854-8A76-4C1C-967D-F0C556397545}"/>
              </a:ext>
            </a:extLst>
          </p:cNvPr>
          <p:cNvSpPr/>
          <p:nvPr/>
        </p:nvSpPr>
        <p:spPr>
          <a:xfrm>
            <a:off x="829945" y="1706805"/>
            <a:ext cx="9128843" cy="988826"/>
          </a:xfrm>
          <a:prstGeom prst="wedgeRoundRectCallout">
            <a:avLst>
              <a:gd name="adj1" fmla="val -26638"/>
              <a:gd name="adj2" fmla="val 35967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弹性容器定义了容器和项目的全局属性</a:t>
            </a:r>
          </a:p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如果需要对容器内的某个项目单独调整属性，可以在弹性项目上添加相关的属性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095FE6-6832-479B-88B2-EF863E1FF7A1}"/>
              </a:ext>
            </a:extLst>
          </p:cNvPr>
          <p:cNvSpPr/>
          <p:nvPr/>
        </p:nvSpPr>
        <p:spPr>
          <a:xfrm>
            <a:off x="866912" y="4671165"/>
            <a:ext cx="6080125" cy="14134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排序时按所有项目的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order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值从小到大排列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数值相同的项目，按文档顺序排列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order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值可以为负数，默认值为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3E8FA12-0E9E-4DB2-A3D3-8C06B6D5A007}"/>
              </a:ext>
            </a:extLst>
          </p:cNvPr>
          <p:cNvSpPr/>
          <p:nvPr/>
        </p:nvSpPr>
        <p:spPr>
          <a:xfrm>
            <a:off x="1" y="-1404"/>
            <a:ext cx="12160249" cy="684053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3FD9B26-60D3-4DED-9A05-E3BD60704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700" y="3026285"/>
            <a:ext cx="9915143" cy="149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41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8-3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弹性布局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605" y="1190713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设置单个弹性项目属性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C714C4-09CB-4AC3-BD4F-361504D220AC}"/>
              </a:ext>
            </a:extLst>
          </p:cNvPr>
          <p:cNvSpPr/>
          <p:nvPr/>
        </p:nvSpPr>
        <p:spPr>
          <a:xfrm>
            <a:off x="767705" y="3096937"/>
            <a:ext cx="1768433" cy="20515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语法结构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BEC0FAB-A07F-474B-BB26-C5E923ED8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15033"/>
              </p:ext>
            </p:extLst>
          </p:nvPr>
        </p:nvGraphicFramePr>
        <p:xfrm>
          <a:off x="1183581" y="3851078"/>
          <a:ext cx="8540316" cy="53043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54031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3043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flex-grow : &lt;number&gt; 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7" name="圆角矩形标注 2">
            <a:extLst>
              <a:ext uri="{FF2B5EF4-FFF2-40B4-BE49-F238E27FC236}">
                <a16:creationId xmlns:a16="http://schemas.microsoft.com/office/drawing/2014/main" id="{3B7F8984-F94E-4B02-BFDA-B3F396DE3CD1}"/>
              </a:ext>
            </a:extLst>
          </p:cNvPr>
          <p:cNvSpPr/>
          <p:nvPr/>
        </p:nvSpPr>
        <p:spPr>
          <a:xfrm>
            <a:off x="4783981" y="3349907"/>
            <a:ext cx="3456384" cy="530438"/>
          </a:xfrm>
          <a:prstGeom prst="wedgeRoundRectCallout">
            <a:avLst>
              <a:gd name="adj1" fmla="val -55585"/>
              <a:gd name="adj2" fmla="val 107288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设置指定弹性项目的扩展系数</a:t>
            </a:r>
            <a:endParaRPr lang="en-US" altLang="zh-CN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2070A1-E81C-427D-812C-83E266E459CD}"/>
              </a:ext>
            </a:extLst>
          </p:cNvPr>
          <p:cNvSpPr/>
          <p:nvPr/>
        </p:nvSpPr>
        <p:spPr>
          <a:xfrm>
            <a:off x="684164" y="1692077"/>
            <a:ext cx="23583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6"/>
                </a:solidFill>
                <a:latin typeface="+mn-ea"/>
                <a:ea typeface="+mn-ea"/>
              </a:rPr>
              <a:t> flex-grow</a:t>
            </a:r>
            <a:r>
              <a:rPr lang="zh-CN" altLang="en-US" sz="2400" b="1" dirty="0">
                <a:solidFill>
                  <a:schemeClr val="accent6"/>
                </a:solidFill>
                <a:latin typeface="+mn-ea"/>
                <a:ea typeface="+mn-ea"/>
              </a:rPr>
              <a:t>属性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095FE6-6832-479B-88B2-EF863E1FF7A1}"/>
              </a:ext>
            </a:extLst>
          </p:cNvPr>
          <p:cNvSpPr/>
          <p:nvPr/>
        </p:nvSpPr>
        <p:spPr>
          <a:xfrm>
            <a:off x="866912" y="4455141"/>
            <a:ext cx="10325781" cy="2328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flex-grow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值不可以为负数，默认值为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0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，代表不会扩展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如果所有项目的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flex-grow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都为相同（除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0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外），则这些项目将等分剩余空间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如果一个项目的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flex-grow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属性为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2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，其他项目都为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，则表示前者占据的剩余空间将比其他项目多一倍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通常应该利用</a:t>
            </a:r>
            <a:r>
              <a:rPr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属性，同时设置</a:t>
            </a:r>
            <a:r>
              <a:rPr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flex-grow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flex-shrink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和</a:t>
            </a:r>
            <a:r>
              <a:rPr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flex-basis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属性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4EF9E0-9A01-4C8B-AB4B-B4D52B4E5B79}"/>
              </a:ext>
            </a:extLst>
          </p:cNvPr>
          <p:cNvSpPr/>
          <p:nvPr/>
        </p:nvSpPr>
        <p:spPr>
          <a:xfrm>
            <a:off x="841106" y="2176451"/>
            <a:ext cx="9595931" cy="951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当弹性容器分配完所有弹性项目后，主尺寸方向上可能还有剩余空间没有分配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弹性项目可以按照一定的规则进行扩展，将这些剩余空间占满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E7974E-440D-4382-9DBC-C30723B9E736}"/>
              </a:ext>
            </a:extLst>
          </p:cNvPr>
          <p:cNvSpPr/>
          <p:nvPr/>
        </p:nvSpPr>
        <p:spPr>
          <a:xfrm>
            <a:off x="1" y="1"/>
            <a:ext cx="12160249" cy="684053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4218C36-1EE2-4F25-8EB8-82B8A1193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302" y="2966841"/>
            <a:ext cx="10406571" cy="151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9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8-3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弹性布局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605" y="1190713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设置单个弹性项目属性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C714C4-09CB-4AC3-BD4F-361504D220AC}"/>
              </a:ext>
            </a:extLst>
          </p:cNvPr>
          <p:cNvSpPr/>
          <p:nvPr/>
        </p:nvSpPr>
        <p:spPr>
          <a:xfrm>
            <a:off x="767705" y="3096937"/>
            <a:ext cx="1768433" cy="20515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语法结构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BEC0FAB-A07F-474B-BB26-C5E923ED8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526763"/>
              </p:ext>
            </p:extLst>
          </p:nvPr>
        </p:nvGraphicFramePr>
        <p:xfrm>
          <a:off x="1183581" y="3851078"/>
          <a:ext cx="8540316" cy="53043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54031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3043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flex-shrink  : &lt;number&gt; 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7" name="圆角矩形标注 2">
            <a:extLst>
              <a:ext uri="{FF2B5EF4-FFF2-40B4-BE49-F238E27FC236}">
                <a16:creationId xmlns:a16="http://schemas.microsoft.com/office/drawing/2014/main" id="{3B7F8984-F94E-4B02-BFDA-B3F396DE3CD1}"/>
              </a:ext>
            </a:extLst>
          </p:cNvPr>
          <p:cNvSpPr/>
          <p:nvPr/>
        </p:nvSpPr>
        <p:spPr>
          <a:xfrm>
            <a:off x="4783981" y="3349907"/>
            <a:ext cx="5472608" cy="530438"/>
          </a:xfrm>
          <a:prstGeom prst="wedgeRoundRectCallout">
            <a:avLst>
              <a:gd name="adj1" fmla="val -55585"/>
              <a:gd name="adj2" fmla="val 107288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设置指定的弹性项目在容器空间不够时的缩小系数</a:t>
            </a:r>
            <a:endParaRPr lang="en-US" altLang="zh-CN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2070A1-E81C-427D-812C-83E266E459CD}"/>
              </a:ext>
            </a:extLst>
          </p:cNvPr>
          <p:cNvSpPr/>
          <p:nvPr/>
        </p:nvSpPr>
        <p:spPr>
          <a:xfrm>
            <a:off x="684164" y="1692077"/>
            <a:ext cx="26693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6"/>
                </a:solidFill>
                <a:latin typeface="+mn-ea"/>
                <a:ea typeface="+mn-ea"/>
              </a:rPr>
              <a:t> flex-shrink</a:t>
            </a:r>
            <a:r>
              <a:rPr lang="zh-CN" altLang="en-US" sz="2400" b="1" dirty="0">
                <a:solidFill>
                  <a:schemeClr val="accent6"/>
                </a:solidFill>
                <a:latin typeface="+mn-ea"/>
                <a:ea typeface="+mn-ea"/>
              </a:rPr>
              <a:t>属性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095FE6-6832-479B-88B2-EF863E1FF7A1}"/>
              </a:ext>
            </a:extLst>
          </p:cNvPr>
          <p:cNvSpPr/>
          <p:nvPr/>
        </p:nvSpPr>
        <p:spPr>
          <a:xfrm>
            <a:off x="866912" y="4455141"/>
            <a:ext cx="10325781" cy="2328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flex-shrink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值不可以为负数，默认值为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；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flex-shrink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为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0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，则该项目不会缩小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如果所有项目的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flex-shrink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相同（除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0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外），则这些项目将等比例压缩空间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如果一个项目的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flex-shrink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属性为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2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，其他项目都为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，则前者缩小的空间将比其他项目多一倍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通常应该利用</a:t>
            </a:r>
            <a:r>
              <a:rPr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属性，同时设置</a:t>
            </a:r>
            <a:r>
              <a:rPr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flex-grow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flex-shrink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和</a:t>
            </a:r>
            <a:r>
              <a:rPr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flex-basis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属性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4EF9E0-9A01-4C8B-AB4B-B4D52B4E5B79}"/>
              </a:ext>
            </a:extLst>
          </p:cNvPr>
          <p:cNvSpPr/>
          <p:nvPr/>
        </p:nvSpPr>
        <p:spPr>
          <a:xfrm>
            <a:off x="841106" y="2176451"/>
            <a:ext cx="9595931" cy="4900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如果容器的主轴空间不够时，弹性项目也可以允许缩小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681DAC3-ABEE-44DC-AC12-30FA43ECD976}"/>
              </a:ext>
            </a:extLst>
          </p:cNvPr>
          <p:cNvSpPr/>
          <p:nvPr/>
        </p:nvSpPr>
        <p:spPr>
          <a:xfrm>
            <a:off x="1" y="1"/>
            <a:ext cx="12160249" cy="684053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A0257DD-756F-4ABA-BF2C-6215E91D9F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48" r="3273"/>
          <a:stretch/>
        </p:blipFill>
        <p:spPr>
          <a:xfrm>
            <a:off x="984511" y="2828399"/>
            <a:ext cx="9960177" cy="148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999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8-3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弹性布局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605" y="1190713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设置单个弹性项目属性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C714C4-09CB-4AC3-BD4F-361504D220AC}"/>
              </a:ext>
            </a:extLst>
          </p:cNvPr>
          <p:cNvSpPr/>
          <p:nvPr/>
        </p:nvSpPr>
        <p:spPr>
          <a:xfrm>
            <a:off x="767705" y="2124125"/>
            <a:ext cx="1768433" cy="20515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语法结构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BEC0FAB-A07F-474B-BB26-C5E923ED8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275478"/>
              </p:ext>
            </p:extLst>
          </p:nvPr>
        </p:nvGraphicFramePr>
        <p:xfrm>
          <a:off x="1183581" y="2878266"/>
          <a:ext cx="8540316" cy="53043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54031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3043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flex-basis: &lt;length&gt; | &lt;percentage&gt;| content | auto 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7" name="圆角矩形标注 2">
            <a:extLst>
              <a:ext uri="{FF2B5EF4-FFF2-40B4-BE49-F238E27FC236}">
                <a16:creationId xmlns:a16="http://schemas.microsoft.com/office/drawing/2014/main" id="{3B7F8984-F94E-4B02-BFDA-B3F396DE3CD1}"/>
              </a:ext>
            </a:extLst>
          </p:cNvPr>
          <p:cNvSpPr/>
          <p:nvPr/>
        </p:nvSpPr>
        <p:spPr>
          <a:xfrm>
            <a:off x="7563657" y="2356629"/>
            <a:ext cx="4320480" cy="530438"/>
          </a:xfrm>
          <a:prstGeom prst="wedgeRoundRectCallout">
            <a:avLst>
              <a:gd name="adj1" fmla="val -55585"/>
              <a:gd name="adj2" fmla="val 107288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指定弹性项目在主轴方向上的初始大小</a:t>
            </a:r>
            <a:endParaRPr lang="en-US" altLang="zh-CN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2070A1-E81C-427D-812C-83E266E459CD}"/>
              </a:ext>
            </a:extLst>
          </p:cNvPr>
          <p:cNvSpPr/>
          <p:nvPr/>
        </p:nvSpPr>
        <p:spPr>
          <a:xfrm>
            <a:off x="684164" y="1692077"/>
            <a:ext cx="25138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6"/>
                </a:solidFill>
                <a:latin typeface="+mn-ea"/>
                <a:ea typeface="+mn-ea"/>
              </a:rPr>
              <a:t> flex-basis</a:t>
            </a:r>
            <a:r>
              <a:rPr lang="zh-CN" altLang="en-US" sz="2400" b="1" dirty="0">
                <a:solidFill>
                  <a:schemeClr val="accent6"/>
                </a:solidFill>
                <a:latin typeface="+mn-ea"/>
                <a:ea typeface="+mn-ea"/>
              </a:rPr>
              <a:t>属性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095FE6-6832-479B-88B2-EF863E1FF7A1}"/>
              </a:ext>
            </a:extLst>
          </p:cNvPr>
          <p:cNvSpPr/>
          <p:nvPr/>
        </p:nvSpPr>
        <p:spPr>
          <a:xfrm>
            <a:off x="749605" y="3522535"/>
            <a:ext cx="10325781" cy="32518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除了设置为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content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和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auto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时，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flex-basis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属性和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width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height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属性的解析方式实际上是相同的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flex-direction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设置为水平方向时，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flex-basis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等同于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width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；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flex-direction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为垂直方向时，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flex-basis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等同于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height</a:t>
            </a:r>
          </a:p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初始大小是否等于弹性项目在主轴上的实际尺寸，这还与弹性项目的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flex-grow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扩展属性和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flex-shrink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缩放属性有关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通常应该利用</a:t>
            </a:r>
            <a:r>
              <a:rPr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属性，同时设置</a:t>
            </a:r>
            <a:r>
              <a:rPr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flex-grow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flex-shrink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和</a:t>
            </a:r>
            <a:r>
              <a:rPr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flex-basis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属性</a:t>
            </a:r>
          </a:p>
        </p:txBody>
      </p:sp>
    </p:spTree>
    <p:extLst>
      <p:ext uri="{BB962C8B-B14F-4D97-AF65-F5344CB8AC3E}">
        <p14:creationId xmlns:p14="http://schemas.microsoft.com/office/powerpoint/2010/main" val="2372988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8-3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弹性布局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605" y="1190713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设置单个弹性项目属性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C714C4-09CB-4AC3-BD4F-361504D220AC}"/>
              </a:ext>
            </a:extLst>
          </p:cNvPr>
          <p:cNvSpPr/>
          <p:nvPr/>
        </p:nvSpPr>
        <p:spPr>
          <a:xfrm>
            <a:off x="767705" y="2124125"/>
            <a:ext cx="1768433" cy="20515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语法结构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BEC0FAB-A07F-474B-BB26-C5E923ED8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975021"/>
              </p:ext>
            </p:extLst>
          </p:nvPr>
        </p:nvGraphicFramePr>
        <p:xfrm>
          <a:off x="1183581" y="2878266"/>
          <a:ext cx="8540316" cy="53043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54031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3043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flex: none | auto | initial | [ &lt;‘flex-grow’&gt; &lt;‘flex-shrink’&gt;? || &lt;‘flex-basis’&gt; ]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D72070A1-E81C-427D-812C-83E266E459CD}"/>
              </a:ext>
            </a:extLst>
          </p:cNvPr>
          <p:cNvSpPr/>
          <p:nvPr/>
        </p:nvSpPr>
        <p:spPr>
          <a:xfrm>
            <a:off x="684164" y="1692077"/>
            <a:ext cx="21996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6"/>
                </a:solidFill>
                <a:latin typeface="+mn-ea"/>
                <a:ea typeface="+mn-ea"/>
              </a:rPr>
              <a:t> flex</a:t>
            </a:r>
            <a:r>
              <a:rPr lang="zh-CN" altLang="en-US" sz="2400" b="1" dirty="0">
                <a:solidFill>
                  <a:schemeClr val="accent6"/>
                </a:solidFill>
                <a:latin typeface="+mn-ea"/>
                <a:ea typeface="+mn-ea"/>
              </a:rPr>
              <a:t>简写属性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095FE6-6832-479B-88B2-EF863E1FF7A1}"/>
              </a:ext>
            </a:extLst>
          </p:cNvPr>
          <p:cNvSpPr/>
          <p:nvPr/>
        </p:nvSpPr>
        <p:spPr>
          <a:xfrm>
            <a:off x="749605" y="3522535"/>
            <a:ext cx="10325781" cy="1405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initial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等同于“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0 1 auto”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，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none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等同于“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0 0 auto”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，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auto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等同于“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 1 auto”</a:t>
            </a:r>
          </a:p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通常应当同时设置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flex-grow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flex-shrink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和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flex-basis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属性，以保证这些属性都有合理的值，防止界面在不同情况下出现意想不到的问题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210792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8-3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弹性布局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605" y="1190713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设置单个弹性项目属性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C714C4-09CB-4AC3-BD4F-361504D220AC}"/>
              </a:ext>
            </a:extLst>
          </p:cNvPr>
          <p:cNvSpPr/>
          <p:nvPr/>
        </p:nvSpPr>
        <p:spPr>
          <a:xfrm>
            <a:off x="767705" y="2124125"/>
            <a:ext cx="1768433" cy="20515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语法结构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2070A1-E81C-427D-812C-83E266E459CD}"/>
              </a:ext>
            </a:extLst>
          </p:cNvPr>
          <p:cNvSpPr/>
          <p:nvPr/>
        </p:nvSpPr>
        <p:spPr>
          <a:xfrm>
            <a:off x="684164" y="1692077"/>
            <a:ext cx="25138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accent6"/>
                </a:solidFill>
                <a:latin typeface="+mn-ea"/>
                <a:ea typeface="+mn-ea"/>
              </a:rPr>
              <a:t> align-self</a:t>
            </a:r>
            <a:r>
              <a:rPr lang="zh-CN" altLang="en-US" sz="2400" b="1" dirty="0">
                <a:solidFill>
                  <a:schemeClr val="accent6"/>
                </a:solidFill>
                <a:latin typeface="+mn-ea"/>
                <a:ea typeface="+mn-ea"/>
              </a:rPr>
              <a:t>属性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095FE6-6832-479B-88B2-EF863E1FF7A1}"/>
              </a:ext>
            </a:extLst>
          </p:cNvPr>
          <p:cNvSpPr/>
          <p:nvPr/>
        </p:nvSpPr>
        <p:spPr>
          <a:xfrm>
            <a:off x="767705" y="2719105"/>
            <a:ext cx="10325781" cy="943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单独设置某个弹性项目的对齐方式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参考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align-items</a:t>
            </a:r>
          </a:p>
        </p:txBody>
      </p:sp>
    </p:spTree>
    <p:extLst>
      <p:ext uri="{BB962C8B-B14F-4D97-AF65-F5344CB8AC3E}">
        <p14:creationId xmlns:p14="http://schemas.microsoft.com/office/powerpoint/2010/main" val="2798380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10260468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使用弹性布局进行响应式设计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3728244" cy="2515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居中内容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  <a:p>
            <a:pPr marL="457200" indent="-457200"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  <a:p>
            <a:pPr marL="457200" indent="-457200"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  <a:p>
            <a:pPr marL="514350" indent="-514350" eaLnBrk="1" hangingPunct="1">
              <a:spcBef>
                <a:spcPts val="1800"/>
              </a:spcBef>
              <a:buClr>
                <a:schemeClr val="accent6"/>
              </a:buClr>
              <a:buFont typeface="Wingdings" panose="05000000000000000000" pitchFamily="2" charset="2"/>
              <a:buChar char="l"/>
            </a:pP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9" name="云形标注 6">
            <a:extLst>
              <a:ext uri="{FF2B5EF4-FFF2-40B4-BE49-F238E27FC236}">
                <a16:creationId xmlns:a16="http://schemas.microsoft.com/office/drawing/2014/main" id="{FD37D7F8-8313-4C9E-9B4E-61320759ED36}"/>
              </a:ext>
            </a:extLst>
          </p:cNvPr>
          <p:cNvSpPr/>
          <p:nvPr/>
        </p:nvSpPr>
        <p:spPr>
          <a:xfrm>
            <a:off x="3127797" y="1466041"/>
            <a:ext cx="4752528" cy="1511699"/>
          </a:xfrm>
          <a:prstGeom prst="cloudCallout">
            <a:avLst>
              <a:gd name="adj1" fmla="val -52481"/>
              <a:gd name="adj2" fmla="val -50874"/>
            </a:avLst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经常使用哪些方法实现元素的水平居中？</a:t>
            </a:r>
            <a:endParaRPr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EBA1C5-EA06-4721-8CA5-A8B65A01EA8A}"/>
              </a:ext>
            </a:extLst>
          </p:cNvPr>
          <p:cNvSpPr/>
          <p:nvPr/>
        </p:nvSpPr>
        <p:spPr>
          <a:xfrm>
            <a:off x="967557" y="3454655"/>
            <a:ext cx="56493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text-align:center</a:t>
            </a:r>
            <a:r>
              <a:rPr lang="zh-CN" altLang="en-US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实现文字水平居中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2EB4272-1A34-4F35-AC36-49FDEDF993D3}"/>
              </a:ext>
            </a:extLst>
          </p:cNvPr>
          <p:cNvSpPr/>
          <p:nvPr/>
        </p:nvSpPr>
        <p:spPr>
          <a:xfrm>
            <a:off x="967557" y="4217733"/>
            <a:ext cx="51828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margin: 0 auto</a:t>
            </a:r>
            <a:r>
              <a:rPr lang="zh-CN" altLang="en-US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实现元素水平居中</a:t>
            </a:r>
          </a:p>
        </p:txBody>
      </p:sp>
      <p:sp>
        <p:nvSpPr>
          <p:cNvPr id="12" name="圆角矩形标注 2">
            <a:extLst>
              <a:ext uri="{FF2B5EF4-FFF2-40B4-BE49-F238E27FC236}">
                <a16:creationId xmlns:a16="http://schemas.microsoft.com/office/drawing/2014/main" id="{D6527E21-9FA6-4A87-9013-61CD15EC1AF0}"/>
              </a:ext>
            </a:extLst>
          </p:cNvPr>
          <p:cNvSpPr/>
          <p:nvPr/>
        </p:nvSpPr>
        <p:spPr>
          <a:xfrm>
            <a:off x="6062750" y="5580509"/>
            <a:ext cx="5649302" cy="792088"/>
          </a:xfrm>
          <a:prstGeom prst="wedgeRoundRectCallout">
            <a:avLst>
              <a:gd name="adj1" fmla="val -48769"/>
              <a:gd name="adj2" fmla="val -164439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sz="2400" b="1" dirty="0">
                <a:solidFill>
                  <a:srgbClr val="0000FF"/>
                </a:solidFill>
              </a:rPr>
              <a:t>如何实现元素或元素内的文字垂直居中？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90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10260468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使用弹性布局进行响应式设计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372824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8-12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48F3FF-358C-4427-B7F2-1A21C31686CF}"/>
              </a:ext>
            </a:extLst>
          </p:cNvPr>
          <p:cNvSpPr/>
          <p:nvPr/>
        </p:nvSpPr>
        <p:spPr>
          <a:xfrm>
            <a:off x="5720085" y="3060229"/>
            <a:ext cx="6080125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&lt;body&gt;</a:t>
            </a:r>
          </a:p>
          <a:p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&lt;div class="container"&gt;</a:t>
            </a:r>
          </a:p>
          <a:p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&lt;div class="box"&gt;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居中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&lt;/div&gt;</a:t>
            </a:r>
          </a:p>
          <a:p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&lt;/div&gt;</a:t>
            </a:r>
          </a:p>
          <a:p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&lt;/body&gt;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3E27E65-4E4D-40F8-A2BA-81F2F7B1A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557" y="2517989"/>
            <a:ext cx="4453783" cy="308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3790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10260468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使用弹性布局进行响应式设计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372824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8-12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FEE43B7-0A0F-49CF-9E5B-D84D43547486}"/>
              </a:ext>
            </a:extLst>
          </p:cNvPr>
          <p:cNvSpPr/>
          <p:nvPr/>
        </p:nvSpPr>
        <p:spPr>
          <a:xfrm>
            <a:off x="6440165" y="2186364"/>
            <a:ext cx="504056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.box{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width: 40vw;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height: 40vh;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background-color: gray;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color: white;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display: flex;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    /* 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文字在容器主轴居中*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/</a:t>
            </a:r>
            <a:endParaRPr lang="en-US" altLang="zh-CN" sz="2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justify-content: center;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    /* 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文字在容器交叉轴居中*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/      </a:t>
            </a:r>
            <a:endParaRPr lang="en-US" altLang="zh-CN" sz="2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    align-items: center;</a:t>
            </a:r>
            <a:endParaRPr lang="en-US" altLang="zh-CN" sz="2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}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48F3FF-358C-4427-B7F2-1A21C31686CF}"/>
              </a:ext>
            </a:extLst>
          </p:cNvPr>
          <p:cNvSpPr/>
          <p:nvPr/>
        </p:nvSpPr>
        <p:spPr>
          <a:xfrm>
            <a:off x="334974" y="2186364"/>
            <a:ext cx="8321951" cy="4475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.container{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width: 80vw;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height: 80vh;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    /* 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容器在页面内居中*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/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margin: calc(10vh - 1px) auto; 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border: 1px solid black;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display: flex;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    /* 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项目在容器主轴居中*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/</a:t>
            </a:r>
            <a:endParaRPr lang="en-US" altLang="zh-CN" sz="2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justify-content: center; 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    /* 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项目在容器交叉轴居中*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/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align-items: center;           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01430C-2006-4A29-A31E-44F7CFD21F23}"/>
              </a:ext>
            </a:extLst>
          </p:cNvPr>
          <p:cNvSpPr/>
          <p:nvPr/>
        </p:nvSpPr>
        <p:spPr>
          <a:xfrm>
            <a:off x="895549" y="1700329"/>
            <a:ext cx="40222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通过设置容器使得内部的</a:t>
            </a:r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box</a:t>
            </a:r>
            <a:r>
              <a:rPr lang="zh-CN" altLang="en-US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元素居中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4B970BD-E478-48A3-865B-FA3AF43687D8}"/>
              </a:ext>
            </a:extLst>
          </p:cNvPr>
          <p:cNvSpPr/>
          <p:nvPr/>
        </p:nvSpPr>
        <p:spPr>
          <a:xfrm>
            <a:off x="6877309" y="1630296"/>
            <a:ext cx="35573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通过设置</a:t>
            </a:r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box</a:t>
            </a:r>
            <a:r>
              <a:rPr lang="zh-CN" altLang="en-US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使得内部的文字居中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0977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10260468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使用弹性布局进行响应式设计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10944347" cy="270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三列布局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  <a:p>
            <a:pPr marL="457200" indent="-457200" eaLnBrk="1" hangingPunct="1">
              <a:spcBef>
                <a:spcPts val="1800"/>
              </a:spcBef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网页设计中常用的一种页面布局方式，常被称为圣杯布局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514350" indent="-514350" eaLnBrk="1" hangingPunct="1">
              <a:spcBef>
                <a:spcPts val="1800"/>
              </a:spcBef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除去头部（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header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）和脚部（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Footer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），中间部分通常分成三列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514350" indent="-514350" eaLnBrk="1" hangingPunct="1">
              <a:spcBef>
                <a:spcPts val="1800"/>
              </a:spcBef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左侧通常用于展示导航菜单，中间显示页面的主要内容，右侧显示其他次要内容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12" name="圆角矩形标注 2">
            <a:extLst>
              <a:ext uri="{FF2B5EF4-FFF2-40B4-BE49-F238E27FC236}">
                <a16:creationId xmlns:a16="http://schemas.microsoft.com/office/drawing/2014/main" id="{D6527E21-9FA6-4A87-9013-61CD15EC1AF0}"/>
              </a:ext>
            </a:extLst>
          </p:cNvPr>
          <p:cNvSpPr/>
          <p:nvPr/>
        </p:nvSpPr>
        <p:spPr>
          <a:xfrm>
            <a:off x="6800205" y="4500389"/>
            <a:ext cx="5184576" cy="792088"/>
          </a:xfrm>
          <a:prstGeom prst="wedgeRoundRectCallout">
            <a:avLst>
              <a:gd name="adj1" fmla="val -48005"/>
              <a:gd name="adj2" fmla="val -93649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3000"/>
              </a:lnSpc>
            </a:pPr>
            <a:r>
              <a:rPr lang="zh-CN" altLang="en-US" sz="2400" b="1" dirty="0">
                <a:solidFill>
                  <a:srgbClr val="0000FF"/>
                </a:solidFill>
              </a:rPr>
              <a:t>如何兼容</a:t>
            </a:r>
            <a:r>
              <a:rPr lang="en-US" altLang="zh-CN" sz="2400" b="1" dirty="0">
                <a:solidFill>
                  <a:srgbClr val="0000FF"/>
                </a:solidFill>
              </a:rPr>
              <a:t>PC</a:t>
            </a:r>
            <a:r>
              <a:rPr lang="zh-CN" altLang="en-US" sz="2400" b="1" dirty="0">
                <a:solidFill>
                  <a:srgbClr val="0000FF"/>
                </a:solidFill>
              </a:rPr>
              <a:t>和移动设备设备？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89E4DFE-AC93-45F3-9417-15763BED75ED}"/>
              </a:ext>
            </a:extLst>
          </p:cNvPr>
          <p:cNvPicPr/>
          <p:nvPr/>
        </p:nvPicPr>
        <p:blipFill rotWithShape="1">
          <a:blip r:embed="rId3"/>
          <a:srcRect b="3350"/>
          <a:stretch/>
        </p:blipFill>
        <p:spPr bwMode="auto">
          <a:xfrm>
            <a:off x="727328" y="3871278"/>
            <a:ext cx="3724398" cy="25202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DA7C328-80C2-407F-A1FE-5F87C416F26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735348" y="3871278"/>
            <a:ext cx="1878252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955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10260468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使用弹性布局进行响应式设计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372824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8-13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FEE43B7-0A0F-49CF-9E5B-D84D43547486}"/>
              </a:ext>
            </a:extLst>
          </p:cNvPr>
          <p:cNvSpPr/>
          <p:nvPr/>
        </p:nvSpPr>
        <p:spPr>
          <a:xfrm>
            <a:off x="5910026" y="1789862"/>
            <a:ext cx="6002747" cy="4013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&lt;body&gt;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&lt;header&gt;Header&lt;/header&gt;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&lt;div class="container"&gt;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&lt;aside class="left"&gt;Navigation&lt;/aside&gt;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&lt;main class="content"&gt;Content&lt;/main&gt;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&lt;aside class="right"&gt;Sidebar&lt;/aside&gt;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&lt;/div&gt;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&lt;footer&gt;Footer&lt;/footer&gt;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&lt;/body&gt;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FD3A84E-59E3-4AB0-A2EF-67C11C666962}"/>
              </a:ext>
            </a:extLst>
          </p:cNvPr>
          <p:cNvPicPr/>
          <p:nvPr/>
        </p:nvPicPr>
        <p:blipFill rotWithShape="1">
          <a:blip r:embed="rId3"/>
          <a:srcRect b="3350"/>
          <a:stretch/>
        </p:blipFill>
        <p:spPr bwMode="auto">
          <a:xfrm>
            <a:off x="535509" y="1991242"/>
            <a:ext cx="4968553" cy="36108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519FABD-9A40-4F41-B784-F60E92F4E8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503141" y="2819862"/>
            <a:ext cx="2578581" cy="3798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8447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10260468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使用弹性布局进行响应式设计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372824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8-13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48F3FF-358C-4427-B7F2-1A21C31686CF}"/>
              </a:ext>
            </a:extLst>
          </p:cNvPr>
          <p:cNvSpPr/>
          <p:nvPr/>
        </p:nvSpPr>
        <p:spPr>
          <a:xfrm>
            <a:off x="463501" y="1618892"/>
            <a:ext cx="8321951" cy="4105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body {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font-size: 1.2rem;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color: #101096;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padding: 0;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margin: 0;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}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header,.content,.left,.</a:t>
            </a:r>
            <a:r>
              <a:rPr lang="en-US" altLang="zh-CN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right,footer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box-sizing: border-box;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padding-left: 2vw;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min-height: 3rem;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0C8457-DFD9-460C-AEAC-E34F13A35161}"/>
              </a:ext>
            </a:extLst>
          </p:cNvPr>
          <p:cNvSpPr/>
          <p:nvPr/>
        </p:nvSpPr>
        <p:spPr>
          <a:xfrm>
            <a:off x="6224142" y="1618892"/>
            <a:ext cx="5328592" cy="1898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zh-CN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header,footer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{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 height: 3rem;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 line-height: 3rem;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 background-color: #7dd8d6;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}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743384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10260468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使用弹性布局进行响应式设计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372824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8-13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48F3FF-358C-4427-B7F2-1A21C31686CF}"/>
              </a:ext>
            </a:extLst>
          </p:cNvPr>
          <p:cNvSpPr/>
          <p:nvPr/>
        </p:nvSpPr>
        <p:spPr>
          <a:xfrm>
            <a:off x="175469" y="1702350"/>
            <a:ext cx="8321951" cy="4475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/*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手机界面样式</a:t>
            </a:r>
            <a:r>
              <a:rPr lang="en-US" altLang="zh-CN" sz="2000" dirty="0">
                <a:latin typeface="+mn-ea"/>
              </a:rPr>
              <a:t> 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.container {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display: flex;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flex-direction: column;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min-height: 80vh;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}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.</a:t>
            </a:r>
            <a:r>
              <a:rPr lang="en-US" altLang="zh-CN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left,.right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{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background-color: #49b4e7;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width: 100%;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}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.content{ flex:1; }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.</a:t>
            </a:r>
            <a:r>
              <a:rPr lang="en-US" altLang="zh-CN" sz="2000" b="1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left,.right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{ flex:0; 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3E17C7D-005C-43D3-A217-9F0625A5CB86}"/>
              </a:ext>
            </a:extLst>
          </p:cNvPr>
          <p:cNvSpPr/>
          <p:nvPr/>
        </p:nvSpPr>
        <p:spPr>
          <a:xfrm>
            <a:off x="6666006" y="1847269"/>
            <a:ext cx="539078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/* PC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界面样式</a:t>
            </a:r>
            <a:endParaRPr lang="en-US" altLang="zh-CN" sz="2000" dirty="0">
              <a:latin typeface="+mn-ea"/>
              <a:ea typeface="+mn-ea"/>
            </a:endParaRPr>
          </a:p>
          <a:p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@media screen and (min-width: 768px) </a:t>
            </a:r>
            <a:r>
              <a:rPr lang="en-US" altLang="zh-CN" sz="2000" dirty="0">
                <a:latin typeface="+mn-ea"/>
                <a:ea typeface="+mn-ea"/>
              </a:rPr>
              <a:t>{</a:t>
            </a:r>
          </a:p>
          <a:p>
            <a:r>
              <a:rPr lang="en-US" altLang="zh-CN" sz="2000" dirty="0">
                <a:latin typeface="+mn-ea"/>
                <a:ea typeface="+mn-ea"/>
              </a:rPr>
              <a:t>    .container {</a:t>
            </a:r>
          </a:p>
          <a:p>
            <a:r>
              <a:rPr lang="en-US" altLang="zh-CN" sz="20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flex-direction: row;</a:t>
            </a:r>
          </a:p>
          <a:p>
            <a:r>
              <a:rPr lang="en-US" altLang="zh-CN" sz="2000" dirty="0">
                <a:latin typeface="+mn-ea"/>
                <a:ea typeface="+mn-ea"/>
              </a:rPr>
              <a:t>      min-height: 80vh;</a:t>
            </a:r>
          </a:p>
          <a:p>
            <a:r>
              <a:rPr lang="en-US" altLang="zh-CN" sz="2000" dirty="0">
                <a:latin typeface="+mn-ea"/>
                <a:ea typeface="+mn-ea"/>
              </a:rPr>
              <a:t>    }</a:t>
            </a:r>
          </a:p>
          <a:p>
            <a:r>
              <a:rPr lang="en-US" altLang="zh-CN" sz="2000" dirty="0">
                <a:latin typeface="+mn-ea"/>
                <a:ea typeface="+mn-ea"/>
              </a:rPr>
              <a:t>    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.content{ flex:8; }</a:t>
            </a:r>
          </a:p>
          <a:p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.</a:t>
            </a:r>
            <a:r>
              <a:rPr lang="en-US" altLang="zh-CN" sz="2000" b="1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left,.right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{ flex:2; }</a:t>
            </a:r>
          </a:p>
          <a:p>
            <a:r>
              <a:rPr lang="en-US" altLang="zh-CN" sz="2000" dirty="0">
                <a:latin typeface="+mn-ea"/>
                <a:ea typeface="+mn-ea"/>
              </a:rPr>
              <a:t> }</a:t>
            </a:r>
            <a:endParaRPr lang="zh-CN" altLang="en-US" sz="2000" dirty="0">
              <a:latin typeface="+mn-ea"/>
              <a:ea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9C0A445-A11D-4FC6-B330-CE9A05B65AC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518195" y="2852495"/>
            <a:ext cx="1800201" cy="2862321"/>
          </a:xfrm>
          <a:prstGeom prst="rect">
            <a:avLst/>
          </a:prstGeom>
        </p:spPr>
      </p:pic>
      <p:sp>
        <p:nvSpPr>
          <p:cNvPr id="9" name="圆角矩形标注 2">
            <a:extLst>
              <a:ext uri="{FF2B5EF4-FFF2-40B4-BE49-F238E27FC236}">
                <a16:creationId xmlns:a16="http://schemas.microsoft.com/office/drawing/2014/main" id="{28B7040F-70EE-42F8-A5CE-88B0DF4A505F}"/>
              </a:ext>
            </a:extLst>
          </p:cNvPr>
          <p:cNvSpPr/>
          <p:nvPr/>
        </p:nvSpPr>
        <p:spPr>
          <a:xfrm>
            <a:off x="7232253" y="878978"/>
            <a:ext cx="2880320" cy="817454"/>
          </a:xfrm>
          <a:prstGeom prst="wedgeRoundRectCallout">
            <a:avLst>
              <a:gd name="adj1" fmla="val -41858"/>
              <a:gd name="adj2" fmla="val 75993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rgbClr val="0000FF"/>
                </a:solidFill>
              </a:rPr>
              <a:t>利用媒体查询视口宽度，判断是否是大屏幕设备</a:t>
            </a:r>
            <a:endParaRPr lang="en-US" altLang="zh-CN" sz="1600" b="1" dirty="0">
              <a:solidFill>
                <a:srgbClr val="0000FF"/>
              </a:solidFill>
            </a:endParaRPr>
          </a:p>
        </p:txBody>
      </p:sp>
      <p:sp>
        <p:nvSpPr>
          <p:cNvPr id="10" name="圆角矩形标注 2">
            <a:extLst>
              <a:ext uri="{FF2B5EF4-FFF2-40B4-BE49-F238E27FC236}">
                <a16:creationId xmlns:a16="http://schemas.microsoft.com/office/drawing/2014/main" id="{9BDA99EB-0397-4F89-B4D5-FFCEEE528C1B}"/>
              </a:ext>
            </a:extLst>
          </p:cNvPr>
          <p:cNvSpPr/>
          <p:nvPr/>
        </p:nvSpPr>
        <p:spPr>
          <a:xfrm>
            <a:off x="7448277" y="4897362"/>
            <a:ext cx="3456384" cy="817454"/>
          </a:xfrm>
          <a:prstGeom prst="wedgeRoundRectCallout">
            <a:avLst>
              <a:gd name="adj1" fmla="val 6555"/>
              <a:gd name="adj2" fmla="val -106338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rgbClr val="0000FF"/>
                </a:solidFill>
              </a:rPr>
              <a:t>弹性布局主轴方向改为水平</a:t>
            </a:r>
            <a:endParaRPr lang="en-US" altLang="zh-CN" sz="1600" b="1" dirty="0">
              <a:solidFill>
                <a:srgbClr val="0000FF"/>
              </a:solidFill>
            </a:endParaRPr>
          </a:p>
          <a:p>
            <a:r>
              <a:rPr lang="zh-CN" altLang="en-US" sz="1600" b="1" dirty="0">
                <a:solidFill>
                  <a:srgbClr val="0000FF"/>
                </a:solidFill>
              </a:rPr>
              <a:t>重新定义不同区块的弹性缩放比例</a:t>
            </a:r>
            <a:endParaRPr lang="en-US" altLang="zh-CN" sz="1600" b="1" dirty="0">
              <a:solidFill>
                <a:srgbClr val="0000FF"/>
              </a:solidFill>
            </a:endParaRPr>
          </a:p>
        </p:txBody>
      </p:sp>
      <p:sp>
        <p:nvSpPr>
          <p:cNvPr id="11" name="圆角矩形标注 2">
            <a:extLst>
              <a:ext uri="{FF2B5EF4-FFF2-40B4-BE49-F238E27FC236}">
                <a16:creationId xmlns:a16="http://schemas.microsoft.com/office/drawing/2014/main" id="{8571A51F-664D-4532-A18F-4C4DE7ADFD79}"/>
              </a:ext>
            </a:extLst>
          </p:cNvPr>
          <p:cNvSpPr/>
          <p:nvPr/>
        </p:nvSpPr>
        <p:spPr>
          <a:xfrm>
            <a:off x="2978187" y="1404044"/>
            <a:ext cx="1949811" cy="465789"/>
          </a:xfrm>
          <a:prstGeom prst="wedgeRoundRectCallout">
            <a:avLst>
              <a:gd name="adj1" fmla="val -54520"/>
              <a:gd name="adj2" fmla="val 144702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rgbClr val="0000FF"/>
                </a:solidFill>
              </a:rPr>
              <a:t>优先设计移动界面</a:t>
            </a:r>
            <a:endParaRPr lang="en-US" altLang="zh-CN" sz="1600" b="1" dirty="0">
              <a:solidFill>
                <a:srgbClr val="0000FF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008DA39-D2BB-4F4D-A6AF-EDE4E8EC3600}"/>
              </a:ext>
            </a:extLst>
          </p:cNvPr>
          <p:cNvPicPr/>
          <p:nvPr/>
        </p:nvPicPr>
        <p:blipFill rotWithShape="1">
          <a:blip r:embed="rId4"/>
          <a:srcRect b="3350"/>
          <a:stretch/>
        </p:blipFill>
        <p:spPr bwMode="auto">
          <a:xfrm>
            <a:off x="1523647" y="2523701"/>
            <a:ext cx="4968553" cy="36108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91612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 animBg="1"/>
      <p:bldP spid="10" grpId="0" animBg="1"/>
      <p:bldP spid="1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8-5~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8-6</a:t>
            </a:r>
            <a:endParaRPr lang="zh-CN" altLang="en-US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030CB7-09CD-4D65-AFC0-92183B1414E7}"/>
              </a:ext>
            </a:extLst>
          </p:cNvPr>
          <p:cNvSpPr/>
          <p:nvPr/>
        </p:nvSpPr>
        <p:spPr>
          <a:xfrm>
            <a:off x="751533" y="1833687"/>
            <a:ext cx="3744416" cy="4512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在线订餐页面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按页面功能区域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从顶部到底部分割为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个模块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①导航</a:t>
            </a:r>
            <a:endParaRPr lang="en-US" altLang="zh-CN" sz="2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②菜单</a:t>
            </a:r>
            <a:endParaRPr lang="en-US" altLang="zh-CN" sz="2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③订餐信息</a:t>
            </a:r>
            <a:endParaRPr lang="en-US" altLang="zh-CN" sz="2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当设备视口宽度大于等于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768px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时，采用为平板、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等大屏幕设备优化的布局</a:t>
            </a:r>
            <a:endParaRPr lang="en-US" altLang="zh-CN" sz="2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具体实现请对照书本学习</a:t>
            </a:r>
            <a:endParaRPr lang="zh-CN" altLang="en-US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Box 7">
            <a:extLst>
              <a:ext uri="{FF2B5EF4-FFF2-40B4-BE49-F238E27FC236}">
                <a16:creationId xmlns:a16="http://schemas.microsoft.com/office/drawing/2014/main" id="{8E1FC958-4B26-4066-A7BF-16C99023E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33" y="1094913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页面分析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00F7EC5-7E2A-4875-995C-55587237A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002" y="2102909"/>
            <a:ext cx="2844386" cy="397452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4C10832-C5D3-4B93-8B07-B0836992947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232253" y="2325593"/>
            <a:ext cx="4769505" cy="3720838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610846766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17056</TotalTime>
  <Words>3649</Words>
  <Application>Microsoft Office PowerPoint</Application>
  <PresentationFormat>自定义</PresentationFormat>
  <Paragraphs>541</Paragraphs>
  <Slides>37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6" baseType="lpstr">
      <vt:lpstr>黑体</vt:lpstr>
      <vt:lpstr>宋体</vt:lpstr>
      <vt:lpstr>微软雅黑</vt:lpstr>
      <vt:lpstr>Arial</vt:lpstr>
      <vt:lpstr>Calibri</vt:lpstr>
      <vt:lpstr>Times New Roman</vt:lpstr>
      <vt:lpstr>Verdana</vt:lpstr>
      <vt:lpstr>Wingdings</vt:lpstr>
      <vt:lpstr>Profile</vt:lpstr>
      <vt:lpstr>响应式网站设计篇 项目8 在线订餐页面</vt:lpstr>
      <vt:lpstr>项目8 在线订餐页面</vt:lpstr>
      <vt:lpstr>项目9 在线订餐页面</vt:lpstr>
      <vt:lpstr>任务8-1 响应式设计</vt:lpstr>
      <vt:lpstr>任务8-1 响应式设计</vt:lpstr>
      <vt:lpstr>任务8-1 响应式设计</vt:lpstr>
      <vt:lpstr>任务8-1 响应式设计</vt:lpstr>
      <vt:lpstr>任务8-1 响应式设计</vt:lpstr>
      <vt:lpstr>任务8-2 媒体查询</vt:lpstr>
      <vt:lpstr>任务8-2 媒体查询</vt:lpstr>
      <vt:lpstr>任务8-2 媒体查询</vt:lpstr>
      <vt:lpstr>任务8-2 媒体查询</vt:lpstr>
      <vt:lpstr>任务8-2 媒体查询</vt:lpstr>
      <vt:lpstr>任务8-2 媒体查询</vt:lpstr>
      <vt:lpstr>任务8-3 弹性布局</vt:lpstr>
      <vt:lpstr>任务8-3 弹性布局</vt:lpstr>
      <vt:lpstr>任务8-3 弹性布局</vt:lpstr>
      <vt:lpstr>任务8-3 弹性布局</vt:lpstr>
      <vt:lpstr>任务8-3 弹性布局</vt:lpstr>
      <vt:lpstr>任务8-3 弹性布局</vt:lpstr>
      <vt:lpstr>任务8-3 弹性布局</vt:lpstr>
      <vt:lpstr>任务8-3 弹性布局</vt:lpstr>
      <vt:lpstr>任务8-3 弹性布局</vt:lpstr>
      <vt:lpstr>任务8-3 弹性布局</vt:lpstr>
      <vt:lpstr>任务8-3 弹性布局</vt:lpstr>
      <vt:lpstr>任务8-3 弹性布局</vt:lpstr>
      <vt:lpstr>任务8-3 弹性布局</vt:lpstr>
      <vt:lpstr>任务8-3 弹性布局</vt:lpstr>
      <vt:lpstr>任务8-3 弹性布局</vt:lpstr>
      <vt:lpstr>任务8-4 使用弹性布局进行响应式设计</vt:lpstr>
      <vt:lpstr>任务8-4 使用弹性布局进行响应式设计</vt:lpstr>
      <vt:lpstr>任务8-4 使用弹性布局进行响应式设计</vt:lpstr>
      <vt:lpstr>任务8-4 使用弹性布局进行响应式设计</vt:lpstr>
      <vt:lpstr>任务8-4 使用弹性布局进行响应式设计</vt:lpstr>
      <vt:lpstr>任务8-4 使用弹性布局进行响应式设计</vt:lpstr>
      <vt:lpstr>任务8-4 使用弹性布局进行响应式设计</vt:lpstr>
      <vt:lpstr>任务8-5~任务8-6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响应式网站设计篇 项目9 在线订餐页面</dc:title>
  <dc:subject>Web前端开发与项目实践</dc:subject>
  <dc:creator/>
  <cp:lastModifiedBy>John Hu</cp:lastModifiedBy>
  <cp:revision>1446</cp:revision>
  <dcterms:created xsi:type="dcterms:W3CDTF">2008-02-14T05:21:14Z</dcterms:created>
  <dcterms:modified xsi:type="dcterms:W3CDTF">2024-03-30T12:58:52Z</dcterms:modified>
</cp:coreProperties>
</file>