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52"/>
  </p:notesMasterIdLst>
  <p:sldIdLst>
    <p:sldId id="423" r:id="rId2"/>
    <p:sldId id="427" r:id="rId3"/>
    <p:sldId id="428" r:id="rId4"/>
    <p:sldId id="429" r:id="rId5"/>
    <p:sldId id="622" r:id="rId6"/>
    <p:sldId id="623" r:id="rId7"/>
    <p:sldId id="551" r:id="rId8"/>
    <p:sldId id="582" r:id="rId9"/>
    <p:sldId id="584" r:id="rId10"/>
    <p:sldId id="585" r:id="rId11"/>
    <p:sldId id="586" r:id="rId12"/>
    <p:sldId id="587" r:id="rId13"/>
    <p:sldId id="621" r:id="rId14"/>
    <p:sldId id="552" r:id="rId15"/>
    <p:sldId id="589" r:id="rId16"/>
    <p:sldId id="588" r:id="rId17"/>
    <p:sldId id="590" r:id="rId18"/>
    <p:sldId id="591" r:id="rId19"/>
    <p:sldId id="628" r:id="rId20"/>
    <p:sldId id="592" r:id="rId21"/>
    <p:sldId id="594" r:id="rId22"/>
    <p:sldId id="593" r:id="rId23"/>
    <p:sldId id="595" r:id="rId24"/>
    <p:sldId id="596" r:id="rId25"/>
    <p:sldId id="597" r:id="rId26"/>
    <p:sldId id="598" r:id="rId27"/>
    <p:sldId id="600" r:id="rId28"/>
    <p:sldId id="601" r:id="rId29"/>
    <p:sldId id="599" r:id="rId30"/>
    <p:sldId id="602" r:id="rId31"/>
    <p:sldId id="603" r:id="rId32"/>
    <p:sldId id="604" r:id="rId33"/>
    <p:sldId id="605" r:id="rId34"/>
    <p:sldId id="606" r:id="rId35"/>
    <p:sldId id="607" r:id="rId36"/>
    <p:sldId id="608" r:id="rId37"/>
    <p:sldId id="609" r:id="rId38"/>
    <p:sldId id="610" r:id="rId39"/>
    <p:sldId id="611" r:id="rId40"/>
    <p:sldId id="612" r:id="rId41"/>
    <p:sldId id="577" r:id="rId42"/>
    <p:sldId id="626" r:id="rId43"/>
    <p:sldId id="625" r:id="rId44"/>
    <p:sldId id="613" r:id="rId45"/>
    <p:sldId id="627" r:id="rId46"/>
    <p:sldId id="617" r:id="rId47"/>
    <p:sldId id="618" r:id="rId48"/>
    <p:sldId id="619" r:id="rId49"/>
    <p:sldId id="620" r:id="rId50"/>
    <p:sldId id="514" r:id="rId51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432FF"/>
    <a:srgbClr val="FFFF00"/>
    <a:srgbClr val="0000FF"/>
    <a:srgbClr val="000000"/>
    <a:srgbClr val="99CCFF"/>
    <a:srgbClr val="00CCFF"/>
    <a:srgbClr val="00FFFF"/>
    <a:srgbClr val="FFFF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4" autoAdjust="0"/>
    <p:restoredTop sz="92267" autoAdjust="0"/>
  </p:normalViewPr>
  <p:slideViewPr>
    <p:cSldViewPr>
      <p:cViewPr varScale="1">
        <p:scale>
          <a:sx n="111" d="100"/>
          <a:sy n="111" d="100"/>
        </p:scale>
        <p:origin x="989" y="86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78589517-05E4-44EF-975D-32DE3CE14380}"/>
    <pc:docChg chg="modSld">
      <pc:chgData name="John Hu" userId="213e45b8a479442b" providerId="LiveId" clId="{78589517-05E4-44EF-975D-32DE3CE14380}" dt="2023-06-21T04:36:34.211" v="0" actId="6549"/>
      <pc:docMkLst>
        <pc:docMk/>
      </pc:docMkLst>
      <pc:sldChg chg="modSp mod">
        <pc:chgData name="John Hu" userId="213e45b8a479442b" providerId="LiveId" clId="{78589517-05E4-44EF-975D-32DE3CE14380}" dt="2023-06-21T04:36:34.211" v="0" actId="6549"/>
        <pc:sldMkLst>
          <pc:docMk/>
          <pc:sldMk cId="2256634334" sldId="427"/>
        </pc:sldMkLst>
        <pc:spChg chg="mod">
          <ac:chgData name="John Hu" userId="213e45b8a479442b" providerId="LiveId" clId="{78589517-05E4-44EF-975D-32DE3CE14380}" dt="2023-06-21T04:36:34.211" v="0" actId="6549"/>
          <ac:spMkLst>
            <pc:docMk/>
            <pc:sldMk cId="2256634334" sldId="427"/>
            <ac:spMk id="8" creationId="{36177B38-43AB-4398-968B-448F8F0E5F49}"/>
          </ac:spMkLst>
        </pc:spChg>
      </pc:sldChg>
    </pc:docChg>
  </pc:docChgLst>
  <pc:docChgLst>
    <pc:chgData name="John Hu" userId="213e45b8a479442b" providerId="LiveId" clId="{970A2B1D-1535-45C2-82CF-063B3D193E2E}"/>
    <pc:docChg chg="undo custSel addSld delSld modSld">
      <pc:chgData name="John Hu" userId="213e45b8a479442b" providerId="LiveId" clId="{970A2B1D-1535-45C2-82CF-063B3D193E2E}" dt="2024-03-29T08:51:16.847" v="47" actId="20577"/>
      <pc:docMkLst>
        <pc:docMk/>
      </pc:docMkLst>
      <pc:sldChg chg="modSp mod">
        <pc:chgData name="John Hu" userId="213e45b8a479442b" providerId="LiveId" clId="{970A2B1D-1535-45C2-82CF-063B3D193E2E}" dt="2024-03-29T08:43:20.384" v="45" actId="20577"/>
        <pc:sldMkLst>
          <pc:docMk/>
          <pc:sldMk cId="3920527245" sldId="584"/>
        </pc:sldMkLst>
        <pc:spChg chg="mod">
          <ac:chgData name="John Hu" userId="213e45b8a479442b" providerId="LiveId" clId="{970A2B1D-1535-45C2-82CF-063B3D193E2E}" dt="2024-03-29T08:43:20.384" v="45" actId="20577"/>
          <ac:spMkLst>
            <pc:docMk/>
            <pc:sldMk cId="3920527245" sldId="584"/>
            <ac:spMk id="4" creationId="{A15A08F3-6873-4E33-85B7-71AA72BF1416}"/>
          </ac:spMkLst>
        </pc:spChg>
      </pc:sldChg>
      <pc:sldChg chg="modSp mod">
        <pc:chgData name="John Hu" userId="213e45b8a479442b" providerId="LiveId" clId="{970A2B1D-1535-45C2-82CF-063B3D193E2E}" dt="2024-03-29T05:58:06.624" v="42" actId="207"/>
        <pc:sldMkLst>
          <pc:docMk/>
          <pc:sldMk cId="1591934129" sldId="590"/>
        </pc:sldMkLst>
        <pc:graphicFrameChg chg="modGraphic">
          <ac:chgData name="John Hu" userId="213e45b8a479442b" providerId="LiveId" clId="{970A2B1D-1535-45C2-82CF-063B3D193E2E}" dt="2024-03-29T05:58:06.624" v="42" actId="207"/>
          <ac:graphicFrameMkLst>
            <pc:docMk/>
            <pc:sldMk cId="1591934129" sldId="590"/>
            <ac:graphicFrameMk id="3" creationId="{0A9BB70A-D006-411C-A97D-DF21E0E5EA0A}"/>
          </ac:graphicFrameMkLst>
        </pc:graphicFrameChg>
      </pc:sldChg>
      <pc:sldChg chg="delSp modSp mod delAnim">
        <pc:chgData name="John Hu" userId="213e45b8a479442b" providerId="LiveId" clId="{970A2B1D-1535-45C2-82CF-063B3D193E2E}" dt="2024-03-29T05:44:49.173" v="25" actId="207"/>
        <pc:sldMkLst>
          <pc:docMk/>
          <pc:sldMk cId="2763645096" sldId="591"/>
        </pc:sldMkLst>
        <pc:spChg chg="mod">
          <ac:chgData name="John Hu" userId="213e45b8a479442b" providerId="LiveId" clId="{970A2B1D-1535-45C2-82CF-063B3D193E2E}" dt="2024-03-29T05:44:49.173" v="25" actId="207"/>
          <ac:spMkLst>
            <pc:docMk/>
            <pc:sldMk cId="2763645096" sldId="591"/>
            <ac:spMk id="6" creationId="{F7A3F0CE-A200-474A-9E42-C6F92DBA8C39}"/>
          </ac:spMkLst>
        </pc:spChg>
        <pc:spChg chg="mod">
          <ac:chgData name="John Hu" userId="213e45b8a479442b" providerId="LiveId" clId="{970A2B1D-1535-45C2-82CF-063B3D193E2E}" dt="2024-03-29T05:44:41.143" v="22" actId="207"/>
          <ac:spMkLst>
            <pc:docMk/>
            <pc:sldMk cId="2763645096" sldId="591"/>
            <ac:spMk id="7" creationId="{4F4C8961-1F5C-4368-BA74-650712EC369D}"/>
          </ac:spMkLst>
        </pc:spChg>
        <pc:grpChg chg="mod">
          <ac:chgData name="John Hu" userId="213e45b8a479442b" providerId="LiveId" clId="{970A2B1D-1535-45C2-82CF-063B3D193E2E}" dt="2024-03-29T05:44:23.848" v="19" actId="1076"/>
          <ac:grpSpMkLst>
            <pc:docMk/>
            <pc:sldMk cId="2763645096" sldId="591"/>
            <ac:grpSpMk id="17" creationId="{5B09D4F4-D963-41F3-A1AD-3AC42FCF0972}"/>
          </ac:grpSpMkLst>
        </pc:grpChg>
        <pc:grpChg chg="del">
          <ac:chgData name="John Hu" userId="213e45b8a479442b" providerId="LiveId" clId="{970A2B1D-1535-45C2-82CF-063B3D193E2E}" dt="2024-03-29T05:43:35.978" v="3" actId="478"/>
          <ac:grpSpMkLst>
            <pc:docMk/>
            <pc:sldMk cId="2763645096" sldId="591"/>
            <ac:grpSpMk id="18" creationId="{1A3A8208-FE3C-42BF-97AD-0911EC7428ED}"/>
          </ac:grpSpMkLst>
        </pc:grpChg>
        <pc:grpChg chg="del">
          <ac:chgData name="John Hu" userId="213e45b8a479442b" providerId="LiveId" clId="{970A2B1D-1535-45C2-82CF-063B3D193E2E}" dt="2024-03-29T05:43:37.696" v="4" actId="478"/>
          <ac:grpSpMkLst>
            <pc:docMk/>
            <pc:sldMk cId="2763645096" sldId="591"/>
            <ac:grpSpMk id="19" creationId="{493CB3A8-44D0-4ECD-A8EF-9258B5A59D9E}"/>
          </ac:grpSpMkLst>
        </pc:grpChg>
        <pc:picChg chg="mod">
          <ac:chgData name="John Hu" userId="213e45b8a479442b" providerId="LiveId" clId="{970A2B1D-1535-45C2-82CF-063B3D193E2E}" dt="2024-03-29T05:44:21.707" v="18" actId="14100"/>
          <ac:picMkLst>
            <pc:docMk/>
            <pc:sldMk cId="2763645096" sldId="591"/>
            <ac:picMk id="10" creationId="{1157E7A6-BE9B-4F2E-86A2-88E721825B23}"/>
          </ac:picMkLst>
        </pc:picChg>
        <pc:picChg chg="mod">
          <ac:chgData name="John Hu" userId="213e45b8a479442b" providerId="LiveId" clId="{970A2B1D-1535-45C2-82CF-063B3D193E2E}" dt="2024-03-29T05:44:18.114" v="17" actId="14100"/>
          <ac:picMkLst>
            <pc:docMk/>
            <pc:sldMk cId="2763645096" sldId="591"/>
            <ac:picMk id="11" creationId="{C9DFF623-4639-42A3-890E-EF7F968F93D0}"/>
          </ac:picMkLst>
        </pc:picChg>
      </pc:sldChg>
      <pc:sldChg chg="modSp mod">
        <pc:chgData name="John Hu" userId="213e45b8a479442b" providerId="LiveId" clId="{970A2B1D-1535-45C2-82CF-063B3D193E2E}" dt="2024-03-29T08:51:16.847" v="47" actId="20577"/>
        <pc:sldMkLst>
          <pc:docMk/>
          <pc:sldMk cId="893326782" sldId="604"/>
        </pc:sldMkLst>
        <pc:spChg chg="mod">
          <ac:chgData name="John Hu" userId="213e45b8a479442b" providerId="LiveId" clId="{970A2B1D-1535-45C2-82CF-063B3D193E2E}" dt="2024-03-29T08:51:16.847" v="47" actId="20577"/>
          <ac:spMkLst>
            <pc:docMk/>
            <pc:sldMk cId="893326782" sldId="604"/>
            <ac:spMk id="8" creationId="{36177B38-43AB-4398-968B-448F8F0E5F49}"/>
          </ac:spMkLst>
        </pc:spChg>
      </pc:sldChg>
      <pc:sldChg chg="delSp modSp add del mod delAnim">
        <pc:chgData name="John Hu" userId="213e45b8a479442b" providerId="LiveId" clId="{970A2B1D-1535-45C2-82CF-063B3D193E2E}" dt="2024-03-29T05:45:21.327" v="31" actId="207"/>
        <pc:sldMkLst>
          <pc:docMk/>
          <pc:sldMk cId="3928638946" sldId="628"/>
        </pc:sldMkLst>
        <pc:spChg chg="del topLvl">
          <ac:chgData name="John Hu" userId="213e45b8a479442b" providerId="LiveId" clId="{970A2B1D-1535-45C2-82CF-063B3D193E2E}" dt="2024-03-29T05:43:42.024" v="5" actId="478"/>
          <ac:spMkLst>
            <pc:docMk/>
            <pc:sldMk cId="3928638946" sldId="628"/>
            <ac:spMk id="7" creationId="{4F4C8961-1F5C-4368-BA74-650712EC369D}"/>
          </ac:spMkLst>
        </pc:spChg>
        <pc:spChg chg="mod">
          <ac:chgData name="John Hu" userId="213e45b8a479442b" providerId="LiveId" clId="{970A2B1D-1535-45C2-82CF-063B3D193E2E}" dt="2024-03-29T05:45:08.797" v="28" actId="207"/>
          <ac:spMkLst>
            <pc:docMk/>
            <pc:sldMk cId="3928638946" sldId="628"/>
            <ac:spMk id="12" creationId="{8EABD900-AE12-4495-91E6-31A1FCCCEB4B}"/>
          </ac:spMkLst>
        </pc:spChg>
        <pc:spChg chg="mod">
          <ac:chgData name="John Hu" userId="213e45b8a479442b" providerId="LiveId" clId="{970A2B1D-1535-45C2-82CF-063B3D193E2E}" dt="2024-03-29T05:45:21.327" v="31" actId="207"/>
          <ac:spMkLst>
            <pc:docMk/>
            <pc:sldMk cId="3928638946" sldId="628"/>
            <ac:spMk id="13" creationId="{2F69B423-F1ED-4140-849B-0B9C59A12DFE}"/>
          </ac:spMkLst>
        </pc:spChg>
        <pc:grpChg chg="del">
          <ac:chgData name="John Hu" userId="213e45b8a479442b" providerId="LiveId" clId="{970A2B1D-1535-45C2-82CF-063B3D193E2E}" dt="2024-03-29T05:43:42.024" v="5" actId="478"/>
          <ac:grpSpMkLst>
            <pc:docMk/>
            <pc:sldMk cId="3928638946" sldId="628"/>
            <ac:grpSpMk id="16" creationId="{50825F34-366F-4042-A253-8CF35F4B89F6}"/>
          </ac:grpSpMkLst>
        </pc:grpChg>
        <pc:grpChg chg="del">
          <ac:chgData name="John Hu" userId="213e45b8a479442b" providerId="LiveId" clId="{970A2B1D-1535-45C2-82CF-063B3D193E2E}" dt="2024-03-29T05:43:45.024" v="7" actId="478"/>
          <ac:grpSpMkLst>
            <pc:docMk/>
            <pc:sldMk cId="3928638946" sldId="628"/>
            <ac:grpSpMk id="17" creationId="{5B09D4F4-D963-41F3-A1AD-3AC42FCF0972}"/>
          </ac:grpSpMkLst>
        </pc:grpChg>
        <pc:grpChg chg="mod">
          <ac:chgData name="John Hu" userId="213e45b8a479442b" providerId="LiveId" clId="{970A2B1D-1535-45C2-82CF-063B3D193E2E}" dt="2024-03-29T05:43:49.429" v="8" actId="1076"/>
          <ac:grpSpMkLst>
            <pc:docMk/>
            <pc:sldMk cId="3928638946" sldId="628"/>
            <ac:grpSpMk id="18" creationId="{1A3A8208-FE3C-42BF-97AD-0911EC7428ED}"/>
          </ac:grpSpMkLst>
        </pc:grpChg>
        <pc:grpChg chg="mod">
          <ac:chgData name="John Hu" userId="213e45b8a479442b" providerId="LiveId" clId="{970A2B1D-1535-45C2-82CF-063B3D193E2E}" dt="2024-03-29T05:44:01.990" v="13" actId="1076"/>
          <ac:grpSpMkLst>
            <pc:docMk/>
            <pc:sldMk cId="3928638946" sldId="628"/>
            <ac:grpSpMk id="19" creationId="{493CB3A8-44D0-4ECD-A8EF-9258B5A59D9E}"/>
          </ac:grpSpMkLst>
        </pc:grpChg>
        <pc:picChg chg="del topLvl">
          <ac:chgData name="John Hu" userId="213e45b8a479442b" providerId="LiveId" clId="{970A2B1D-1535-45C2-82CF-063B3D193E2E}" dt="2024-03-29T05:43:43.742" v="6" actId="478"/>
          <ac:picMkLst>
            <pc:docMk/>
            <pc:sldMk cId="3928638946" sldId="628"/>
            <ac:picMk id="10" creationId="{1157E7A6-BE9B-4F2E-86A2-88E721825B23}"/>
          </ac:picMkLst>
        </pc:picChg>
        <pc:picChg chg="mod">
          <ac:chgData name="John Hu" userId="213e45b8a479442b" providerId="LiveId" clId="{970A2B1D-1535-45C2-82CF-063B3D193E2E}" dt="2024-03-29T05:43:59.569" v="11" actId="14100"/>
          <ac:picMkLst>
            <pc:docMk/>
            <pc:sldMk cId="3928638946" sldId="628"/>
            <ac:picMk id="14" creationId="{82210992-66FD-4F2E-955D-543461540309}"/>
          </ac:picMkLst>
        </pc:picChg>
        <pc:picChg chg="mod">
          <ac:chgData name="John Hu" userId="213e45b8a479442b" providerId="LiveId" clId="{970A2B1D-1535-45C2-82CF-063B3D193E2E}" dt="2024-03-29T05:44:07.615" v="15" actId="14100"/>
          <ac:picMkLst>
            <pc:docMk/>
            <pc:sldMk cId="3928638946" sldId="628"/>
            <ac:picMk id="15" creationId="{6A7527D8-596F-487C-9CBD-58774A87E436}"/>
          </ac:picMkLst>
        </pc:picChg>
      </pc:sldChg>
    </pc:docChg>
  </pc:docChgLst>
  <pc:docChgLst>
    <pc:chgData userId="213e45b8a479442b" providerId="LiveId" clId="{2763DE27-C0DC-4D57-A160-7CAF4E0AFC02}"/>
    <pc:docChg chg="modSld">
      <pc:chgData name="" userId="213e45b8a479442b" providerId="LiveId" clId="{2763DE27-C0DC-4D57-A160-7CAF4E0AFC02}" dt="2022-12-12T12:47:50.410" v="0" actId="20577"/>
      <pc:docMkLst>
        <pc:docMk/>
      </pc:docMkLst>
      <pc:sldChg chg="modSp">
        <pc:chgData name="" userId="213e45b8a479442b" providerId="LiveId" clId="{2763DE27-C0DC-4D57-A160-7CAF4E0AFC02}" dt="2022-12-12T12:47:50.410" v="0" actId="20577"/>
        <pc:sldMkLst>
          <pc:docMk/>
          <pc:sldMk cId="1475978079" sldId="423"/>
        </pc:sldMkLst>
        <pc:spChg chg="mod">
          <ac:chgData name="" userId="213e45b8a479442b" providerId="LiveId" clId="{2763DE27-C0DC-4D57-A160-7CAF4E0AFC02}" dt="2022-12-12T12:47:50.410" v="0" actId="20577"/>
          <ac:spMkLst>
            <pc:docMk/>
            <pc:sldMk cId="1475978079" sldId="423"/>
            <ac:spMk id="2" creationId="{5888EE31-F44C-4034-8407-4C756F65702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582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17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4005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11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264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954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194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87857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6354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1966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D314487-0CE3-481E-A6CD-359E0D2485E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2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0.xml"/><Relationship Id="rId5" Type="http://schemas.openxmlformats.org/officeDocument/2006/relationships/slide" Target="slide41.xml"/><Relationship Id="rId4" Type="http://schemas.openxmlformats.org/officeDocument/2006/relationships/slide" Target="slide3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响应式网站设计篇</a:t>
            </a:r>
            <a:br>
              <a:rPr lang="en-US" altLang="zh-CN" b="1" dirty="0"/>
            </a:br>
            <a:r>
              <a:rPr lang="zh-CN" altLang="en-US" b="1" dirty="0"/>
              <a:t>项目</a:t>
            </a:r>
            <a:r>
              <a:rPr lang="en-US" altLang="zh-CN" b="1" dirty="0"/>
              <a:t>9</a:t>
            </a:r>
            <a:r>
              <a:rPr lang="zh-CN" altLang="en-US" b="1" dirty="0"/>
              <a:t> 快递柜取件页面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90B0FD-36B9-43E1-867F-A6081821C19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快递柜取件页面</a:t>
            </a: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9-1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网格布局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 Box 7">
            <a:hlinkClick r:id="rId3" action="ppaction://hlinksldjump"/>
            <a:extLst>
              <a:ext uri="{FF2B5EF4-FFF2-40B4-BE49-F238E27FC236}">
                <a16:creationId xmlns:a16="http://schemas.microsoft.com/office/drawing/2014/main" id="{AEFBB8E1-A379-4100-8DED-569AF5B07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27" y="1864904"/>
            <a:ext cx="6032499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9-2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网格容器属性的设置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 Box 7">
            <a:hlinkClick r:id="rId4" action="ppaction://hlinksldjump"/>
            <a:extLst>
              <a:ext uri="{FF2B5EF4-FFF2-40B4-BE49-F238E27FC236}">
                <a16:creationId xmlns:a16="http://schemas.microsoft.com/office/drawing/2014/main" id="{D94A616E-C4FF-48AD-BD74-7639AEC12B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527" y="2559917"/>
            <a:ext cx="653655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9-3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网格项目属性的设置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7">
            <a:hlinkClick r:id="rId5" action="ppaction://hlinksldjump"/>
            <a:extLst>
              <a:ext uri="{FF2B5EF4-FFF2-40B4-BE49-F238E27FC236}">
                <a16:creationId xmlns:a16="http://schemas.microsoft.com/office/drawing/2014/main" id="{33FDD864-2C18-4EF8-B297-B94668328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3254930"/>
            <a:ext cx="668057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9-4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使用网格布局实现响应式设计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hlinkClick r:id="rId6" action="ppaction://hlinksldjump"/>
            <a:extLst>
              <a:ext uri="{FF2B5EF4-FFF2-40B4-BE49-F238E27FC236}">
                <a16:creationId xmlns:a16="http://schemas.microsoft.com/office/drawing/2014/main" id="{ECB93B8E-3A7F-4D7D-AE8A-D079D5355F27}"/>
              </a:ext>
            </a:extLst>
          </p:cNvPr>
          <p:cNvSpPr/>
          <p:nvPr/>
        </p:nvSpPr>
        <p:spPr>
          <a:xfrm>
            <a:off x="776076" y="3949945"/>
            <a:ext cx="61556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9-5~9-7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快递柜取件页面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快递柜取件页面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在线订餐页面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908101"/>
            <a:ext cx="6482382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页面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同时兼容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竖屏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设备和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横屏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设备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针对两种类型的设备，页面采用的布局不同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59430" y="3490983"/>
            <a:ext cx="6080125" cy="151124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网格布局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响应式设计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B4C18E1-9884-462C-9363-01BD72D9ADE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33" y="4327883"/>
            <a:ext cx="4185283" cy="219613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8ACD789-372C-4A76-98E7-62C923CDD3C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971" y="1188021"/>
            <a:ext cx="2026405" cy="298962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网格布局概念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C857F0-35B8-4DCB-9637-F216538EE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33433" y="2124125"/>
            <a:ext cx="4005352" cy="4083709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742A24F7-6247-4FFE-8423-5E848D37CBC8}"/>
              </a:ext>
            </a:extLst>
          </p:cNvPr>
          <p:cNvGrpSpPr/>
          <p:nvPr/>
        </p:nvGrpSpPr>
        <p:grpSpPr>
          <a:xfrm>
            <a:off x="4783981" y="1498119"/>
            <a:ext cx="2936250" cy="626006"/>
            <a:chOff x="4783981" y="1498119"/>
            <a:chExt cx="2936250" cy="626006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B9244F0-E094-4329-8D95-B0F8DACC9104}"/>
                </a:ext>
              </a:extLst>
            </p:cNvPr>
            <p:cNvSpPr txBox="1"/>
            <p:nvPr/>
          </p:nvSpPr>
          <p:spPr>
            <a:xfrm>
              <a:off x="4853459" y="1498119"/>
              <a:ext cx="28667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  <a:ea typeface="+mn-ea"/>
                </a:rPr>
                <a:t>网格容器 </a:t>
              </a:r>
              <a:r>
                <a:rPr lang="en-US" altLang="zh-CN" b="1" dirty="0">
                  <a:latin typeface="+mn-ea"/>
                  <a:ea typeface="+mn-ea"/>
                </a:rPr>
                <a:t>Grid Container</a:t>
              </a:r>
              <a:endParaRPr lang="en-US" b="1" dirty="0">
                <a:latin typeface="+mn-ea"/>
                <a:ea typeface="+mn-ea"/>
              </a:endParaRPr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496AD4C-B8F5-4F7F-8925-3E68486D9B6C}"/>
                </a:ext>
              </a:extLst>
            </p:cNvPr>
            <p:cNvCxnSpPr/>
            <p:nvPr/>
          </p:nvCxnSpPr>
          <p:spPr>
            <a:xfrm>
              <a:off x="4783981" y="1620069"/>
              <a:ext cx="0" cy="50405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6A96F59-789A-4DB9-A0DD-87DC1068E0AE}"/>
              </a:ext>
            </a:extLst>
          </p:cNvPr>
          <p:cNvGrpSpPr/>
          <p:nvPr/>
        </p:nvGrpSpPr>
        <p:grpSpPr>
          <a:xfrm>
            <a:off x="1046655" y="2683721"/>
            <a:ext cx="6279066" cy="3115798"/>
            <a:chOff x="953187" y="2556173"/>
            <a:chExt cx="6279066" cy="311579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5480B28-60EF-4B26-B706-3586CD5892E7}"/>
                </a:ext>
              </a:extLst>
            </p:cNvPr>
            <p:cNvGrpSpPr/>
            <p:nvPr/>
          </p:nvGrpSpPr>
          <p:grpSpPr>
            <a:xfrm>
              <a:off x="953187" y="2556173"/>
              <a:ext cx="6279066" cy="3115798"/>
              <a:chOff x="4853459" y="815350"/>
              <a:chExt cx="6279066" cy="3115798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EB2D371F-877D-456B-9172-287D11BEDBD6}"/>
                  </a:ext>
                </a:extLst>
              </p:cNvPr>
              <p:cNvSpPr txBox="1"/>
              <p:nvPr/>
            </p:nvSpPr>
            <p:spPr>
              <a:xfrm>
                <a:off x="4853459" y="1498119"/>
                <a:ext cx="28667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latin typeface="+mn-ea"/>
                    <a:ea typeface="+mn-ea"/>
                  </a:rPr>
                  <a:t>网格项目 </a:t>
                </a:r>
                <a:r>
                  <a:rPr lang="en-US" altLang="zh-CN" b="1" dirty="0">
                    <a:latin typeface="+mn-ea"/>
                    <a:ea typeface="+mn-ea"/>
                  </a:rPr>
                  <a:t>Grid Items</a:t>
                </a:r>
                <a:endParaRPr lang="en-US" b="1" dirty="0">
                  <a:latin typeface="+mn-ea"/>
                  <a:ea typeface="+mn-ea"/>
                </a:endParaRP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626F1738-592D-41E7-BC32-4F76BC1210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815350"/>
                <a:ext cx="970718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9A3A5580-9DDD-45D6-8D1B-214CD7BF39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1186789"/>
                <a:ext cx="2335723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D4D170A6-A53F-4216-8BD6-8CA0464515F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2954" y="2049787"/>
                <a:ext cx="1008028" cy="8056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5DE97B20-2BE4-4E5B-BA42-4B2BC17397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1558228"/>
                <a:ext cx="3859571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4E243ED3-1A44-473F-9360-E70E3E8503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2429282"/>
                <a:ext cx="2335723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F9FB924F-9234-4687-854C-E3F5CF0B1F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2954" y="3551654"/>
                <a:ext cx="1008028" cy="8056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6003DE67-4809-4007-99C2-2BF4E451D2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2800721"/>
                <a:ext cx="3859571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59D6DE64-2BB2-44F2-BD75-B2DA1734BC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2954" y="3931148"/>
                <a:ext cx="2824248" cy="0"/>
              </a:xfrm>
              <a:prstGeom prst="straightConnector1">
                <a:avLst/>
              </a:prstGeom>
              <a:ln w="28575">
                <a:solidFill>
                  <a:srgbClr val="33CCCC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F4618AB-BDB3-4F77-B29D-EC54AD87C5FF}"/>
                </a:ext>
              </a:extLst>
            </p:cNvPr>
            <p:cNvCxnSpPr/>
            <p:nvPr/>
          </p:nvCxnSpPr>
          <p:spPr>
            <a:xfrm>
              <a:off x="3377729" y="2556173"/>
              <a:ext cx="0" cy="3114474"/>
            </a:xfrm>
            <a:prstGeom prst="line">
              <a:avLst/>
            </a:prstGeom>
            <a:ln w="28575">
              <a:solidFill>
                <a:srgbClr val="33CC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9E08A6C5-6777-4B32-A2FC-24B1AD0A6A68}"/>
              </a:ext>
            </a:extLst>
          </p:cNvPr>
          <p:cNvGrpSpPr/>
          <p:nvPr/>
        </p:nvGrpSpPr>
        <p:grpSpPr>
          <a:xfrm rot="5400000">
            <a:off x="3915564" y="2140549"/>
            <a:ext cx="3948337" cy="4083709"/>
            <a:chOff x="4117236" y="2276525"/>
            <a:chExt cx="3948337" cy="4083709"/>
          </a:xfrm>
        </p:grpSpPr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D5D67B0-534C-4B74-B812-BCD6B7DDBF73}"/>
                </a:ext>
              </a:extLst>
            </p:cNvPr>
            <p:cNvCxnSpPr>
              <a:cxnSpLocks/>
            </p:cNvCxnSpPr>
            <p:nvPr/>
          </p:nvCxnSpPr>
          <p:spPr>
            <a:xfrm>
              <a:off x="4117236" y="22765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B1BB815-7F34-4E87-8A52-4CCCC69AF2AC}"/>
                </a:ext>
              </a:extLst>
            </p:cNvPr>
            <p:cNvCxnSpPr>
              <a:cxnSpLocks/>
            </p:cNvCxnSpPr>
            <p:nvPr/>
          </p:nvCxnSpPr>
          <p:spPr>
            <a:xfrm>
              <a:off x="5440437" y="22765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C10DD814-2EE2-4AFD-B088-F6E8F9CE5E03}"/>
                </a:ext>
              </a:extLst>
            </p:cNvPr>
            <p:cNvCxnSpPr>
              <a:cxnSpLocks/>
            </p:cNvCxnSpPr>
            <p:nvPr/>
          </p:nvCxnSpPr>
          <p:spPr>
            <a:xfrm>
              <a:off x="6736581" y="22765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56767B55-69EB-4B51-B90F-0425C1D8B7E6}"/>
                </a:ext>
              </a:extLst>
            </p:cNvPr>
            <p:cNvCxnSpPr>
              <a:cxnSpLocks/>
            </p:cNvCxnSpPr>
            <p:nvPr/>
          </p:nvCxnSpPr>
          <p:spPr>
            <a:xfrm>
              <a:off x="8065573" y="22765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35E54365-5F84-4104-AC3C-1B16BC78B61E}"/>
              </a:ext>
            </a:extLst>
          </p:cNvPr>
          <p:cNvSpPr txBox="1"/>
          <p:nvPr/>
        </p:nvSpPr>
        <p:spPr>
          <a:xfrm>
            <a:off x="8305121" y="3266961"/>
            <a:ext cx="286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+mn-ea"/>
                <a:ea typeface="+mn-ea"/>
              </a:rPr>
              <a:t>网格线 </a:t>
            </a:r>
            <a:r>
              <a:rPr lang="en-US" altLang="zh-CN" b="1" dirty="0">
                <a:latin typeface="+mn-ea"/>
                <a:ea typeface="+mn-ea"/>
              </a:rPr>
              <a:t>Grid Lines</a:t>
            </a:r>
            <a:endParaRPr lang="en-US" b="1" dirty="0">
              <a:latin typeface="+mn-ea"/>
              <a:ea typeface="+mn-ea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FB6160BB-8D5F-42D6-AA49-063B7FE387E3}"/>
              </a:ext>
            </a:extLst>
          </p:cNvPr>
          <p:cNvGrpSpPr/>
          <p:nvPr/>
        </p:nvGrpSpPr>
        <p:grpSpPr>
          <a:xfrm>
            <a:off x="3964836" y="2124125"/>
            <a:ext cx="3915489" cy="4083709"/>
            <a:chOff x="3964836" y="2124125"/>
            <a:chExt cx="3915489" cy="4083709"/>
          </a:xfrm>
        </p:grpSpPr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29574BF7-1778-4F55-A014-A9DCA61B43C9}"/>
                </a:ext>
              </a:extLst>
            </p:cNvPr>
            <p:cNvCxnSpPr>
              <a:cxnSpLocks/>
            </p:cNvCxnSpPr>
            <p:nvPr/>
          </p:nvCxnSpPr>
          <p:spPr>
            <a:xfrm>
              <a:off x="3964836" y="21241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8C21835-7AEB-454A-9AB5-8A758B66CB2E}"/>
                </a:ext>
              </a:extLst>
            </p:cNvPr>
            <p:cNvCxnSpPr>
              <a:cxnSpLocks/>
            </p:cNvCxnSpPr>
            <p:nvPr/>
          </p:nvCxnSpPr>
          <p:spPr>
            <a:xfrm>
              <a:off x="5288037" y="21241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E19E5325-4FAB-49E2-AC2B-05FA5D6B45FC}"/>
                </a:ext>
              </a:extLst>
            </p:cNvPr>
            <p:cNvCxnSpPr>
              <a:cxnSpLocks/>
            </p:cNvCxnSpPr>
            <p:nvPr/>
          </p:nvCxnSpPr>
          <p:spPr>
            <a:xfrm>
              <a:off x="6584181" y="21241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5BF44553-93AC-4209-AAFE-B5431C3118A5}"/>
                </a:ext>
              </a:extLst>
            </p:cNvPr>
            <p:cNvCxnSpPr>
              <a:cxnSpLocks/>
            </p:cNvCxnSpPr>
            <p:nvPr/>
          </p:nvCxnSpPr>
          <p:spPr>
            <a:xfrm>
              <a:off x="7880325" y="2124125"/>
              <a:ext cx="0" cy="4083709"/>
            </a:xfrm>
            <a:prstGeom prst="line">
              <a:avLst/>
            </a:prstGeom>
            <a:ln w="28575">
              <a:solidFill>
                <a:srgbClr val="33CCCC"/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网格布局概念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C857F0-35B8-4DCB-9637-F216538EE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91893" y="2072863"/>
            <a:ext cx="4005352" cy="4083709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4836E0C5-690B-4BD8-9F1C-DD6E962DAB6E}"/>
              </a:ext>
            </a:extLst>
          </p:cNvPr>
          <p:cNvGrpSpPr/>
          <p:nvPr/>
        </p:nvGrpSpPr>
        <p:grpSpPr>
          <a:xfrm>
            <a:off x="4783981" y="1053920"/>
            <a:ext cx="3355718" cy="923330"/>
            <a:chOff x="4364513" y="1498119"/>
            <a:chExt cx="3355718" cy="923330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7AAC883-6B13-4CAD-AF64-2E598CC8C689}"/>
                </a:ext>
              </a:extLst>
            </p:cNvPr>
            <p:cNvSpPr txBox="1"/>
            <p:nvPr/>
          </p:nvSpPr>
          <p:spPr>
            <a:xfrm>
              <a:off x="4853459" y="1498119"/>
              <a:ext cx="28667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  <a:ea typeface="+mn-ea"/>
                </a:rPr>
                <a:t>网格列（网格轨道）</a:t>
              </a:r>
              <a:endParaRPr lang="en-US" altLang="zh-CN" b="1" dirty="0">
                <a:latin typeface="+mn-ea"/>
                <a:ea typeface="+mn-ea"/>
              </a:endParaRPr>
            </a:p>
            <a:p>
              <a:r>
                <a:rPr lang="en-US" altLang="zh-CN" b="1" dirty="0">
                  <a:latin typeface="+mn-ea"/>
                  <a:ea typeface="+mn-ea"/>
                </a:rPr>
                <a:t>Grid Column</a:t>
              </a:r>
            </a:p>
            <a:p>
              <a:r>
                <a:rPr lang="zh-CN" altLang="en-US" b="1" dirty="0">
                  <a:latin typeface="+mn-ea"/>
                  <a:ea typeface="+mn-ea"/>
                </a:rPr>
                <a:t>（</a:t>
              </a:r>
              <a:r>
                <a:rPr lang="en-US" altLang="zh-CN" b="1" dirty="0">
                  <a:latin typeface="+mn-ea"/>
                  <a:ea typeface="+mn-ea"/>
                </a:rPr>
                <a:t>Grid Track</a:t>
              </a:r>
              <a:r>
                <a:rPr lang="zh-CN" altLang="en-US" b="1" dirty="0">
                  <a:latin typeface="+mn-ea"/>
                  <a:ea typeface="+mn-ea"/>
                </a:rPr>
                <a:t>）</a:t>
              </a:r>
              <a:endParaRPr lang="en-US" b="1" dirty="0">
                <a:latin typeface="+mn-ea"/>
                <a:ea typeface="+mn-ea"/>
              </a:endParaRP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945781C7-6DF1-482B-A506-ED43E59CF909}"/>
                </a:ext>
              </a:extLst>
            </p:cNvPr>
            <p:cNvCxnSpPr>
              <a:cxnSpLocks/>
            </p:cNvCxnSpPr>
            <p:nvPr/>
          </p:nvCxnSpPr>
          <p:spPr>
            <a:xfrm>
              <a:off x="4364513" y="1625242"/>
              <a:ext cx="0" cy="66908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4C70FE6A-F9E8-4490-B473-7C5DE8DF7F66}"/>
              </a:ext>
            </a:extLst>
          </p:cNvPr>
          <p:cNvSpPr/>
          <p:nvPr/>
        </p:nvSpPr>
        <p:spPr>
          <a:xfrm>
            <a:off x="3991893" y="2072863"/>
            <a:ext cx="1368152" cy="4083709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97EEE132-A6AD-4CF3-9E4A-0B1353581477}"/>
              </a:ext>
            </a:extLst>
          </p:cNvPr>
          <p:cNvSpPr/>
          <p:nvPr/>
        </p:nvSpPr>
        <p:spPr>
          <a:xfrm>
            <a:off x="5360045" y="2072863"/>
            <a:ext cx="1296144" cy="4083709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0439064B-CE80-4554-AC5B-C947745F261C}"/>
              </a:ext>
            </a:extLst>
          </p:cNvPr>
          <p:cNvSpPr/>
          <p:nvPr/>
        </p:nvSpPr>
        <p:spPr>
          <a:xfrm>
            <a:off x="6656189" y="2072862"/>
            <a:ext cx="1296144" cy="4083709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447DBB59-F2E2-4091-8C4E-F22057A8C6D9}"/>
              </a:ext>
            </a:extLst>
          </p:cNvPr>
          <p:cNvSpPr/>
          <p:nvPr/>
        </p:nvSpPr>
        <p:spPr>
          <a:xfrm rot="5400000">
            <a:off x="5297677" y="733210"/>
            <a:ext cx="1368152" cy="4030983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D587F8F-4D7C-48D9-8BCC-4F203A71BC79}"/>
              </a:ext>
            </a:extLst>
          </p:cNvPr>
          <p:cNvSpPr/>
          <p:nvPr/>
        </p:nvSpPr>
        <p:spPr>
          <a:xfrm rot="5400000">
            <a:off x="5333681" y="2099225"/>
            <a:ext cx="1296144" cy="4030983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763C23D2-36CD-44D7-AF0B-BFC5F30EB703}"/>
              </a:ext>
            </a:extLst>
          </p:cNvPr>
          <p:cNvSpPr/>
          <p:nvPr/>
        </p:nvSpPr>
        <p:spPr>
          <a:xfrm rot="5400000">
            <a:off x="5333681" y="3405633"/>
            <a:ext cx="1296144" cy="4030983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572C720-562D-4788-AB18-EB800CA9A352}"/>
              </a:ext>
            </a:extLst>
          </p:cNvPr>
          <p:cNvGrpSpPr/>
          <p:nvPr/>
        </p:nvGrpSpPr>
        <p:grpSpPr>
          <a:xfrm>
            <a:off x="517321" y="3564285"/>
            <a:ext cx="3302638" cy="923330"/>
            <a:chOff x="6122674" y="1433141"/>
            <a:chExt cx="3302638" cy="923330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44AC99D-5151-4C71-99B8-942CE392CE95}"/>
                </a:ext>
              </a:extLst>
            </p:cNvPr>
            <p:cNvSpPr txBox="1"/>
            <p:nvPr/>
          </p:nvSpPr>
          <p:spPr>
            <a:xfrm>
              <a:off x="6122674" y="1433141"/>
              <a:ext cx="247536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  <a:ea typeface="+mn-ea"/>
                </a:rPr>
                <a:t>网格行（网格轨道）</a:t>
              </a:r>
              <a:endParaRPr lang="en-US" altLang="zh-CN" b="1" dirty="0">
                <a:latin typeface="+mn-ea"/>
                <a:ea typeface="+mn-ea"/>
              </a:endParaRPr>
            </a:p>
            <a:p>
              <a:r>
                <a:rPr lang="en-US" altLang="zh-CN" b="1" dirty="0">
                  <a:latin typeface="+mn-ea"/>
                  <a:ea typeface="+mn-ea"/>
                </a:rPr>
                <a:t>Grid Row</a:t>
              </a:r>
            </a:p>
            <a:p>
              <a:r>
                <a:rPr lang="zh-CN" altLang="en-US" b="1" dirty="0">
                  <a:latin typeface="+mn-ea"/>
                  <a:ea typeface="+mn-ea"/>
                </a:rPr>
                <a:t>（</a:t>
              </a:r>
              <a:r>
                <a:rPr lang="en-US" altLang="zh-CN" b="1" dirty="0">
                  <a:latin typeface="+mn-ea"/>
                  <a:ea typeface="+mn-ea"/>
                </a:rPr>
                <a:t>Grid Track</a:t>
              </a:r>
              <a:r>
                <a:rPr lang="zh-CN" altLang="en-US" b="1" dirty="0">
                  <a:latin typeface="+mn-ea"/>
                  <a:ea typeface="+mn-ea"/>
                </a:rPr>
                <a:t>）</a:t>
              </a:r>
              <a:endParaRPr lang="en-US" b="1" dirty="0">
                <a:latin typeface="+mn-ea"/>
                <a:ea typeface="+mn-ea"/>
              </a:endParaRP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AA3867C0-DF53-4F63-BE59-69C31BE2F1FE}"/>
                </a:ext>
              </a:extLst>
            </p:cNvPr>
            <p:cNvCxnSpPr>
              <a:cxnSpLocks/>
            </p:cNvCxnSpPr>
            <p:nvPr/>
          </p:nvCxnSpPr>
          <p:spPr>
            <a:xfrm>
              <a:off x="8031528" y="1894806"/>
              <a:ext cx="1393784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045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5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500"/>
                            </p:stCondLst>
                            <p:childTnLst>
                              <p:par>
                                <p:cTn id="18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500"/>
                            </p:stCondLst>
                            <p:childTnLst>
                              <p:par>
                                <p:cTn id="22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500"/>
                            </p:stCondLst>
                            <p:childTnLst>
                              <p:par>
                                <p:cTn id="30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1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9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000"/>
                            </p:stCondLst>
                            <p:childTnLst>
                              <p:par>
                                <p:cTn id="56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7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9000"/>
                            </p:stCondLst>
                            <p:childTnLst>
                              <p:par>
                                <p:cTn id="6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1000"/>
                            </p:stCondLst>
                            <p:childTnLst>
                              <p:par>
                                <p:cTn id="64" presetID="6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2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60" grpId="0" animBg="1"/>
      <p:bldP spid="60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网格布局概念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C857F0-35B8-4DCB-9637-F216538EE77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91893" y="2072864"/>
            <a:ext cx="4005352" cy="4083709"/>
          </a:xfrm>
          <a:prstGeom prst="rect">
            <a:avLst/>
          </a:prstGeom>
        </p:spPr>
      </p:pic>
      <p:grpSp>
        <p:nvGrpSpPr>
          <p:cNvPr id="52" name="组合 51">
            <a:extLst>
              <a:ext uri="{FF2B5EF4-FFF2-40B4-BE49-F238E27FC236}">
                <a16:creationId xmlns:a16="http://schemas.microsoft.com/office/drawing/2014/main" id="{4836E0C5-690B-4BD8-9F1C-DD6E962DAB6E}"/>
              </a:ext>
            </a:extLst>
          </p:cNvPr>
          <p:cNvGrpSpPr/>
          <p:nvPr/>
        </p:nvGrpSpPr>
        <p:grpSpPr>
          <a:xfrm>
            <a:off x="7985908" y="2431595"/>
            <a:ext cx="3936003" cy="646331"/>
            <a:chOff x="3790868" y="1457054"/>
            <a:chExt cx="3936003" cy="646331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7AAC883-6B13-4CAD-AF64-2E598CC8C689}"/>
                </a:ext>
              </a:extLst>
            </p:cNvPr>
            <p:cNvSpPr txBox="1"/>
            <p:nvPr/>
          </p:nvSpPr>
          <p:spPr>
            <a:xfrm>
              <a:off x="4860099" y="1457054"/>
              <a:ext cx="28667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  <a:ea typeface="+mn-ea"/>
                </a:rPr>
                <a:t>网格单元格</a:t>
              </a:r>
              <a:endParaRPr lang="en-US" altLang="zh-CN" b="1" dirty="0">
                <a:latin typeface="+mn-ea"/>
                <a:ea typeface="+mn-ea"/>
              </a:endParaRPr>
            </a:p>
            <a:p>
              <a:r>
                <a:rPr lang="en-US" altLang="zh-CN" b="1" dirty="0">
                  <a:latin typeface="+mn-ea"/>
                  <a:ea typeface="+mn-ea"/>
                </a:rPr>
                <a:t>Grid Cell</a:t>
              </a:r>
            </a:p>
          </p:txBody>
        </p: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945781C7-6DF1-482B-A506-ED43E59CF909}"/>
                </a:ext>
              </a:extLst>
            </p:cNvPr>
            <p:cNvCxnSpPr>
              <a:cxnSpLocks/>
              <a:stCxn id="53" idx="1"/>
              <a:endCxn id="66" idx="0"/>
            </p:cNvCxnSpPr>
            <p:nvPr/>
          </p:nvCxnSpPr>
          <p:spPr>
            <a:xfrm flipH="1">
              <a:off x="3790868" y="1780220"/>
              <a:ext cx="1069231" cy="1743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FD587F8F-4D7C-48D9-8BCC-4F203A71BC79}"/>
              </a:ext>
            </a:extLst>
          </p:cNvPr>
          <p:cNvSpPr/>
          <p:nvPr/>
        </p:nvSpPr>
        <p:spPr>
          <a:xfrm rot="5400000">
            <a:off x="6641799" y="2076160"/>
            <a:ext cx="1296144" cy="1392074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rgbClr val="33CC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763C23D2-36CD-44D7-AF0B-BFC5F30EB703}"/>
              </a:ext>
            </a:extLst>
          </p:cNvPr>
          <p:cNvSpPr/>
          <p:nvPr/>
        </p:nvSpPr>
        <p:spPr>
          <a:xfrm rot="5400000">
            <a:off x="6034060" y="4132716"/>
            <a:ext cx="1296144" cy="2607553"/>
          </a:xfrm>
          <a:prstGeom prst="roundRect">
            <a:avLst>
              <a:gd name="adj" fmla="val 6920"/>
            </a:avLst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572C720-562D-4788-AB18-EB800CA9A352}"/>
              </a:ext>
            </a:extLst>
          </p:cNvPr>
          <p:cNvGrpSpPr/>
          <p:nvPr/>
        </p:nvGrpSpPr>
        <p:grpSpPr>
          <a:xfrm>
            <a:off x="7985908" y="5004445"/>
            <a:ext cx="3950018" cy="646331"/>
            <a:chOff x="3770213" y="1498119"/>
            <a:chExt cx="3950018" cy="646331"/>
          </a:xfrm>
        </p:grpSpPr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544AC99D-5151-4C71-99B8-942CE392CE95}"/>
                </a:ext>
              </a:extLst>
            </p:cNvPr>
            <p:cNvSpPr txBox="1"/>
            <p:nvPr/>
          </p:nvSpPr>
          <p:spPr>
            <a:xfrm>
              <a:off x="4853459" y="1498119"/>
              <a:ext cx="28667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+mn-ea"/>
                  <a:ea typeface="+mn-ea"/>
                </a:rPr>
                <a:t>网格区域</a:t>
              </a:r>
              <a:endParaRPr lang="en-US" altLang="zh-CN" b="1" dirty="0">
                <a:latin typeface="+mn-ea"/>
                <a:ea typeface="+mn-ea"/>
              </a:endParaRPr>
            </a:p>
            <a:p>
              <a:r>
                <a:rPr lang="en-US" altLang="zh-CN" b="1" dirty="0">
                  <a:latin typeface="+mn-ea"/>
                  <a:ea typeface="+mn-ea"/>
                </a:rPr>
                <a:t>Grid Area</a:t>
              </a:r>
            </a:p>
          </p:txBody>
        </p:sp>
        <p:cxnSp>
          <p:nvCxnSpPr>
            <p:cNvPr id="70" name="直接箭头连接符 69">
              <a:extLst>
                <a:ext uri="{FF2B5EF4-FFF2-40B4-BE49-F238E27FC236}">
                  <a16:creationId xmlns:a16="http://schemas.microsoft.com/office/drawing/2014/main" id="{AA3867C0-DF53-4F63-BE59-69C31BE2F1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0213" y="1852680"/>
              <a:ext cx="108324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46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976715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网格布局与弹性布局和表格布局的差异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2263" y="1693910"/>
            <a:ext cx="5883342" cy="24208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与弹性布局比较</a:t>
            </a:r>
          </a:p>
          <a:p>
            <a:pPr marL="342900" indent="11113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网格布局更加灵活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11113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弹性盒模型是一维模型</a:t>
            </a:r>
            <a:endParaRPr lang="en-US" altLang="zh-CN" sz="2000" b="1" dirty="0">
              <a:solidFill>
                <a:srgbClr val="0432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11113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网格布局是二维模型</a:t>
            </a:r>
            <a:endParaRPr lang="en-US" altLang="zh-CN" sz="2000" b="1" dirty="0">
              <a:solidFill>
                <a:srgbClr val="0432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11113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弹性布局设置相对简单，网格布局则较为复杂</a:t>
            </a:r>
            <a:endParaRPr lang="en-US" altLang="zh-CN" sz="20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42DC2F-2F4A-4FF3-A421-7D437AE5C43E}"/>
              </a:ext>
            </a:extLst>
          </p:cNvPr>
          <p:cNvSpPr/>
          <p:nvPr/>
        </p:nvSpPr>
        <p:spPr>
          <a:xfrm>
            <a:off x="794861" y="4212357"/>
            <a:ext cx="6287619" cy="19591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与表格布局比较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5401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行、列、单元格等概念与表格很类似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35401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网格布局更加灵活</a:t>
            </a:r>
          </a:p>
          <a:p>
            <a:pPr marL="354013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网格布局（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）与内容（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）之间完成了解耦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55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</a:rPr>
              <a:t>设置网格布局</a:t>
            </a:r>
            <a:endParaRPr lang="en-US" altLang="zh-CN" sz="2800" b="1" dirty="0">
              <a:solidFill>
                <a:srgbClr val="0000FF"/>
              </a:solidFill>
              <a:latin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51533" y="1597659"/>
            <a:ext cx="10369152" cy="43598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网格布局的实现步骤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）将容器元素的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属性设置为网格布局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（必要条件）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）以模板的形式设置容器的显式网格属性（行轨道、列轨道或网格区域）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）设置容器的隐式网格属性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（行轨道、列轨道）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）设置容器内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轨道的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间隙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（行轨道、列轨道）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5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）设置容器网格的对齐方式、网格内部的对齐方式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（行轨道、列轨道）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6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）设置单个项目在容器内的占用的网格、排列顺序、对齐方式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29012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117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设置网格布局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C714C4-09CB-4AC3-BD4F-361504D220AC}"/>
              </a:ext>
            </a:extLst>
          </p:cNvPr>
          <p:cNvSpPr/>
          <p:nvPr/>
        </p:nvSpPr>
        <p:spPr>
          <a:xfrm>
            <a:off x="751533" y="1597659"/>
            <a:ext cx="1768433" cy="20515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语法结构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>
              <a:lnSpc>
                <a:spcPct val="150000"/>
              </a:lnSpc>
              <a:buClr>
                <a:schemeClr val="accent6"/>
              </a:buClr>
            </a:pP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BEC0FAB-A07F-474B-BB26-C5E923ED8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787033"/>
              </p:ext>
            </p:extLst>
          </p:nvPr>
        </p:nvGraphicFramePr>
        <p:xfrm>
          <a:off x="1183581" y="2432921"/>
          <a:ext cx="863714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8637149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display: grid | inline-grid;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3B7F8984-F94E-4B02-BFDA-B3F396DE3CD1}"/>
              </a:ext>
            </a:extLst>
          </p:cNvPr>
          <p:cNvSpPr/>
          <p:nvPr/>
        </p:nvSpPr>
        <p:spPr>
          <a:xfrm>
            <a:off x="6442705" y="1194927"/>
            <a:ext cx="5287862" cy="1176769"/>
          </a:xfrm>
          <a:prstGeom prst="wedgeRoundRectCallout">
            <a:avLst>
              <a:gd name="adj1" fmla="val -60751"/>
              <a:gd name="adj2" fmla="val 9012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将元素设置为网格容器</a:t>
            </a:r>
            <a:endParaRPr lang="en-US" altLang="zh-CN" b="1" dirty="0">
              <a:solidFill>
                <a:srgbClr val="0000FF"/>
              </a:solidFill>
            </a:endParaRPr>
          </a:p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设为网格布局以后，容器子元素的</a:t>
            </a:r>
            <a:r>
              <a:rPr lang="en-US" altLang="zh-CN" b="1" dirty="0">
                <a:solidFill>
                  <a:srgbClr val="0000FF"/>
                </a:solidFill>
              </a:rPr>
              <a:t>float</a:t>
            </a:r>
            <a:r>
              <a:rPr lang="zh-CN" altLang="en-US" b="1" dirty="0">
                <a:solidFill>
                  <a:srgbClr val="0000FF"/>
                </a:solidFill>
              </a:rPr>
              <a:t>、</a:t>
            </a:r>
            <a:r>
              <a:rPr lang="en-US" altLang="zh-CN" b="1" dirty="0">
                <a:solidFill>
                  <a:srgbClr val="0000FF"/>
                </a:solidFill>
              </a:rPr>
              <a:t>clear</a:t>
            </a:r>
            <a:r>
              <a:rPr lang="zh-CN" altLang="en-US" b="1" dirty="0">
                <a:solidFill>
                  <a:srgbClr val="0000FF"/>
                </a:solidFill>
              </a:rPr>
              <a:t>和</a:t>
            </a:r>
            <a:r>
              <a:rPr lang="en-US" altLang="zh-CN" b="1" dirty="0">
                <a:solidFill>
                  <a:srgbClr val="0000FF"/>
                </a:solidFill>
              </a:rPr>
              <a:t>vertical-align</a:t>
            </a:r>
            <a:r>
              <a:rPr lang="zh-CN" altLang="en-US" b="1" dirty="0">
                <a:solidFill>
                  <a:srgbClr val="0000FF"/>
                </a:solidFill>
              </a:rPr>
              <a:t>属性将完全失效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5A08F3-6873-4E33-85B7-71AA72BF1416}"/>
              </a:ext>
            </a:extLst>
          </p:cNvPr>
          <p:cNvSpPr/>
          <p:nvPr/>
        </p:nvSpPr>
        <p:spPr>
          <a:xfrm>
            <a:off x="751533" y="3145733"/>
            <a:ext cx="6080125" cy="8583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             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块级网格显示方式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342900" indent="9525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inline-grid        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行内网格显示方式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2052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A008F6-4892-45CA-9FE7-F051F2C9D5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80325" y="1930364"/>
            <a:ext cx="4005352" cy="408370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085BB9D-AAAF-46D8-9E3E-CDE876E695E2}"/>
              </a:ext>
            </a:extLst>
          </p:cNvPr>
          <p:cNvSpPr/>
          <p:nvPr/>
        </p:nvSpPr>
        <p:spPr>
          <a:xfrm>
            <a:off x="175469" y="1881036"/>
            <a:ext cx="7920713" cy="418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red" id="grid_item1"&gt;One&lt;/div&gt;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crimson" id="grid_item2"&gt;Two&lt;/div&gt;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darkred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 id="grid_item3"&gt;Three&lt;/div&gt;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limegreen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 id="grid_item4"&gt;Four&lt;/div&gt;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green" id="grid_item5"&gt;Five&lt;/div&gt;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darkgreen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 id="grid_item6"&gt;Six&lt;/div&gt;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blue" id="grid_item7"&gt;Seven&lt;/div&gt;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darkblue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 id="grid_item8"&gt;Eight&lt;/div&gt;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&lt;/div&gt;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0351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A008F6-4892-45CA-9FE7-F051F2C9D5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80325" y="1930364"/>
            <a:ext cx="4005352" cy="408370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796069" y="2196133"/>
            <a:ext cx="6080125" cy="3351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width: 301px;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height: 301px;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border: 2px dashed black;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display: grid;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grid-template-columns: 100px 100px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grid-template-rows:100px 100px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277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9-1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网格布局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9-1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8A008F6-4892-45CA-9FE7-F051F2C9D5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80325" y="1930364"/>
            <a:ext cx="4005352" cy="408370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792088" y="1729334"/>
            <a:ext cx="6080125" cy="44131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1px dashed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gainsboro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background-color:#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eeeeee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color: white;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text-align: center;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line-height: 100px;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#grid_item8{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grid-column-start: 2;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grid-column-end: 4;</a:t>
            </a:r>
          </a:p>
          <a:p>
            <a:pPr>
              <a:lnSpc>
                <a:spcPct val="150000"/>
              </a:lnSpc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783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343" y="2862820"/>
            <a:ext cx="10818398" cy="293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网格的类型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accent6"/>
                </a:solidFill>
              </a:rPr>
              <a:t>显式网格</a:t>
            </a:r>
            <a:endParaRPr lang="en-US" altLang="zh-CN" sz="2800" b="1" dirty="0">
              <a:solidFill>
                <a:schemeClr val="accent6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6"/>
                </a:solidFill>
              </a:rPr>
              <a:t>通过显式网格属性设置的网格</a:t>
            </a:r>
            <a:endParaRPr lang="en-US" altLang="zh-CN" sz="2400" b="1" dirty="0">
              <a:solidFill>
                <a:schemeClr val="accent6"/>
              </a:solidFill>
            </a:endParaRPr>
          </a:p>
          <a:p>
            <a:pPr marL="457200" indent="-457200" algn="just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>
                <a:solidFill>
                  <a:schemeClr val="accent6"/>
                </a:solidFill>
              </a:rPr>
              <a:t>隐式网格</a:t>
            </a:r>
            <a:endParaRPr lang="en-US" altLang="zh-CN" sz="2800" b="1" dirty="0">
              <a:solidFill>
                <a:schemeClr val="accent6"/>
              </a:solidFill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accent6"/>
                </a:solidFill>
              </a:rPr>
              <a:t>当网格项目超出显式网格属性定义的显式网格时动态生成</a:t>
            </a:r>
            <a:endParaRPr lang="en-US" altLang="zh-CN" sz="2400" b="1" dirty="0">
              <a:solidFill>
                <a:schemeClr val="accent6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6DE91F7-3051-4D72-9F74-1086CD43C420}"/>
              </a:ext>
            </a:extLst>
          </p:cNvPr>
          <p:cNvSpPr/>
          <p:nvPr/>
        </p:nvSpPr>
        <p:spPr>
          <a:xfrm>
            <a:off x="806343" y="1054292"/>
            <a:ext cx="10674382" cy="1510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网格布局功能强大，这也意味着设置更加复杂</a:t>
            </a:r>
            <a:endParaRPr lang="en-US" altLang="zh-CN" sz="2800" b="1" dirty="0">
              <a:solidFill>
                <a:srgbClr val="0000FF"/>
              </a:solidFill>
            </a:endParaRPr>
          </a:p>
          <a:p>
            <a:pPr marL="457200" indent="-457200" algn="just">
              <a:lnSpc>
                <a:spcPct val="150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与弹性布局类似，布局属性设置的对象包括容器和项目</a:t>
            </a:r>
          </a:p>
        </p:txBody>
      </p:sp>
    </p:spTree>
    <p:extLst>
      <p:ext uri="{BB962C8B-B14F-4D97-AF65-F5344CB8AC3E}">
        <p14:creationId xmlns:p14="http://schemas.microsoft.com/office/powerpoint/2010/main" val="321944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400" y="1183092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3541" y="1764085"/>
            <a:ext cx="11089232" cy="2974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使用网格布局后接下来需要完成网格的划分，即确定网格的行和列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行列模板属性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</a:t>
            </a:r>
            <a:r>
              <a:rPr lang="zh-CN" altLang="en-US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4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grid-template-rows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以模板的形式</a:t>
            </a:r>
            <a:r>
              <a:rPr lang="zh-CN" altLang="en-US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显式地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</a:t>
            </a:r>
            <a:r>
              <a:rPr lang="zh-CN" altLang="en-US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列属性</a:t>
            </a: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包括列的名称和尺寸（列宽）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grid-template-rows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以模板的形式用于</a:t>
            </a:r>
            <a:r>
              <a:rPr lang="zh-CN" altLang="en-US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显式地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</a:t>
            </a:r>
            <a:r>
              <a:rPr lang="zh-CN" altLang="en-US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行属性</a:t>
            </a: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包括行的名称和尺寸（行高）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927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828635" y="1624998"/>
            <a:ext cx="156324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31814D7-B210-4C86-B52F-7749C4502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37455"/>
              </p:ext>
            </p:extLst>
          </p:nvPr>
        </p:nvGraphicFramePr>
        <p:xfrm>
          <a:off x="861215" y="2320463"/>
          <a:ext cx="10763526" cy="7010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396702">
                  <a:extLst>
                    <a:ext uri="{9D8B030D-6E8A-4147-A177-3AD203B41FA5}">
                      <a16:colId xmlns:a16="http://schemas.microsoft.com/office/drawing/2014/main" val="4020043646"/>
                    </a:ext>
                  </a:extLst>
                </a:gridCol>
                <a:gridCol w="7366824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grid-template-columns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grid-template-rows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none | &lt;track-list&gt; | &lt;auto-track-list&gt;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61214" y="3157199"/>
            <a:ext cx="11299035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none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表示不创建任何显式网格，此时容器将变为完全隐式网格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隐式网格的行列大小将由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grid-auto-columns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grid-auto-rows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属性确定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&lt;track-list&gt;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&lt;auto-track-list&gt;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用列表形式描述显式网格的轨道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871B17D4-437F-4D9C-AFF9-D9634E7AA923}"/>
              </a:ext>
            </a:extLst>
          </p:cNvPr>
          <p:cNvSpPr/>
          <p:nvPr/>
        </p:nvSpPr>
        <p:spPr>
          <a:xfrm>
            <a:off x="1183581" y="5446013"/>
            <a:ext cx="2952328" cy="1142608"/>
          </a:xfrm>
          <a:prstGeom prst="wedgeRoundRectCallout">
            <a:avLst>
              <a:gd name="adj1" fmla="val -4617"/>
              <a:gd name="adj2" fmla="val -123997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为了简化理解，可以暂时忽略两种轨道列表的区别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B80F5A4-7E3E-435D-9004-08C0370658E4}"/>
              </a:ext>
            </a:extLst>
          </p:cNvPr>
          <p:cNvSpPr/>
          <p:nvPr/>
        </p:nvSpPr>
        <p:spPr>
          <a:xfrm>
            <a:off x="5576069" y="4562392"/>
            <a:ext cx="5760640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由一系列可选的</a:t>
            </a:r>
            <a:endParaRPr lang="en-US" altLang="zh-CN" sz="2000" b="1" dirty="0">
              <a:solidFill>
                <a:srgbClr val="0432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网格线名称列表</a:t>
            </a:r>
            <a:r>
              <a:rPr lang="en-US" altLang="zh-CN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(line names)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和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轨道尺寸调整函数</a:t>
            </a:r>
            <a:r>
              <a:rPr lang="en-US" altLang="zh-CN" sz="2000" b="1" dirty="0">
                <a:solidFill>
                  <a:srgbClr val="0432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(track sizing function)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构成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2884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784074" y="1739470"/>
            <a:ext cx="10624643" cy="3874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&lt;track-list&gt;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&lt;auto-track-list&gt;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结构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Tx/>
              <a:buChar char="-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网格线名称列表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便于开发人员设计网格属性，所以为网格线定义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一个或多个名称</a:t>
            </a:r>
            <a:r>
              <a:rPr lang="en-US" altLang="zh-CN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(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别名</a:t>
            </a:r>
            <a:r>
              <a:rPr lang="en-US" altLang="zh-CN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Tx/>
              <a:buChar char="-"/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轨道尺寸调整函数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用于显式定义</a:t>
            </a:r>
            <a:r>
              <a:rPr lang="zh-CN" altLang="en-US" sz="28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所在轨道（行或列）的尺寸</a:t>
            </a:r>
            <a:endParaRPr lang="en-US" altLang="zh-CN" sz="24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网格有多少条显式轨道就需要设置多少个轨道尺寸调整函数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A2079BE-735B-4124-9608-7BD81C94E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815988"/>
              </p:ext>
            </p:extLst>
          </p:nvPr>
        </p:nvGraphicFramePr>
        <p:xfrm>
          <a:off x="751533" y="2354252"/>
          <a:ext cx="11089232" cy="77798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1089232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777985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网格线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名称列表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] 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</a:t>
                      </a:r>
                      <a:r>
                        <a:rPr kumimoji="1" lang="zh-CN" altLang="en-US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轨道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1</a:t>
                      </a:r>
                      <a:r>
                        <a:rPr kumimoji="1" lang="zh-CN" altLang="en-US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调整函数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]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网格线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名称列表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] 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</a:t>
                      </a:r>
                      <a:r>
                        <a:rPr kumimoji="1" lang="zh-CN" altLang="en-US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轨道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2</a:t>
                      </a:r>
                      <a:r>
                        <a:rPr kumimoji="1" lang="zh-CN" altLang="en-US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调整函数</a:t>
                      </a:r>
                      <a:r>
                        <a:rPr kumimoji="1" lang="en-US" altLang="zh-CN" sz="2000" b="1" kern="1200" dirty="0">
                          <a:solidFill>
                            <a:schemeClr val="accent6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] 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网格线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3</a:t>
                      </a:r>
                      <a:r>
                        <a:rPr kumimoji="1" lang="zh-CN" altLang="en-US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名称列表</a:t>
                      </a:r>
                      <a:r>
                        <a:rPr kumimoji="1" lang="en-US" altLang="zh-CN" sz="2000" b="1" kern="1200" dirty="0">
                          <a:solidFill>
                            <a:srgbClr val="0432FF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]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……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圆角矩形标注 2">
            <a:extLst>
              <a:ext uri="{FF2B5EF4-FFF2-40B4-BE49-F238E27FC236}">
                <a16:creationId xmlns:a16="http://schemas.microsoft.com/office/drawing/2014/main" id="{9FF8BD9D-B4C2-45C9-9C1D-2C49D4D33AF2}"/>
              </a:ext>
            </a:extLst>
          </p:cNvPr>
          <p:cNvSpPr/>
          <p:nvPr/>
        </p:nvSpPr>
        <p:spPr>
          <a:xfrm>
            <a:off x="6080126" y="1188021"/>
            <a:ext cx="5616860" cy="960641"/>
          </a:xfrm>
          <a:prstGeom prst="wedgeRoundRectCallout">
            <a:avLst>
              <a:gd name="adj1" fmla="val 2389"/>
              <a:gd name="adj2" fmla="val 83481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3000"/>
              </a:lnSpc>
            </a:pPr>
            <a:r>
              <a:rPr lang="zh-CN" altLang="en-US" b="1" dirty="0">
                <a:solidFill>
                  <a:srgbClr val="0000FF"/>
                </a:solidFill>
              </a:rPr>
              <a:t>一条轨道有两条网格线，相邻轨道中间夹着一条相同的网格线，所以在最后一条轨道后方还有一条网格线</a:t>
            </a:r>
          </a:p>
        </p:txBody>
      </p:sp>
    </p:spTree>
    <p:extLst>
      <p:ext uri="{BB962C8B-B14F-4D97-AF65-F5344CB8AC3E}">
        <p14:creationId xmlns:p14="http://schemas.microsoft.com/office/powerpoint/2010/main" val="245551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784074" y="1761481"/>
            <a:ext cx="11299035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&lt;track-list&gt;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&lt;auto-track-list&gt;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结构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A9BB70A-D006-411C-A97D-DF21E0E5E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307601"/>
              </p:ext>
            </p:extLst>
          </p:nvPr>
        </p:nvGraphicFramePr>
        <p:xfrm>
          <a:off x="967557" y="2452143"/>
          <a:ext cx="10641013" cy="3837262"/>
        </p:xfrm>
        <a:graphic>
          <a:graphicData uri="http://schemas.openxmlformats.org/drawingml/2006/table">
            <a:tbl>
              <a:tblPr firstRow="1" firstCol="1" bandRow="1"/>
              <a:tblGrid>
                <a:gridCol w="2358048">
                  <a:extLst>
                    <a:ext uri="{9D8B030D-6E8A-4147-A177-3AD203B41FA5}">
                      <a16:colId xmlns:a16="http://schemas.microsoft.com/office/drawing/2014/main" val="2641304712"/>
                    </a:ext>
                  </a:extLst>
                </a:gridCol>
                <a:gridCol w="8282965">
                  <a:extLst>
                    <a:ext uri="{9D8B030D-6E8A-4147-A177-3AD203B41FA5}">
                      <a16:colId xmlns:a16="http://schemas.microsoft.com/office/drawing/2014/main" val="3822179719"/>
                    </a:ext>
                  </a:extLst>
                </a:gridCol>
              </a:tblGrid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546748"/>
                  </a:ext>
                </a:extLst>
              </a:tr>
              <a:tr h="27409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line name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118559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&lt;line-names&gt;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使用字符串定义网格线名称，一个轨道可以设置多个名称，例如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[line1]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[l1 head]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914890"/>
                  </a:ext>
                </a:extLst>
              </a:tr>
              <a:tr h="27409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track sizing function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0180989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&lt;length&gt;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长度单位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设置轨道尺寸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例如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9px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2em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等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743169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&lt;percentage&gt;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百分比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单位设置轨道尺寸，例如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50%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706620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&lt;flex&gt;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sz="1600" kern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fr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弹性单位设置轨道尺寸，所有使用弹性单位设置的轨道</a:t>
                      </a:r>
                      <a:r>
                        <a:rPr lang="zh-CN" sz="1600" b="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按照比例分割剩余空间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。例如轨道列表共有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条轨道设置为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1fr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2fr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，则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条轨道分别占据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1/3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2/3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剩余空间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7456392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minmax(min, max)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使用最大最小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尺寸范围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，例如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minmax(10px,20px)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850545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auto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由浏览器设置轨道尺寸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403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max-content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所有轨道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内容中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尺寸最大的部分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作为轨道尺寸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3727285"/>
                  </a:ext>
                </a:extLst>
              </a:tr>
              <a:tr h="27409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min-content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所有轨道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内容中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尺寸最小的部分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作为轨道尺寸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2832030"/>
                  </a:ext>
                </a:extLst>
              </a:tr>
              <a:tr h="54818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fit-content(&lt;length-percentage&gt;)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在指定尺寸条件下</a:t>
                      </a:r>
                      <a:r>
                        <a:rPr lang="zh-CN" sz="1600" kern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尽可能收缩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，当内容小于指定尺寸时等同于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max-content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，当内容尺寸大于指定尺寸时等同于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min-content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，内容介于两者之间时等于指定尺寸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9788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934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9-2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B09D4F4-D963-41F3-A1AD-3AC42FCF0972}"/>
              </a:ext>
            </a:extLst>
          </p:cNvPr>
          <p:cNvGrpSpPr/>
          <p:nvPr/>
        </p:nvGrpSpPr>
        <p:grpSpPr>
          <a:xfrm>
            <a:off x="811749" y="3896873"/>
            <a:ext cx="9587539" cy="2566013"/>
            <a:chOff x="806866" y="2791857"/>
            <a:chExt cx="9587539" cy="256601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9DFF623-4639-42A3-890E-EF7F968F93D0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806951" y="2791857"/>
              <a:ext cx="2587454" cy="2566013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A3F0CE-A200-474A-9E42-C6F92DBA8C39}"/>
                </a:ext>
              </a:extLst>
            </p:cNvPr>
            <p:cNvSpPr/>
            <p:nvPr/>
          </p:nvSpPr>
          <p:spPr>
            <a:xfrm>
              <a:off x="806866" y="2898966"/>
              <a:ext cx="6080125" cy="77328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(2)grid-template-columns: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 [c1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100px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[c2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1fr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[c3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2fr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;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825F34-366F-4042-A253-8CF35F4B89F6}"/>
              </a:ext>
            </a:extLst>
          </p:cNvPr>
          <p:cNvGrpSpPr/>
          <p:nvPr/>
        </p:nvGrpSpPr>
        <p:grpSpPr>
          <a:xfrm>
            <a:off x="804037" y="1038856"/>
            <a:ext cx="9591734" cy="2567104"/>
            <a:chOff x="804037" y="1038856"/>
            <a:chExt cx="9591734" cy="256710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157E7A6-BE9B-4F2E-86A2-88E721825B2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808317" y="1038856"/>
              <a:ext cx="2587454" cy="2567104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F4C8961-1F5C-4368-BA74-650712EC369D}"/>
                </a:ext>
              </a:extLst>
            </p:cNvPr>
            <p:cNvSpPr/>
            <p:nvPr/>
          </p:nvSpPr>
          <p:spPr>
            <a:xfrm>
              <a:off x="804037" y="1749698"/>
              <a:ext cx="6080125" cy="77328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(1)grid-template-columns: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 [c1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100px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[c2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50%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[c3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auto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364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9-2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3A8208-FE3C-42BF-97AD-0911EC7428ED}"/>
              </a:ext>
            </a:extLst>
          </p:cNvPr>
          <p:cNvGrpSpPr/>
          <p:nvPr/>
        </p:nvGrpSpPr>
        <p:grpSpPr>
          <a:xfrm>
            <a:off x="823994" y="971997"/>
            <a:ext cx="10801807" cy="2531413"/>
            <a:chOff x="804037" y="2887875"/>
            <a:chExt cx="10801807" cy="2531413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EABD900-AE12-4495-91E6-31A1FCCCEB4B}"/>
                </a:ext>
              </a:extLst>
            </p:cNvPr>
            <p:cNvSpPr/>
            <p:nvPr/>
          </p:nvSpPr>
          <p:spPr>
            <a:xfrm>
              <a:off x="804037" y="4082887"/>
              <a:ext cx="9000547" cy="77328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(3)grid-template-columns: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[c1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minmax(10%,90%) 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[c2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max-content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 [c3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min-content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;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2210992-66FD-4F2E-955D-543461540309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827716" y="2887875"/>
              <a:ext cx="2778128" cy="2531413"/>
            </a:xfrm>
            <a:prstGeom prst="rect">
              <a:avLst/>
            </a:prstGeom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493CB3A8-44D0-4ECD-A8EF-9258B5A59D9E}"/>
              </a:ext>
            </a:extLst>
          </p:cNvPr>
          <p:cNvGrpSpPr/>
          <p:nvPr/>
        </p:nvGrpSpPr>
        <p:grpSpPr>
          <a:xfrm>
            <a:off x="762175" y="4135309"/>
            <a:ext cx="10863626" cy="2453311"/>
            <a:chOff x="823994" y="5105208"/>
            <a:chExt cx="10863626" cy="245331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F69B423-F1ED-4140-849B-0B9C59A12DFE}"/>
                </a:ext>
              </a:extLst>
            </p:cNvPr>
            <p:cNvSpPr/>
            <p:nvPr/>
          </p:nvSpPr>
          <p:spPr>
            <a:xfrm>
              <a:off x="823994" y="5266809"/>
              <a:ext cx="6840307" cy="11426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(4)grid-template-columns: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[c1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fit-content(500px) 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[c2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fit-content(100px)  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[c3 column] </a:t>
              </a:r>
              <a:r>
                <a:rPr lang="en-US" altLang="zh-CN" sz="16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fit-content(1px) 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;</a:t>
              </a:r>
            </a:p>
          </p:txBody>
        </p:sp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A7527D8-596F-487C-9CBD-58774A87E436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8909492" y="5105208"/>
              <a:ext cx="2778128" cy="24533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63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14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repeat()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函数</a:t>
            </a:r>
            <a:endParaRPr lang="en-US" altLang="zh-CN" sz="2000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Tx/>
              <a:buChar char="-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如果轨道数量较多，设置时就相对繁琐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Tx/>
              <a:buChar char="-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为了简化设置，可以使用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repeat()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函数简化设置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D7450A-4267-4FF4-89CD-0EA5248EC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573293"/>
              </p:ext>
            </p:extLst>
          </p:nvPr>
        </p:nvGraphicFramePr>
        <p:xfrm>
          <a:off x="928442" y="3204245"/>
          <a:ext cx="10336259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0336259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repeat( [ &lt;integer [1,∞]&gt; | auto-fill | auto-fit ] , &lt;track-list&gt; 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851288-915C-4006-A934-A6D341D4A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496614"/>
              </p:ext>
            </p:extLst>
          </p:nvPr>
        </p:nvGraphicFramePr>
        <p:xfrm>
          <a:off x="890394" y="4212357"/>
          <a:ext cx="10641013" cy="1872208"/>
        </p:xfrm>
        <a:graphic>
          <a:graphicData uri="http://schemas.openxmlformats.org/drawingml/2006/table">
            <a:tbl>
              <a:tblPr firstRow="1" firstCol="1" bandRow="1"/>
              <a:tblGrid>
                <a:gridCol w="1902613">
                  <a:extLst>
                    <a:ext uri="{9D8B030D-6E8A-4147-A177-3AD203B41FA5}">
                      <a16:colId xmlns:a16="http://schemas.microsoft.com/office/drawing/2014/main" val="2613951295"/>
                    </a:ext>
                  </a:extLst>
                </a:gridCol>
                <a:gridCol w="8738400">
                  <a:extLst>
                    <a:ext uri="{9D8B030D-6E8A-4147-A177-3AD203B41FA5}">
                      <a16:colId xmlns:a16="http://schemas.microsoft.com/office/drawing/2014/main" val="701179041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0011184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&lt;integer [1,∞]&gt;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使用正整数表示重复轨道数量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343741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auto-fill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自动计算对应轴方向填满网格所需的轨道数量。如果网格项目所占用的轨道数小于计算除的轨道数量，则多余的空间会生成空轨道，这些空轨道也会分配尺寸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471163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auto-fit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与</a:t>
                      </a:r>
                      <a:r>
                        <a:rPr lang="en-US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auto-fill</a:t>
                      </a: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基本一致。但当存在空轨道时，空轨道将被折叠。此时如果轨道列表网格项目轨道列表使用</a:t>
                      </a:r>
                      <a:r>
                        <a:rPr lang="en-US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minmax()</a:t>
                      </a: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函数，且使用了弹性尺寸，则网格项目会占满空轨道的空间。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27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807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C8961-1F5C-4368-BA74-650712EC369D}"/>
              </a:ext>
            </a:extLst>
          </p:cNvPr>
          <p:cNvSpPr/>
          <p:nvPr/>
        </p:nvSpPr>
        <p:spPr>
          <a:xfrm>
            <a:off x="804037" y="1749698"/>
            <a:ext cx="6080125" cy="4039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(1) </a:t>
            </a:r>
            <a:r>
              <a:rPr lang="en-US" altLang="zh-CN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grid-template-columns:repeat</a:t>
            </a:r>
            <a:r>
              <a:rPr lang="en-US" altLang="zh-CN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(3,120px);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7E71AE5-B2B1-4BC2-8A5A-56F0FF211D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808317" y="1081723"/>
            <a:ext cx="2121693" cy="1712130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22348D54-5D90-4771-B0B0-F422A43E725E}"/>
              </a:ext>
            </a:extLst>
          </p:cNvPr>
          <p:cNvGrpSpPr/>
          <p:nvPr/>
        </p:nvGrpSpPr>
        <p:grpSpPr>
          <a:xfrm>
            <a:off x="804037" y="3033924"/>
            <a:ext cx="9125973" cy="1819705"/>
            <a:chOff x="804037" y="3033924"/>
            <a:chExt cx="9125973" cy="181970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7A3F0CE-A200-474A-9E42-C6F92DBA8C39}"/>
                </a:ext>
              </a:extLst>
            </p:cNvPr>
            <p:cNvSpPr/>
            <p:nvPr/>
          </p:nvSpPr>
          <p:spPr>
            <a:xfrm>
              <a:off x="804037" y="3440954"/>
              <a:ext cx="6080125" cy="4039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(2) 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grid-template-columns:repeat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(2,1fr) 50%;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BF5C10D-B659-4600-8D96-FAC2521D6C0E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7808317" y="3033924"/>
              <a:ext cx="2121693" cy="1819705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FAD800-1AB9-4A66-91D8-6771BCE24CEB}"/>
              </a:ext>
            </a:extLst>
          </p:cNvPr>
          <p:cNvGrpSpPr/>
          <p:nvPr/>
        </p:nvGrpSpPr>
        <p:grpSpPr>
          <a:xfrm>
            <a:off x="804037" y="4959846"/>
            <a:ext cx="9118466" cy="1834224"/>
            <a:chOff x="804037" y="4959846"/>
            <a:chExt cx="9118466" cy="1834224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EABD900-AE12-4495-91E6-31A1FCCCEB4B}"/>
                </a:ext>
              </a:extLst>
            </p:cNvPr>
            <p:cNvSpPr/>
            <p:nvPr/>
          </p:nvSpPr>
          <p:spPr>
            <a:xfrm>
              <a:off x="804037" y="5119588"/>
              <a:ext cx="9000547" cy="403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(3) 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grid-template-columns:repeat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(1,1fr 2fr 1fr);</a:t>
              </a: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AA3F9E25-8CA8-42DF-A4EE-B94291A7A471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7800810" y="4959846"/>
              <a:ext cx="2121693" cy="18342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67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9-3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DF65363-92C5-45F5-BDD7-552B11A22637}"/>
              </a:ext>
            </a:extLst>
          </p:cNvPr>
          <p:cNvGrpSpPr/>
          <p:nvPr/>
        </p:nvGrpSpPr>
        <p:grpSpPr>
          <a:xfrm>
            <a:off x="751533" y="1620069"/>
            <a:ext cx="9000547" cy="2573398"/>
            <a:chOff x="770535" y="1908101"/>
            <a:chExt cx="9000547" cy="2573398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0BE992B-6143-45DD-B2A8-C9F81A5C83F3}"/>
                </a:ext>
              </a:extLst>
            </p:cNvPr>
            <p:cNvSpPr/>
            <p:nvPr/>
          </p:nvSpPr>
          <p:spPr>
            <a:xfrm>
              <a:off x="770535" y="1908101"/>
              <a:ext cx="9000547" cy="403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(4) 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grid-template-columns:repeat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(auto-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fill,minmax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(50px,1fr));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757CAE9E-83D1-4D67-BD6A-BD8F11262AEB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967557" y="2359040"/>
              <a:ext cx="4104289" cy="2122459"/>
            </a:xfrm>
            <a:prstGeom prst="rect">
              <a:avLst/>
            </a:prstGeom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015E7ED-4CB3-432C-9394-B499BF86DF43}"/>
              </a:ext>
            </a:extLst>
          </p:cNvPr>
          <p:cNvGrpSpPr/>
          <p:nvPr/>
        </p:nvGrpSpPr>
        <p:grpSpPr>
          <a:xfrm>
            <a:off x="781991" y="4240449"/>
            <a:ext cx="9000547" cy="2577964"/>
            <a:chOff x="781991" y="4240449"/>
            <a:chExt cx="9000547" cy="2577964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103903F-2EF5-45F3-AC35-A9E0ECB21AB6}"/>
                </a:ext>
              </a:extLst>
            </p:cNvPr>
            <p:cNvSpPr/>
            <p:nvPr/>
          </p:nvSpPr>
          <p:spPr>
            <a:xfrm>
              <a:off x="781991" y="4240449"/>
              <a:ext cx="9000547" cy="4039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(5) 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grid-template-columns:repeat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(auto-</a:t>
              </a:r>
              <a:r>
                <a:rPr lang="en-US" altLang="zh-CN" sz="1600" b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fit,minmax</a:t>
              </a:r>
              <a:r>
                <a:rPr lang="en-US" altLang="zh-CN" sz="1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(50px,1fr));</a:t>
              </a:r>
            </a:p>
          </p:txBody>
        </p:sp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D367B947-3081-4BD5-9BE2-8FDDF87CF12C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950724" y="4691388"/>
              <a:ext cx="4102120" cy="2127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240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区域模板属性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grid-template-areas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D7450A-4267-4FF4-89CD-0EA5248EC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210646"/>
              </p:ext>
            </p:extLst>
          </p:nvPr>
        </p:nvGraphicFramePr>
        <p:xfrm>
          <a:off x="911995" y="3017049"/>
          <a:ext cx="10336260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59818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7976442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grid-template-areas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 none | &lt;string&gt;+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FD326EA-0A5C-414C-9620-5DFF2F91B111}"/>
              </a:ext>
            </a:extLst>
          </p:cNvPr>
          <p:cNvSpPr/>
          <p:nvPr/>
        </p:nvSpPr>
        <p:spPr>
          <a:xfrm>
            <a:off x="823541" y="2403368"/>
            <a:ext cx="156324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89125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网格布局允许为单元格指定区域，每个区域可由一个或多个单元格组成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C2C615-62C1-44FE-A9B5-136AE967A1FB}"/>
              </a:ext>
            </a:extLst>
          </p:cNvPr>
          <p:cNvSpPr/>
          <p:nvPr/>
        </p:nvSpPr>
        <p:spPr>
          <a:xfrm>
            <a:off x="874752" y="3679305"/>
            <a:ext cx="9525853" cy="2104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区域模板由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多行字符串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构成，每一行字符串表示该行的区域划分方式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字符串中的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空格符号用于划分列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，划分出的每个单词代表单元格名称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“</a:t>
            </a:r>
            <a:r>
              <a:rPr lang="en-US" altLang="zh-CN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.”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符号表示该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单元格留空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如果要划分出由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多个单元格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构成的区域，只需将区域内的单元格都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设置相同的名称</a:t>
            </a:r>
            <a:endParaRPr lang="en-US" altLang="zh-CN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实际使用中通常需要同时为网格项目设置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grid-area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</p:spTree>
    <p:extLst>
      <p:ext uri="{BB962C8B-B14F-4D97-AF65-F5344CB8AC3E}">
        <p14:creationId xmlns:p14="http://schemas.microsoft.com/office/powerpoint/2010/main" val="1699954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区域模板属性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grid-template-areas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431ED34-63EE-4EF8-B512-0B60642AD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098811"/>
              </p:ext>
            </p:extLst>
          </p:nvPr>
        </p:nvGraphicFramePr>
        <p:xfrm>
          <a:off x="983483" y="2311909"/>
          <a:ext cx="8697042" cy="2926080"/>
        </p:xfrm>
        <a:graphic>
          <a:graphicData uri="http://schemas.openxmlformats.org/drawingml/2006/table">
            <a:tbl>
              <a:tblPr firstRow="1" firstCol="1" bandRow="1"/>
              <a:tblGrid>
                <a:gridCol w="423534">
                  <a:extLst>
                    <a:ext uri="{9D8B030D-6E8A-4147-A177-3AD203B41FA5}">
                      <a16:colId xmlns:a16="http://schemas.microsoft.com/office/drawing/2014/main" val="3274928758"/>
                    </a:ext>
                  </a:extLst>
                </a:gridCol>
                <a:gridCol w="8273508">
                  <a:extLst>
                    <a:ext uri="{9D8B030D-6E8A-4147-A177-3AD203B41FA5}">
                      <a16:colId xmlns:a16="http://schemas.microsoft.com/office/drawing/2014/main" val="2033996525"/>
                    </a:ext>
                  </a:extLst>
                </a:gridCol>
              </a:tblGrid>
              <a:tr h="254851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zh-CN" sz="24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/*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样例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：形成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行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列网格，其中第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行第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列为空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*/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grid-template-areas: "a b c"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     "d e f"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     "g h .";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/*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样例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：形成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行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列网格，其中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占据第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行第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2-3</a:t>
                      </a:r>
                      <a:r>
                        <a:rPr lang="zh-CN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列</a:t>
                      </a:r>
                      <a:r>
                        <a:rPr lang="en-US" sz="2400" kern="0" dirty="0">
                          <a:solidFill>
                            <a:schemeClr val="accent6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*/</a:t>
                      </a:r>
                      <a:endParaRPr lang="zh-CN" sz="2400" kern="100" dirty="0">
                        <a:solidFill>
                          <a:schemeClr val="accent6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grid-template-areas: "a b c"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     "d e f"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        "g h </a:t>
                      </a:r>
                      <a:r>
                        <a:rPr lang="en-US" sz="2400" kern="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en-US" sz="24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";</a:t>
                      </a:r>
                      <a:endParaRPr lang="zh-CN" sz="24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07814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F56A9791-95E3-46EB-82B0-1AAF350E20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873621" y="2222262"/>
            <a:ext cx="3240360" cy="3105374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7031E9E6-18E9-4593-B945-9E3C6A3B6FAE}"/>
              </a:ext>
            </a:extLst>
          </p:cNvPr>
          <p:cNvSpPr/>
          <p:nvPr/>
        </p:nvSpPr>
        <p:spPr>
          <a:xfrm>
            <a:off x="7804234" y="4491570"/>
            <a:ext cx="1008112" cy="3600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610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设置显式网格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显式网格模板简写属性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D7450A-4267-4FF4-89CD-0EA5248EC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711190"/>
              </p:ext>
            </p:extLst>
          </p:nvPr>
        </p:nvGraphicFramePr>
        <p:xfrm>
          <a:off x="911995" y="3017049"/>
          <a:ext cx="11000778" cy="100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898432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9102346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grid-template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 none |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&lt;'grid-template-rows'&gt; / &lt;'grid-template-columns'&gt; ] |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&lt;line-names&gt;? &lt;string&gt; &lt;track-size&gt;? &lt;line-names&gt;? ]+ [ / &lt;explicit-track-list&gt; ]?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FD326EA-0A5C-414C-9620-5DFF2F91B111}"/>
              </a:ext>
            </a:extLst>
          </p:cNvPr>
          <p:cNvSpPr/>
          <p:nvPr/>
        </p:nvSpPr>
        <p:spPr>
          <a:xfrm>
            <a:off x="823541" y="2403368"/>
            <a:ext cx="156324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11233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一条申明中同时设置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grid-template-rows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grid-template-areas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613CEE7-FA29-4029-8CB2-4EF5D901F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395919"/>
              </p:ext>
            </p:extLst>
          </p:nvPr>
        </p:nvGraphicFramePr>
        <p:xfrm>
          <a:off x="911995" y="4555690"/>
          <a:ext cx="8192986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398988">
                  <a:extLst>
                    <a:ext uri="{9D8B030D-6E8A-4147-A177-3AD203B41FA5}">
                      <a16:colId xmlns:a16="http://schemas.microsoft.com/office/drawing/2014/main" val="1830843428"/>
                    </a:ext>
                  </a:extLst>
                </a:gridCol>
                <a:gridCol w="7793998">
                  <a:extLst>
                    <a:ext uri="{9D8B030D-6E8A-4147-A177-3AD203B41FA5}">
                      <a16:colId xmlns:a16="http://schemas.microsoft.com/office/drawing/2014/main" val="1544641399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grid-template: auto 1fr / auto 1fr auto;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zh-CN" sz="20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等同于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grid-template-rows: auto 1fr;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grid-template-columns: auto 1fr auto;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grid-template-areas: none;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847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1065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设置隐式网格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隐式行列属性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grid-auto-columns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grid-auto-rows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D326EA-0A5C-414C-9620-5DFF2F91B111}"/>
              </a:ext>
            </a:extLst>
          </p:cNvPr>
          <p:cNvSpPr/>
          <p:nvPr/>
        </p:nvSpPr>
        <p:spPr>
          <a:xfrm>
            <a:off x="823541" y="2403368"/>
            <a:ext cx="3903633" cy="9435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区别：不能定义轨道名称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不能使用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repeat()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函数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11233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与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grid-template-rows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类似</a:t>
            </a:r>
          </a:p>
        </p:txBody>
      </p:sp>
    </p:spTree>
    <p:extLst>
      <p:ext uri="{BB962C8B-B14F-4D97-AF65-F5344CB8AC3E}">
        <p14:creationId xmlns:p14="http://schemas.microsoft.com/office/powerpoint/2010/main" val="4218339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设置隐式网格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自动排序属性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grid-auto-flow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5D7450A-4267-4FF4-89CD-0EA5248ECC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396498"/>
              </p:ext>
            </p:extLst>
          </p:nvPr>
        </p:nvGraphicFramePr>
        <p:xfrm>
          <a:off x="905688" y="3466764"/>
          <a:ext cx="11000778" cy="53043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898432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9102346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530438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grid-auto-flow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 [ row | column ] || dense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6FD326EA-0A5C-414C-9620-5DFF2F91B111}"/>
              </a:ext>
            </a:extLst>
          </p:cNvPr>
          <p:cNvSpPr/>
          <p:nvPr/>
        </p:nvSpPr>
        <p:spPr>
          <a:xfrm>
            <a:off x="823541" y="2964635"/>
            <a:ext cx="156324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52117"/>
            <a:ext cx="11233248" cy="943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默认情况下，网格按先行后列（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）的方式放置项目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通过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grid-auto-flow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属性调整为先列后行方式，类似弹性布局的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A38C33A-798F-4E82-851B-38ECA014A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887575"/>
              </p:ext>
            </p:extLst>
          </p:nvPr>
        </p:nvGraphicFramePr>
        <p:xfrm>
          <a:off x="923389" y="4386205"/>
          <a:ext cx="10641013" cy="1626352"/>
        </p:xfrm>
        <a:graphic>
          <a:graphicData uri="http://schemas.openxmlformats.org/drawingml/2006/table">
            <a:tbl>
              <a:tblPr firstRow="1" firstCol="1" bandRow="1"/>
              <a:tblGrid>
                <a:gridCol w="1484328">
                  <a:extLst>
                    <a:ext uri="{9D8B030D-6E8A-4147-A177-3AD203B41FA5}">
                      <a16:colId xmlns:a16="http://schemas.microsoft.com/office/drawing/2014/main" val="2743132978"/>
                    </a:ext>
                  </a:extLst>
                </a:gridCol>
                <a:gridCol w="9156685">
                  <a:extLst>
                    <a:ext uri="{9D8B030D-6E8A-4147-A177-3AD203B41FA5}">
                      <a16:colId xmlns:a16="http://schemas.microsoft.com/office/drawing/2014/main" val="2243708215"/>
                    </a:ext>
                  </a:extLst>
                </a:gridCol>
              </a:tblGrid>
              <a:tr h="4065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b="1" kern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117999"/>
                  </a:ext>
                </a:extLst>
              </a:tr>
              <a:tr h="4065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row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按先行后列顺序放置项目，默认值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7128468"/>
                  </a:ext>
                </a:extLst>
              </a:tr>
              <a:tr h="4065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column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按先列后行顺序放置项目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7671337"/>
                  </a:ext>
                </a:extLst>
              </a:tr>
              <a:tr h="40658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dense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8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紧密排列选项，使用后排列时将尝试使用小的项目填充空单元格，即使项目本来处于后方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48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263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792088" y="1729334"/>
            <a:ext cx="6080125" cy="37279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90vh;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90vw;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2px dashed black;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grid;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grid-template-columns: repeat(3,120px);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grid-template-rows: repeat(3,120px);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/* </a:t>
            </a:r>
            <a:r>
              <a:rPr lang="zh-CN" altLang="en-US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演示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grid-auto-flow */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16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grid-auto-flow:column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03CB20-8259-4C29-9D6C-E7EDA58FE8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88237" y="1836093"/>
            <a:ext cx="3597875" cy="381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60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设置间隙和对齐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间隙属性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row-gap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column-gap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和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gap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D326EA-0A5C-414C-9620-5DFF2F91B111}"/>
              </a:ext>
            </a:extLst>
          </p:cNvPr>
          <p:cNvSpPr/>
          <p:nvPr/>
        </p:nvSpPr>
        <p:spPr>
          <a:xfrm>
            <a:off x="823541" y="2403368"/>
            <a:ext cx="8738290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行列间隙只存在于行与行、列与列之间，网格首尾行列的外侧不存在间隙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11233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行和列之间可以具有一定间隙，默认没有间隙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791558"/>
              </p:ext>
            </p:extLst>
          </p:nvPr>
        </p:nvGraphicFramePr>
        <p:xfrm>
          <a:off x="905688" y="3466764"/>
          <a:ext cx="11000778" cy="1097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3734277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7266501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row-gap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（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grid-row-gap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）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column-gap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（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column-row-gap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）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:&lt;length&gt; | &lt;percentage&gt;;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  <a:tr h="164331"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（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gap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）</a:t>
                      </a:r>
                      <a:endParaRPr kumimoji="1" lang="en-US" altLang="zh-CN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:&lt;row-gap&gt; &lt;column-gap&gt;?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658164"/>
                  </a:ext>
                </a:extLst>
              </a:tr>
            </a:tbl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3B453343-4BDA-42F6-ABB1-6908CABEFCA6}"/>
              </a:ext>
            </a:extLst>
          </p:cNvPr>
          <p:cNvSpPr/>
          <p:nvPr/>
        </p:nvSpPr>
        <p:spPr>
          <a:xfrm>
            <a:off x="823541" y="2964635"/>
            <a:ext cx="1563248" cy="481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8423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792088" y="1729334"/>
            <a:ext cx="6080125" cy="33586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90vh;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90vw;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2px dashed black;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grid;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grid-template-columns: repeat(3,120px);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grid-template-rows: repeat(3,120px);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gap:10px;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8C3E05D-21B5-40C3-A4C2-6692B3D98D5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60245" y="1980109"/>
            <a:ext cx="3653919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0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设置间隙和对齐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轨道对齐属性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align-content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justify-content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place-content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112332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定义网格容器中所有行和列轨道的对齐方式，这和弹性布局使用时的效果基本一致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380751"/>
              </p:ext>
            </p:extLst>
          </p:nvPr>
        </p:nvGraphicFramePr>
        <p:xfrm>
          <a:off x="939776" y="2916213"/>
          <a:ext cx="11000778" cy="1097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90061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9210717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align-content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justify-content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 normal | start| end | center | stretch | space-around | space-between | space-evenly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place-content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&lt;‘align-content’&gt;  &lt;‘justify-content’&gt;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18676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99C5B17-5264-4434-B1A0-326B30BF3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275886"/>
              </p:ext>
            </p:extLst>
          </p:nvPr>
        </p:nvGraphicFramePr>
        <p:xfrm>
          <a:off x="934589" y="4108813"/>
          <a:ext cx="10641013" cy="2479808"/>
        </p:xfrm>
        <a:graphic>
          <a:graphicData uri="http://schemas.openxmlformats.org/drawingml/2006/table">
            <a:tbl>
              <a:tblPr firstRow="1" firstCol="1" bandRow="1"/>
              <a:tblGrid>
                <a:gridCol w="2358048">
                  <a:extLst>
                    <a:ext uri="{9D8B030D-6E8A-4147-A177-3AD203B41FA5}">
                      <a16:colId xmlns:a16="http://schemas.microsoft.com/office/drawing/2014/main" val="2767840977"/>
                    </a:ext>
                  </a:extLst>
                </a:gridCol>
                <a:gridCol w="8282965">
                  <a:extLst>
                    <a:ext uri="{9D8B030D-6E8A-4147-A177-3AD203B41FA5}">
                      <a16:colId xmlns:a16="http://schemas.microsoft.com/office/drawing/2014/main" val="1793051825"/>
                    </a:ext>
                  </a:extLst>
                </a:gridCol>
              </a:tblGrid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65903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start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所有网格项目朝设置轴方向的起点对齐，默认值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572836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end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所有网格项目朝设置轴方向的终点对齐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051268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center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所有网格项目按设置轴方向居中对齐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273296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stretch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当网格项目未定义尺寸时，拉伸设置轴方向的大小，使之在轴方向充满网格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763471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space-between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在设置轴方向，每个网格项目之间的间隔相等，项目与容器间没有间隔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1296642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space-around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在设置轴方向，每个网格项目两侧的间隔相等，项目间隔是项目与容器间隔的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倍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2999319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space-evenly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在设置轴方向，网格项目间以及网格与容器边框间间隔相等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891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80170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+mn-ea"/>
                <a:ea typeface="+mn-ea"/>
              </a:rPr>
              <a:t>9-7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817789" y="1879879"/>
            <a:ext cx="6080125" cy="37279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90vh;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90vw;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2px dashed black;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grid;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grid-template-columns: 120px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grid-template-rows: 100px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align-content: end;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justify-content: space-around;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AD9AC6-E551-4AC1-A353-33EF535DBE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04261" y="1902354"/>
            <a:ext cx="3822858" cy="303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267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设置间隙和对齐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单元格内对齐属性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justify-items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align-items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place-items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3679"/>
            <a:ext cx="112332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定义网格容器中所有行和列轨道的对齐方式，这和弹性布局使用时的效果基本一致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770031"/>
              </p:ext>
            </p:extLst>
          </p:nvPr>
        </p:nvGraphicFramePr>
        <p:xfrm>
          <a:off x="939776" y="2916213"/>
          <a:ext cx="11000778" cy="100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790061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9210717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align-items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justify-items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start| end | center | stretch | baseline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place-items</a:t>
                      </a:r>
                      <a:endParaRPr kumimoji="1" lang="zh-CN" altLang="en-US" sz="20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58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&lt;‘align-items’&gt;  &lt;‘justify-items’&gt;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18676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99C5B17-5264-4434-B1A0-326B30BF3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868565"/>
              </p:ext>
            </p:extLst>
          </p:nvPr>
        </p:nvGraphicFramePr>
        <p:xfrm>
          <a:off x="934589" y="4108813"/>
          <a:ext cx="10641013" cy="1549880"/>
        </p:xfrm>
        <a:graphic>
          <a:graphicData uri="http://schemas.openxmlformats.org/drawingml/2006/table">
            <a:tbl>
              <a:tblPr firstRow="1" firstCol="1" bandRow="1"/>
              <a:tblGrid>
                <a:gridCol w="2358048">
                  <a:extLst>
                    <a:ext uri="{9D8B030D-6E8A-4147-A177-3AD203B41FA5}">
                      <a16:colId xmlns:a16="http://schemas.microsoft.com/office/drawing/2014/main" val="2767840977"/>
                    </a:ext>
                  </a:extLst>
                </a:gridCol>
                <a:gridCol w="8282965">
                  <a:extLst>
                    <a:ext uri="{9D8B030D-6E8A-4147-A177-3AD203B41FA5}">
                      <a16:colId xmlns:a16="http://schemas.microsoft.com/office/drawing/2014/main" val="1793051825"/>
                    </a:ext>
                  </a:extLst>
                </a:gridCol>
              </a:tblGrid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065903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start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所有网格项目在布局区域内，朝设置轴方向的起点对齐，默认值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2572836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end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所有网格项目在布局区域内，朝设置轴方向的终点对齐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051268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center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600" ker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所有网格项目在布局区域内，按设置轴方向居中对齐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273296"/>
                  </a:ext>
                </a:extLst>
              </a:tr>
              <a:tr h="30997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stretch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altLang="en-US" sz="1600" kern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当网格项目未定义尺寸时，拉伸设置轴方向的大小，使之在轴方向充满布局区域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76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288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817789" y="1879879"/>
            <a:ext cx="6080125" cy="37279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height: 90vh;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90vw;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border: 2px dashed black;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display: grid;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grid-template-columns: 120px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grid-template-rows: 100px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100px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align-items: end; 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justify-items: start;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FD58D4C-3677-40C6-B0AA-A699719358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52919" y="2119482"/>
            <a:ext cx="3407187" cy="324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80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9-2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网格容器属性的设置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设置网格简写属性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06760" y="1582385"/>
            <a:ext cx="11233248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简写属性的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种形式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等同于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简写属性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同时设置显式和隐式网格属性，只能规定一个方向为显式网格，另一个方向为隐式网格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两者间用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分隔</a:t>
            </a: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010367"/>
              </p:ext>
            </p:extLst>
          </p:nvPr>
        </p:nvGraphicFramePr>
        <p:xfrm>
          <a:off x="922995" y="2047151"/>
          <a:ext cx="11000778" cy="1005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1107901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9892877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&lt;grid-template&gt; | 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&lt;grid-template-rows&gt; / [auto-flow &amp;&amp; dense?  ] &lt;grid-auto-columns&gt;? |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[ auto-flow &amp;&amp; dense? ] &lt;grid-auto-rows&gt;? / &lt;grid-template-columns&gt;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80866FAA-83A0-4A3B-9EFB-2AAF77544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113784"/>
              </p:ext>
            </p:extLst>
          </p:nvPr>
        </p:nvGraphicFramePr>
        <p:xfrm>
          <a:off x="922995" y="4553719"/>
          <a:ext cx="6580509" cy="1463040"/>
        </p:xfrm>
        <a:graphic>
          <a:graphicData uri="http://schemas.openxmlformats.org/drawingml/2006/table">
            <a:tbl>
              <a:tblPr firstRow="1" firstCol="1" bandRow="1"/>
              <a:tblGrid>
                <a:gridCol w="320462">
                  <a:extLst>
                    <a:ext uri="{9D8B030D-6E8A-4147-A177-3AD203B41FA5}">
                      <a16:colId xmlns:a16="http://schemas.microsoft.com/office/drawing/2014/main" val="1859750078"/>
                    </a:ext>
                  </a:extLst>
                </a:gridCol>
                <a:gridCol w="6260047">
                  <a:extLst>
                    <a:ext uri="{9D8B030D-6E8A-4147-A177-3AD203B41FA5}">
                      <a16:colId xmlns:a16="http://schemas.microsoft.com/office/drawing/2014/main" val="1915983068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grid: auto-flow 2fr / 200px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zh-CN" sz="1600" kern="0" dirty="0">
                          <a:effectLst/>
                          <a:latin typeface="等线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等同于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grid-template: none / 200px;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grid-auto-flow: row;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grid-auto-rows: 2fr;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宋体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grid-auto-columns: auto;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65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111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网格项目属性的设置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设置布局相关属性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943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行、列起止网格线属性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grid-row-start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grid-row-end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grid-column-start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grid-column-end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534845"/>
            <a:ext cx="11233248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grid-row-start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grid-row-end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分别定义网格项目在行方向上的起始网格线和结束网格线信息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grid-row-start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grid-row-end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属性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分别定义网格项目在行方向上的起始网格线和结束网格线信息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234980"/>
              </p:ext>
            </p:extLst>
          </p:nvPr>
        </p:nvGraphicFramePr>
        <p:xfrm>
          <a:off x="895549" y="4572123"/>
          <a:ext cx="9001000" cy="12192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grid-row-start</a:t>
                      </a:r>
                    </a:p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grid-row-end</a:t>
                      </a:r>
                    </a:p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grid-column-start</a:t>
                      </a:r>
                    </a:p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grid-column-end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auto | &lt;custom-ident&gt; 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:  | [ &lt;integer&gt; &amp;&amp; &lt;custom-ident&gt;? ] </a:t>
                      </a:r>
                    </a:p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 | [ span &amp;&amp; [ &lt;integer&gt; || &lt;custom-ident&gt; ] ]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785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网格项目属性的设置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设置布局相关属性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13C30E-5E2C-43B4-9671-A6E5925EC4CD}"/>
              </a:ext>
            </a:extLst>
          </p:cNvPr>
          <p:cNvSpPr/>
          <p:nvPr/>
        </p:nvSpPr>
        <p:spPr>
          <a:xfrm>
            <a:off x="823541" y="1582880"/>
            <a:ext cx="11299035" cy="943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行、列起止网格线属性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grid-row-start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grid-row-end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grid-column-start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grid-column-end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38F6340-D9D7-467D-95DF-208E2750F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87274"/>
              </p:ext>
            </p:extLst>
          </p:nvPr>
        </p:nvGraphicFramePr>
        <p:xfrm>
          <a:off x="967557" y="2697626"/>
          <a:ext cx="9720137" cy="1802765"/>
        </p:xfrm>
        <a:graphic>
          <a:graphicData uri="http://schemas.openxmlformats.org/drawingml/2006/table">
            <a:tbl>
              <a:tblPr firstRow="1" firstCol="1" bandRow="1"/>
              <a:tblGrid>
                <a:gridCol w="2153981">
                  <a:extLst>
                    <a:ext uri="{9D8B030D-6E8A-4147-A177-3AD203B41FA5}">
                      <a16:colId xmlns:a16="http://schemas.microsoft.com/office/drawing/2014/main" val="903731630"/>
                    </a:ext>
                  </a:extLst>
                </a:gridCol>
                <a:gridCol w="7566156">
                  <a:extLst>
                    <a:ext uri="{9D8B030D-6E8A-4147-A177-3AD203B41FA5}">
                      <a16:colId xmlns:a16="http://schemas.microsoft.com/office/drawing/2014/main" val="271522657"/>
                    </a:ext>
                  </a:extLst>
                </a:gridCol>
              </a:tblGrid>
              <a:tr h="3605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属性值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说明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201759"/>
                  </a:ext>
                </a:extLst>
              </a:tr>
              <a:tr h="3605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auto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自动放置或默认范围为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，默认值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865818"/>
                  </a:ext>
                </a:extLst>
              </a:tr>
              <a:tr h="3605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&lt;custom-ident&gt;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自定义标志，用于和已经命名的网格区域进行匹配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336372"/>
                  </a:ext>
                </a:extLst>
              </a:tr>
              <a:tr h="3605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&lt;interger&gt;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除</a:t>
                      </a: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zh-CN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以外的整数，正数表示网格线编号，负数则从网格结束边缘相反计数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029568"/>
                  </a:ext>
                </a:extLst>
              </a:tr>
              <a:tr h="36055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span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配合整数或自定义标志表示一个跨度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5536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C091F28-167F-4B86-8BC0-C8E73B561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597874"/>
              </p:ext>
            </p:extLst>
          </p:nvPr>
        </p:nvGraphicFramePr>
        <p:xfrm>
          <a:off x="950776" y="4860429"/>
          <a:ext cx="9720137" cy="1405890"/>
        </p:xfrm>
        <a:graphic>
          <a:graphicData uri="http://schemas.openxmlformats.org/drawingml/2006/table">
            <a:tbl>
              <a:tblPr firstRow="1" firstCol="1" bandRow="1"/>
              <a:tblGrid>
                <a:gridCol w="473358">
                  <a:extLst>
                    <a:ext uri="{9D8B030D-6E8A-4147-A177-3AD203B41FA5}">
                      <a16:colId xmlns:a16="http://schemas.microsoft.com/office/drawing/2014/main" val="3822714636"/>
                    </a:ext>
                  </a:extLst>
                </a:gridCol>
                <a:gridCol w="9246779">
                  <a:extLst>
                    <a:ext uri="{9D8B030D-6E8A-4147-A177-3AD203B41FA5}">
                      <a16:colId xmlns:a16="http://schemas.microsoft.com/office/drawing/2014/main" val="3929779297"/>
                    </a:ext>
                  </a:extLst>
                </a:gridCol>
              </a:tblGrid>
              <a:tr h="17399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zh-CN" sz="16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grid-row-start: 1;        /* 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网格项目水平方向起始位置为第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条水平网格线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*/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grid-row-end: r3;         /* 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网格项目水平方向结束位置为名为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r3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的水平网格线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*/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grid-column-start:-4      /* 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网格项目垂直方向起始位置为倒数第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根垂直网格线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*/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grid-column-end: span 2   /* 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网格项目垂直方向结束位置和起始位置间跨过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条网格线</a:t>
                      </a:r>
                      <a:r>
                        <a:rPr lang="en-US" sz="1600" kern="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*/</a:t>
                      </a:r>
                      <a:endParaRPr lang="zh-CN" sz="16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954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02507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网格项目属性的设置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9-8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0D3F34-C966-47B8-8328-265DC360741D}"/>
              </a:ext>
            </a:extLst>
          </p:cNvPr>
          <p:cNvSpPr/>
          <p:nvPr/>
        </p:nvSpPr>
        <p:spPr>
          <a:xfrm>
            <a:off x="751533" y="1663298"/>
            <a:ext cx="691852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.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height: 90vh;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width: 90vw;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border: 2px dashed black;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display: grid;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grid-template-columns: [c1] 120px [c2] 120px [c3] 120px [c4];</a:t>
            </a:r>
          </a:p>
          <a:p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grid-template-rows: [r1] 100px [r2] 100px [r3] 100px [r4];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grid-auto-column: 250px;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grid-auto-rows: 100px;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s}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6D1E06-626D-4E7D-954A-36B3A3AE2F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11200" y="1838177"/>
            <a:ext cx="3713493" cy="316418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775AD6B-2556-4263-84C0-990955270855}"/>
              </a:ext>
            </a:extLst>
          </p:cNvPr>
          <p:cNvSpPr/>
          <p:nvPr/>
        </p:nvSpPr>
        <p:spPr>
          <a:xfrm>
            <a:off x="767706" y="4216617"/>
            <a:ext cx="6918520" cy="2250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#grid_item1{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/* &lt;</a:t>
            </a:r>
            <a:r>
              <a:rPr lang="en-US" altLang="zh-CN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interger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&gt;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网格线索引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*/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grid-row-start: 1;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/* &lt;custom-ident&gt;?  </a:t>
            </a:r>
            <a:r>
              <a:rPr lang="zh-CN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等于对应网格线索引，即等同于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 */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grid-row-end: r3;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27445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网格项目属性的设置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设置布局相关属性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行、列起止网格线简写属性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grid-row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grid-column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grid-area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5159"/>
            <a:ext cx="11233248" cy="4296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如果设置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条网格线，则第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条表示起始网格线，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后方的第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条网格线表示结束网格线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如果仅设置一条则缺省那个值取默认值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grid-area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属性用于网格区域的设置，即同时设置行和列布局属性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20000"/>
              </a:lnSpc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如果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grid-area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只设置一个名字，可以配合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grid-template-area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属性实现便捷的可视化布局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4D9F2CC-4BB9-4B75-A06C-A1153CF58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82056"/>
              </p:ext>
            </p:extLst>
          </p:nvPr>
        </p:nvGraphicFramePr>
        <p:xfrm>
          <a:off x="967557" y="2628181"/>
          <a:ext cx="9001000" cy="6096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grid-column</a:t>
                      </a:r>
                    </a:p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grid-row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&lt;grid-line&gt; [ / &lt;grid-line&gt; ]?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09A4AC2-666B-4483-B53E-80DCCA77C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607945"/>
              </p:ext>
            </p:extLst>
          </p:nvPr>
        </p:nvGraphicFramePr>
        <p:xfrm>
          <a:off x="911431" y="4356373"/>
          <a:ext cx="9001000" cy="3962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376264">
                  <a:extLst>
                    <a:ext uri="{9D8B030D-6E8A-4147-A177-3AD203B41FA5}">
                      <a16:colId xmlns:a16="http://schemas.microsoft.com/office/drawing/2014/main" val="2664381048"/>
                    </a:ext>
                  </a:extLst>
                </a:gridCol>
                <a:gridCol w="6624736">
                  <a:extLst>
                    <a:ext uri="{9D8B030D-6E8A-4147-A177-3AD203B41FA5}">
                      <a16:colId xmlns:a16="http://schemas.microsoft.com/office/drawing/2014/main" val="16375714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4605" algn="just">
                        <a:spcAft>
                          <a:spcPts val="0"/>
                        </a:spcAft>
                      </a:pPr>
                      <a:r>
                        <a:rPr kumimoji="1" 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grid-area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 </a:t>
                      </a:r>
                      <a:r>
                        <a:rPr kumimoji="1" lang="zh-CN" altLang="en-US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：</a:t>
                      </a:r>
                      <a:r>
                        <a:rPr kumimoji="1" lang="en-US" altLang="zh-CN" sz="2000" b="1" kern="1200" dirty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  <a:cs typeface="+mn-cs"/>
                        </a:rPr>
                        <a:t> &lt;grid-line&gt; [ / &lt;grid-line&gt; ]{0,3}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7904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0924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9-3 </a:t>
            </a:r>
            <a:r>
              <a:rPr lang="zh-CN" altLang="en-US" b="1" dirty="0">
                <a:solidFill>
                  <a:schemeClr val="accent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网格项目属性的设置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1" y="1044005"/>
            <a:ext cx="6104507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设置对齐、排列相关属性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A0F467-C2AD-4210-AC92-0A66E5B0999D}"/>
              </a:ext>
            </a:extLst>
          </p:cNvPr>
          <p:cNvSpPr/>
          <p:nvPr/>
        </p:nvSpPr>
        <p:spPr>
          <a:xfrm>
            <a:off x="823541" y="1582880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项目对齐属性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justify-self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align-self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place-self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C7A3F5-17AA-44B5-9938-98CCB1CAE4ED}"/>
              </a:ext>
            </a:extLst>
          </p:cNvPr>
          <p:cNvSpPr/>
          <p:nvPr/>
        </p:nvSpPr>
        <p:spPr>
          <a:xfrm>
            <a:off x="823541" y="2095159"/>
            <a:ext cx="11233248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参考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justify-items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align-items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place-items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3F0D5B-C951-408C-A9C0-BA793C38AB7F}"/>
              </a:ext>
            </a:extLst>
          </p:cNvPr>
          <p:cNvSpPr/>
          <p:nvPr/>
        </p:nvSpPr>
        <p:spPr>
          <a:xfrm>
            <a:off x="794873" y="2938406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排序属性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order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94E336D-B3BE-4D06-A456-9ED289A8D78D}"/>
              </a:ext>
            </a:extLst>
          </p:cNvPr>
          <p:cNvSpPr/>
          <p:nvPr/>
        </p:nvSpPr>
        <p:spPr>
          <a:xfrm>
            <a:off x="794873" y="3472932"/>
            <a:ext cx="1123324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同弹性布局中使用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order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属性一致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buClr>
                <a:schemeClr val="accent6"/>
              </a:buClr>
              <a:buFont typeface="Wingdings" panose="05000000000000000000" pitchFamily="2" charset="2"/>
              <a:buChar char="l"/>
            </a:pP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56905D-82A8-4F7C-94C8-09B1F420BA37}"/>
              </a:ext>
            </a:extLst>
          </p:cNvPr>
          <p:cNvSpPr/>
          <p:nvPr/>
        </p:nvSpPr>
        <p:spPr>
          <a:xfrm>
            <a:off x="786935" y="4263516"/>
            <a:ext cx="11299035" cy="481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z</a:t>
            </a: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轴索引属性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z-index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15E6A4B-2283-44C3-AEB8-2140ED3DBB3C}"/>
              </a:ext>
            </a:extLst>
          </p:cNvPr>
          <p:cNvSpPr/>
          <p:nvPr/>
        </p:nvSpPr>
        <p:spPr>
          <a:xfrm>
            <a:off x="786935" y="4798042"/>
            <a:ext cx="1123324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Clr>
                <a:schemeClr val="accent6"/>
              </a:buClr>
              <a:buFont typeface="Wingdings" panose="05000000000000000000" pitchFamily="2" charset="2"/>
              <a:buChar char="l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基本语法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buClr>
                <a:schemeClr val="accent6"/>
              </a:buClr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参考第四章相关内容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1F0227-4697-4247-AA53-D24CA24F3257}"/>
              </a:ext>
            </a:extLst>
          </p:cNvPr>
          <p:cNvSpPr/>
          <p:nvPr/>
        </p:nvSpPr>
        <p:spPr>
          <a:xfrm>
            <a:off x="9017650" y="2747582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9-10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4194943-D80E-4D91-BED9-E70D6C1CAC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554794" y="953751"/>
            <a:ext cx="2107446" cy="179573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8D6011C-B12C-4A6B-B64F-D47F89530B6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554794" y="3150932"/>
            <a:ext cx="2107446" cy="1738873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62F16F9B-ECE5-4FD7-914E-2C3617EC32B6}"/>
              </a:ext>
            </a:extLst>
          </p:cNvPr>
          <p:cNvSpPr/>
          <p:nvPr/>
        </p:nvSpPr>
        <p:spPr>
          <a:xfrm>
            <a:off x="9017650" y="4889805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9-11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CE3B030-0D0F-4AC8-ADA1-ACE99F6AD32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00675" y="4563428"/>
            <a:ext cx="2433320" cy="2058035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7C1EB93-8AC8-42A3-8FA6-32AA67ED1E98}"/>
              </a:ext>
            </a:extLst>
          </p:cNvPr>
          <p:cNvSpPr/>
          <p:nvPr/>
        </p:nvSpPr>
        <p:spPr>
          <a:xfrm>
            <a:off x="6927810" y="6212616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例</a:t>
            </a:r>
            <a:r>
              <a:rPr lang="en-US" altLang="zh-CN" b="1" dirty="0">
                <a:solidFill>
                  <a:srgbClr val="0000FF"/>
                </a:solidFill>
              </a:rPr>
              <a:t>9-12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14122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响应式布局说明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41B76F-18FF-49BA-80C7-5F9110AE0C0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0102382" y="1089631"/>
            <a:ext cx="1647555" cy="2565668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D39A0A7-F960-4ED7-898E-17F3DDB4471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456389" y="3985205"/>
            <a:ext cx="3293548" cy="2310784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E1E811B-3222-485B-B85C-CEDD40BDF386}"/>
              </a:ext>
            </a:extLst>
          </p:cNvPr>
          <p:cNvSpPr/>
          <p:nvPr/>
        </p:nvSpPr>
        <p:spPr>
          <a:xfrm>
            <a:off x="895549" y="1872005"/>
            <a:ext cx="8321951" cy="412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在不同的视口条件下，需要实现正确且合理的重新布局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97DE41-30D9-4862-88BD-14852EEDEFF4}"/>
              </a:ext>
            </a:extLst>
          </p:cNvPr>
          <p:cNvSpPr/>
          <p:nvPr/>
        </p:nvSpPr>
        <p:spPr>
          <a:xfrm>
            <a:off x="895549" y="2586128"/>
            <a:ext cx="8321951" cy="412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没有弹性布局、网格布局以及媒体查询功能实现响应式布局较为困难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EF69BE-C852-47BD-A8CE-BACF63A09ECD}"/>
              </a:ext>
            </a:extLst>
          </p:cNvPr>
          <p:cNvSpPr/>
          <p:nvPr/>
        </p:nvSpPr>
        <p:spPr>
          <a:xfrm>
            <a:off x="904876" y="3300251"/>
            <a:ext cx="8321951" cy="78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弹性布局简化了设计难度，只能选择单个轴方向进行布局，存在一定局限性，更适合在局部使用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3BEEF6-6245-42DD-909E-1C22DF0F8EA5}"/>
              </a:ext>
            </a:extLst>
          </p:cNvPr>
          <p:cNvSpPr/>
          <p:nvPr/>
        </p:nvSpPr>
        <p:spPr>
          <a:xfrm>
            <a:off x="904876" y="4310960"/>
            <a:ext cx="8321951" cy="412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C00000"/>
              </a:buClr>
              <a:buSzPct val="125000"/>
              <a:buFont typeface="Arial" panose="020B060402020202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网格布局功能强大，适合用于页面整体布局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0977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三列布局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41B76F-18FF-49BA-80C7-5F9110AE0C0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228519" y="1980109"/>
            <a:ext cx="2736304" cy="4205973"/>
          </a:xfrm>
          <a:prstGeom prst="rect">
            <a:avLst/>
          </a:prstGeom>
          <a:ln>
            <a:solidFill>
              <a:schemeClr val="bg2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D39A0A7-F960-4ED7-898E-17F3DDB4471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238369" y="2312105"/>
            <a:ext cx="5904656" cy="374768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F2249F2B-F8F1-4A28-A5C0-46CC70299A5E}"/>
              </a:ext>
            </a:extLst>
          </p:cNvPr>
          <p:cNvSpPr/>
          <p:nvPr/>
        </p:nvSpPr>
        <p:spPr>
          <a:xfrm>
            <a:off x="781497" y="1806162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9-13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90804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三列布局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B29332B-1D0F-4007-8448-DDF09ED4B222}"/>
              </a:ext>
            </a:extLst>
          </p:cNvPr>
          <p:cNvSpPr/>
          <p:nvPr/>
        </p:nvSpPr>
        <p:spPr>
          <a:xfrm>
            <a:off x="391493" y="2236284"/>
            <a:ext cx="6912768" cy="2658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grid_container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grid_item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lightblue1" id="header"&gt;Header&lt;/div&gt;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grid_item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lightblue2" id="nav"&gt;Navigation&lt;/div&gt;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grid_item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" id="main"&gt;Main&lt;/div&gt;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grid_item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lightblue2" id="sidebar"&gt;Sidebar&lt;/div&gt;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&lt;div class="</a:t>
            </a:r>
            <a:r>
              <a:rPr lang="en-US" altLang="zh-CN" sz="16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grid_item</a:t>
            </a: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lightblue1" id="footer"&gt;Footer&lt;/div&gt;</a:t>
            </a:r>
            <a:endParaRPr lang="zh-CN" altLang="zh-CN" sz="16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&lt;/div&gt;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249F2B-F8F1-4A28-A5C0-46CC70299A5E}"/>
              </a:ext>
            </a:extLst>
          </p:cNvPr>
          <p:cNvSpPr/>
          <p:nvPr/>
        </p:nvSpPr>
        <p:spPr>
          <a:xfrm>
            <a:off x="767706" y="1700091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9-13 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4AF68CA-087C-4790-910D-94E5AC534D5A}"/>
              </a:ext>
            </a:extLst>
          </p:cNvPr>
          <p:cNvSpPr/>
          <p:nvPr/>
        </p:nvSpPr>
        <p:spPr>
          <a:xfrm>
            <a:off x="7526188" y="2232514"/>
            <a:ext cx="4626149" cy="25850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&lt;header&gt;Header&lt;/header&gt;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&lt;div class="container"&gt;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&lt;aside class="left"&gt;Navigation&lt;/aside&gt;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&lt;main class="content"&gt;Content&lt;/main&gt;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&lt;aside class="right"&gt;Sidebar&lt;/aside&gt;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&lt;footer&gt;Footer&lt;/footer&gt;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ACBC39-FCB9-47F7-A580-C5B3F2520A54}"/>
              </a:ext>
            </a:extLst>
          </p:cNvPr>
          <p:cNvSpPr/>
          <p:nvPr/>
        </p:nvSpPr>
        <p:spPr>
          <a:xfrm>
            <a:off x="7569349" y="1700091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8-13 </a:t>
            </a:r>
            <a:endParaRPr lang="zh-CN" altLang="en-US" sz="2000" dirty="0"/>
          </a:p>
        </p:txBody>
      </p:sp>
      <p:sp>
        <p:nvSpPr>
          <p:cNvPr id="16" name="圆角矩形标注 2">
            <a:extLst>
              <a:ext uri="{FF2B5EF4-FFF2-40B4-BE49-F238E27FC236}">
                <a16:creationId xmlns:a16="http://schemas.microsoft.com/office/drawing/2014/main" id="{7876157E-20DB-49E4-96D0-B5F0A8C6B4E4}"/>
              </a:ext>
            </a:extLst>
          </p:cNvPr>
          <p:cNvSpPr/>
          <p:nvPr/>
        </p:nvSpPr>
        <p:spPr>
          <a:xfrm>
            <a:off x="3271813" y="5364485"/>
            <a:ext cx="1949811" cy="465789"/>
          </a:xfrm>
          <a:prstGeom prst="wedgeRoundRectCallout">
            <a:avLst>
              <a:gd name="adj1" fmla="val -57311"/>
              <a:gd name="adj2" fmla="val -181341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</a:rPr>
              <a:t>层次少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7" name="圆角矩形标注 2">
            <a:extLst>
              <a:ext uri="{FF2B5EF4-FFF2-40B4-BE49-F238E27FC236}">
                <a16:creationId xmlns:a16="http://schemas.microsoft.com/office/drawing/2014/main" id="{E0B291F8-CBAF-467E-9D6E-CF28AE3249D7}"/>
              </a:ext>
            </a:extLst>
          </p:cNvPr>
          <p:cNvSpPr/>
          <p:nvPr/>
        </p:nvSpPr>
        <p:spPr>
          <a:xfrm>
            <a:off x="6872213" y="5396776"/>
            <a:ext cx="1949811" cy="465789"/>
          </a:xfrm>
          <a:prstGeom prst="wedgeRoundRectCallout">
            <a:avLst>
              <a:gd name="adj1" fmla="val 9126"/>
              <a:gd name="adj2" fmla="val -185431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</a:rPr>
              <a:t>层次多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627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三列布局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172F51-F2E8-4EDC-88E1-A3524AB5B6BE}"/>
              </a:ext>
            </a:extLst>
          </p:cNvPr>
          <p:cNvSpPr/>
          <p:nvPr/>
        </p:nvSpPr>
        <p:spPr>
          <a:xfrm>
            <a:off x="6038976" y="962533"/>
            <a:ext cx="594580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/*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大屏幕样式 *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 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@media screen and 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min-width: 768px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.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grid-template-columns: 1fr 4fr 1fr;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grid-template-rows: 5em 1fr 3em;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grid-template-areas: "header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header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header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"nav    main   sidebar"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"footer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footer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footer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}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9FFFE10-74EF-47DD-828F-A5DEA5B973A1}"/>
              </a:ext>
            </a:extLst>
          </p:cNvPr>
          <p:cNvSpPr/>
          <p:nvPr/>
        </p:nvSpPr>
        <p:spPr>
          <a:xfrm>
            <a:off x="6004026" y="3972536"/>
            <a:ext cx="561662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/*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小屏幕样式 *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@media screen and 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max-width: 767px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) {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.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grid-template-rows: 2em 1fr 10fr 1fr 2em;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grid-template-areas: "header"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"nav"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"main"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"sidebar"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                    "footer";</a:t>
            </a:r>
          </a:p>
          <a:p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}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9983D18-7A02-4536-AE76-7507212FB927}"/>
              </a:ext>
            </a:extLst>
          </p:cNvPr>
          <p:cNvSpPr/>
          <p:nvPr/>
        </p:nvSpPr>
        <p:spPr>
          <a:xfrm>
            <a:off x="737617" y="3902560"/>
            <a:ext cx="6080125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#header { grid-area: header; 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#nav    { grid-area: nav;    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#main   { grid-area: main;   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#sidebar{ grid-area: sidebar;}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#footer { grid-area: footer; }</a:t>
            </a:r>
            <a:endParaRPr lang="zh-CN" altLang="en-US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7" name="圆角矩形标注 2">
            <a:extLst>
              <a:ext uri="{FF2B5EF4-FFF2-40B4-BE49-F238E27FC236}">
                <a16:creationId xmlns:a16="http://schemas.microsoft.com/office/drawing/2014/main" id="{7EA42EA4-F1B6-442F-B5B5-A466CC8A34CF}"/>
              </a:ext>
            </a:extLst>
          </p:cNvPr>
          <p:cNvSpPr/>
          <p:nvPr/>
        </p:nvSpPr>
        <p:spPr>
          <a:xfrm>
            <a:off x="3774605" y="3133842"/>
            <a:ext cx="1949811" cy="465789"/>
          </a:xfrm>
          <a:prstGeom prst="wedgeRoundRectCallout">
            <a:avLst>
              <a:gd name="adj1" fmla="val 68800"/>
              <a:gd name="adj2" fmla="val -257003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A85657DA-E7F7-416D-8A7A-248375065B63}"/>
              </a:ext>
            </a:extLst>
          </p:cNvPr>
          <p:cNvSpPr/>
          <p:nvPr/>
        </p:nvSpPr>
        <p:spPr>
          <a:xfrm>
            <a:off x="3775869" y="3133843"/>
            <a:ext cx="1949811" cy="465789"/>
          </a:xfrm>
          <a:prstGeom prst="wedgeRoundRectCallout">
            <a:avLst>
              <a:gd name="adj1" fmla="val 66770"/>
              <a:gd name="adj2" fmla="val 32988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</a:rPr>
              <a:t>布局较为直观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8F18F8-2993-405F-B511-786A99B5191C}"/>
              </a:ext>
            </a:extLst>
          </p:cNvPr>
          <p:cNvSpPr/>
          <p:nvPr/>
        </p:nvSpPr>
        <p:spPr>
          <a:xfrm>
            <a:off x="737618" y="2122000"/>
            <a:ext cx="6080125" cy="171014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.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grid_container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width: 100vw;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height: 100vh;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 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display: grid;      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851849-2E92-4BCD-8D56-C57CDE08C8C0}"/>
              </a:ext>
            </a:extLst>
          </p:cNvPr>
          <p:cNvSpPr/>
          <p:nvPr/>
        </p:nvSpPr>
        <p:spPr>
          <a:xfrm>
            <a:off x="767706" y="1700091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9-13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87656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372824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三列布局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1" name="圆角矩形标注 2">
            <a:extLst>
              <a:ext uri="{FF2B5EF4-FFF2-40B4-BE49-F238E27FC236}">
                <a16:creationId xmlns:a16="http://schemas.microsoft.com/office/drawing/2014/main" id="{A85657DA-E7F7-416D-8A7A-248375065B63}"/>
              </a:ext>
            </a:extLst>
          </p:cNvPr>
          <p:cNvSpPr/>
          <p:nvPr/>
        </p:nvSpPr>
        <p:spPr>
          <a:xfrm>
            <a:off x="3521043" y="1169891"/>
            <a:ext cx="3063138" cy="723863"/>
          </a:xfrm>
          <a:prstGeom prst="wedgeRoundRectCallout">
            <a:avLst>
              <a:gd name="adj1" fmla="val 7498"/>
              <a:gd name="adj2" fmla="val 123778"/>
              <a:gd name="adj3" fmla="val 16667"/>
            </a:avLst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rgbClr val="0000FF"/>
                </a:solidFill>
              </a:rPr>
              <a:t>布局简单，但设置没有网格布局那么直观，可阅读性略差</a:t>
            </a:r>
            <a:endParaRPr lang="en-US" altLang="zh-CN" sz="1600" b="1" dirty="0">
              <a:solidFill>
                <a:srgbClr val="0000FF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5851849-2E92-4BCD-8D56-C57CDE08C8C0}"/>
              </a:ext>
            </a:extLst>
          </p:cNvPr>
          <p:cNvSpPr/>
          <p:nvPr/>
        </p:nvSpPr>
        <p:spPr>
          <a:xfrm>
            <a:off x="767706" y="1700091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8-13 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DEEE36-142F-4EAB-B810-4D34E6BC4D4F}"/>
              </a:ext>
            </a:extLst>
          </p:cNvPr>
          <p:cNvSpPr/>
          <p:nvPr/>
        </p:nvSpPr>
        <p:spPr>
          <a:xfrm>
            <a:off x="334974" y="2113357"/>
            <a:ext cx="8321951" cy="4475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/*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手机界面样式</a:t>
            </a:r>
            <a:r>
              <a:rPr lang="en-US" altLang="zh-CN" sz="2000" dirty="0">
                <a:latin typeface="+mn-ea"/>
              </a:rPr>
              <a:t> 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.container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display: flex;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flex-direction: column;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min-height: 80vh;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background-color: #49b4e7;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width: 100%;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.content{ flex:1; }</a:t>
            </a:r>
          </a:p>
          <a:p>
            <a:pPr>
              <a:lnSpc>
                <a:spcPct val="120000"/>
              </a:lnSpc>
            </a:pP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 flex:0; }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446A57-0927-4F5D-BA32-678DF54707AB}"/>
              </a:ext>
            </a:extLst>
          </p:cNvPr>
          <p:cNvSpPr/>
          <p:nvPr/>
        </p:nvSpPr>
        <p:spPr>
          <a:xfrm>
            <a:off x="6080125" y="2084463"/>
            <a:ext cx="53907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/* PC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界面样式</a:t>
            </a:r>
            <a:endParaRPr lang="en-US" altLang="zh-CN" sz="2000" dirty="0">
              <a:latin typeface="+mn-ea"/>
              <a:ea typeface="+mn-ea"/>
            </a:endParaRP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@media screen and (min-width: 768px) </a:t>
            </a:r>
            <a:r>
              <a:rPr lang="en-US" altLang="zh-CN" sz="2000" dirty="0">
                <a:latin typeface="+mn-ea"/>
                <a:ea typeface="+mn-ea"/>
              </a:rPr>
              <a:t>{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.container {</a:t>
            </a:r>
          </a:p>
          <a:p>
            <a:r>
              <a:rPr lang="en-US" altLang="zh-CN" sz="20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flex-direction: row;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  min-height: 80vh;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}</a:t>
            </a:r>
          </a:p>
          <a:p>
            <a:r>
              <a:rPr lang="en-US" altLang="zh-CN" sz="2000" dirty="0">
                <a:latin typeface="+mn-ea"/>
                <a:ea typeface="+mn-ea"/>
              </a:rPr>
              <a:t>    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.content{ flex:8; }</a:t>
            </a:r>
          </a:p>
          <a:p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</a:t>
            </a:r>
            <a:r>
              <a:rPr lang="en-US" altLang="zh-CN" sz="2000" b="1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left,.right</a:t>
            </a:r>
            <a:r>
              <a:rPr lang="en-US" altLang="zh-CN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{ flex:2; }</a:t>
            </a:r>
          </a:p>
          <a:p>
            <a:r>
              <a:rPr lang="en-US" altLang="zh-CN" sz="2000" dirty="0">
                <a:latin typeface="+mn-ea"/>
                <a:ea typeface="+mn-ea"/>
              </a:rPr>
              <a:t> }</a:t>
            </a:r>
            <a:endParaRPr lang="zh-CN" altLang="en-US" sz="20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93082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5168403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栅格布局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719F2B-0FEC-4AAA-8B54-877F6C9EB600}"/>
              </a:ext>
            </a:extLst>
          </p:cNvPr>
          <p:cNvSpPr/>
          <p:nvPr/>
        </p:nvSpPr>
        <p:spPr>
          <a:xfrm>
            <a:off x="767705" y="1730896"/>
            <a:ext cx="10136955" cy="2328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在网格布局模块推出之前，很多第三方前端开发框架提供了非原生的网格布局方式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大部分栅格系统都采用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栅格，即将父元素（容器）的宽度等分为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份，除此之外还有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16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栅格、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24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栅格等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兼顾常用布局习惯和使用的便捷性，取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3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4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6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的最小公倍数</a:t>
            </a:r>
            <a:r>
              <a:rPr lang="en-US" altLang="zh-CN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作为栅格大小</a:t>
            </a:r>
            <a:endParaRPr lang="en-US" altLang="zh-CN" sz="2000" b="1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000" b="1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利用网格布局原生地实现栅格系统，可以进一步简化的响应式设计</a:t>
            </a:r>
          </a:p>
        </p:txBody>
      </p:sp>
    </p:spTree>
    <p:extLst>
      <p:ext uri="{BB962C8B-B14F-4D97-AF65-F5344CB8AC3E}">
        <p14:creationId xmlns:p14="http://schemas.microsoft.com/office/powerpoint/2010/main" val="1833259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5168403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栅格布局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D03371-5981-4D49-A88C-B1ECE759A4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9484" y="2124125"/>
            <a:ext cx="498060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E27957-686F-48F0-B29F-120D89BD4196}"/>
              </a:ext>
            </a:extLst>
          </p:cNvPr>
          <p:cNvSpPr/>
          <p:nvPr/>
        </p:nvSpPr>
        <p:spPr>
          <a:xfrm>
            <a:off x="2618880" y="5255072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9-14 </a:t>
            </a:r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9F0771-5E58-4363-B8C8-186045F5636C}"/>
              </a:ext>
            </a:extLst>
          </p:cNvPr>
          <p:cNvSpPr/>
          <p:nvPr/>
        </p:nvSpPr>
        <p:spPr>
          <a:xfrm>
            <a:off x="5952770" y="2140242"/>
            <a:ext cx="6080125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/* </a:t>
            </a:r>
            <a:r>
              <a:rPr lang="zh-CN" altLang="en-US" dirty="0">
                <a:latin typeface="+mn-ea"/>
                <a:ea typeface="+mn-ea"/>
              </a:rPr>
              <a:t>栅格区域 *</a:t>
            </a:r>
            <a:r>
              <a:rPr lang="en-US" altLang="zh-CN" dirty="0">
                <a:latin typeface="+mn-ea"/>
                <a:ea typeface="+mn-ea"/>
              </a:rPr>
              <a:t>/</a:t>
            </a:r>
          </a:p>
          <a:p>
            <a:r>
              <a:rPr lang="en-US" altLang="zh-CN" dirty="0">
                <a:latin typeface="+mn-ea"/>
                <a:ea typeface="+mn-ea"/>
              </a:rPr>
              <a:t> .</a:t>
            </a:r>
            <a:r>
              <a:rPr lang="en-US" altLang="zh-CN" dirty="0" err="1">
                <a:latin typeface="+mn-ea"/>
                <a:ea typeface="+mn-ea"/>
              </a:rPr>
              <a:t>grid_row</a:t>
            </a:r>
            <a:r>
              <a:rPr lang="en-US" altLang="zh-CN" dirty="0">
                <a:latin typeface="+mn-ea"/>
                <a:ea typeface="+mn-ea"/>
              </a:rPr>
              <a:t> {</a:t>
            </a:r>
          </a:p>
          <a:p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en-US" altLang="zh-CN" b="1" dirty="0">
                <a:latin typeface="+mn-ea"/>
                <a:ea typeface="+mn-ea"/>
              </a:rPr>
              <a:t>display: grid;</a:t>
            </a:r>
          </a:p>
          <a:p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en-US" altLang="zh-CN" b="1" dirty="0">
                <a:solidFill>
                  <a:schemeClr val="accent6"/>
                </a:solidFill>
                <a:latin typeface="+mn-ea"/>
                <a:ea typeface="+mn-ea"/>
              </a:rPr>
              <a:t>grid-template-columns: repeat(12, 1fr);</a:t>
            </a:r>
          </a:p>
          <a:p>
            <a:r>
              <a:rPr lang="en-US" altLang="zh-CN" dirty="0">
                <a:latin typeface="+mn-ea"/>
                <a:ea typeface="+mn-ea"/>
              </a:rPr>
              <a:t> }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BC2956-620A-4FCD-8159-1820874966A1}"/>
              </a:ext>
            </a:extLst>
          </p:cNvPr>
          <p:cNvSpPr/>
          <p:nvPr/>
        </p:nvSpPr>
        <p:spPr>
          <a:xfrm>
            <a:off x="6080125" y="1624335"/>
            <a:ext cx="5365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首先定义一个完整的网格容器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；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D91FAE-BACE-46F5-89A1-DF43867F604E}"/>
              </a:ext>
            </a:extLst>
          </p:cNvPr>
          <p:cNvSpPr/>
          <p:nvPr/>
        </p:nvSpPr>
        <p:spPr>
          <a:xfrm>
            <a:off x="5930240" y="4516408"/>
            <a:ext cx="6080125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/* </a:t>
            </a:r>
            <a:r>
              <a:rPr lang="zh-CN" altLang="en-US" dirty="0">
                <a:latin typeface="+mn-ea"/>
                <a:ea typeface="+mn-ea"/>
              </a:rPr>
              <a:t>栅格区域 *</a:t>
            </a:r>
            <a:r>
              <a:rPr lang="en-US" altLang="zh-CN" dirty="0">
                <a:latin typeface="+mn-ea"/>
                <a:ea typeface="+mn-ea"/>
              </a:rPr>
              <a:t>/</a:t>
            </a:r>
          </a:p>
          <a:p>
            <a:r>
              <a:rPr lang="en-US" altLang="zh-CN" dirty="0">
                <a:latin typeface="+mn-ea"/>
                <a:ea typeface="+mn-ea"/>
              </a:rPr>
              <a:t> .</a:t>
            </a:r>
            <a:r>
              <a:rPr lang="en-US" altLang="zh-CN" dirty="0" err="1">
                <a:latin typeface="+mn-ea"/>
                <a:ea typeface="+mn-ea"/>
              </a:rPr>
              <a:t>grid_row</a:t>
            </a:r>
            <a:r>
              <a:rPr lang="en-US" altLang="zh-CN" dirty="0">
                <a:latin typeface="+mn-ea"/>
                <a:ea typeface="+mn-ea"/>
              </a:rPr>
              <a:t> {</a:t>
            </a:r>
          </a:p>
          <a:p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en-US" altLang="zh-CN" b="1" dirty="0">
                <a:latin typeface="+mn-ea"/>
                <a:ea typeface="+mn-ea"/>
              </a:rPr>
              <a:t>display: grid;</a:t>
            </a:r>
          </a:p>
          <a:p>
            <a:r>
              <a:rPr lang="en-US" altLang="zh-CN" dirty="0">
                <a:latin typeface="+mn-ea"/>
                <a:ea typeface="+mn-ea"/>
              </a:rPr>
              <a:t>   </a:t>
            </a:r>
            <a:r>
              <a:rPr lang="en-US" altLang="zh-CN" b="1" dirty="0">
                <a:solidFill>
                  <a:schemeClr val="accent6"/>
                </a:solidFill>
                <a:latin typeface="+mn-ea"/>
                <a:ea typeface="+mn-ea"/>
              </a:rPr>
              <a:t>grid-template-columns: repeat(12, 1fr);</a:t>
            </a:r>
          </a:p>
          <a:p>
            <a:r>
              <a:rPr lang="en-US" altLang="zh-CN" dirty="0">
                <a:latin typeface="+mn-ea"/>
                <a:ea typeface="+mn-ea"/>
              </a:rPr>
              <a:t> }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D3FF14-4D33-407E-A744-484F27A414F0}"/>
              </a:ext>
            </a:extLst>
          </p:cNvPr>
          <p:cNvSpPr/>
          <p:nvPr/>
        </p:nvSpPr>
        <p:spPr>
          <a:xfrm>
            <a:off x="6087969" y="3730749"/>
            <a:ext cx="6080125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latin typeface="+mn-ea"/>
                <a:ea typeface="+mn-ea"/>
              </a:rPr>
              <a:t>接着定义一个通用的网格模板类</a:t>
            </a:r>
            <a:r>
              <a:rPr lang="en-US" altLang="zh-CN" b="1" dirty="0" err="1">
                <a:latin typeface="+mn-ea"/>
                <a:ea typeface="+mn-ea"/>
              </a:rPr>
              <a:t>grid_row</a:t>
            </a:r>
            <a:r>
              <a:rPr lang="zh-CN" altLang="en-US" b="1" dirty="0">
                <a:latin typeface="+mn-ea"/>
                <a:ea typeface="+mn-ea"/>
              </a:rPr>
              <a:t>，该模板也定义了一个网格容器，网格设置了十二列，每列宽度均分</a:t>
            </a:r>
          </a:p>
        </p:txBody>
      </p:sp>
    </p:spTree>
    <p:extLst>
      <p:ext uri="{BB962C8B-B14F-4D97-AF65-F5344CB8AC3E}">
        <p14:creationId xmlns:p14="http://schemas.microsoft.com/office/powerpoint/2010/main" val="648584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5168403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栅格布局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D03371-5981-4D49-A88C-B1ECE759A4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9484" y="2124125"/>
            <a:ext cx="4980602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E27957-686F-48F0-B29F-120D89BD4196}"/>
              </a:ext>
            </a:extLst>
          </p:cNvPr>
          <p:cNvSpPr/>
          <p:nvPr/>
        </p:nvSpPr>
        <p:spPr>
          <a:xfrm>
            <a:off x="2618880" y="5255072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9-14 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BC2956-620A-4FCD-8159-1820874966A1}"/>
              </a:ext>
            </a:extLst>
          </p:cNvPr>
          <p:cNvSpPr/>
          <p:nvPr/>
        </p:nvSpPr>
        <p:spPr>
          <a:xfrm>
            <a:off x="6080125" y="1245858"/>
            <a:ext cx="60801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然后，定义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个通用的项目列模板类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grid_column-1~12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这些类定义了项目占用网格的列数，可以占用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1~12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D91FAE-BACE-46F5-89A1-DF43867F604E}"/>
              </a:ext>
            </a:extLst>
          </p:cNvPr>
          <p:cNvSpPr/>
          <p:nvPr/>
        </p:nvSpPr>
        <p:spPr>
          <a:xfrm>
            <a:off x="5720086" y="1901361"/>
            <a:ext cx="6080125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/* 12</a:t>
            </a:r>
            <a:r>
              <a:rPr lang="zh-CN" altLang="en-US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栅格 *</a:t>
            </a:r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/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.grid_column-1{ grid-column: span 1;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.grid_column-2{ grid-column: span 2;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.grid_column-3{ grid-column: span 3;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.grid_column-4{ grid-column: span 4;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.grid_column-5{ grid-column: span 5;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.grid_column-6{ grid-column: span 6;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.grid_column-7{ grid-column: span 7;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.grid_column-8{ grid-column: span 8;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.grid_column-9{ grid-column: span 9;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.grid_column-10{ grid-column: span 10;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.grid_column-11{ grid-column: span 11; }</a:t>
            </a:r>
          </a:p>
          <a:p>
            <a:r>
              <a:rPr lang="en-US" altLang="zh-CN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.grid_column-12{ grid-column: span 12; }</a:t>
            </a:r>
            <a:endParaRPr lang="zh-CN" altLang="en-US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958464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10260468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9-4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使用网格布局实现响应式设计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5" y="1169891"/>
            <a:ext cx="5168403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eaLnBrk="1" hangingPunct="1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12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栅格布局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6D03371-5981-4D49-A88C-B1ECE759A4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47477" y="2104235"/>
            <a:ext cx="4176464" cy="29523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E27957-686F-48F0-B29F-120D89BD4196}"/>
              </a:ext>
            </a:extLst>
          </p:cNvPr>
          <p:cNvSpPr/>
          <p:nvPr/>
        </p:nvSpPr>
        <p:spPr>
          <a:xfrm>
            <a:off x="1399605" y="5260414"/>
            <a:ext cx="10919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+mn-ea"/>
              </a:rPr>
              <a:t>例</a:t>
            </a:r>
            <a:r>
              <a:rPr lang="en-US" altLang="zh-CN" sz="2000" b="1" dirty="0">
                <a:solidFill>
                  <a:srgbClr val="0000FF"/>
                </a:solidFill>
                <a:latin typeface="+mn-ea"/>
              </a:rPr>
              <a:t>9-14 </a:t>
            </a:r>
            <a:endParaRPr lang="zh-CN" altLang="en-US" sz="20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BC2956-620A-4FCD-8159-1820874966A1}"/>
              </a:ext>
            </a:extLst>
          </p:cNvPr>
          <p:cNvSpPr/>
          <p:nvPr/>
        </p:nvSpPr>
        <p:spPr>
          <a:xfrm>
            <a:off x="4711973" y="1076214"/>
            <a:ext cx="7128792" cy="16893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每个需要使用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栅格的元素不需要重复定义网格属性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只需要在容器元素上添加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grid_row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类即可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容器内的项目，根据所需要占用的栅格数量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  <a:p>
            <a:pPr>
              <a:lnSpc>
                <a:spcPct val="150000"/>
              </a:lnSpc>
              <a:buClr>
                <a:srgbClr val="C00000"/>
              </a:buClr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添加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grid_column-1~12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中对应的类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D91FAE-BACE-46F5-89A1-DF43867F604E}"/>
              </a:ext>
            </a:extLst>
          </p:cNvPr>
          <p:cNvSpPr/>
          <p:nvPr/>
        </p:nvSpPr>
        <p:spPr>
          <a:xfrm>
            <a:off x="4423941" y="3058722"/>
            <a:ext cx="752028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grid_container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grid_ro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w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header"&gt;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grid_column-12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lightblue1"&gt;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占用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格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grid_row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main"&gt;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grid_column-2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lightblue2"&gt;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占用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格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grid_column-8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"&gt;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占用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8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格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grid_column-2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lightblue2"&gt;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占用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格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&lt;div class="</a:t>
            </a:r>
            <a:r>
              <a:rPr lang="en-US" altLang="zh-CN" sz="1600" dirty="0" err="1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grid_row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footer"&gt;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  &lt;div class="</a:t>
            </a:r>
            <a:r>
              <a:rPr lang="en-US" altLang="zh-CN" sz="1600" dirty="0" err="1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grid_item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grid_column-12 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lightblue1"&gt;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占用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12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格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  &lt;/div&gt;</a:t>
            </a:r>
          </a:p>
          <a:p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  &lt;/div&gt;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00331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9-5~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9-8</a:t>
            </a:r>
            <a:endParaRPr lang="zh-CN" altLang="en-US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030CB7-09CD-4D65-AFC0-92183B1414E7}"/>
              </a:ext>
            </a:extLst>
          </p:cNvPr>
          <p:cNvSpPr/>
          <p:nvPr/>
        </p:nvSpPr>
        <p:spPr>
          <a:xfrm>
            <a:off x="751533" y="1833687"/>
            <a:ext cx="4752528" cy="45129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快递柜取件页面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按页面功能区域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从顶部到底部分割为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个模块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①导航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②取件模块</a:t>
            </a:r>
            <a:endParaRPr lang="en-US" altLang="zh-CN" sz="20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取件模块内部又包含了二维码和键盘等若干子模块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当屏幕垂直时，键盘和二维码上下分布；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当屏幕水平时，二维码和键盘左右分布。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具体实现请对照书本学习</a:t>
            </a:r>
            <a:endParaRPr lang="zh-CN" altLang="en-US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id="{8E1FC958-4B26-4066-A7BF-16C99023E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33" y="1094913"/>
            <a:ext cx="11001051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页面分析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7C52E7-26AE-4377-A9BA-B317593E8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077" y="1087525"/>
            <a:ext cx="4479950" cy="41991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CEDAA34-E595-46E3-BE20-8F489D955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569" y="4428381"/>
            <a:ext cx="4201015" cy="231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846766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18066</TotalTime>
  <Words>4832</Words>
  <Application>Microsoft Office PowerPoint</Application>
  <PresentationFormat>自定义</PresentationFormat>
  <Paragraphs>662</Paragraphs>
  <Slides>50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59" baseType="lpstr">
      <vt:lpstr>等线</vt:lpstr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响应式网站设计篇 项目9 快递柜取件页面</vt:lpstr>
      <vt:lpstr>项目9 快递柜取件页面</vt:lpstr>
      <vt:lpstr>项目9 快递柜取件页面</vt:lpstr>
      <vt:lpstr>任务9-1 网格布局</vt:lpstr>
      <vt:lpstr>任务9-1 网格布局</vt:lpstr>
      <vt:lpstr>任务9-1 网格布局</vt:lpstr>
      <vt:lpstr>任务9-1 网格布局</vt:lpstr>
      <vt:lpstr>任务9-1 网格布局</vt:lpstr>
      <vt:lpstr>任务9-1 网格布局</vt:lpstr>
      <vt:lpstr>任务9-1 网格布局</vt:lpstr>
      <vt:lpstr>任务9-1 网格布局</vt:lpstr>
      <vt:lpstr>任务9-1 网格布局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任务9-2 网格容器属性的设置</vt:lpstr>
      <vt:lpstr>任务9-3 网格项目属性的设置</vt:lpstr>
      <vt:lpstr>任务9-3 网格项目属性的设置</vt:lpstr>
      <vt:lpstr>任务9-3 网格项目属性的设置</vt:lpstr>
      <vt:lpstr>任务9-3 网格项目属性的设置</vt:lpstr>
      <vt:lpstr>任务9-3 网格项目属性的设置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任务9-4 使用网格布局实现响应式设计</vt:lpstr>
      <vt:lpstr>任务9-5~任务9-8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响应式网站设计篇 项目10 快递柜取件页面</dc:title>
  <dc:subject>Web前端开发与项目实践</dc:subject>
  <dc:creator/>
  <cp:lastModifiedBy>John Hu</cp:lastModifiedBy>
  <cp:revision>1499</cp:revision>
  <dcterms:created xsi:type="dcterms:W3CDTF">2008-02-14T05:21:14Z</dcterms:created>
  <dcterms:modified xsi:type="dcterms:W3CDTF">2024-03-30T13:06:40Z</dcterms:modified>
</cp:coreProperties>
</file>