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344" r:id="rId2"/>
    <p:sldId id="257" r:id="rId3"/>
    <p:sldId id="346" r:id="rId4"/>
    <p:sldId id="280" r:id="rId5"/>
    <p:sldId id="294" r:id="rId6"/>
    <p:sldId id="345" r:id="rId7"/>
    <p:sldId id="291" r:id="rId8"/>
    <p:sldId id="278" r:id="rId9"/>
    <p:sldId id="301" r:id="rId10"/>
    <p:sldId id="302" r:id="rId11"/>
    <p:sldId id="339" r:id="rId12"/>
    <p:sldId id="303" r:id="rId13"/>
    <p:sldId id="304" r:id="rId14"/>
    <p:sldId id="305" r:id="rId15"/>
    <p:sldId id="338" r:id="rId16"/>
    <p:sldId id="306" r:id="rId17"/>
    <p:sldId id="340" r:id="rId18"/>
    <p:sldId id="308" r:id="rId19"/>
    <p:sldId id="307" r:id="rId20"/>
    <p:sldId id="309" r:id="rId21"/>
    <p:sldId id="347" r:id="rId22"/>
    <p:sldId id="311" r:id="rId23"/>
    <p:sldId id="312" r:id="rId24"/>
    <p:sldId id="314" r:id="rId25"/>
    <p:sldId id="315" r:id="rId26"/>
    <p:sldId id="316" r:id="rId27"/>
    <p:sldId id="348" r:id="rId28"/>
    <p:sldId id="349" r:id="rId29"/>
    <p:sldId id="317" r:id="rId30"/>
    <p:sldId id="350" r:id="rId31"/>
    <p:sldId id="351" r:id="rId32"/>
    <p:sldId id="318" r:id="rId33"/>
    <p:sldId id="352" r:id="rId34"/>
    <p:sldId id="341" r:id="rId35"/>
    <p:sldId id="319" r:id="rId36"/>
    <p:sldId id="320" r:id="rId37"/>
    <p:sldId id="353" r:id="rId38"/>
    <p:sldId id="321" r:id="rId39"/>
    <p:sldId id="323" r:id="rId40"/>
    <p:sldId id="342" r:id="rId41"/>
    <p:sldId id="330" r:id="rId42"/>
    <p:sldId id="331" r:id="rId43"/>
    <p:sldId id="332" r:id="rId44"/>
    <p:sldId id="333" r:id="rId45"/>
    <p:sldId id="334" r:id="rId46"/>
    <p:sldId id="343" r:id="rId47"/>
    <p:sldId id="335" r:id="rId48"/>
    <p:sldId id="337"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3990"/>
    <a:srgbClr val="2361AD"/>
    <a:srgbClr val="C30D23"/>
    <a:srgbClr val="CC0000"/>
    <a:srgbClr val="023A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46" autoAdjust="0"/>
    <p:restoredTop sz="94660"/>
  </p:normalViewPr>
  <p:slideViewPr>
    <p:cSldViewPr snapToGrid="0">
      <p:cViewPr varScale="1">
        <p:scale>
          <a:sx n="118" d="100"/>
          <a:sy n="118" d="100"/>
        </p:scale>
        <p:origin x="1368"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0717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750848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00" algn="l">
              <a:buClr>
                <a:schemeClr val="accent1"/>
              </a:buClr>
              <a:buSzPct val="100000"/>
              <a:buFont typeface="Wingdings" panose="05000000000000000000" pitchFamily="2" charset="2"/>
              <a:buChar char="p"/>
              <a:defRPr lang="zh-CN" altLang="en-US" dirty="0" smtClean="0"/>
            </a:lvl1pPr>
            <a:lvl2pPr marL="685800" indent="-360000">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sz="1800"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marL="2286000" indent="0">
              <a:buClr>
                <a:schemeClr val="tx2"/>
              </a:buClr>
              <a:buFont typeface="Arial" panose="020B0604020202020204" pitchFamily="34" charset="0"/>
              <a:buNone/>
              <a:defRPr/>
            </a:lvl6pPr>
            <a:lvl7pPr marL="2743200" indent="0">
              <a:buNone/>
              <a:defRPr/>
            </a:lvl7pPr>
            <a:lvl8pPr marL="3200400" indent="0">
              <a:buNone/>
              <a:defRPr/>
            </a:lvl8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dirty="0"/>
          </a:p>
        </p:txBody>
      </p:sp>
    </p:spTree>
    <p:extLst>
      <p:ext uri="{BB962C8B-B14F-4D97-AF65-F5344CB8AC3E}">
        <p14:creationId xmlns:p14="http://schemas.microsoft.com/office/powerpoint/2010/main" val="650167904"/>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432718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7054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350" y="1724773"/>
            <a:ext cx="400685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572000" y="1724773"/>
            <a:ext cx="430530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947309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123105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7597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章节名">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85400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147604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4257623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350" y="1724773"/>
            <a:ext cx="400685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572000" y="1724773"/>
            <a:ext cx="430530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970336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926562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98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050917"/>
            <a:ext cx="8629650" cy="507047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8" name="标题占位符 7"/>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58192565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690" r:id="rId9"/>
    <p:sldLayoutId id="2147483692" r:id="rId10"/>
    <p:sldLayoutId id="2147483664" r:id="rId11"/>
    <p:sldLayoutId id="2147483665" r:id="rId12"/>
    <p:sldLayoutId id="2147483666" r:id="rId13"/>
    <p:sldLayoutId id="2147483667" r:id="rId14"/>
  </p:sldLayoutIdLst>
  <p:txStyles>
    <p:title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p:titleStyle>
    <p:bodyStyle>
      <a:lvl1pPr marL="228600" indent="-360000"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image" Target="../media/image7.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hyperlink" Target="https://www.zhihu.com/question/348073311/answer/3102405037" TargetMode="External"/><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hyperlink" Target="https://cloud.tencent.com/developer/article/2085927"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2.png"/><Relationship Id="rId1" Type="http://schemas.openxmlformats.org/officeDocument/2006/relationships/slideLayout" Target="../slideLayouts/slideLayout3.xml"/><Relationship Id="rId4" Type="http://schemas.openxmlformats.org/officeDocument/2006/relationships/hyperlink" Target="https://blog.csdn.net/Don_t_always_ail/article/details/13406771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zhuanlan.zhihu.com/p/53781144" TargetMode="External"/><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zhuanlan.zhihu.com/p/379098227" TargetMode="External"/><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54.wmf"/><Relationship Id="rId18" Type="http://schemas.openxmlformats.org/officeDocument/2006/relationships/image" Target="../media/image57.png"/><Relationship Id="rId3" Type="http://schemas.openxmlformats.org/officeDocument/2006/relationships/image" Target="../media/image49.wmf"/><Relationship Id="rId7" Type="http://schemas.openxmlformats.org/officeDocument/2006/relationships/image" Target="../media/image51.wmf"/><Relationship Id="rId12" Type="http://schemas.openxmlformats.org/officeDocument/2006/relationships/oleObject" Target="../embeddings/oleObject8.bin"/><Relationship Id="rId17" Type="http://schemas.openxmlformats.org/officeDocument/2006/relationships/image" Target="../media/image56.png"/><Relationship Id="rId2" Type="http://schemas.openxmlformats.org/officeDocument/2006/relationships/oleObject" Target="../embeddings/oleObject3.bin"/><Relationship Id="rId16" Type="http://schemas.openxmlformats.org/officeDocument/2006/relationships/oleObject" Target="../embeddings/oleObject10.bin"/><Relationship Id="rId1" Type="http://schemas.openxmlformats.org/officeDocument/2006/relationships/slideLayout" Target="../slideLayouts/slideLayout3.xml"/><Relationship Id="rId6" Type="http://schemas.openxmlformats.org/officeDocument/2006/relationships/oleObject" Target="../embeddings/oleObject5.bin"/><Relationship Id="rId11" Type="http://schemas.openxmlformats.org/officeDocument/2006/relationships/image" Target="../media/image53.png"/><Relationship Id="rId5" Type="http://schemas.openxmlformats.org/officeDocument/2006/relationships/image" Target="../media/image50.wmf"/><Relationship Id="rId15" Type="http://schemas.openxmlformats.org/officeDocument/2006/relationships/image" Target="../media/image55.wmf"/><Relationship Id="rId10" Type="http://schemas.openxmlformats.org/officeDocument/2006/relationships/oleObject" Target="../embeddings/oleObject7.bin"/><Relationship Id="rId19" Type="http://schemas.openxmlformats.org/officeDocument/2006/relationships/image" Target="../media/image58.png"/><Relationship Id="rId4" Type="http://schemas.openxmlformats.org/officeDocument/2006/relationships/oleObject" Target="../embeddings/oleObject4.bin"/><Relationship Id="rId9" Type="http://schemas.openxmlformats.org/officeDocument/2006/relationships/image" Target="../media/image52.wmf"/><Relationship Id="rId14" Type="http://schemas.openxmlformats.org/officeDocument/2006/relationships/oleObject" Target="../embeddings/oleObject9.bin"/></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3.xml"/><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503247" y="5559552"/>
            <a:ext cx="384721" cy="536448"/>
          </a:xfrm>
          <a:prstGeom prst="rect">
            <a:avLst/>
          </a:prstGeom>
          <a:noFill/>
        </p:spPr>
        <p:txBody>
          <a:bodyPr vert="eaVert" wrap="square" rtlCol="0">
            <a:spAutoFit/>
          </a:bodyPr>
          <a:lstStyle/>
          <a:p>
            <a:r>
              <a:rPr lang="zh-CN" altLang="en-US" sz="1300" spc="-300" dirty="0">
                <a:latin typeface="华文仿宋" panose="02010600040101010101" pitchFamily="2" charset="-122"/>
                <a:ea typeface="华文仿宋" panose="02010600040101010101" pitchFamily="2" charset="-122"/>
              </a:rPr>
              <a:t>胡鹏</a:t>
            </a:r>
          </a:p>
        </p:txBody>
      </p:sp>
    </p:spTree>
    <p:extLst>
      <p:ext uri="{BB962C8B-B14F-4D97-AF65-F5344CB8AC3E}">
        <p14:creationId xmlns:p14="http://schemas.microsoft.com/office/powerpoint/2010/main" val="1997412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523028"/>
            <a:ext cx="7886700" cy="1325563"/>
          </a:xfrm>
        </p:spPr>
        <p:txBody>
          <a:bodyPr/>
          <a:lstStyle/>
          <a:p>
            <a:pPr>
              <a:lnSpc>
                <a:spcPct val="130000"/>
              </a:lnSpc>
            </a:pPr>
            <a:r>
              <a:rPr kumimoji="1" lang="zh-CN" altLang="en-US" sz="5400" b="1" dirty="0">
                <a:solidFill>
                  <a:schemeClr val="tx1"/>
                </a:solidFill>
                <a:latin typeface="Microsoft YaHei" panose="020B0503020204020204" pitchFamily="34" charset="-122"/>
                <a:ea typeface="Microsoft YaHei" panose="020B0503020204020204" pitchFamily="34" charset="-122"/>
                <a:cs typeface="Verdana" pitchFamily="34" charset="0"/>
              </a:rPr>
              <a:t>第一章</a:t>
            </a:r>
            <a:r>
              <a:rPr kumimoji="1" lang="zh-CN" altLang="en-US" sz="5400" dirty="0">
                <a:solidFill>
                  <a:schemeClr val="tx1"/>
                </a:solidFill>
                <a:latin typeface="Microsoft YaHei" panose="020B0503020204020204" pitchFamily="34" charset="-122"/>
                <a:ea typeface="Microsoft YaHei" panose="020B0503020204020204" pitchFamily="34" charset="-122"/>
                <a:cs typeface="Verdana" pitchFamily="34" charset="0"/>
              </a:rPr>
              <a:t>内容回顾</a:t>
            </a:r>
            <a:endParaRPr lang="zh-CN" altLang="en-US" sz="5400" dirty="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5709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tx1"/>
                </a:solidFill>
              </a:rPr>
              <a:t>机器学习其它定义</a:t>
            </a:r>
          </a:p>
        </p:txBody>
      </p:sp>
      <p:sp>
        <p:nvSpPr>
          <p:cNvPr id="3" name="内容占位符 2">
            <a:extLst>
              <a:ext uri="{FF2B5EF4-FFF2-40B4-BE49-F238E27FC236}">
                <a16:creationId xmlns:a16="http://schemas.microsoft.com/office/drawing/2014/main" id="{7A1454F2-BCCA-581F-2CE2-325EFA9A4A14}"/>
              </a:ext>
            </a:extLst>
          </p:cNvPr>
          <p:cNvSpPr txBox="1">
            <a:spLocks/>
          </p:cNvSpPr>
          <p:nvPr/>
        </p:nvSpPr>
        <p:spPr>
          <a:xfrm>
            <a:off x="869950" y="1416888"/>
            <a:ext cx="7277100" cy="3949769"/>
          </a:xfrm>
          <a:prstGeom prst="rect">
            <a:avLst/>
          </a:prstGeom>
        </p:spPr>
        <p:txBody>
          <a:bodyPr vert="horz" lIns="91440" tIns="46800" rIns="91440" bIns="4572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spcBef>
                <a:spcPts val="1200"/>
              </a:spcBef>
              <a:buNone/>
            </a:pPr>
            <a:r>
              <a:rPr lang="zh-CN" altLang="en-US" sz="2200" dirty="0">
                <a:latin typeface="Microsoft YaHei" panose="020B0503020204020204" pitchFamily="34" charset="-122"/>
                <a:ea typeface="Microsoft YaHei" panose="020B0503020204020204" pitchFamily="34" charset="-122"/>
              </a:rPr>
              <a:t>机器学习有下面几种定义：</a:t>
            </a:r>
          </a:p>
          <a:p>
            <a:pPr marL="342900" indent="-342900">
              <a:lnSpc>
                <a:spcPct val="150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机器学习是一门人工智能的科学，该领域的主要研究对象是人工智能，特别是</a:t>
            </a:r>
            <a:r>
              <a:rPr lang="zh-CN" altLang="en-US" sz="2000" u="sng" dirty="0">
                <a:solidFill>
                  <a:srgbClr val="C00000"/>
                </a:solidFill>
                <a:latin typeface="Microsoft YaHei" panose="020B0503020204020204" pitchFamily="34" charset="-122"/>
                <a:ea typeface="Microsoft YaHei" panose="020B0503020204020204" pitchFamily="34" charset="-122"/>
              </a:rPr>
              <a:t>如何在经验学习中改善具体算法</a:t>
            </a:r>
            <a:r>
              <a:rPr lang="zh-CN" altLang="en-US" sz="2000" dirty="0">
                <a:latin typeface="Microsoft YaHei" panose="020B0503020204020204" pitchFamily="34" charset="-122"/>
                <a:ea typeface="Microsoft YaHei" panose="020B0503020204020204" pitchFamily="34" charset="-122"/>
              </a:rPr>
              <a:t>的性能。</a:t>
            </a:r>
          </a:p>
          <a:p>
            <a:pPr marL="342900" indent="-342900">
              <a:lnSpc>
                <a:spcPct val="150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机器学习是</a:t>
            </a:r>
            <a:r>
              <a:rPr lang="zh-CN" altLang="en-US" sz="2000" u="sng" dirty="0">
                <a:solidFill>
                  <a:srgbClr val="00B050"/>
                </a:solidFill>
                <a:latin typeface="Microsoft YaHei" panose="020B0503020204020204" pitchFamily="34" charset="-122"/>
                <a:ea typeface="Microsoft YaHei" panose="020B0503020204020204" pitchFamily="34" charset="-122"/>
              </a:rPr>
              <a:t>对能通过经验自动改进的计算机算法的研究</a:t>
            </a:r>
            <a:r>
              <a:rPr lang="zh-CN" altLang="en-US" sz="2000" dirty="0">
                <a:latin typeface="Microsoft YaHei" panose="020B0503020204020204" pitchFamily="34" charset="-122"/>
                <a:ea typeface="Microsoft YaHei" panose="020B0503020204020204" pitchFamily="34" charset="-122"/>
              </a:rPr>
              <a:t>。</a:t>
            </a:r>
          </a:p>
          <a:p>
            <a:pPr marL="342900" indent="-342900">
              <a:lnSpc>
                <a:spcPct val="150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机器学习</a:t>
            </a:r>
            <a:r>
              <a:rPr lang="zh-CN" altLang="en-US" sz="2000" b="1" u="sng" dirty="0">
                <a:latin typeface="Microsoft YaHei" panose="020B0503020204020204" pitchFamily="34" charset="-122"/>
                <a:ea typeface="Microsoft YaHei" panose="020B0503020204020204" pitchFamily="34" charset="-122"/>
              </a:rPr>
              <a:t>是用数据或以往的经验</a:t>
            </a:r>
            <a:r>
              <a:rPr lang="zh-CN" altLang="en-US" sz="2000" dirty="0">
                <a:latin typeface="Microsoft YaHei" panose="020B0503020204020204" pitchFamily="34" charset="-122"/>
                <a:ea typeface="Microsoft YaHei" panose="020B0503020204020204" pitchFamily="34" charset="-122"/>
              </a:rPr>
              <a:t>，以此优化计算机程序的性能标准。</a:t>
            </a:r>
          </a:p>
        </p:txBody>
      </p:sp>
      <p:sp>
        <p:nvSpPr>
          <p:cNvPr id="5" name="文本框 4">
            <a:extLst>
              <a:ext uri="{FF2B5EF4-FFF2-40B4-BE49-F238E27FC236}">
                <a16:creationId xmlns:a16="http://schemas.microsoft.com/office/drawing/2014/main" id="{A14CAF77-3DD3-A25B-6A60-CD9BCA496DF1}"/>
              </a:ext>
            </a:extLst>
          </p:cNvPr>
          <p:cNvSpPr txBox="1"/>
          <p:nvPr/>
        </p:nvSpPr>
        <p:spPr>
          <a:xfrm>
            <a:off x="1110341" y="6406715"/>
            <a:ext cx="7696201" cy="276999"/>
          </a:xfrm>
          <a:prstGeom prst="rect">
            <a:avLst/>
          </a:prstGeom>
          <a:noFill/>
        </p:spPr>
        <p:txBody>
          <a:bodyPr wrap="square">
            <a:spAutoFit/>
          </a:bodyPr>
          <a:lstStyle/>
          <a:p>
            <a:r>
              <a:rPr lang="zh-CN" altLang="en-US" sz="1200" dirty="0">
                <a:solidFill>
                  <a:schemeClr val="bg1">
                    <a:lumMod val="50000"/>
                  </a:schemeClr>
                </a:solidFill>
              </a:rPr>
              <a:t>https://zh.wikipedia.org/wiki/%E6%9C%BA%E5%99%A8%E5%AD%A6%E4%B9%A0</a:t>
            </a:r>
          </a:p>
        </p:txBody>
      </p:sp>
    </p:spTree>
    <p:extLst>
      <p:ext uri="{BB962C8B-B14F-4D97-AF65-F5344CB8AC3E}">
        <p14:creationId xmlns:p14="http://schemas.microsoft.com/office/powerpoint/2010/main" val="2069083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chemeClr val="tx1"/>
                </a:solidFill>
                <a:latin typeface="Microsoft YaHei" panose="020B0503020204020204" pitchFamily="34" charset="-122"/>
                <a:ea typeface="Microsoft YaHei" panose="020B0503020204020204" pitchFamily="34" charset="-122"/>
              </a:rPr>
              <a:t>典型的机器学习过程</a:t>
            </a:r>
          </a:p>
        </p:txBody>
      </p:sp>
      <p:sp>
        <p:nvSpPr>
          <p:cNvPr id="3" name="Line 2"/>
          <p:cNvSpPr>
            <a:spLocks noChangeShapeType="1"/>
          </p:cNvSpPr>
          <p:nvPr/>
        </p:nvSpPr>
        <p:spPr bwMode="auto">
          <a:xfrm>
            <a:off x="6877050" y="3005758"/>
            <a:ext cx="790575" cy="1079500"/>
          </a:xfrm>
          <a:prstGeom prst="line">
            <a:avLst/>
          </a:prstGeom>
          <a:noFill/>
          <a:ln w="222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srgbClr val="000000"/>
              </a:solidFill>
              <a:latin typeface="Microsoft YaHei" panose="020B0503020204020204" pitchFamily="34" charset="-122"/>
              <a:ea typeface="Microsoft YaHei" panose="020B0503020204020204" pitchFamily="34" charset="-122"/>
            </a:endParaRPr>
          </a:p>
        </p:txBody>
      </p:sp>
      <p:sp>
        <p:nvSpPr>
          <p:cNvPr id="4" name="Line 3"/>
          <p:cNvSpPr>
            <a:spLocks noChangeShapeType="1"/>
          </p:cNvSpPr>
          <p:nvPr/>
        </p:nvSpPr>
        <p:spPr bwMode="auto">
          <a:xfrm flipV="1">
            <a:off x="5867400" y="3005758"/>
            <a:ext cx="936625" cy="1152525"/>
          </a:xfrm>
          <a:prstGeom prst="line">
            <a:avLst/>
          </a:prstGeom>
          <a:noFill/>
          <a:ln w="222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400">
              <a:solidFill>
                <a:srgbClr val="000000"/>
              </a:solidFill>
              <a:latin typeface="Microsoft YaHei" panose="020B0503020204020204" pitchFamily="34" charset="-122"/>
              <a:ea typeface="Microsoft YaHei" panose="020B0503020204020204" pitchFamily="34" charset="-122"/>
            </a:endParaRPr>
          </a:p>
        </p:txBody>
      </p:sp>
      <p:grpSp>
        <p:nvGrpSpPr>
          <p:cNvPr id="5" name="Group 4"/>
          <p:cNvGrpSpPr>
            <a:grpSpLocks/>
          </p:cNvGrpSpPr>
          <p:nvPr/>
        </p:nvGrpSpPr>
        <p:grpSpPr bwMode="auto">
          <a:xfrm>
            <a:off x="5216530" y="2140569"/>
            <a:ext cx="3478215" cy="1622425"/>
            <a:chOff x="3216" y="2912"/>
            <a:chExt cx="2191" cy="1022"/>
          </a:xfrm>
        </p:grpSpPr>
        <p:sp>
          <p:nvSpPr>
            <p:cNvPr id="6" name="Rectangle 5"/>
            <p:cNvSpPr>
              <a:spLocks noChangeArrowheads="1"/>
            </p:cNvSpPr>
            <p:nvPr/>
          </p:nvSpPr>
          <p:spPr bwMode="auto">
            <a:xfrm>
              <a:off x="3216" y="3526"/>
              <a:ext cx="2191" cy="408"/>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square" lIns="92075" tIns="46038" rIns="92075" bIns="46038"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cs typeface="Verdana" pitchFamily="34" charset="0"/>
                </a:rPr>
                <a:t>决策树，神经网络，支持向量机，</a:t>
              </a:r>
              <a:r>
                <a:rPr kumimoji="1" lang="en-US" altLang="zh-CN"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cs typeface="Verdana" panose="020B0604030504040204" pitchFamily="34" charset="0"/>
                </a:rPr>
                <a:t>Boosting</a:t>
              </a:r>
              <a:r>
                <a:rPr kumimoji="1" lang="zh-CN" altLang="en-US"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cs typeface="Verdana" pitchFamily="34" charset="0"/>
                </a:rPr>
                <a:t>，贝叶斯网络，</a:t>
              </a:r>
              <a:r>
                <a:rPr kumimoji="1" lang="en-US" altLang="zh-CN"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cs typeface="Verdana" pitchFamily="34" charset="0"/>
                </a:rPr>
                <a:t>……</a:t>
              </a:r>
            </a:p>
          </p:txBody>
        </p:sp>
        <p:pic>
          <p:nvPicPr>
            <p:cNvPr id="7"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6" y="2912"/>
              <a:ext cx="671"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a:spLocks noChangeArrowheads="1"/>
            </p:cNvSpPr>
            <p:nvPr/>
          </p:nvSpPr>
          <p:spPr bwMode="auto">
            <a:xfrm>
              <a:off x="4044" y="3132"/>
              <a:ext cx="44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marL="0" marR="0" lvl="0" indent="0" algn="ctr" defTabSz="914400" eaLnBrk="1" fontAlgn="base" latinLnBrk="0" hangingPunct="1">
                <a:lnSpc>
                  <a:spcPct val="8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rPr>
                <a:t>模型</a:t>
              </a:r>
              <a:endParaRPr kumimoji="1" lang="en-US" altLang="zh-CN" sz="20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endParaRPr>
            </a:p>
          </p:txBody>
        </p:sp>
        <p:sp>
          <p:nvSpPr>
            <p:cNvPr id="9" name="Line 8"/>
            <p:cNvSpPr>
              <a:spLocks noChangeShapeType="1"/>
            </p:cNvSpPr>
            <p:nvPr/>
          </p:nvSpPr>
          <p:spPr bwMode="auto">
            <a:xfrm flipH="1">
              <a:off x="3264" y="3312"/>
              <a:ext cx="624" cy="21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sp>
          <p:nvSpPr>
            <p:cNvPr id="10" name="Line 9"/>
            <p:cNvSpPr>
              <a:spLocks noChangeShapeType="1"/>
            </p:cNvSpPr>
            <p:nvPr/>
          </p:nvSpPr>
          <p:spPr bwMode="auto">
            <a:xfrm>
              <a:off x="4656" y="3336"/>
              <a:ext cx="672" cy="19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grpSp>
      <p:grpSp>
        <p:nvGrpSpPr>
          <p:cNvPr id="11" name="Group 10"/>
          <p:cNvGrpSpPr>
            <a:grpSpLocks/>
          </p:cNvGrpSpPr>
          <p:nvPr/>
        </p:nvGrpSpPr>
        <p:grpSpPr bwMode="auto">
          <a:xfrm>
            <a:off x="285428" y="2068411"/>
            <a:ext cx="4070346" cy="2813051"/>
            <a:chOff x="203" y="1903"/>
            <a:chExt cx="2564" cy="1772"/>
          </a:xfrm>
        </p:grpSpPr>
        <p:grpSp>
          <p:nvGrpSpPr>
            <p:cNvPr id="12" name="Group 11"/>
            <p:cNvGrpSpPr>
              <a:grpSpLocks/>
            </p:cNvGrpSpPr>
            <p:nvPr/>
          </p:nvGrpSpPr>
          <p:grpSpPr bwMode="auto">
            <a:xfrm>
              <a:off x="203" y="1903"/>
              <a:ext cx="2479" cy="1772"/>
              <a:chOff x="203" y="1903"/>
              <a:chExt cx="2479" cy="1772"/>
            </a:xfrm>
          </p:grpSpPr>
          <p:pic>
            <p:nvPicPr>
              <p:cNvPr id="15"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0" y="1903"/>
                <a:ext cx="637" cy="51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3"/>
              <p:cNvSpPr>
                <a:spLocks noChangeArrowheads="1"/>
              </p:cNvSpPr>
              <p:nvPr/>
            </p:nvSpPr>
            <p:spPr bwMode="auto">
              <a:xfrm>
                <a:off x="1020" y="2085"/>
                <a:ext cx="658"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rPr>
                  <a:t>训练数据</a:t>
                </a:r>
                <a:endParaRPr kumimoji="1" lang="en-US" altLang="zh-CN"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endParaRPr>
              </a:p>
            </p:txBody>
          </p:sp>
          <p:graphicFrame>
            <p:nvGraphicFramePr>
              <p:cNvPr id="17" name="Object 14"/>
              <p:cNvGraphicFramePr>
                <a:graphicFrameLocks/>
              </p:cNvGraphicFramePr>
              <p:nvPr/>
            </p:nvGraphicFramePr>
            <p:xfrm>
              <a:off x="203" y="2547"/>
              <a:ext cx="2479" cy="1128"/>
            </p:xfrm>
            <a:graphic>
              <a:graphicData uri="http://schemas.openxmlformats.org/presentationml/2006/ole">
                <mc:AlternateContent xmlns:mc="http://schemas.openxmlformats.org/markup-compatibility/2006">
                  <mc:Choice xmlns:v="urn:schemas-microsoft-com:vml" Requires="v">
                    <p:oleObj name="工作表" r:id="rId4" imgW="4629275" imgH="1895609" progId="Excel.Sheet.8">
                      <p:embed/>
                    </p:oleObj>
                  </mc:Choice>
                  <mc:Fallback>
                    <p:oleObj name="工作表" r:id="rId4" imgW="4629275" imgH="1895609" progId="Excel.Sheet.8">
                      <p:embed/>
                      <p:pic>
                        <p:nvPicPr>
                          <p:cNvPr id="17" name="Object 14"/>
                          <p:cNvPicPr>
                            <a:picLocks noChangeArrowheads="1"/>
                          </p:cNvPicPr>
                          <p:nvPr/>
                        </p:nvPicPr>
                        <p:blipFill>
                          <a:blip r:embed="rId5"/>
                          <a:srcRect/>
                          <a:stretch>
                            <a:fillRect/>
                          </a:stretch>
                        </p:blipFill>
                        <p:spPr bwMode="auto">
                          <a:xfrm>
                            <a:off x="203" y="2547"/>
                            <a:ext cx="2479" cy="1128"/>
                          </a:xfrm>
                          <a:prstGeom prst="rect">
                            <a:avLst/>
                          </a:prstGeom>
                          <a:noFill/>
                          <a:ln>
                            <a:noFill/>
                          </a:ln>
                          <a:effectLst/>
                        </p:spPr>
                      </p:pic>
                    </p:oleObj>
                  </mc:Fallback>
                </mc:AlternateContent>
              </a:graphicData>
            </a:graphic>
          </p:graphicFrame>
          <p:sp>
            <p:nvSpPr>
              <p:cNvPr id="18" name="Line 15"/>
              <p:cNvSpPr>
                <a:spLocks noChangeShapeType="1"/>
              </p:cNvSpPr>
              <p:nvPr/>
            </p:nvSpPr>
            <p:spPr bwMode="auto">
              <a:xfrm flipH="1">
                <a:off x="295" y="2273"/>
                <a:ext cx="720" cy="25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sp>
            <p:nvSpPr>
              <p:cNvPr id="19" name="Line 16"/>
              <p:cNvSpPr>
                <a:spLocks noChangeShapeType="1"/>
              </p:cNvSpPr>
              <p:nvPr/>
            </p:nvSpPr>
            <p:spPr bwMode="auto">
              <a:xfrm>
                <a:off x="1735" y="2273"/>
                <a:ext cx="816" cy="25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grpSp>
        <p:sp>
          <p:nvSpPr>
            <p:cNvPr id="13" name="Text Box 17"/>
            <p:cNvSpPr txBox="1">
              <a:spLocks noChangeArrowheads="1"/>
            </p:cNvSpPr>
            <p:nvPr/>
          </p:nvSpPr>
          <p:spPr bwMode="auto">
            <a:xfrm>
              <a:off x="2041" y="1921"/>
              <a:ext cx="72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600" b="1" i="0" u="none" strike="noStrike" kern="0" cap="none" spc="0" normalizeH="0" baseline="0" noProof="0" dirty="0">
                  <a:ln>
                    <a:noFill/>
                  </a:ln>
                  <a:solidFill>
                    <a:schemeClr val="tx2"/>
                  </a:solidFill>
                  <a:effectLst/>
                  <a:uLnTx/>
                  <a:uFillTx/>
                  <a:latin typeface="Microsoft YaHei" panose="020B0503020204020204" pitchFamily="34" charset="-122"/>
                  <a:ea typeface="Microsoft YaHei" panose="020B0503020204020204" pitchFamily="34" charset="-122"/>
                </a:rPr>
                <a:t>类别标记（</a:t>
              </a:r>
              <a:r>
                <a:rPr kumimoji="0" lang="en-US" altLang="zh-CN" sz="1600" b="1" i="1" u="none" strike="noStrike" kern="0" cap="none" spc="0" normalizeH="0" baseline="0" noProof="0" dirty="0">
                  <a:ln>
                    <a:noFill/>
                  </a:ln>
                  <a:solidFill>
                    <a:schemeClr val="tx2"/>
                  </a:solidFill>
                  <a:effectLst/>
                  <a:uLnTx/>
                  <a:uFillTx/>
                  <a:latin typeface="Microsoft YaHei" panose="020B0503020204020204" pitchFamily="34" charset="-122"/>
                  <a:ea typeface="Microsoft YaHei" panose="020B0503020204020204" pitchFamily="34" charset="-122"/>
                </a:rPr>
                <a:t>label</a:t>
              </a:r>
              <a:r>
                <a:rPr kumimoji="0" lang="zh-CN" altLang="en-US" sz="1600" b="1" i="0" u="none" strike="noStrike" kern="0" cap="none" spc="0" normalizeH="0" baseline="0" noProof="0" dirty="0">
                  <a:ln>
                    <a:noFill/>
                  </a:ln>
                  <a:solidFill>
                    <a:schemeClr val="tx2"/>
                  </a:solidFill>
                  <a:effectLst/>
                  <a:uLnTx/>
                  <a:uFillTx/>
                  <a:latin typeface="Microsoft YaHei" panose="020B0503020204020204" pitchFamily="34" charset="-122"/>
                  <a:ea typeface="Microsoft YaHei" panose="020B0503020204020204" pitchFamily="34" charset="-122"/>
                </a:rPr>
                <a:t>）</a:t>
              </a:r>
              <a:endParaRPr kumimoji="0" lang="en-US" altLang="zh-CN" sz="1600" b="1" i="0" u="none" strike="noStrike" kern="0" cap="none" spc="0" normalizeH="0" baseline="0" noProof="0" dirty="0">
                <a:ln>
                  <a:noFill/>
                </a:ln>
                <a:solidFill>
                  <a:schemeClr val="tx2"/>
                </a:solidFill>
                <a:effectLst/>
                <a:uLnTx/>
                <a:uFillTx/>
                <a:latin typeface="Microsoft YaHei" panose="020B0503020204020204" pitchFamily="34" charset="-122"/>
                <a:ea typeface="Microsoft YaHei" panose="020B0503020204020204" pitchFamily="34" charset="-122"/>
              </a:endParaRPr>
            </a:p>
          </p:txBody>
        </p:sp>
        <p:sp>
          <p:nvSpPr>
            <p:cNvPr id="14" name="Line 18"/>
            <p:cNvSpPr>
              <a:spLocks noChangeShapeType="1"/>
            </p:cNvSpPr>
            <p:nvPr/>
          </p:nvSpPr>
          <p:spPr bwMode="auto">
            <a:xfrm flipH="1">
              <a:off x="2347" y="2251"/>
              <a:ext cx="57" cy="287"/>
            </a:xfrm>
            <a:prstGeom prst="line">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grpSp>
      <p:grpSp>
        <p:nvGrpSpPr>
          <p:cNvPr id="20" name="Group 19"/>
          <p:cNvGrpSpPr>
            <a:grpSpLocks/>
          </p:cNvGrpSpPr>
          <p:nvPr/>
        </p:nvGrpSpPr>
        <p:grpSpPr bwMode="auto">
          <a:xfrm>
            <a:off x="4238422" y="2573958"/>
            <a:ext cx="1260476" cy="647700"/>
            <a:chOff x="2653" y="2115"/>
            <a:chExt cx="794" cy="408"/>
          </a:xfrm>
        </p:grpSpPr>
        <p:sp>
          <p:nvSpPr>
            <p:cNvPr id="21" name="Text Box 20"/>
            <p:cNvSpPr txBox="1">
              <a:spLocks noChangeArrowheads="1"/>
            </p:cNvSpPr>
            <p:nvPr/>
          </p:nvSpPr>
          <p:spPr bwMode="auto">
            <a:xfrm>
              <a:off x="2676" y="2115"/>
              <a:ext cx="7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rPr>
                <a:t>训练</a:t>
              </a:r>
              <a:endParaRPr kumimoji="0" lang="en-US" altLang="zh-CN" sz="18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endParaRPr>
            </a:p>
          </p:txBody>
        </p:sp>
        <p:sp>
          <p:nvSpPr>
            <p:cNvPr id="22" name="AutoShape 21"/>
            <p:cNvSpPr>
              <a:spLocks noChangeArrowheads="1"/>
            </p:cNvSpPr>
            <p:nvPr/>
          </p:nvSpPr>
          <p:spPr bwMode="auto">
            <a:xfrm>
              <a:off x="2653" y="2341"/>
              <a:ext cx="589" cy="182"/>
            </a:xfrm>
            <a:prstGeom prst="rightArrow">
              <a:avLst>
                <a:gd name="adj1" fmla="val 50000"/>
                <a:gd name="adj2" fmla="val 80907"/>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grpSp>
      <p:sp>
        <p:nvSpPr>
          <p:cNvPr id="23" name="Text Box 22"/>
          <p:cNvSpPr txBox="1">
            <a:spLocks noChangeArrowheads="1"/>
          </p:cNvSpPr>
          <p:nvPr/>
        </p:nvSpPr>
        <p:spPr bwMode="auto">
          <a:xfrm>
            <a:off x="7308850" y="4137645"/>
            <a:ext cx="863600" cy="379413"/>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kumimoji="1" lang="en-US" altLang="zh-CN" sz="1800" b="1" dirty="0">
                <a:solidFill>
                  <a:schemeClr val="bg1"/>
                </a:solidFill>
                <a:latin typeface="Microsoft YaHei" panose="020B0503020204020204" pitchFamily="34" charset="-122"/>
                <a:ea typeface="Microsoft YaHei" panose="020B0503020204020204" pitchFamily="34" charset="-122"/>
              </a:rPr>
              <a:t>? = </a:t>
            </a:r>
            <a:r>
              <a:rPr kumimoji="1" lang="zh-CN" altLang="en-US" sz="1800" b="1" dirty="0">
                <a:solidFill>
                  <a:schemeClr val="bg1"/>
                </a:solidFill>
                <a:latin typeface="Microsoft YaHei" panose="020B0503020204020204" pitchFamily="34" charset="-122"/>
                <a:ea typeface="Microsoft YaHei" panose="020B0503020204020204" pitchFamily="34" charset="-122"/>
              </a:rPr>
              <a:t>是</a:t>
            </a:r>
            <a:endParaRPr kumimoji="1" lang="en-US" altLang="zh-CN" sz="1800" b="1" i="1" dirty="0">
              <a:solidFill>
                <a:schemeClr val="bg1"/>
              </a:solidFill>
              <a:latin typeface="Microsoft YaHei" panose="020B0503020204020204" pitchFamily="34" charset="-122"/>
              <a:ea typeface="Microsoft YaHei" panose="020B0503020204020204" pitchFamily="34" charset="-122"/>
            </a:endParaRPr>
          </a:p>
        </p:txBody>
      </p:sp>
      <p:grpSp>
        <p:nvGrpSpPr>
          <p:cNvPr id="24" name="Group 23"/>
          <p:cNvGrpSpPr>
            <a:grpSpLocks/>
          </p:cNvGrpSpPr>
          <p:nvPr/>
        </p:nvGrpSpPr>
        <p:grpSpPr bwMode="auto">
          <a:xfrm>
            <a:off x="4322765" y="4229721"/>
            <a:ext cx="4227514" cy="1793876"/>
            <a:chOff x="2723" y="3158"/>
            <a:chExt cx="2663" cy="1130"/>
          </a:xfrm>
        </p:grpSpPr>
        <p:grpSp>
          <p:nvGrpSpPr>
            <p:cNvPr id="25" name="Group 24"/>
            <p:cNvGrpSpPr>
              <a:grpSpLocks/>
            </p:cNvGrpSpPr>
            <p:nvPr/>
          </p:nvGrpSpPr>
          <p:grpSpPr bwMode="auto">
            <a:xfrm>
              <a:off x="2723" y="3158"/>
              <a:ext cx="1944" cy="613"/>
              <a:chOff x="4050" y="3094"/>
              <a:chExt cx="1944" cy="613"/>
            </a:xfrm>
          </p:grpSpPr>
          <p:grpSp>
            <p:nvGrpSpPr>
              <p:cNvPr id="28" name="Group 25"/>
              <p:cNvGrpSpPr>
                <a:grpSpLocks/>
              </p:cNvGrpSpPr>
              <p:nvPr/>
            </p:nvGrpSpPr>
            <p:grpSpPr bwMode="auto">
              <a:xfrm>
                <a:off x="4595" y="3094"/>
                <a:ext cx="768" cy="296"/>
                <a:chOff x="4175" y="2008"/>
                <a:chExt cx="1137" cy="514"/>
              </a:xfrm>
            </p:grpSpPr>
            <p:pic>
              <p:nvPicPr>
                <p:cNvPr id="32" name="Picture 2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87" y="2008"/>
                  <a:ext cx="1122" cy="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 name="Rectangle 27"/>
                <p:cNvSpPr>
                  <a:spLocks noChangeArrowheads="1"/>
                </p:cNvSpPr>
                <p:nvPr/>
              </p:nvSpPr>
              <p:spPr bwMode="auto">
                <a:xfrm>
                  <a:off x="4175" y="2109"/>
                  <a:ext cx="1137" cy="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rPr>
                    <a:t>新数据样本</a:t>
                  </a:r>
                  <a:endParaRPr kumimoji="1" lang="en-US" altLang="zh-CN"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endParaRPr>
                </a:p>
              </p:txBody>
            </p:sp>
          </p:grpSp>
          <p:sp>
            <p:nvSpPr>
              <p:cNvPr id="29" name="Rectangle 28"/>
              <p:cNvSpPr>
                <a:spLocks noChangeArrowheads="1"/>
              </p:cNvSpPr>
              <p:nvPr/>
            </p:nvSpPr>
            <p:spPr bwMode="auto">
              <a:xfrm>
                <a:off x="4050" y="3493"/>
                <a:ext cx="1944" cy="214"/>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square" lIns="92075" tIns="46038" rIns="92075" bIns="46038">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16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a:t>
                </a:r>
                <a:r>
                  <a:rPr kumimoji="1" lang="zh-CN" altLang="en-US" sz="16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刘二</a:t>
                </a:r>
                <a:r>
                  <a:rPr kumimoji="1" lang="en-US" altLang="zh-CN" sz="16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 </a:t>
                </a:r>
                <a:r>
                  <a:rPr kumimoji="1" lang="zh-CN" altLang="en-US" sz="16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公务员</a:t>
                </a:r>
                <a:r>
                  <a:rPr kumimoji="1" lang="en-US" altLang="zh-CN" sz="16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 8</a:t>
                </a:r>
                <a:r>
                  <a:rPr kumimoji="1" lang="zh-CN" altLang="en-US" sz="16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万</a:t>
                </a:r>
                <a:r>
                  <a:rPr kumimoji="1" lang="en-US" altLang="zh-CN" sz="16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 …,  ?)</a:t>
                </a:r>
              </a:p>
            </p:txBody>
          </p:sp>
          <p:sp>
            <p:nvSpPr>
              <p:cNvPr id="30" name="Line 29"/>
              <p:cNvSpPr>
                <a:spLocks noChangeShapeType="1"/>
              </p:cNvSpPr>
              <p:nvPr/>
            </p:nvSpPr>
            <p:spPr bwMode="auto">
              <a:xfrm flipH="1">
                <a:off x="4275" y="3334"/>
                <a:ext cx="306"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sp>
            <p:nvSpPr>
              <p:cNvPr id="31" name="Line 30"/>
              <p:cNvSpPr>
                <a:spLocks noChangeShapeType="1"/>
              </p:cNvSpPr>
              <p:nvPr/>
            </p:nvSpPr>
            <p:spPr bwMode="auto">
              <a:xfrm>
                <a:off x="5362" y="3334"/>
                <a:ext cx="297" cy="144"/>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grpSp>
        <p:sp>
          <p:nvSpPr>
            <p:cNvPr id="26" name="Line 31"/>
            <p:cNvSpPr>
              <a:spLocks noChangeShapeType="1"/>
            </p:cNvSpPr>
            <p:nvPr/>
          </p:nvSpPr>
          <p:spPr bwMode="auto">
            <a:xfrm>
              <a:off x="4416" y="3771"/>
              <a:ext cx="322" cy="330"/>
            </a:xfrm>
            <a:prstGeom prst="line">
              <a:avLst/>
            </a:prstGeom>
            <a:noFill/>
            <a:ln w="25400">
              <a:solidFill>
                <a:schemeClr val="accent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endParaRPr>
            </a:p>
          </p:txBody>
        </p:sp>
        <p:sp>
          <p:nvSpPr>
            <p:cNvPr id="27" name="Text Box 32"/>
            <p:cNvSpPr txBox="1">
              <a:spLocks noChangeArrowheads="1"/>
            </p:cNvSpPr>
            <p:nvPr/>
          </p:nvSpPr>
          <p:spPr bwMode="auto">
            <a:xfrm>
              <a:off x="4738" y="3920"/>
              <a:ext cx="648" cy="368"/>
            </a:xfrm>
            <a:prstGeom prst="rect">
              <a:avLst/>
            </a:prstGeom>
            <a:noFill/>
            <a:ln w="127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zh-CN" altLang="en-US" sz="1600" b="1" i="0" u="none" strike="noStrike" kern="0" cap="none" spc="0" normalizeH="0" baseline="0" noProof="0" dirty="0">
                  <a:ln>
                    <a:noFill/>
                  </a:ln>
                  <a:solidFill>
                    <a:schemeClr val="tx2"/>
                  </a:solidFill>
                  <a:effectLst/>
                  <a:uLnTx/>
                  <a:uFillTx/>
                  <a:latin typeface="Microsoft YaHei" panose="020B0503020204020204" pitchFamily="34" charset="-122"/>
                  <a:ea typeface="Microsoft YaHei" panose="020B0503020204020204" pitchFamily="34" charset="-122"/>
                </a:rPr>
                <a:t>类别标记未知</a:t>
              </a:r>
              <a:endParaRPr kumimoji="0" lang="en-US" altLang="zh-CN" sz="1600" b="1" i="0" u="none" strike="noStrike" kern="0" cap="none" spc="0" normalizeH="0" baseline="0" noProof="0" dirty="0">
                <a:ln>
                  <a:noFill/>
                </a:ln>
                <a:solidFill>
                  <a:schemeClr val="tx2"/>
                </a:solidFill>
                <a:effectLst/>
                <a:uLnTx/>
                <a:uFillTx/>
                <a:latin typeface="Microsoft YaHei" panose="020B0503020204020204" pitchFamily="34" charset="-122"/>
                <a:ea typeface="Microsoft YaHei" panose="020B0503020204020204" pitchFamily="34" charset="-122"/>
              </a:endParaRPr>
            </a:p>
          </p:txBody>
        </p:sp>
      </p:grpSp>
      <p:sp>
        <p:nvSpPr>
          <p:cNvPr id="34" name="AutoShape 33"/>
          <p:cNvSpPr>
            <a:spLocks/>
          </p:cNvSpPr>
          <p:nvPr/>
        </p:nvSpPr>
        <p:spPr bwMode="auto">
          <a:xfrm>
            <a:off x="5076824" y="1421433"/>
            <a:ext cx="3951266" cy="401637"/>
          </a:xfrm>
          <a:prstGeom prst="borderCallout1">
            <a:avLst>
              <a:gd name="adj1" fmla="val 46245"/>
              <a:gd name="adj2" fmla="val -2861"/>
              <a:gd name="adj3" fmla="val 294356"/>
              <a:gd name="adj4" fmla="val -14490"/>
            </a:avLst>
          </a:prstGeom>
          <a:ln>
            <a:headEnd/>
            <a:tailEnd/>
          </a:ln>
        </p:spPr>
        <p:style>
          <a:lnRef idx="0">
            <a:schemeClr val="accent3"/>
          </a:lnRef>
          <a:fillRef idx="3">
            <a:schemeClr val="accent3"/>
          </a:fillRef>
          <a:effectRef idx="3">
            <a:schemeClr val="accent3"/>
          </a:effectRef>
          <a:fontRef idx="minor">
            <a:schemeClr val="lt1"/>
          </a:fontRef>
        </p:style>
        <p:txBody>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rPr>
              <a:t>使用学习算法</a:t>
            </a:r>
            <a:r>
              <a:rPr kumimoji="0" lang="zh-CN" altLang="en-US" sz="18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cs typeface="Verdana" panose="020B0604030504040204" pitchFamily="34" charset="0"/>
              </a:rPr>
              <a:t>（</a:t>
            </a:r>
            <a:r>
              <a:rPr kumimoji="0" lang="en-US" altLang="zh-CN" sz="1800" b="0" i="1"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cs typeface="Verdana" panose="020B0604030504040204" pitchFamily="34" charset="0"/>
              </a:rPr>
              <a:t>learning algorithm</a:t>
            </a:r>
            <a:r>
              <a:rPr kumimoji="0" lang="zh-CN" altLang="en-US" sz="18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cs typeface="Verdana" panose="020B0604030504040204" pitchFamily="34" charset="0"/>
              </a:rPr>
              <a:t>）</a:t>
            </a:r>
            <a:endParaRPr kumimoji="0" lang="en-US" altLang="zh-CN" sz="1800" b="0" i="0" u="none" strike="noStrike" kern="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cs typeface="Verdana" panose="020B0604030504040204" pitchFamily="34" charset="0"/>
            </a:endParaRPr>
          </a:p>
        </p:txBody>
      </p:sp>
    </p:spTree>
    <p:extLst>
      <p:ext uri="{BB962C8B-B14F-4D97-AF65-F5344CB8AC3E}">
        <p14:creationId xmlns:p14="http://schemas.microsoft.com/office/powerpoint/2010/main" val="386409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750"/>
                                        <p:tgtEl>
                                          <p:spTgt spid="20"/>
                                        </p:tgtEl>
                                      </p:cBhvr>
                                    </p:animEffect>
                                  </p:childTnLst>
                                </p:cTn>
                              </p:par>
                            </p:childTnLst>
                          </p:cTn>
                        </p:par>
                        <p:par>
                          <p:cTn id="8" fill="hold">
                            <p:stCondLst>
                              <p:cond delay="750"/>
                            </p:stCondLst>
                            <p:childTnLst>
                              <p:par>
                                <p:cTn id="9" presetID="22" presetClass="entr" presetSubtype="8"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1000"/>
                                        <p:tgtEl>
                                          <p:spTgt spid="34"/>
                                        </p:tgtEl>
                                      </p:cBhvr>
                                    </p:animEffect>
                                  </p:childTnLst>
                                </p:cTn>
                              </p:par>
                            </p:childTnLst>
                          </p:cTn>
                        </p:par>
                        <p:par>
                          <p:cTn id="12" fill="hold">
                            <p:stCondLst>
                              <p:cond delay="175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up)">
                                      <p:cBhvr>
                                        <p:cTn id="20" dur="500"/>
                                        <p:tgtEl>
                                          <p:spTgt spid="24"/>
                                        </p:tgtEl>
                                      </p:cBhvr>
                                    </p:animEffect>
                                  </p:childTnLst>
                                </p:cTn>
                              </p:par>
                            </p:childTnLst>
                          </p:cTn>
                        </p:par>
                        <p:par>
                          <p:cTn id="21" fill="hold">
                            <p:stCondLst>
                              <p:cond delay="500"/>
                            </p:stCondLst>
                            <p:childTnLst>
                              <p:par>
                                <p:cTn id="22" presetID="22" presetClass="entr" presetSubtype="4" fill="hold" grpId="0" nodeType="afterEffect">
                                  <p:stCondLst>
                                    <p:cond delay="50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00"/>
                                        <p:tgtEl>
                                          <p:spTgt spid="4"/>
                                        </p:tgtEl>
                                      </p:cBhvr>
                                    </p:animEffect>
                                  </p:childTnLst>
                                </p:cTn>
                              </p:par>
                            </p:childTnLst>
                          </p:cTn>
                        </p:par>
                        <p:par>
                          <p:cTn id="25" fill="hold">
                            <p:stCondLst>
                              <p:cond delay="1500"/>
                            </p:stCondLst>
                            <p:childTnLst>
                              <p:par>
                                <p:cTn id="26" presetID="22" presetClass="entr" presetSubtype="1" fill="hold" grpId="0" nodeType="afterEffect">
                                  <p:stCondLst>
                                    <p:cond delay="50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par>
                          <p:cTn id="29" fill="hold">
                            <p:stCondLst>
                              <p:cond delay="2500"/>
                            </p:stCondLst>
                            <p:childTnLst>
                              <p:par>
                                <p:cTn id="30" presetID="22" presetClass="entr" presetSubtype="8" fill="hold" grpId="0" nodeType="afterEffect">
                                  <p:stCondLst>
                                    <p:cond delay="50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olidFill>
                  <a:schemeClr val="tx1"/>
                </a:solidFill>
                <a:latin typeface="Microsoft YaHei" panose="020B0503020204020204" pitchFamily="34" charset="-122"/>
                <a:ea typeface="Microsoft YaHei" panose="020B0503020204020204" pitchFamily="34" charset="-122"/>
              </a:rPr>
              <a:t>基本术语</a:t>
            </a:r>
            <a:r>
              <a:rPr lang="en-US" altLang="zh-CN" dirty="0">
                <a:solidFill>
                  <a:schemeClr val="tx1"/>
                </a:solidFill>
                <a:latin typeface="Microsoft YaHei" panose="020B0503020204020204" pitchFamily="34" charset="-122"/>
                <a:ea typeface="Microsoft YaHei" panose="020B0503020204020204" pitchFamily="34" charset="-122"/>
              </a:rPr>
              <a:t>-</a:t>
            </a:r>
            <a:r>
              <a:rPr lang="zh-CN" altLang="en-US" dirty="0">
                <a:solidFill>
                  <a:schemeClr val="tx1"/>
                </a:solidFill>
                <a:latin typeface="Microsoft YaHei" panose="020B0503020204020204" pitchFamily="34" charset="-122"/>
                <a:ea typeface="Microsoft YaHei" panose="020B0503020204020204" pitchFamily="34" charset="-122"/>
              </a:rPr>
              <a:t>泛化能力</a:t>
            </a:r>
          </a:p>
        </p:txBody>
      </p:sp>
      <p:sp>
        <p:nvSpPr>
          <p:cNvPr id="2" name="TextBox 1"/>
          <p:cNvSpPr txBox="1"/>
          <p:nvPr/>
        </p:nvSpPr>
        <p:spPr>
          <a:xfrm>
            <a:off x="822858" y="1393706"/>
            <a:ext cx="7106478" cy="1421415"/>
          </a:xfrm>
          <a:prstGeom prst="rect">
            <a:avLst/>
          </a:prstGeom>
          <a:noFill/>
        </p:spPr>
        <p:txBody>
          <a:bodyPr wrap="square" rtlCol="0">
            <a:spAutoFit/>
          </a:bodyPr>
          <a:lstStyle/>
          <a:p>
            <a:pPr marL="0" lvl="6">
              <a:lnSpc>
                <a:spcPct val="150000"/>
              </a:lnSpc>
            </a:pPr>
            <a:r>
              <a:rPr lang="zh-CN" altLang="en-US" sz="2000" dirty="0">
                <a:latin typeface="Microsoft YaHei" panose="020B0503020204020204" pitchFamily="34" charset="-122"/>
                <a:ea typeface="Microsoft YaHei" panose="020B0503020204020204" pitchFamily="34" charset="-122"/>
              </a:rPr>
              <a:t>机器学习的目标是使得学到的模型能</a:t>
            </a:r>
            <a:r>
              <a:rPr lang="zh-CN" altLang="en-US" sz="2000" b="1" dirty="0">
                <a:latin typeface="Microsoft YaHei" panose="020B0503020204020204" pitchFamily="34" charset="-122"/>
                <a:ea typeface="Microsoft YaHei" panose="020B0503020204020204" pitchFamily="34" charset="-122"/>
              </a:rPr>
              <a:t>很好的适用于“新样本”</a:t>
            </a:r>
            <a:r>
              <a:rPr lang="en-US" altLang="zh-CN" sz="2000" dirty="0">
                <a:latin typeface="Microsoft YaHei" panose="020B0503020204020204" pitchFamily="34" charset="-122"/>
                <a:ea typeface="Microsoft YaHei" panose="020B0503020204020204" pitchFamily="34" charset="-122"/>
              </a:rPr>
              <a:t>,</a:t>
            </a:r>
          </a:p>
          <a:p>
            <a:pPr marL="0" lvl="6">
              <a:lnSpc>
                <a:spcPct val="150000"/>
              </a:lnSpc>
            </a:pPr>
            <a:r>
              <a:rPr lang="zh-CN" altLang="en-US" sz="2000" dirty="0">
                <a:latin typeface="Microsoft YaHei" panose="020B0503020204020204" pitchFamily="34" charset="-122"/>
                <a:ea typeface="Microsoft YaHei" panose="020B0503020204020204" pitchFamily="34" charset="-122"/>
              </a:rPr>
              <a:t>而不仅仅是训练集合，我们称</a:t>
            </a:r>
            <a:r>
              <a:rPr lang="zh-CN" altLang="en-US" sz="2000" b="1" u="sng" dirty="0">
                <a:solidFill>
                  <a:srgbClr val="00B050"/>
                </a:solidFill>
                <a:latin typeface="Microsoft YaHei" panose="020B0503020204020204" pitchFamily="34" charset="-122"/>
                <a:ea typeface="Microsoft YaHei" panose="020B0503020204020204" pitchFamily="34" charset="-122"/>
              </a:rPr>
              <a:t>模型适用于新样本的能力为泛化</a:t>
            </a:r>
            <a:r>
              <a:rPr lang="en-US" altLang="zh-CN" sz="2000" b="1" u="sng" dirty="0">
                <a:solidFill>
                  <a:srgbClr val="00B050"/>
                </a:solidFill>
                <a:latin typeface="Microsoft YaHei" panose="020B0503020204020204" pitchFamily="34" charset="-122"/>
                <a:ea typeface="Microsoft YaHei" panose="020B0503020204020204" pitchFamily="34" charset="-122"/>
              </a:rPr>
              <a:t>(generalization)</a:t>
            </a:r>
            <a:r>
              <a:rPr lang="zh-CN" altLang="en-US" sz="2000" b="1" u="sng" dirty="0">
                <a:solidFill>
                  <a:srgbClr val="00B050"/>
                </a:solidFill>
                <a:latin typeface="Microsoft YaHei" panose="020B0503020204020204" pitchFamily="34" charset="-122"/>
                <a:ea typeface="Microsoft YaHei" panose="020B0503020204020204" pitchFamily="34" charset="-122"/>
              </a:rPr>
              <a:t>能力</a:t>
            </a:r>
            <a:r>
              <a:rPr lang="zh-CN" altLang="en-US" sz="2000" dirty="0">
                <a:latin typeface="Microsoft YaHei" panose="020B0503020204020204" pitchFamily="34" charset="-122"/>
                <a:ea typeface="Microsoft YaHei" panose="020B0503020204020204" pitchFamily="34" charset="-122"/>
              </a:rPr>
              <a:t>。</a:t>
            </a:r>
          </a:p>
        </p:txBody>
      </p:sp>
      <p:grpSp>
        <p:nvGrpSpPr>
          <p:cNvPr id="4" name="组合 3"/>
          <p:cNvGrpSpPr/>
          <p:nvPr/>
        </p:nvGrpSpPr>
        <p:grpSpPr>
          <a:xfrm>
            <a:off x="822858" y="3762512"/>
            <a:ext cx="7106478" cy="1421415"/>
            <a:chOff x="1205948" y="2970649"/>
            <a:chExt cx="7106478" cy="1421415"/>
          </a:xfrm>
        </p:grpSpPr>
        <p:sp>
          <p:nvSpPr>
            <p:cNvPr id="5" name="TextBox 4"/>
            <p:cNvSpPr txBox="1"/>
            <p:nvPr/>
          </p:nvSpPr>
          <p:spPr>
            <a:xfrm>
              <a:off x="1205948" y="2970649"/>
              <a:ext cx="7106478" cy="1421415"/>
            </a:xfrm>
            <a:prstGeom prst="rect">
              <a:avLst/>
            </a:prstGeom>
            <a:noFill/>
          </p:spPr>
          <p:txBody>
            <a:bodyPr wrap="square" rtlCol="0">
              <a:spAutoFit/>
            </a:bodyPr>
            <a:lstStyle/>
            <a:p>
              <a:pPr marL="0" lvl="6">
                <a:lnSpc>
                  <a:spcPct val="150000"/>
                </a:lnSpc>
              </a:pPr>
              <a:r>
                <a:rPr lang="zh-CN" altLang="en-US" sz="2000" dirty="0">
                  <a:latin typeface="Microsoft YaHei" panose="020B0503020204020204" pitchFamily="34" charset="-122"/>
                  <a:ea typeface="Microsoft YaHei" panose="020B0503020204020204" pitchFamily="34" charset="-122"/>
                </a:rPr>
                <a:t>通常假设样本空间中的样本服从一个未知分布  </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样本从这个分布中独立获得，即“独立同分布”</a:t>
              </a:r>
              <a:r>
                <a:rPr lang="en-US" altLang="zh-CN" sz="2000" dirty="0">
                  <a:latin typeface="Microsoft YaHei" panose="020B0503020204020204" pitchFamily="34" charset="-122"/>
                  <a:ea typeface="Microsoft YaHei" panose="020B0503020204020204" pitchFamily="34" charset="-122"/>
                </a:rPr>
                <a:t>(</a:t>
              </a:r>
              <a:r>
                <a:rPr lang="en-US" altLang="zh-CN" sz="2000" dirty="0" err="1">
                  <a:latin typeface="Microsoft YaHei" panose="020B0503020204020204" pitchFamily="34" charset="-122"/>
                  <a:ea typeface="Microsoft YaHei" panose="020B0503020204020204" pitchFamily="34" charset="-122"/>
                </a:rPr>
                <a:t>i.i.d</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。一般而言</a:t>
              </a:r>
              <a:r>
                <a:rPr lang="zh-CN" altLang="en-US" sz="2000" b="1" u="sng" dirty="0">
                  <a:latin typeface="Microsoft YaHei" panose="020B0503020204020204" pitchFamily="34" charset="-122"/>
                  <a:ea typeface="Microsoft YaHei" panose="020B0503020204020204" pitchFamily="34" charset="-122"/>
                </a:rPr>
                <a:t>训练样本越多越有可能通过学习获得强泛化能力的模型</a:t>
              </a:r>
              <a:r>
                <a:rPr lang="zh-CN" altLang="en-US" sz="2000" dirty="0">
                  <a:latin typeface="Microsoft YaHei" panose="020B0503020204020204" pitchFamily="34" charset="-122"/>
                  <a:ea typeface="Microsoft YaHei" panose="020B0503020204020204" pitchFamily="34" charset="-122"/>
                </a:rPr>
                <a:t>。</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0618" y="3060009"/>
              <a:ext cx="277277" cy="207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86636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523028"/>
            <a:ext cx="7886700" cy="1325563"/>
          </a:xfrm>
        </p:spPr>
        <p:txBody>
          <a:bodyPr/>
          <a:lstStyle/>
          <a:p>
            <a:pPr>
              <a:lnSpc>
                <a:spcPct val="130000"/>
              </a:lnSpc>
            </a:pPr>
            <a:r>
              <a:rPr kumimoji="1" lang="zh-CN" altLang="en-US" sz="5400" b="1" dirty="0">
                <a:solidFill>
                  <a:schemeClr val="tx1"/>
                </a:solidFill>
                <a:latin typeface="Microsoft YaHei" panose="020B0503020204020204" pitchFamily="34" charset="-122"/>
                <a:ea typeface="Microsoft YaHei" panose="020B0503020204020204" pitchFamily="34" charset="-122"/>
                <a:cs typeface="Verdana" pitchFamily="34" charset="0"/>
              </a:rPr>
              <a:t>第</a:t>
            </a:r>
            <a:r>
              <a:rPr kumimoji="1" lang="zh-CN" altLang="en-US" sz="5400" dirty="0">
                <a:solidFill>
                  <a:schemeClr val="tx1"/>
                </a:solidFill>
                <a:latin typeface="Microsoft YaHei" panose="020B0503020204020204" pitchFamily="34" charset="-122"/>
                <a:ea typeface="Microsoft YaHei" panose="020B0503020204020204" pitchFamily="34" charset="-122"/>
                <a:cs typeface="Verdana" pitchFamily="34" charset="0"/>
              </a:rPr>
              <a:t>二</a:t>
            </a:r>
            <a:r>
              <a:rPr kumimoji="1" lang="zh-CN" altLang="en-US" sz="5400" b="1" dirty="0">
                <a:solidFill>
                  <a:schemeClr val="tx1"/>
                </a:solidFill>
                <a:latin typeface="Microsoft YaHei" panose="020B0503020204020204" pitchFamily="34" charset="-122"/>
                <a:ea typeface="Microsoft YaHei" panose="020B0503020204020204" pitchFamily="34" charset="-122"/>
                <a:cs typeface="Verdana" pitchFamily="34" charset="0"/>
              </a:rPr>
              <a:t>章</a:t>
            </a:r>
            <a:br>
              <a:rPr kumimoji="1" lang="en-US" altLang="zh-CN" sz="5400" b="1" dirty="0">
                <a:solidFill>
                  <a:schemeClr val="tx1"/>
                </a:solidFill>
                <a:latin typeface="Microsoft YaHei" panose="020B0503020204020204" pitchFamily="34" charset="-122"/>
                <a:ea typeface="Microsoft YaHei" panose="020B0503020204020204" pitchFamily="34" charset="-122"/>
                <a:cs typeface="Verdana" pitchFamily="34" charset="0"/>
              </a:rPr>
            </a:br>
            <a:r>
              <a:rPr kumimoji="1" lang="zh-CN" altLang="en-US" sz="5400" b="1" dirty="0">
                <a:solidFill>
                  <a:schemeClr val="tx1"/>
                </a:solidFill>
                <a:latin typeface="Microsoft YaHei" panose="020B0503020204020204" pitchFamily="34" charset="-122"/>
                <a:ea typeface="Microsoft YaHei" panose="020B0503020204020204" pitchFamily="34" charset="-122"/>
                <a:cs typeface="Verdana" pitchFamily="34" charset="0"/>
              </a:rPr>
              <a:t>模型评估与选择</a:t>
            </a:r>
            <a:endParaRPr lang="zh-CN" altLang="en-US" sz="5400" dirty="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29975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大纲</a:t>
            </a:r>
          </a:p>
        </p:txBody>
      </p:sp>
      <p:sp>
        <p:nvSpPr>
          <p:cNvPr id="3" name="内容占位符 2"/>
          <p:cNvSpPr>
            <a:spLocks noGrp="1"/>
          </p:cNvSpPr>
          <p:nvPr>
            <p:ph idx="1"/>
          </p:nvPr>
        </p:nvSpPr>
        <p:spPr>
          <a:xfrm>
            <a:off x="260350" y="1158536"/>
            <a:ext cx="8616950" cy="4950163"/>
          </a:xfrm>
        </p:spPr>
        <p:txBody>
          <a:bodyPr>
            <a:noAutofit/>
          </a:bodyPr>
          <a:lstStyle/>
          <a:p>
            <a:r>
              <a:rPr lang="zh-CN" altLang="en-US" dirty="0">
                <a:latin typeface="Microsoft YaHei" panose="020B0503020204020204" pitchFamily="34" charset="-122"/>
                <a:ea typeface="Microsoft YaHei" panose="020B0503020204020204" pitchFamily="34" charset="-122"/>
              </a:rPr>
              <a:t>经验误差与过拟合</a:t>
            </a:r>
            <a:endParaRPr lang="en-US" altLang="zh-CN" dirty="0">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评估方法</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性能度量</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比较检验</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偏差与方差</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阅读材料</a:t>
            </a:r>
          </a:p>
        </p:txBody>
      </p:sp>
    </p:spTree>
    <p:extLst>
      <p:ext uri="{BB962C8B-B14F-4D97-AF65-F5344CB8AC3E}">
        <p14:creationId xmlns:p14="http://schemas.microsoft.com/office/powerpoint/2010/main" val="2744175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经验误差与过拟合</a:t>
            </a:r>
          </a:p>
        </p:txBody>
      </p:sp>
      <p:sp>
        <p:nvSpPr>
          <p:cNvPr id="7" name="内容占位符 2"/>
          <p:cNvSpPr>
            <a:spLocks noGrp="1"/>
          </p:cNvSpPr>
          <p:nvPr>
            <p:ph idx="1"/>
          </p:nvPr>
        </p:nvSpPr>
        <p:spPr>
          <a:xfrm>
            <a:off x="260350" y="1317625"/>
            <a:ext cx="8616950" cy="2026824"/>
          </a:xfrm>
        </p:spPr>
        <p:txBody>
          <a:bodyPr>
            <a:normAutofit/>
          </a:bodyPr>
          <a:lstStyle/>
          <a:p>
            <a:r>
              <a:rPr lang="zh-CN" altLang="en-US" dirty="0">
                <a:solidFill>
                  <a:srgbClr val="023A91"/>
                </a:solidFill>
                <a:latin typeface="Microsoft YaHei" panose="020B0503020204020204" pitchFamily="34" charset="-122"/>
                <a:ea typeface="Microsoft YaHei" panose="020B0503020204020204" pitchFamily="34" charset="-122"/>
              </a:rPr>
              <a:t>错误率</a:t>
            </a:r>
            <a:r>
              <a:rPr lang="en-US" altLang="zh-CN" dirty="0">
                <a:solidFill>
                  <a:srgbClr val="023A91"/>
                </a:solidFill>
                <a:latin typeface="Microsoft YaHei" panose="020B0503020204020204" pitchFamily="34" charset="-122"/>
                <a:ea typeface="Microsoft YaHei" panose="020B0503020204020204" pitchFamily="34" charset="-122"/>
              </a:rPr>
              <a:t>&amp;</a:t>
            </a:r>
            <a:r>
              <a:rPr lang="zh-CN" altLang="en-US" dirty="0">
                <a:solidFill>
                  <a:srgbClr val="023A91"/>
                </a:solidFill>
                <a:latin typeface="Microsoft YaHei" panose="020B0503020204020204" pitchFamily="34" charset="-122"/>
                <a:ea typeface="Microsoft YaHei" panose="020B0503020204020204" pitchFamily="34" charset="-122"/>
              </a:rPr>
              <a:t>误差：</a:t>
            </a:r>
            <a:endParaRPr lang="en-US" altLang="zh-CN" dirty="0">
              <a:solidFill>
                <a:srgbClr val="023A91"/>
              </a:solidFill>
              <a:latin typeface="Microsoft YaHei" panose="020B0503020204020204" pitchFamily="34" charset="-122"/>
              <a:ea typeface="Microsoft YaHei" panose="020B0503020204020204" pitchFamily="34" charset="-122"/>
            </a:endParaRPr>
          </a:p>
          <a:p>
            <a:pPr lvl="1"/>
            <a:r>
              <a:rPr lang="zh-CN" altLang="en-US" dirty="0">
                <a:latin typeface="Microsoft YaHei" panose="020B0503020204020204" pitchFamily="34" charset="-122"/>
                <a:ea typeface="Microsoft YaHei" panose="020B0503020204020204" pitchFamily="34" charset="-122"/>
              </a:rPr>
              <a:t>错误率</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错分样本的占比：</a:t>
            </a:r>
            <a:endParaRPr lang="en-US" altLang="zh-CN" dirty="0">
              <a:latin typeface="Microsoft YaHei" panose="020B0503020204020204" pitchFamily="34" charset="-122"/>
              <a:ea typeface="Microsoft YaHei" panose="020B0503020204020204" pitchFamily="34" charset="-122"/>
            </a:endParaRPr>
          </a:p>
          <a:p>
            <a:pPr lvl="1"/>
            <a:r>
              <a:rPr lang="zh-CN" altLang="en-US" dirty="0">
                <a:latin typeface="Microsoft YaHei" panose="020B0503020204020204" pitchFamily="34" charset="-122"/>
                <a:ea typeface="Microsoft YaHei" panose="020B0503020204020204" pitchFamily="34" charset="-122"/>
              </a:rPr>
              <a:t>误差：样本</a:t>
            </a:r>
            <a:r>
              <a:rPr lang="zh-CN" altLang="en-US" b="1" dirty="0">
                <a:latin typeface="Microsoft YaHei" panose="020B0503020204020204" pitchFamily="34" charset="-122"/>
                <a:ea typeface="Microsoft YaHei" panose="020B0503020204020204" pitchFamily="34" charset="-122"/>
              </a:rPr>
              <a:t>真实输出与预测输出之间</a:t>
            </a:r>
            <a:r>
              <a:rPr lang="zh-CN" altLang="en-US" dirty="0">
                <a:latin typeface="Microsoft YaHei" panose="020B0503020204020204" pitchFamily="34" charset="-122"/>
                <a:ea typeface="Microsoft YaHei" panose="020B0503020204020204" pitchFamily="34" charset="-122"/>
              </a:rPr>
              <a:t>的</a:t>
            </a:r>
            <a:r>
              <a:rPr lang="zh-CN" altLang="en-US" b="1" dirty="0">
                <a:solidFill>
                  <a:srgbClr val="C00000"/>
                </a:solidFill>
                <a:latin typeface="Microsoft YaHei" panose="020B0503020204020204" pitchFamily="34" charset="-122"/>
                <a:ea typeface="Microsoft YaHei" panose="020B0503020204020204" pitchFamily="34" charset="-122"/>
              </a:rPr>
              <a:t>差异</a:t>
            </a:r>
            <a:endParaRPr lang="en-US" altLang="zh-CN" b="1" dirty="0">
              <a:solidFill>
                <a:srgbClr val="C00000"/>
              </a:solidFill>
              <a:latin typeface="Microsoft YaHei" panose="020B0503020204020204" pitchFamily="34" charset="-122"/>
              <a:ea typeface="Microsoft YaHei" panose="020B0503020204020204" pitchFamily="34" charset="-122"/>
            </a:endParaRPr>
          </a:p>
          <a:p>
            <a:pPr lvl="2"/>
            <a:r>
              <a:rPr lang="zh-CN" altLang="en-US" b="1" dirty="0">
                <a:latin typeface="Microsoft YaHei" panose="020B0503020204020204" pitchFamily="34" charset="-122"/>
                <a:ea typeface="Microsoft YaHei" panose="020B0503020204020204" pitchFamily="34" charset="-122"/>
              </a:rPr>
              <a:t>训练</a:t>
            </a:r>
            <a:r>
              <a:rPr lang="en-US" altLang="zh-CN" b="1" dirty="0">
                <a:latin typeface="Microsoft YaHei" panose="020B0503020204020204" pitchFamily="34" charset="-122"/>
                <a:ea typeface="Microsoft YaHei" panose="020B0503020204020204" pitchFamily="34" charset="-122"/>
              </a:rPr>
              <a:t>(</a:t>
            </a:r>
            <a:r>
              <a:rPr lang="zh-CN" altLang="en-US" b="1" dirty="0">
                <a:latin typeface="Microsoft YaHei" panose="020B0503020204020204" pitchFamily="34" charset="-122"/>
                <a:ea typeface="Microsoft YaHei" panose="020B0503020204020204" pitchFamily="34" charset="-122"/>
              </a:rPr>
              <a:t>经验</a:t>
            </a:r>
            <a:r>
              <a:rPr lang="en-US" altLang="zh-CN" b="1" dirty="0">
                <a:latin typeface="Microsoft YaHei" panose="020B0503020204020204" pitchFamily="34" charset="-122"/>
                <a:ea typeface="Microsoft YaHei" panose="020B0503020204020204" pitchFamily="34" charset="-122"/>
              </a:rPr>
              <a:t>)</a:t>
            </a:r>
            <a:r>
              <a:rPr lang="zh-CN" altLang="en-US" b="1" dirty="0">
                <a:latin typeface="Microsoft YaHei" panose="020B0503020204020204" pitchFamily="34" charset="-122"/>
                <a:ea typeface="Microsoft YaHei" panose="020B0503020204020204" pitchFamily="34" charset="-122"/>
              </a:rPr>
              <a:t>误差</a:t>
            </a:r>
            <a:r>
              <a:rPr lang="zh-CN" altLang="en-US" dirty="0">
                <a:latin typeface="Microsoft YaHei" panose="020B0503020204020204" pitchFamily="34" charset="-122"/>
                <a:ea typeface="Microsoft YaHei" panose="020B0503020204020204" pitchFamily="34" charset="-122"/>
              </a:rPr>
              <a:t>：训练集上</a:t>
            </a:r>
            <a:endParaRPr lang="en-US" altLang="zh-CN" dirty="0">
              <a:latin typeface="Microsoft YaHei" panose="020B0503020204020204" pitchFamily="34" charset="-122"/>
              <a:ea typeface="Microsoft YaHei" panose="020B0503020204020204" pitchFamily="34" charset="-122"/>
            </a:endParaRPr>
          </a:p>
          <a:p>
            <a:pPr lvl="2"/>
            <a:r>
              <a:rPr lang="zh-CN" altLang="en-US" b="1" dirty="0">
                <a:latin typeface="Microsoft YaHei" panose="020B0503020204020204" pitchFamily="34" charset="-122"/>
                <a:ea typeface="Microsoft YaHei" panose="020B0503020204020204" pitchFamily="34" charset="-122"/>
              </a:rPr>
              <a:t>测试误差</a:t>
            </a:r>
            <a:r>
              <a:rPr lang="zh-CN" altLang="en-US" dirty="0">
                <a:latin typeface="Microsoft YaHei" panose="020B0503020204020204" pitchFamily="34" charset="-122"/>
                <a:ea typeface="Microsoft YaHei" panose="020B0503020204020204" pitchFamily="34" charset="-122"/>
              </a:rPr>
              <a:t>：测试集</a:t>
            </a:r>
            <a:endParaRPr lang="en-US" altLang="zh-CN" dirty="0">
              <a:latin typeface="Microsoft YaHei" panose="020B0503020204020204" pitchFamily="34" charset="-122"/>
              <a:ea typeface="Microsoft YaHei" panose="020B0503020204020204" pitchFamily="34" charset="-122"/>
            </a:endParaRPr>
          </a:p>
          <a:p>
            <a:pPr lvl="2"/>
            <a:r>
              <a:rPr lang="zh-CN" altLang="en-US" b="1" dirty="0">
                <a:solidFill>
                  <a:srgbClr val="C00000"/>
                </a:solidFill>
                <a:latin typeface="Microsoft YaHei" panose="020B0503020204020204" pitchFamily="34" charset="-122"/>
                <a:ea typeface="Microsoft YaHei" panose="020B0503020204020204" pitchFamily="34" charset="-122"/>
              </a:rPr>
              <a:t>泛化误差</a:t>
            </a:r>
            <a:r>
              <a:rPr lang="zh-CN" altLang="en-US" dirty="0">
                <a:latin typeface="Microsoft YaHei" panose="020B0503020204020204" pitchFamily="34" charset="-122"/>
                <a:ea typeface="Microsoft YaHei" panose="020B0503020204020204" pitchFamily="34" charset="-122"/>
              </a:rPr>
              <a:t>：除训练集外所有样本</a:t>
            </a:r>
            <a:endParaRPr lang="en-US" altLang="zh-CN" dirty="0">
              <a:latin typeface="Microsoft YaHei" panose="020B0503020204020204" pitchFamily="34" charset="-122"/>
              <a:ea typeface="Microsoft YaHei" panose="020B0503020204020204" pitchFamily="34" charset="-122"/>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5297" y="1744195"/>
            <a:ext cx="1104900" cy="283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a:spLocks/>
          </p:cNvSpPr>
          <p:nvPr/>
        </p:nvSpPr>
        <p:spPr>
          <a:xfrm>
            <a:off x="425644" y="3745554"/>
            <a:ext cx="8347841" cy="1495215"/>
          </a:xfrm>
          <a:prstGeom prst="rect">
            <a:avLst/>
          </a:prstGeom>
        </p:spPr>
        <p:txBody>
          <a:bodyPr vert="horz" lIns="91440" tIns="46800" rIns="91440" bIns="45720" rtlCol="0">
            <a:normAutofit lnSpcReduction="10000"/>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zh-CN" altLang="en-US" dirty="0">
                <a:latin typeface="Microsoft YaHei" panose="020B0503020204020204" pitchFamily="34" charset="-122"/>
                <a:ea typeface="Microsoft YaHei" panose="020B0503020204020204" pitchFamily="34" charset="-122"/>
              </a:rPr>
              <a:t>由于</a:t>
            </a:r>
            <a:r>
              <a:rPr lang="zh-CN" altLang="en-US" b="1" dirty="0">
                <a:latin typeface="Microsoft YaHei" panose="020B0503020204020204" pitchFamily="34" charset="-122"/>
                <a:ea typeface="Microsoft YaHei" panose="020B0503020204020204" pitchFamily="34" charset="-122"/>
              </a:rPr>
              <a:t>事先并不知道新样本的特征</a:t>
            </a:r>
            <a:r>
              <a:rPr lang="zh-CN" altLang="en-US" dirty="0">
                <a:latin typeface="Microsoft YaHei" panose="020B0503020204020204" pitchFamily="34" charset="-122"/>
                <a:ea typeface="Microsoft YaHei" panose="020B0503020204020204" pitchFamily="34" charset="-122"/>
              </a:rPr>
              <a:t>，我们只能努力</a:t>
            </a:r>
            <a:r>
              <a:rPr lang="zh-CN" altLang="en-US" b="1" dirty="0">
                <a:latin typeface="Microsoft YaHei" panose="020B0503020204020204" pitchFamily="34" charset="-122"/>
                <a:ea typeface="Microsoft YaHei" panose="020B0503020204020204" pitchFamily="34" charset="-122"/>
              </a:rPr>
              <a:t>使经验误差最小化</a:t>
            </a:r>
            <a:r>
              <a:rPr lang="zh-CN" altLang="en-US" dirty="0">
                <a:latin typeface="Microsoft YaHei" panose="020B0503020204020204" pitchFamily="34" charset="-122"/>
                <a:ea typeface="Microsoft YaHei" panose="020B0503020204020204" pitchFamily="34" charset="-122"/>
              </a:rPr>
              <a:t>；</a:t>
            </a:r>
            <a:endParaRPr lang="en-US" altLang="zh-CN" dirty="0">
              <a:latin typeface="Microsoft YaHei" panose="020B0503020204020204" pitchFamily="34" charset="-122"/>
              <a:ea typeface="Microsoft YaHei" panose="020B0503020204020204" pitchFamily="34" charset="-122"/>
            </a:endParaRPr>
          </a:p>
          <a:p>
            <a:pPr marL="0" indent="0">
              <a:lnSpc>
                <a:spcPct val="150000"/>
              </a:lnSpc>
              <a:spcBef>
                <a:spcPts val="0"/>
              </a:spcBef>
              <a:buNone/>
            </a:pPr>
            <a:r>
              <a:rPr lang="zh-CN" altLang="en-US" dirty="0">
                <a:latin typeface="Microsoft YaHei" panose="020B0503020204020204" pitchFamily="34" charset="-122"/>
                <a:ea typeface="Microsoft YaHei" panose="020B0503020204020204" pitchFamily="34" charset="-122"/>
              </a:rPr>
              <a:t>很多时候虽然能</a:t>
            </a:r>
            <a:r>
              <a:rPr lang="zh-CN" altLang="en-US" b="1" dirty="0">
                <a:solidFill>
                  <a:srgbClr val="C00000"/>
                </a:solidFill>
                <a:latin typeface="Microsoft YaHei" panose="020B0503020204020204" pitchFamily="34" charset="-122"/>
                <a:ea typeface="Microsoft YaHei" panose="020B0503020204020204" pitchFamily="34" charset="-122"/>
              </a:rPr>
              <a:t>在训练集上做到分类错误率为零</a:t>
            </a:r>
            <a:r>
              <a:rPr lang="zh-CN" altLang="en-US" dirty="0">
                <a:latin typeface="Microsoft YaHei" panose="020B0503020204020204" pitchFamily="34" charset="-122"/>
                <a:ea typeface="Microsoft YaHei" panose="020B0503020204020204" pitchFamily="34" charset="-122"/>
              </a:rPr>
              <a:t>，但多数情况下这样的学习器</a:t>
            </a:r>
            <a:r>
              <a:rPr lang="zh-CN" altLang="en-US" b="1" dirty="0">
                <a:solidFill>
                  <a:srgbClr val="C00000"/>
                </a:solidFill>
                <a:latin typeface="Microsoft YaHei" panose="020B0503020204020204" pitchFamily="34" charset="-122"/>
                <a:ea typeface="Microsoft YaHei" panose="020B0503020204020204" pitchFamily="34" charset="-122"/>
              </a:rPr>
              <a:t>并不好</a:t>
            </a:r>
          </a:p>
        </p:txBody>
      </p:sp>
    </p:spTree>
    <p:extLst>
      <p:ext uri="{BB962C8B-B14F-4D97-AF65-F5344CB8AC3E}">
        <p14:creationId xmlns:p14="http://schemas.microsoft.com/office/powerpoint/2010/main" val="283525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1000"/>
                                        <p:tgtEl>
                                          <p:spTgt spid="7">
                                            <p:txEl>
                                              <p:pRg st="4" end="4"/>
                                            </p:txEl>
                                          </p:spTgt>
                                        </p:tgtEl>
                                      </p:cBhvr>
                                    </p:animEffect>
                                    <p:anim calcmode="lin" valueType="num">
                                      <p:cBhvr>
                                        <p:cTn id="1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fade">
                                      <p:cBhvr>
                                        <p:cTn id="29" dur="1000"/>
                                        <p:tgtEl>
                                          <p:spTgt spid="8">
                                            <p:txEl>
                                              <p:pRg st="0" end="0"/>
                                            </p:txEl>
                                          </p:spTgt>
                                        </p:tgtEl>
                                      </p:cBhvr>
                                    </p:animEffect>
                                    <p:anim calcmode="lin" valueType="num">
                                      <p:cBhvr>
                                        <p:cTn id="30"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8">
                                            <p:txEl>
                                              <p:pRg st="1" end="1"/>
                                            </p:txEl>
                                          </p:spTgt>
                                        </p:tgtEl>
                                        <p:attrNameLst>
                                          <p:attrName>style.visibility</p:attrName>
                                        </p:attrNameLst>
                                      </p:cBhvr>
                                      <p:to>
                                        <p:strVal val="visible"/>
                                      </p:to>
                                    </p:set>
                                    <p:animEffect transition="in" filter="fade">
                                      <p:cBhvr>
                                        <p:cTn id="36" dur="1000"/>
                                        <p:tgtEl>
                                          <p:spTgt spid="8">
                                            <p:txEl>
                                              <p:pRg st="1" end="1"/>
                                            </p:txEl>
                                          </p:spTgt>
                                        </p:tgtEl>
                                      </p:cBhvr>
                                    </p:animEffect>
                                    <p:anim calcmode="lin" valueType="num">
                                      <p:cBhvr>
                                        <p:cTn id="37"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经验误差与过拟合</a:t>
            </a:r>
          </a:p>
        </p:txBody>
      </p:sp>
      <p:sp>
        <p:nvSpPr>
          <p:cNvPr id="7" name="内容占位符 2"/>
          <p:cNvSpPr>
            <a:spLocks noGrp="1"/>
          </p:cNvSpPr>
          <p:nvPr>
            <p:ph idx="1"/>
          </p:nvPr>
        </p:nvSpPr>
        <p:spPr>
          <a:xfrm>
            <a:off x="527050" y="1089025"/>
            <a:ext cx="7710433" cy="4484086"/>
          </a:xfrm>
        </p:spPr>
        <p:txBody>
          <a:bodyPr>
            <a:normAutofit/>
          </a:bodyPr>
          <a:lstStyle/>
          <a:p>
            <a:pPr>
              <a:lnSpc>
                <a:spcPct val="160000"/>
              </a:lnSpc>
              <a:spcBef>
                <a:spcPts val="0"/>
              </a:spcBef>
            </a:pPr>
            <a:r>
              <a:rPr lang="zh-CN" altLang="en-US" b="1" dirty="0">
                <a:solidFill>
                  <a:srgbClr val="023A91"/>
                </a:solidFill>
                <a:latin typeface="Microsoft YaHei" panose="020B0503020204020204" pitchFamily="34" charset="-122"/>
                <a:ea typeface="Microsoft YaHei" panose="020B0503020204020204" pitchFamily="34" charset="-122"/>
              </a:rPr>
              <a:t>过拟合</a:t>
            </a:r>
            <a:r>
              <a:rPr lang="en-US" altLang="zh-CN" b="1" dirty="0">
                <a:solidFill>
                  <a:srgbClr val="023A91"/>
                </a:solidFill>
                <a:latin typeface="Microsoft YaHei" panose="020B0503020204020204" pitchFamily="34" charset="-122"/>
                <a:ea typeface="Microsoft YaHei" panose="020B0503020204020204" pitchFamily="34" charset="-122"/>
              </a:rPr>
              <a:t>:</a:t>
            </a:r>
          </a:p>
          <a:p>
            <a:pPr marL="457200" lvl="1" indent="0">
              <a:lnSpc>
                <a:spcPct val="160000"/>
              </a:lnSpc>
              <a:spcBef>
                <a:spcPts val="0"/>
              </a:spcBef>
              <a:buNone/>
            </a:pPr>
            <a:r>
              <a:rPr lang="zh-CN" altLang="en-US" sz="1800" dirty="0">
                <a:latin typeface="Microsoft YaHei" panose="020B0503020204020204" pitchFamily="34" charset="-122"/>
                <a:ea typeface="Microsoft YaHei" panose="020B0503020204020204" pitchFamily="34" charset="-122"/>
              </a:rPr>
              <a:t>学习器</a:t>
            </a:r>
            <a:r>
              <a:rPr lang="zh-CN" altLang="en-US" sz="1800" b="1" dirty="0">
                <a:latin typeface="Microsoft YaHei" panose="020B0503020204020204" pitchFamily="34" charset="-122"/>
                <a:ea typeface="Microsoft YaHei" panose="020B0503020204020204" pitchFamily="34" charset="-122"/>
              </a:rPr>
              <a:t>把训练样本学习的“太好”</a:t>
            </a:r>
            <a:r>
              <a:rPr lang="zh-CN" altLang="en-US" sz="1800" dirty="0">
                <a:latin typeface="Microsoft YaHei" panose="020B0503020204020204" pitchFamily="34" charset="-122"/>
                <a:ea typeface="Microsoft YaHei" panose="020B0503020204020204" pitchFamily="34" charset="-122"/>
              </a:rPr>
              <a:t>，</a:t>
            </a:r>
            <a:r>
              <a:rPr lang="zh-CN" altLang="en-US" sz="1800" u="sng" dirty="0">
                <a:solidFill>
                  <a:srgbClr val="C00000"/>
                </a:solidFill>
                <a:latin typeface="Microsoft YaHei" panose="020B0503020204020204" pitchFamily="34" charset="-122"/>
                <a:ea typeface="Microsoft YaHei" panose="020B0503020204020204" pitchFamily="34" charset="-122"/>
              </a:rPr>
              <a:t>将训练样本本身的特点当做所有样本的一般性质</a:t>
            </a:r>
            <a:r>
              <a:rPr lang="zh-CN" altLang="en-US" sz="1800" dirty="0">
                <a:latin typeface="Microsoft YaHei" panose="020B0503020204020204" pitchFamily="34" charset="-122"/>
                <a:ea typeface="Microsoft YaHei" panose="020B0503020204020204" pitchFamily="34" charset="-122"/>
              </a:rPr>
              <a:t>，导致泛化性能下降</a:t>
            </a:r>
            <a:endParaRPr lang="en-US" altLang="zh-CN" sz="1800" dirty="0">
              <a:latin typeface="Microsoft YaHei" panose="020B0503020204020204" pitchFamily="34" charset="-122"/>
              <a:ea typeface="Microsoft YaHei" panose="020B0503020204020204" pitchFamily="34" charset="-122"/>
            </a:endParaRPr>
          </a:p>
          <a:p>
            <a:pPr lvl="2">
              <a:lnSpc>
                <a:spcPct val="160000"/>
              </a:lnSpc>
              <a:spcBef>
                <a:spcPts val="0"/>
              </a:spcBef>
            </a:pPr>
            <a:r>
              <a:rPr lang="zh-CN" altLang="en-US" dirty="0">
                <a:latin typeface="Microsoft YaHei" panose="020B0503020204020204" pitchFamily="34" charset="-122"/>
                <a:ea typeface="Microsoft YaHei" panose="020B0503020204020204" pitchFamily="34" charset="-122"/>
              </a:rPr>
              <a:t>优化目标加正则项</a:t>
            </a:r>
            <a:endParaRPr lang="en-US" altLang="zh-CN" dirty="0">
              <a:latin typeface="Microsoft YaHei" panose="020B0503020204020204" pitchFamily="34" charset="-122"/>
              <a:ea typeface="Microsoft YaHei" panose="020B0503020204020204" pitchFamily="34" charset="-122"/>
            </a:endParaRPr>
          </a:p>
          <a:p>
            <a:pPr lvl="2">
              <a:lnSpc>
                <a:spcPct val="160000"/>
              </a:lnSpc>
              <a:spcBef>
                <a:spcPts val="0"/>
              </a:spcBef>
            </a:pPr>
            <a:r>
              <a:rPr lang="en-US" altLang="zh-CN" dirty="0">
                <a:latin typeface="Microsoft YaHei" panose="020B0503020204020204" pitchFamily="34" charset="-122"/>
                <a:ea typeface="Microsoft YaHei" panose="020B0503020204020204" pitchFamily="34" charset="-122"/>
              </a:rPr>
              <a:t>early stop</a:t>
            </a:r>
            <a:endParaRPr lang="en-US" altLang="zh-CN" dirty="0">
              <a:solidFill>
                <a:srgbClr val="023A91"/>
              </a:solidFill>
              <a:latin typeface="Microsoft YaHei" panose="020B0503020204020204" pitchFamily="34" charset="-122"/>
              <a:ea typeface="Microsoft YaHei" panose="020B0503020204020204" pitchFamily="34" charset="-122"/>
            </a:endParaRPr>
          </a:p>
          <a:p>
            <a:pPr>
              <a:lnSpc>
                <a:spcPct val="160000"/>
              </a:lnSpc>
              <a:spcBef>
                <a:spcPts val="0"/>
              </a:spcBef>
            </a:pPr>
            <a:r>
              <a:rPr lang="zh-CN" altLang="en-US" b="1" dirty="0">
                <a:solidFill>
                  <a:srgbClr val="023A91"/>
                </a:solidFill>
                <a:latin typeface="Microsoft YaHei" panose="020B0503020204020204" pitchFamily="34" charset="-122"/>
                <a:ea typeface="Microsoft YaHei" panose="020B0503020204020204" pitchFamily="34" charset="-122"/>
              </a:rPr>
              <a:t>欠拟合：</a:t>
            </a:r>
            <a:endParaRPr lang="en-US" altLang="zh-CN" b="1" dirty="0">
              <a:solidFill>
                <a:srgbClr val="023A91"/>
              </a:solidFill>
              <a:latin typeface="Microsoft YaHei" panose="020B0503020204020204" pitchFamily="34" charset="-122"/>
              <a:ea typeface="Microsoft YaHei" panose="020B0503020204020204" pitchFamily="34" charset="-122"/>
            </a:endParaRPr>
          </a:p>
          <a:p>
            <a:pPr marL="457200" lvl="1" indent="0">
              <a:lnSpc>
                <a:spcPct val="160000"/>
              </a:lnSpc>
              <a:spcBef>
                <a:spcPts val="0"/>
              </a:spcBef>
              <a:buNone/>
            </a:pPr>
            <a:r>
              <a:rPr lang="zh-CN" altLang="en-US" dirty="0">
                <a:latin typeface="Microsoft YaHei" panose="020B0503020204020204" pitchFamily="34" charset="-122"/>
                <a:ea typeface="Microsoft YaHei" panose="020B0503020204020204" pitchFamily="34" charset="-122"/>
              </a:rPr>
              <a:t>对训练样本的一般性质尚未学好</a:t>
            </a:r>
            <a:endParaRPr lang="en-US" altLang="zh-CN" dirty="0">
              <a:latin typeface="Microsoft YaHei" panose="020B0503020204020204" pitchFamily="34" charset="-122"/>
              <a:ea typeface="Microsoft YaHei" panose="020B0503020204020204" pitchFamily="34" charset="-122"/>
            </a:endParaRPr>
          </a:p>
          <a:p>
            <a:pPr lvl="2">
              <a:lnSpc>
                <a:spcPct val="160000"/>
              </a:lnSpc>
              <a:spcBef>
                <a:spcPts val="0"/>
              </a:spcBef>
            </a:pPr>
            <a:r>
              <a:rPr lang="zh-CN" altLang="en-US" sz="2000" dirty="0">
                <a:latin typeface="Microsoft YaHei" panose="020B0503020204020204" pitchFamily="34" charset="-122"/>
                <a:ea typeface="Microsoft YaHei" panose="020B0503020204020204" pitchFamily="34" charset="-122"/>
              </a:rPr>
              <a:t>决策树</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拓展分支</a:t>
            </a:r>
            <a:endParaRPr lang="en-US" altLang="zh-CN" sz="2000" dirty="0">
              <a:latin typeface="Microsoft YaHei" panose="020B0503020204020204" pitchFamily="34" charset="-122"/>
              <a:ea typeface="Microsoft YaHei" panose="020B0503020204020204" pitchFamily="34" charset="-122"/>
            </a:endParaRPr>
          </a:p>
          <a:p>
            <a:pPr lvl="2">
              <a:lnSpc>
                <a:spcPct val="160000"/>
              </a:lnSpc>
              <a:spcBef>
                <a:spcPts val="0"/>
              </a:spcBef>
            </a:pPr>
            <a:r>
              <a:rPr lang="zh-CN" altLang="en-US" sz="2000" dirty="0">
                <a:latin typeface="Microsoft YaHei" panose="020B0503020204020204" pitchFamily="34" charset="-122"/>
                <a:ea typeface="Microsoft YaHei" panose="020B0503020204020204" pitchFamily="34" charset="-122"/>
              </a:rPr>
              <a:t>神经网络</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增加训练轮数</a:t>
            </a:r>
          </a:p>
          <a:p>
            <a:pPr lvl="1">
              <a:lnSpc>
                <a:spcPct val="110000"/>
              </a:lnSpc>
            </a:pP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4348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1000"/>
                                        <p:tgtEl>
                                          <p:spTgt spid="7">
                                            <p:txEl>
                                              <p:pRg st="4" end="4"/>
                                            </p:txEl>
                                          </p:spTgt>
                                        </p:tgtEl>
                                      </p:cBhvr>
                                    </p:animEffect>
                                    <p:anim calcmode="lin" valueType="num">
                                      <p:cBhvr>
                                        <p:cTn id="2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1000"/>
                                        <p:tgtEl>
                                          <p:spTgt spid="7">
                                            <p:txEl>
                                              <p:pRg st="5" end="5"/>
                                            </p:txEl>
                                          </p:spTgt>
                                        </p:tgtEl>
                                      </p:cBhvr>
                                    </p:animEffect>
                                    <p:anim calcmode="lin" valueType="num">
                                      <p:cBhvr>
                                        <p:cTn id="27"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fade">
                                      <p:cBhvr>
                                        <p:cTn id="33" dur="1000"/>
                                        <p:tgtEl>
                                          <p:spTgt spid="7">
                                            <p:txEl>
                                              <p:pRg st="6" end="6"/>
                                            </p:txEl>
                                          </p:spTgt>
                                        </p:tgtEl>
                                      </p:cBhvr>
                                    </p:animEffect>
                                    <p:anim calcmode="lin" valueType="num">
                                      <p:cBhvr>
                                        <p:cTn id="34"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7">
                                            <p:txEl>
                                              <p:pRg st="7" end="7"/>
                                            </p:txEl>
                                          </p:spTgt>
                                        </p:tgtEl>
                                        <p:attrNameLst>
                                          <p:attrName>style.visibility</p:attrName>
                                        </p:attrNameLst>
                                      </p:cBhvr>
                                      <p:to>
                                        <p:strVal val="visible"/>
                                      </p:to>
                                    </p:set>
                                    <p:animEffect transition="in" filter="fade">
                                      <p:cBhvr>
                                        <p:cTn id="38" dur="1000"/>
                                        <p:tgtEl>
                                          <p:spTgt spid="7">
                                            <p:txEl>
                                              <p:pRg st="7" end="7"/>
                                            </p:txEl>
                                          </p:spTgt>
                                        </p:tgtEl>
                                      </p:cBhvr>
                                    </p:animEffect>
                                    <p:anim calcmode="lin" valueType="num">
                                      <p:cBhvr>
                                        <p:cTn id="39"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经验误差与过拟合</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098" y="1049446"/>
            <a:ext cx="4969744" cy="3001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a:spLocks/>
          </p:cNvSpPr>
          <p:nvPr/>
        </p:nvSpPr>
        <p:spPr>
          <a:xfrm>
            <a:off x="717331" y="4308952"/>
            <a:ext cx="7961585" cy="1248393"/>
          </a:xfrm>
          <a:prstGeom prst="rect">
            <a:avLst/>
          </a:prstGeom>
        </p:spPr>
        <p:txBody>
          <a:bodyPr vert="horz" lIns="91440" tIns="46800" rIns="91440" bIns="45720" rtlCol="0">
            <a:normAutofit fontScale="92500" lnSpcReduction="10000"/>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40000"/>
              </a:lnSpc>
              <a:spcBef>
                <a:spcPts val="0"/>
              </a:spcBef>
            </a:pPr>
            <a:r>
              <a:rPr lang="zh-CN" altLang="en-US" b="1" dirty="0">
                <a:solidFill>
                  <a:srgbClr val="C00000"/>
                </a:solidFill>
                <a:latin typeface="Microsoft YaHei" panose="020B0503020204020204" pitchFamily="34" charset="-122"/>
                <a:ea typeface="Microsoft YaHei" panose="020B0503020204020204" pitchFamily="34" charset="-122"/>
              </a:rPr>
              <a:t>过拟合</a:t>
            </a:r>
            <a:r>
              <a:rPr lang="zh-CN" altLang="en-US" dirty="0">
                <a:latin typeface="Microsoft YaHei" panose="020B0503020204020204" pitchFamily="34" charset="-122"/>
                <a:ea typeface="Microsoft YaHei" panose="020B0503020204020204" pitchFamily="34" charset="-122"/>
              </a:rPr>
              <a:t>：学习器</a:t>
            </a:r>
            <a:r>
              <a:rPr lang="zh-CN" altLang="en-US" b="1" dirty="0">
                <a:solidFill>
                  <a:srgbClr val="C00000"/>
                </a:solidFill>
                <a:latin typeface="Microsoft YaHei" panose="020B0503020204020204" pitchFamily="34" charset="-122"/>
                <a:ea typeface="Microsoft YaHei" panose="020B0503020204020204" pitchFamily="34" charset="-122"/>
              </a:rPr>
              <a:t>把训练样本本身特点</a:t>
            </a:r>
            <a:r>
              <a:rPr lang="zh-CN" altLang="en-US" dirty="0">
                <a:latin typeface="Microsoft YaHei" panose="020B0503020204020204" pitchFamily="34" charset="-122"/>
                <a:ea typeface="Microsoft YaHei" panose="020B0503020204020204" pitchFamily="34" charset="-122"/>
              </a:rPr>
              <a:t>当做所有潜在样本都会具有的</a:t>
            </a:r>
            <a:r>
              <a:rPr lang="zh-CN" altLang="en-US" b="1" dirty="0">
                <a:solidFill>
                  <a:srgbClr val="C00000"/>
                </a:solidFill>
                <a:latin typeface="Microsoft YaHei" panose="020B0503020204020204" pitchFamily="34" charset="-122"/>
                <a:ea typeface="Microsoft YaHei" panose="020B0503020204020204" pitchFamily="34" charset="-122"/>
              </a:rPr>
              <a:t>一般性质</a:t>
            </a:r>
            <a:r>
              <a:rPr lang="en-US" altLang="zh-CN" dirty="0">
                <a:latin typeface="Microsoft YaHei" panose="020B0503020204020204" pitchFamily="34" charset="-122"/>
                <a:ea typeface="Microsoft YaHei" panose="020B0503020204020204" pitchFamily="34" charset="-122"/>
              </a:rPr>
              <a:t>.</a:t>
            </a:r>
          </a:p>
          <a:p>
            <a:pPr marL="342900" indent="-342900">
              <a:lnSpc>
                <a:spcPct val="140000"/>
              </a:lnSpc>
              <a:spcBef>
                <a:spcPts val="0"/>
              </a:spcBef>
            </a:pP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欠拟合</a:t>
            </a:r>
            <a:r>
              <a:rPr lang="zh-CN" altLang="en-US" dirty="0">
                <a:latin typeface="Microsoft YaHei" panose="020B0503020204020204" pitchFamily="34" charset="-122"/>
                <a:ea typeface="Microsoft YaHei" panose="020B0503020204020204" pitchFamily="34" charset="-122"/>
              </a:rPr>
              <a:t>：训练样本的</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一般性质尚未被学习器学好</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0120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大纲</a:t>
            </a:r>
          </a:p>
        </p:txBody>
      </p:sp>
      <p:sp>
        <p:nvSpPr>
          <p:cNvPr id="3" name="内容占位符 2"/>
          <p:cNvSpPr>
            <a:spLocks noGrp="1"/>
          </p:cNvSpPr>
          <p:nvPr>
            <p:ph idx="1"/>
          </p:nvPr>
        </p:nvSpPr>
        <p:spPr>
          <a:xfrm>
            <a:off x="260350" y="1158536"/>
            <a:ext cx="8616950" cy="4950163"/>
          </a:xfrm>
        </p:spPr>
        <p:txBody>
          <a:bodyPr>
            <a:noAutofit/>
          </a:bodyPr>
          <a:lstStyle/>
          <a:p>
            <a:r>
              <a:rPr lang="zh-CN" altLang="en-US" dirty="0">
                <a:solidFill>
                  <a:schemeClr val="bg1">
                    <a:lumMod val="85000"/>
                  </a:schemeClr>
                </a:solidFill>
                <a:latin typeface="Microsoft YaHei" panose="020B0503020204020204" pitchFamily="34" charset="-122"/>
                <a:ea typeface="Microsoft YaHei" panose="020B0503020204020204" pitchFamily="34" charset="-122"/>
              </a:rPr>
              <a:t>经验误差与过拟合</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latin typeface="Microsoft YaHei" panose="020B0503020204020204" pitchFamily="34" charset="-122"/>
                <a:ea typeface="Microsoft YaHei" panose="020B0503020204020204" pitchFamily="34" charset="-122"/>
              </a:rPr>
              <a:t>评估方法</a:t>
            </a:r>
            <a:endParaRPr lang="en-US" altLang="zh-CN" dirty="0">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性能度量</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比较检验</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偏差与方差</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阅读材料</a:t>
            </a:r>
          </a:p>
        </p:txBody>
      </p:sp>
    </p:spTree>
    <p:extLst>
      <p:ext uri="{BB962C8B-B14F-4D97-AF65-F5344CB8AC3E}">
        <p14:creationId xmlns:p14="http://schemas.microsoft.com/office/powerpoint/2010/main" val="2426267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评估方法</a:t>
            </a:r>
          </a:p>
        </p:txBody>
      </p:sp>
      <p:sp>
        <p:nvSpPr>
          <p:cNvPr id="8" name="内容占位符 2"/>
          <p:cNvSpPr txBox="1">
            <a:spLocks/>
          </p:cNvSpPr>
          <p:nvPr/>
        </p:nvSpPr>
        <p:spPr>
          <a:xfrm>
            <a:off x="700273" y="1738264"/>
            <a:ext cx="7190368" cy="777874"/>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latin typeface="Microsoft YaHei" panose="020B0503020204020204" pitchFamily="34" charset="-122"/>
                <a:ea typeface="Microsoft YaHei" panose="020B0503020204020204" pitchFamily="34" charset="-122"/>
              </a:rPr>
              <a:t>现实任务中往往会对学习器的</a:t>
            </a:r>
            <a:r>
              <a:rPr lang="zh-CN" altLang="en-US" b="1" dirty="0">
                <a:latin typeface="Microsoft YaHei" panose="020B0503020204020204" pitchFamily="34" charset="-122"/>
                <a:ea typeface="Microsoft YaHei" panose="020B0503020204020204" pitchFamily="34" charset="-122"/>
              </a:rPr>
              <a:t>泛化性能</a:t>
            </a:r>
            <a:r>
              <a:rPr lang="zh-CN" altLang="en-US" dirty="0">
                <a:latin typeface="Microsoft YaHei" panose="020B0503020204020204" pitchFamily="34" charset="-122"/>
                <a:ea typeface="Microsoft YaHei" panose="020B0503020204020204" pitchFamily="34" charset="-122"/>
              </a:rPr>
              <a:t>、</a:t>
            </a:r>
            <a:r>
              <a:rPr lang="zh-CN" altLang="en-US" b="1" dirty="0">
                <a:latin typeface="Microsoft YaHei" panose="020B0503020204020204" pitchFamily="34" charset="-122"/>
                <a:ea typeface="Microsoft YaHei" panose="020B0503020204020204" pitchFamily="34" charset="-122"/>
              </a:rPr>
              <a:t>时间开销</a:t>
            </a:r>
            <a:r>
              <a:rPr lang="zh-CN" altLang="en-US" dirty="0">
                <a:latin typeface="Microsoft YaHei" panose="020B0503020204020204" pitchFamily="34" charset="-122"/>
                <a:ea typeface="Microsoft YaHei" panose="020B0503020204020204" pitchFamily="34" charset="-122"/>
              </a:rPr>
              <a:t>、</a:t>
            </a:r>
            <a:r>
              <a:rPr lang="zh-CN" altLang="en-US" b="1" dirty="0">
                <a:latin typeface="Microsoft YaHei" panose="020B0503020204020204" pitchFamily="34" charset="-122"/>
                <a:ea typeface="Microsoft YaHei" panose="020B0503020204020204" pitchFamily="34" charset="-122"/>
              </a:rPr>
              <a:t>存储开销</a:t>
            </a:r>
            <a:r>
              <a:rPr lang="zh-CN" altLang="en-US" dirty="0">
                <a:latin typeface="Microsoft YaHei" panose="020B0503020204020204" pitchFamily="34" charset="-122"/>
                <a:ea typeface="Microsoft YaHei" panose="020B0503020204020204" pitchFamily="34" charset="-122"/>
              </a:rPr>
              <a:t>、可解释性等方面的因素</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进行评估并做出选择</a:t>
            </a:r>
          </a:p>
        </p:txBody>
      </p:sp>
      <p:sp>
        <p:nvSpPr>
          <p:cNvPr id="9" name="内容占位符 2"/>
          <p:cNvSpPr txBox="1">
            <a:spLocks/>
          </p:cNvSpPr>
          <p:nvPr/>
        </p:nvSpPr>
        <p:spPr>
          <a:xfrm>
            <a:off x="751073" y="3290232"/>
            <a:ext cx="7395977" cy="1589196"/>
          </a:xfrm>
          <a:prstGeom prst="rect">
            <a:avLst/>
          </a:prstGeom>
        </p:spPr>
        <p:txBody>
          <a:bodyPr vert="horz" lIns="91440" tIns="46800" rIns="91440" bIns="45720" rtlCol="0">
            <a:normAutofit lnSpcReduction="10000"/>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r>
              <a:rPr lang="zh-CN" altLang="en-US" dirty="0">
                <a:latin typeface="Microsoft YaHei" panose="020B0503020204020204" pitchFamily="34" charset="-122"/>
                <a:ea typeface="Microsoft YaHei" panose="020B0503020204020204" pitchFamily="34" charset="-122"/>
              </a:rPr>
              <a:t>我们</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假设</a:t>
            </a:r>
            <a:r>
              <a:rPr lang="zh-CN" altLang="en-US" b="1" dirty="0">
                <a:latin typeface="Microsoft YaHei" panose="020B0503020204020204" pitchFamily="34" charset="-122"/>
                <a:ea typeface="Microsoft YaHei" panose="020B0503020204020204" pitchFamily="34" charset="-122"/>
              </a:rPr>
              <a:t>测试集是从样本真实分布中独立采样</a:t>
            </a:r>
            <a:r>
              <a:rPr lang="zh-CN" altLang="en-US" dirty="0">
                <a:latin typeface="Microsoft YaHei" panose="020B0503020204020204" pitchFamily="34" charset="-122"/>
                <a:ea typeface="Microsoft YaHei" panose="020B0503020204020204" pitchFamily="34" charset="-122"/>
              </a:rPr>
              <a:t>获得，将测试集上的</a:t>
            </a:r>
            <a:r>
              <a:rPr lang="zh-CN" altLang="en-US" b="1" dirty="0">
                <a:solidFill>
                  <a:srgbClr val="C00000"/>
                </a:solidFill>
                <a:latin typeface="Microsoft YaHei" panose="020B0503020204020204" pitchFamily="34" charset="-122"/>
                <a:ea typeface="Microsoft YaHei" panose="020B0503020204020204" pitchFamily="34" charset="-122"/>
              </a:rPr>
              <a:t>“测试误差”作为泛化误差的近似</a:t>
            </a:r>
            <a:r>
              <a:rPr lang="zh-CN" altLang="en-US" dirty="0">
                <a:latin typeface="Microsoft YaHei" panose="020B0503020204020204" pitchFamily="34" charset="-122"/>
                <a:ea typeface="Microsoft YaHei" panose="020B0503020204020204" pitchFamily="34" charset="-122"/>
              </a:rPr>
              <a:t>，所以测试集要和训练集中的样本尽量互斥。</a:t>
            </a:r>
          </a:p>
        </p:txBody>
      </p:sp>
    </p:spTree>
    <p:extLst>
      <p:ext uri="{BB962C8B-B14F-4D97-AF65-F5344CB8AC3E}">
        <p14:creationId xmlns:p14="http://schemas.microsoft.com/office/powerpoint/2010/main" val="3810067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评估方法</a:t>
            </a:r>
          </a:p>
        </p:txBody>
      </p:sp>
      <p:sp>
        <p:nvSpPr>
          <p:cNvPr id="10" name="内容占位符 2"/>
          <p:cNvSpPr>
            <a:spLocks noGrp="1"/>
          </p:cNvSpPr>
          <p:nvPr>
            <p:ph idx="1"/>
          </p:nvPr>
        </p:nvSpPr>
        <p:spPr>
          <a:xfrm>
            <a:off x="952500" y="2793999"/>
            <a:ext cx="7937500" cy="2565401"/>
          </a:xfrm>
        </p:spPr>
        <p:txBody>
          <a:bodyPr>
            <a:normAutofit lnSpcReduction="10000"/>
          </a:bodyPr>
          <a:lstStyle/>
          <a:p>
            <a:pPr>
              <a:lnSpc>
                <a:spcPct val="150000"/>
              </a:lnSpc>
            </a:pPr>
            <a:r>
              <a:rPr lang="zh-CN" altLang="en-US" b="1" dirty="0">
                <a:solidFill>
                  <a:srgbClr val="023A91"/>
                </a:solidFill>
                <a:latin typeface="Microsoft YaHei" panose="020B0503020204020204" pitchFamily="34" charset="-122"/>
                <a:ea typeface="Microsoft YaHei" panose="020B0503020204020204" pitchFamily="34" charset="-122"/>
              </a:rPr>
              <a:t>留出法</a:t>
            </a:r>
            <a:r>
              <a:rPr lang="zh-CN" altLang="en-US" dirty="0">
                <a:solidFill>
                  <a:srgbClr val="023A91"/>
                </a:solidFill>
                <a:latin typeface="Microsoft YaHei" panose="020B0503020204020204" pitchFamily="34" charset="-122"/>
                <a:ea typeface="Microsoft YaHei" panose="020B0503020204020204" pitchFamily="34" charset="-122"/>
              </a:rPr>
              <a:t>：</a:t>
            </a:r>
            <a:endParaRPr lang="en-US" altLang="zh-CN" dirty="0">
              <a:solidFill>
                <a:srgbClr val="023A91"/>
              </a:solidFill>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直接将数据集</a:t>
            </a:r>
            <a:r>
              <a:rPr lang="zh-CN" altLang="en-US" b="1" dirty="0">
                <a:latin typeface="Microsoft YaHei" panose="020B0503020204020204" pitchFamily="34" charset="-122"/>
                <a:ea typeface="Microsoft YaHei" panose="020B0503020204020204" pitchFamily="34" charset="-122"/>
              </a:rPr>
              <a:t>划分为</a:t>
            </a:r>
            <a:r>
              <a:rPr lang="zh-CN" altLang="en-US" b="1" dirty="0">
                <a:solidFill>
                  <a:srgbClr val="C00000"/>
                </a:solidFill>
                <a:latin typeface="Microsoft YaHei" panose="020B0503020204020204" pitchFamily="34" charset="-122"/>
                <a:ea typeface="Microsoft YaHei" panose="020B0503020204020204" pitchFamily="34" charset="-122"/>
              </a:rPr>
              <a:t>两个互斥</a:t>
            </a:r>
            <a:r>
              <a:rPr lang="zh-CN" altLang="en-US" b="1" dirty="0">
                <a:latin typeface="Microsoft YaHei" panose="020B0503020204020204" pitchFamily="34" charset="-122"/>
                <a:ea typeface="Microsoft YaHei" panose="020B0503020204020204" pitchFamily="34" charset="-122"/>
              </a:rPr>
              <a:t>集合</a:t>
            </a:r>
            <a:endParaRPr lang="en-US" altLang="zh-CN" b="1" dirty="0">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训练</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测试集划分要尽可能</a:t>
            </a:r>
            <a:r>
              <a:rPr lang="zh-CN" altLang="en-US" b="1" dirty="0">
                <a:latin typeface="Microsoft YaHei" panose="020B0503020204020204" pitchFamily="34" charset="-122"/>
                <a:ea typeface="Microsoft YaHei" panose="020B0503020204020204" pitchFamily="34" charset="-122"/>
              </a:rPr>
              <a:t>保持数据分布的一致性</a:t>
            </a:r>
            <a:endParaRPr lang="en-US" altLang="zh-CN" b="1" dirty="0">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一般</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若干次</a:t>
            </a:r>
            <a:r>
              <a:rPr lang="zh-CN" altLang="en-US" dirty="0">
                <a:latin typeface="Microsoft YaHei" panose="020B0503020204020204" pitchFamily="34" charset="-122"/>
                <a:ea typeface="Microsoft YaHei" panose="020B0503020204020204" pitchFamily="34" charset="-122"/>
              </a:rPr>
              <a:t>随机划分、</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重复实验取平均值</a:t>
            </a:r>
            <a:endParaRPr lang="en-US" altLang="zh-CN" b="1" dirty="0">
              <a:solidFill>
                <a:schemeClr val="accent6">
                  <a:lumMod val="90000"/>
                  <a:lumOff val="10000"/>
                </a:schemeClr>
              </a:solidFill>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训练</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测试</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样本比例</a:t>
            </a:r>
            <a:r>
              <a:rPr lang="zh-CN" altLang="en-US" dirty="0">
                <a:latin typeface="Microsoft YaHei" panose="020B0503020204020204" pitchFamily="34" charset="-122"/>
                <a:ea typeface="Microsoft YaHei" panose="020B0503020204020204" pitchFamily="34" charset="-122"/>
              </a:rPr>
              <a:t>通常为</a:t>
            </a:r>
            <a:r>
              <a:rPr lang="en-US" altLang="zh-CN" dirty="0">
                <a:latin typeface="Microsoft YaHei" panose="020B0503020204020204" pitchFamily="34" charset="-122"/>
                <a:ea typeface="Microsoft YaHei" panose="020B0503020204020204" pitchFamily="34" charset="-122"/>
              </a:rPr>
              <a:t>2:1~4:1</a:t>
            </a:r>
            <a:endParaRPr lang="zh-CN" altLang="en-US" dirty="0">
              <a:latin typeface="Microsoft YaHei" panose="020B0503020204020204" pitchFamily="34" charset="-122"/>
              <a:ea typeface="Microsoft YaHei" panose="020B0503020204020204" pitchFamily="34" charset="-122"/>
            </a:endParaRPr>
          </a:p>
          <a:p>
            <a:pPr lvl="1">
              <a:lnSpc>
                <a:spcPct val="110000"/>
              </a:lnSpc>
            </a:pPr>
            <a:endParaRPr lang="en-US" altLang="zh-CN" dirty="0">
              <a:latin typeface="Microsoft YaHei" panose="020B0503020204020204" pitchFamily="34" charset="-122"/>
              <a:ea typeface="Microsoft YaHei" panose="020B0503020204020204" pitchFamily="34" charset="-122"/>
            </a:endParaRPr>
          </a:p>
        </p:txBody>
      </p:sp>
      <p:grpSp>
        <p:nvGrpSpPr>
          <p:cNvPr id="3" name="组合 2"/>
          <p:cNvGrpSpPr/>
          <p:nvPr/>
        </p:nvGrpSpPr>
        <p:grpSpPr>
          <a:xfrm>
            <a:off x="535174" y="1649364"/>
            <a:ext cx="7610326" cy="738236"/>
            <a:chOff x="674874" y="1408064"/>
            <a:chExt cx="7610326" cy="738236"/>
          </a:xfrm>
        </p:grpSpPr>
        <p:sp>
          <p:nvSpPr>
            <p:cNvPr id="8" name="内容占位符 2"/>
            <p:cNvSpPr txBox="1">
              <a:spLocks/>
            </p:cNvSpPr>
            <p:nvPr/>
          </p:nvSpPr>
          <p:spPr>
            <a:xfrm>
              <a:off x="674874" y="1408064"/>
              <a:ext cx="6505202" cy="738236"/>
            </a:xfrm>
            <a:prstGeom prst="rect">
              <a:avLst/>
            </a:prstGeom>
          </p:spPr>
          <p:txBody>
            <a:bodyPr vert="horz" lIns="91440" tIns="46800" rIns="91440" bIns="45720" rtlCol="0">
              <a:norm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dirty="0">
                  <a:latin typeface="Microsoft YaHei" panose="020B0503020204020204" pitchFamily="34" charset="-122"/>
                  <a:ea typeface="Microsoft YaHei" panose="020B0503020204020204" pitchFamily="34" charset="-122"/>
                </a:rPr>
                <a:t>通常将包含    个样本的数据集</a:t>
              </a:r>
              <a:endParaRPr lang="en-US" altLang="zh-CN" dirty="0">
                <a:latin typeface="Microsoft YaHei" panose="020B0503020204020204" pitchFamily="34" charset="-122"/>
                <a:ea typeface="Microsoft YaHei" panose="020B0503020204020204" pitchFamily="34" charset="-122"/>
              </a:endParaRPr>
            </a:p>
            <a:p>
              <a:pPr marL="457200" lvl="1" indent="0">
                <a:buNone/>
              </a:pPr>
              <a:r>
                <a:rPr lang="zh-CN" altLang="en-US" dirty="0">
                  <a:latin typeface="Microsoft YaHei" panose="020B0503020204020204" pitchFamily="34" charset="-122"/>
                  <a:ea typeface="Microsoft YaHei" panose="020B0503020204020204" pitchFamily="34" charset="-122"/>
                </a:rPr>
                <a:t>拆分成训练集   和测试集   ：</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4694" y="1457301"/>
              <a:ext cx="3700506" cy="288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7174" y="1812902"/>
              <a:ext cx="184169" cy="231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00514" y="1824808"/>
              <a:ext cx="193636" cy="219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88497" y="1501740"/>
              <a:ext cx="282575" cy="199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629538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00000"/>
                </a:solidFill>
                <a:latin typeface="Microsoft YaHei" panose="020B0503020204020204" pitchFamily="34" charset="-122"/>
                <a:ea typeface="Microsoft YaHei" panose="020B0503020204020204" pitchFamily="34" charset="-122"/>
              </a:rPr>
              <a:t>评估方法</a:t>
            </a:r>
            <a:r>
              <a:rPr lang="en-US" altLang="zh-CN" dirty="0">
                <a:solidFill>
                  <a:srgbClr val="C00000"/>
                </a:solidFill>
                <a:latin typeface="Microsoft YaHei" panose="020B0503020204020204" pitchFamily="34" charset="-122"/>
                <a:ea typeface="Microsoft YaHei" panose="020B0503020204020204" pitchFamily="34" charset="-122"/>
              </a:rPr>
              <a:t>?</a:t>
            </a:r>
            <a:endParaRPr lang="zh-CN" altLang="en-US" dirty="0">
              <a:solidFill>
                <a:srgbClr val="C00000"/>
              </a:solidFill>
              <a:latin typeface="Microsoft YaHei" panose="020B0503020204020204" pitchFamily="34" charset="-122"/>
              <a:ea typeface="Microsoft YaHei" panose="020B0503020204020204" pitchFamily="34" charset="-122"/>
            </a:endParaRPr>
          </a:p>
        </p:txBody>
      </p:sp>
      <p:sp>
        <p:nvSpPr>
          <p:cNvPr id="10" name="内容占位符 2"/>
          <p:cNvSpPr>
            <a:spLocks noGrp="1"/>
          </p:cNvSpPr>
          <p:nvPr>
            <p:ph idx="1"/>
          </p:nvPr>
        </p:nvSpPr>
        <p:spPr>
          <a:xfrm>
            <a:off x="413880" y="991991"/>
            <a:ext cx="7937500" cy="2565401"/>
          </a:xfrm>
        </p:spPr>
        <p:txBody>
          <a:bodyPr>
            <a:normAutofit/>
          </a:bodyPr>
          <a:lstStyle/>
          <a:p>
            <a:pPr>
              <a:lnSpc>
                <a:spcPct val="150000"/>
              </a:lnSpc>
            </a:pPr>
            <a:r>
              <a:rPr lang="zh-CN" altLang="en-US" b="1" dirty="0">
                <a:solidFill>
                  <a:srgbClr val="023A91"/>
                </a:solidFill>
                <a:latin typeface="Microsoft YaHei" panose="020B0503020204020204" pitchFamily="34" charset="-122"/>
                <a:ea typeface="Microsoft YaHei" panose="020B0503020204020204" pitchFamily="34" charset="-122"/>
              </a:rPr>
              <a:t>交叉验证法：</a:t>
            </a:r>
            <a:endParaRPr lang="en-US" altLang="zh-CN" b="1" dirty="0">
              <a:solidFill>
                <a:srgbClr val="023A91"/>
              </a:solidFill>
              <a:latin typeface="Microsoft YaHei" panose="020B0503020204020204" pitchFamily="34" charset="-122"/>
              <a:ea typeface="Microsoft YaHei" panose="020B0503020204020204" pitchFamily="34" charset="-122"/>
            </a:endParaRPr>
          </a:p>
          <a:p>
            <a:pPr marL="325800" lvl="1" indent="0">
              <a:lnSpc>
                <a:spcPct val="150000"/>
              </a:lnSpc>
              <a:buNone/>
            </a:pPr>
            <a:r>
              <a:rPr lang="zh-CN" altLang="en-US" dirty="0">
                <a:latin typeface="Microsoft YaHei" panose="020B0503020204020204" pitchFamily="34" charset="-122"/>
                <a:ea typeface="Microsoft YaHei" panose="020B0503020204020204" pitchFamily="34" charset="-122"/>
              </a:rPr>
              <a:t>将数据集分层采样划分为</a:t>
            </a:r>
            <a:r>
              <a:rPr lang="en-US" altLang="zh-CN" b="1" dirty="0">
                <a:latin typeface="Microsoft YaHei" panose="020B0503020204020204" pitchFamily="34" charset="-122"/>
                <a:ea typeface="Microsoft YaHei" panose="020B0503020204020204" pitchFamily="34" charset="-122"/>
              </a:rPr>
              <a:t>k</a:t>
            </a:r>
            <a:r>
              <a:rPr lang="zh-CN" altLang="en-US" b="1" dirty="0">
                <a:latin typeface="Microsoft YaHei" panose="020B0503020204020204" pitchFamily="34" charset="-122"/>
                <a:ea typeface="Microsoft YaHei" panose="020B0503020204020204" pitchFamily="34" charset="-122"/>
              </a:rPr>
              <a:t>个大小相似的互斥子集</a:t>
            </a:r>
            <a:r>
              <a:rPr lang="zh-CN" altLang="en-US" dirty="0">
                <a:latin typeface="Microsoft YaHei" panose="020B0503020204020204" pitchFamily="34" charset="-122"/>
                <a:ea typeface="Microsoft YaHei" panose="020B0503020204020204" pitchFamily="34" charset="-122"/>
              </a:rPr>
              <a:t>，每次用</a:t>
            </a:r>
            <a:r>
              <a:rPr lang="en-US" altLang="zh-CN" b="1" dirty="0">
                <a:solidFill>
                  <a:schemeClr val="accent6">
                    <a:lumMod val="90000"/>
                    <a:lumOff val="10000"/>
                  </a:schemeClr>
                </a:solidFill>
                <a:latin typeface="Microsoft YaHei" panose="020B0503020204020204" pitchFamily="34" charset="-122"/>
                <a:ea typeface="Microsoft YaHei" panose="020B0503020204020204" pitchFamily="34" charset="-122"/>
              </a:rPr>
              <a:t>k-1</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个子集的并集</a:t>
            </a:r>
            <a:r>
              <a:rPr lang="zh-CN" altLang="en-US" dirty="0">
                <a:latin typeface="Microsoft YaHei" panose="020B0503020204020204" pitchFamily="34" charset="-122"/>
                <a:ea typeface="Microsoft YaHei" panose="020B0503020204020204" pitchFamily="34" charset="-122"/>
              </a:rPr>
              <a:t>作为训练集，余下的子集作为测试集，最终返回</a:t>
            </a:r>
            <a:r>
              <a:rPr lang="en-US" altLang="zh-CN" dirty="0">
                <a:latin typeface="Microsoft YaHei" panose="020B0503020204020204" pitchFamily="34" charset="-122"/>
                <a:ea typeface="Microsoft YaHei" panose="020B0503020204020204" pitchFamily="34" charset="-122"/>
              </a:rPr>
              <a:t>k</a:t>
            </a:r>
            <a:r>
              <a:rPr lang="zh-CN" altLang="en-US" dirty="0">
                <a:latin typeface="Microsoft YaHei" panose="020B0503020204020204" pitchFamily="34" charset="-122"/>
                <a:ea typeface="Microsoft YaHei" panose="020B0503020204020204" pitchFamily="34" charset="-122"/>
              </a:rPr>
              <a:t>个测试结果的均值，</a:t>
            </a:r>
            <a:r>
              <a:rPr lang="en-US" altLang="zh-CN" dirty="0">
                <a:latin typeface="Microsoft YaHei" panose="020B0503020204020204" pitchFamily="34" charset="-122"/>
                <a:ea typeface="Microsoft YaHei" panose="020B0503020204020204" pitchFamily="34" charset="-122"/>
              </a:rPr>
              <a:t>k</a:t>
            </a:r>
            <a:r>
              <a:rPr lang="zh-CN" altLang="en-US" dirty="0">
                <a:latin typeface="Microsoft YaHei" panose="020B0503020204020204" pitchFamily="34" charset="-122"/>
                <a:ea typeface="Microsoft YaHei" panose="020B0503020204020204" pitchFamily="34" charset="-122"/>
              </a:rPr>
              <a:t>最常用的取值是</a:t>
            </a:r>
            <a:r>
              <a:rPr lang="en-US" altLang="zh-CN" dirty="0">
                <a:latin typeface="Microsoft YaHei" panose="020B0503020204020204" pitchFamily="34" charset="-122"/>
                <a:ea typeface="Microsoft YaHei" panose="020B0503020204020204" pitchFamily="34" charset="-122"/>
              </a:rPr>
              <a:t>10.</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2004" y="3018078"/>
            <a:ext cx="6413499" cy="3217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6486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评估方法</a:t>
            </a:r>
          </a:p>
        </p:txBody>
      </p:sp>
      <p:sp>
        <p:nvSpPr>
          <p:cNvPr id="4" name="内容占位符 3"/>
          <p:cNvSpPr>
            <a:spLocks noGrp="1"/>
          </p:cNvSpPr>
          <p:nvPr>
            <p:ph idx="1"/>
          </p:nvPr>
        </p:nvSpPr>
        <p:spPr>
          <a:xfrm>
            <a:off x="260350" y="1066641"/>
            <a:ext cx="8151273" cy="1858065"/>
          </a:xfrm>
        </p:spPr>
        <p:txBody>
          <a:bodyPr>
            <a:normAutofit fontScale="92500" lnSpcReduction="20000"/>
          </a:bodyPr>
          <a:lstStyle/>
          <a:p>
            <a:pPr marL="0" indent="0">
              <a:lnSpc>
                <a:spcPct val="160000"/>
              </a:lnSpc>
              <a:buNone/>
            </a:pPr>
            <a:r>
              <a:rPr lang="zh-CN" altLang="en-US" dirty="0">
                <a:latin typeface="Microsoft YaHei" panose="020B0503020204020204" pitchFamily="34" charset="-122"/>
                <a:ea typeface="Microsoft YaHei" panose="020B0503020204020204" pitchFamily="34" charset="-122"/>
              </a:rPr>
              <a:t>与留出法类似，将数据集</a:t>
            </a:r>
            <a:r>
              <a:rPr lang="en-US" altLang="zh-CN" dirty="0">
                <a:latin typeface="Microsoft YaHei" panose="020B0503020204020204" pitchFamily="34" charset="-122"/>
                <a:ea typeface="Microsoft YaHei" panose="020B0503020204020204" pitchFamily="34" charset="-122"/>
              </a:rPr>
              <a:t>D</a:t>
            </a:r>
            <a:r>
              <a:rPr lang="zh-CN" altLang="en-US" dirty="0">
                <a:latin typeface="Microsoft YaHei" panose="020B0503020204020204" pitchFamily="34" charset="-122"/>
                <a:ea typeface="Microsoft YaHei" panose="020B0503020204020204" pitchFamily="34" charset="-122"/>
              </a:rPr>
              <a:t>划分为</a:t>
            </a:r>
            <a:r>
              <a:rPr lang="en-US" altLang="zh-CN" dirty="0">
                <a:latin typeface="Microsoft YaHei" panose="020B0503020204020204" pitchFamily="34" charset="-122"/>
                <a:ea typeface="Microsoft YaHei" panose="020B0503020204020204" pitchFamily="34" charset="-122"/>
              </a:rPr>
              <a:t>k</a:t>
            </a:r>
            <a:r>
              <a:rPr lang="zh-CN" altLang="en-US" dirty="0">
                <a:latin typeface="Microsoft YaHei" panose="020B0503020204020204" pitchFamily="34" charset="-122"/>
                <a:ea typeface="Microsoft YaHei" panose="020B0503020204020204" pitchFamily="34" charset="-122"/>
              </a:rPr>
              <a:t>个子集同样存在多种划分方式，为了减小因样本划分不同而引入的差别，</a:t>
            </a:r>
            <a:r>
              <a:rPr lang="en-US" altLang="zh-CN" dirty="0">
                <a:latin typeface="Microsoft YaHei" panose="020B0503020204020204" pitchFamily="34" charset="-122"/>
                <a:ea typeface="Microsoft YaHei" panose="020B0503020204020204" pitchFamily="34" charset="-122"/>
              </a:rPr>
              <a:t>k</a:t>
            </a:r>
            <a:r>
              <a:rPr lang="zh-CN" altLang="en-US" dirty="0">
                <a:latin typeface="Microsoft YaHei" panose="020B0503020204020204" pitchFamily="34" charset="-122"/>
                <a:ea typeface="Microsoft YaHei" panose="020B0503020204020204" pitchFamily="34" charset="-122"/>
              </a:rPr>
              <a:t>折交叉验证通常随机使用不同的划分重复</a:t>
            </a:r>
            <a:r>
              <a:rPr lang="en-US" altLang="zh-CN" dirty="0">
                <a:latin typeface="Microsoft YaHei" panose="020B0503020204020204" pitchFamily="34" charset="-122"/>
                <a:ea typeface="Microsoft YaHei" panose="020B0503020204020204" pitchFamily="34" charset="-122"/>
              </a:rPr>
              <a:t>p</a:t>
            </a:r>
            <a:r>
              <a:rPr lang="zh-CN" altLang="en-US" dirty="0">
                <a:latin typeface="Microsoft YaHei" panose="020B0503020204020204" pitchFamily="34" charset="-122"/>
                <a:ea typeface="Microsoft YaHei" panose="020B0503020204020204" pitchFamily="34" charset="-122"/>
              </a:rPr>
              <a:t>次，最终的评估结果是这</a:t>
            </a:r>
            <a:r>
              <a:rPr lang="en-US" altLang="zh-CN" dirty="0">
                <a:latin typeface="Microsoft YaHei" panose="020B0503020204020204" pitchFamily="34" charset="-122"/>
                <a:ea typeface="Microsoft YaHei" panose="020B0503020204020204" pitchFamily="34" charset="-122"/>
              </a:rPr>
              <a:t>p</a:t>
            </a:r>
            <a:r>
              <a:rPr lang="zh-CN" altLang="en-US" dirty="0">
                <a:latin typeface="Microsoft YaHei" panose="020B0503020204020204" pitchFamily="34" charset="-122"/>
                <a:ea typeface="Microsoft YaHei" panose="020B0503020204020204" pitchFamily="34" charset="-122"/>
              </a:rPr>
              <a:t>次</a:t>
            </a:r>
            <a:r>
              <a:rPr lang="en-US" altLang="zh-CN" dirty="0">
                <a:latin typeface="Microsoft YaHei" panose="020B0503020204020204" pitchFamily="34" charset="-122"/>
                <a:ea typeface="Microsoft YaHei" panose="020B0503020204020204" pitchFamily="34" charset="-122"/>
              </a:rPr>
              <a:t>k</a:t>
            </a:r>
            <a:r>
              <a:rPr lang="zh-CN" altLang="en-US" dirty="0">
                <a:latin typeface="Microsoft YaHei" panose="020B0503020204020204" pitchFamily="34" charset="-122"/>
                <a:ea typeface="Microsoft YaHei" panose="020B0503020204020204" pitchFamily="34" charset="-122"/>
              </a:rPr>
              <a:t>折交叉验证结果的均值，例如常见的“</a:t>
            </a:r>
            <a:r>
              <a:rPr lang="en-US" altLang="zh-CN" dirty="0">
                <a:latin typeface="Microsoft YaHei" panose="020B0503020204020204" pitchFamily="34" charset="-122"/>
                <a:ea typeface="Microsoft YaHei" panose="020B0503020204020204" pitchFamily="34" charset="-122"/>
              </a:rPr>
              <a:t>10</a:t>
            </a:r>
            <a:r>
              <a:rPr lang="zh-CN" altLang="en-US" dirty="0">
                <a:latin typeface="Microsoft YaHei" panose="020B0503020204020204" pitchFamily="34" charset="-122"/>
                <a:ea typeface="Microsoft YaHei" panose="020B0503020204020204" pitchFamily="34" charset="-122"/>
              </a:rPr>
              <a:t>次</a:t>
            </a:r>
            <a:r>
              <a:rPr lang="en-US" altLang="zh-CN" dirty="0">
                <a:latin typeface="Microsoft YaHei" panose="020B0503020204020204" pitchFamily="34" charset="-122"/>
                <a:ea typeface="Microsoft YaHei" panose="020B0503020204020204" pitchFamily="34" charset="-122"/>
              </a:rPr>
              <a:t>10</a:t>
            </a:r>
            <a:r>
              <a:rPr lang="zh-CN" altLang="en-US" dirty="0">
                <a:latin typeface="Microsoft YaHei" panose="020B0503020204020204" pitchFamily="34" charset="-122"/>
                <a:ea typeface="Microsoft YaHei" panose="020B0503020204020204" pitchFamily="34" charset="-122"/>
              </a:rPr>
              <a:t>折交叉验证”</a:t>
            </a:r>
          </a:p>
        </p:txBody>
      </p:sp>
      <p:grpSp>
        <p:nvGrpSpPr>
          <p:cNvPr id="7" name="组合 6"/>
          <p:cNvGrpSpPr/>
          <p:nvPr/>
        </p:nvGrpSpPr>
        <p:grpSpPr>
          <a:xfrm>
            <a:off x="212334" y="2968547"/>
            <a:ext cx="8616950" cy="1908253"/>
            <a:chOff x="212334" y="2968547"/>
            <a:chExt cx="8616950" cy="1908253"/>
          </a:xfrm>
        </p:grpSpPr>
        <p:sp>
          <p:nvSpPr>
            <p:cNvPr id="8" name="内容占位符 3"/>
            <p:cNvSpPr txBox="1">
              <a:spLocks/>
            </p:cNvSpPr>
            <p:nvPr/>
          </p:nvSpPr>
          <p:spPr>
            <a:xfrm>
              <a:off x="212334" y="2968547"/>
              <a:ext cx="8616950" cy="1908253"/>
            </a:xfrm>
            <a:prstGeom prst="rect">
              <a:avLst/>
            </a:prstGeom>
          </p:spPr>
          <p:txBody>
            <a:bodyPr vert="horz" lIns="91440" tIns="46800" rIns="91440" bIns="45720" rtlCol="0">
              <a:normAutofit fontScale="92500" lnSpcReduction="10000"/>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zh-CN" altLang="en-US" dirty="0">
                  <a:latin typeface="Microsoft YaHei" panose="020B0503020204020204" pitchFamily="34" charset="-122"/>
                  <a:ea typeface="Microsoft YaHei" panose="020B0503020204020204" pitchFamily="34" charset="-122"/>
                </a:rPr>
                <a:t>假设数据集</a:t>
              </a:r>
              <a:r>
                <a:rPr lang="en-US" altLang="zh-CN" dirty="0">
                  <a:latin typeface="Microsoft YaHei" panose="020B0503020204020204" pitchFamily="34" charset="-122"/>
                  <a:ea typeface="Microsoft YaHei" panose="020B0503020204020204" pitchFamily="34" charset="-122"/>
                </a:rPr>
                <a:t>D</a:t>
              </a:r>
              <a:r>
                <a:rPr lang="zh-CN" altLang="en-US" dirty="0">
                  <a:latin typeface="Microsoft YaHei" panose="020B0503020204020204" pitchFamily="34" charset="-122"/>
                  <a:ea typeface="Microsoft YaHei" panose="020B0503020204020204" pitchFamily="34" charset="-122"/>
                </a:rPr>
                <a:t>包含</a:t>
              </a:r>
              <a:r>
                <a:rPr lang="en-US" altLang="zh-CN" dirty="0">
                  <a:latin typeface="Microsoft YaHei" panose="020B0503020204020204" pitchFamily="34" charset="-122"/>
                  <a:ea typeface="Microsoft YaHei" panose="020B0503020204020204" pitchFamily="34" charset="-122"/>
                </a:rPr>
                <a:t>m</a:t>
              </a:r>
              <a:r>
                <a:rPr lang="zh-CN" altLang="en-US" dirty="0">
                  <a:latin typeface="Microsoft YaHei" panose="020B0503020204020204" pitchFamily="34" charset="-122"/>
                  <a:ea typeface="Microsoft YaHei" panose="020B0503020204020204" pitchFamily="34" charset="-122"/>
                </a:rPr>
                <a:t>个样本，若令       ，则得到留一法：</a:t>
              </a:r>
              <a:endParaRPr lang="en-US" altLang="zh-CN" dirty="0">
                <a:latin typeface="Microsoft YaHei" panose="020B0503020204020204" pitchFamily="34" charset="-122"/>
                <a:ea typeface="Microsoft YaHei" panose="020B0503020204020204" pitchFamily="34" charset="-122"/>
              </a:endParaRPr>
            </a:p>
            <a:p>
              <a:pPr lvl="1">
                <a:lnSpc>
                  <a:spcPct val="150000"/>
                </a:lnSpc>
              </a:pPr>
              <a:r>
                <a:rPr lang="zh-CN" altLang="en-US" b="1" dirty="0">
                  <a:latin typeface="Microsoft YaHei" panose="020B0503020204020204" pitchFamily="34" charset="-122"/>
                  <a:ea typeface="Microsoft YaHei" panose="020B0503020204020204" pitchFamily="34" charset="-122"/>
                </a:rPr>
                <a:t>不受随机样本划分方式</a:t>
              </a:r>
              <a:r>
                <a:rPr lang="zh-CN" altLang="en-US" dirty="0">
                  <a:latin typeface="Microsoft YaHei" panose="020B0503020204020204" pitchFamily="34" charset="-122"/>
                  <a:ea typeface="Microsoft YaHei" panose="020B0503020204020204" pitchFamily="34" charset="-122"/>
                </a:rPr>
                <a:t>的影响</a:t>
              </a:r>
              <a:endParaRPr lang="en-US" altLang="zh-CN" dirty="0">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结果往往</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比较准确</a:t>
              </a:r>
              <a:endParaRPr lang="en-US" altLang="zh-CN" b="1" dirty="0">
                <a:solidFill>
                  <a:schemeClr val="accent6">
                    <a:lumMod val="90000"/>
                    <a:lumOff val="10000"/>
                  </a:schemeClr>
                </a:solidFill>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当</a:t>
              </a:r>
              <a:r>
                <a:rPr lang="zh-CN" altLang="en-US" b="1" dirty="0">
                  <a:solidFill>
                    <a:srgbClr val="C00000"/>
                  </a:solidFill>
                  <a:latin typeface="Microsoft YaHei" panose="020B0503020204020204" pitchFamily="34" charset="-122"/>
                  <a:ea typeface="Microsoft YaHei" panose="020B0503020204020204" pitchFamily="34" charset="-122"/>
                </a:rPr>
                <a:t>数据集比较大时，计算开销难以忍受</a:t>
              </a:r>
            </a:p>
          </p:txBody>
        </p:sp>
        <p:graphicFrame>
          <p:nvGraphicFramePr>
            <p:cNvPr id="6" name="对象 5"/>
            <p:cNvGraphicFramePr>
              <a:graphicFrameLocks noChangeAspect="1"/>
            </p:cNvGraphicFramePr>
            <p:nvPr>
              <p:extLst>
                <p:ext uri="{D42A27DB-BD31-4B8C-83A1-F6EECF244321}">
                  <p14:modId xmlns:p14="http://schemas.microsoft.com/office/powerpoint/2010/main" val="278913498"/>
                </p:ext>
              </p:extLst>
            </p:nvPr>
          </p:nvGraphicFramePr>
          <p:xfrm>
            <a:off x="4009222" y="3103526"/>
            <a:ext cx="653527" cy="248239"/>
          </p:xfrm>
          <a:graphic>
            <a:graphicData uri="http://schemas.openxmlformats.org/presentationml/2006/ole">
              <mc:AlternateContent xmlns:mc="http://schemas.openxmlformats.org/markup-compatibility/2006">
                <mc:Choice xmlns:v="urn:schemas-microsoft-com:vml" Requires="v">
                  <p:oleObj name="Formula" r:id="rId2" imgW="412920" imgH="157680" progId="Equation.Ribbit">
                    <p:embed/>
                  </p:oleObj>
                </mc:Choice>
                <mc:Fallback>
                  <p:oleObj name="Formula" r:id="rId2" imgW="412920" imgH="157680" progId="Equation.Ribbit">
                    <p:embed/>
                    <p:pic>
                      <p:nvPicPr>
                        <p:cNvPr id="0" name=""/>
                        <p:cNvPicPr/>
                        <p:nvPr/>
                      </p:nvPicPr>
                      <p:blipFill>
                        <a:blip r:embed="rId3"/>
                        <a:stretch>
                          <a:fillRect/>
                        </a:stretch>
                      </p:blipFill>
                      <p:spPr>
                        <a:xfrm>
                          <a:off x="4009222" y="3103526"/>
                          <a:ext cx="653527" cy="248239"/>
                        </a:xfrm>
                        <a:prstGeom prst="rect">
                          <a:avLst/>
                        </a:prstGeom>
                      </p:spPr>
                    </p:pic>
                  </p:oleObj>
                </mc:Fallback>
              </mc:AlternateContent>
            </a:graphicData>
          </a:graphic>
        </p:graphicFrame>
      </p:grpSp>
    </p:spTree>
    <p:extLst>
      <p:ext uri="{BB962C8B-B14F-4D97-AF65-F5344CB8AC3E}">
        <p14:creationId xmlns:p14="http://schemas.microsoft.com/office/powerpoint/2010/main" val="94330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评估方法</a:t>
            </a:r>
          </a:p>
        </p:txBody>
      </p:sp>
      <p:sp>
        <p:nvSpPr>
          <p:cNvPr id="10" name="内容占位符 2"/>
          <p:cNvSpPr>
            <a:spLocks noGrp="1"/>
          </p:cNvSpPr>
          <p:nvPr>
            <p:ph idx="1"/>
          </p:nvPr>
        </p:nvSpPr>
        <p:spPr>
          <a:xfrm>
            <a:off x="809625" y="1416049"/>
            <a:ext cx="7937500" cy="4295819"/>
          </a:xfrm>
        </p:spPr>
        <p:txBody>
          <a:bodyPr>
            <a:normAutofit/>
          </a:bodyPr>
          <a:lstStyle/>
          <a:p>
            <a:r>
              <a:rPr lang="zh-CN" altLang="en-US" b="1" dirty="0">
                <a:solidFill>
                  <a:srgbClr val="023A91"/>
                </a:solidFill>
                <a:latin typeface="Microsoft YaHei" panose="020B0503020204020204" pitchFamily="34" charset="-122"/>
                <a:ea typeface="Microsoft YaHei" panose="020B0503020204020204" pitchFamily="34" charset="-122"/>
              </a:rPr>
              <a:t>自助法</a:t>
            </a:r>
            <a:r>
              <a:rPr lang="zh-CN" altLang="en-US" dirty="0">
                <a:solidFill>
                  <a:srgbClr val="023A91"/>
                </a:solidFill>
                <a:latin typeface="Microsoft YaHei" panose="020B0503020204020204" pitchFamily="34" charset="-122"/>
                <a:ea typeface="Microsoft YaHei" panose="020B0503020204020204" pitchFamily="34" charset="-122"/>
              </a:rPr>
              <a:t>：</a:t>
            </a:r>
            <a:endParaRPr lang="en-US" altLang="zh-CN" dirty="0">
              <a:solidFill>
                <a:srgbClr val="023A91"/>
              </a:solidFill>
              <a:latin typeface="Microsoft YaHei" panose="020B0503020204020204" pitchFamily="34" charset="-122"/>
              <a:ea typeface="Microsoft YaHei" panose="020B0503020204020204" pitchFamily="34" charset="-122"/>
            </a:endParaRPr>
          </a:p>
          <a:p>
            <a:pPr marL="325800" lvl="1" indent="0">
              <a:buNone/>
            </a:pPr>
            <a:r>
              <a:rPr lang="zh-CN" altLang="en-US" dirty="0">
                <a:latin typeface="Microsoft YaHei" panose="020B0503020204020204" pitchFamily="34" charset="-122"/>
                <a:ea typeface="Microsoft YaHei" panose="020B0503020204020204" pitchFamily="34" charset="-122"/>
              </a:rPr>
              <a:t>以自助采样法为基础，对数据集  有放回采样   次得到训练集</a:t>
            </a:r>
            <a:endParaRPr lang="en-US" altLang="zh-CN" dirty="0">
              <a:latin typeface="Microsoft YaHei" panose="020B0503020204020204" pitchFamily="34" charset="-122"/>
              <a:ea typeface="Microsoft YaHei" panose="020B0503020204020204" pitchFamily="34" charset="-122"/>
            </a:endParaRPr>
          </a:p>
          <a:p>
            <a:pPr marL="325800" lvl="1" indent="0">
              <a:buNone/>
            </a:pPr>
            <a:r>
              <a:rPr lang="en-US" altLang="zh-CN" dirty="0">
                <a:latin typeface="Microsoft YaHei" panose="020B0503020204020204" pitchFamily="34" charset="-122"/>
                <a:ea typeface="Microsoft YaHei" panose="020B0503020204020204" pitchFamily="34" charset="-122"/>
              </a:rPr>
              <a:t>  ,     </a:t>
            </a:r>
            <a:r>
              <a:rPr lang="zh-CN" altLang="en-US" dirty="0">
                <a:latin typeface="Microsoft YaHei" panose="020B0503020204020204" pitchFamily="34" charset="-122"/>
                <a:ea typeface="Microsoft YaHei" panose="020B0503020204020204" pitchFamily="34" charset="-122"/>
              </a:rPr>
              <a:t>     用做测试集。</a:t>
            </a:r>
            <a:endParaRPr lang="en-US" altLang="zh-CN" dirty="0">
              <a:latin typeface="Microsoft YaHei" panose="020B0503020204020204" pitchFamily="34" charset="-122"/>
              <a:ea typeface="Microsoft YaHei" panose="020B0503020204020204" pitchFamily="34" charset="-122"/>
            </a:endParaRPr>
          </a:p>
          <a:p>
            <a:pPr marL="325800" lvl="1" indent="0">
              <a:buNone/>
            </a:pPr>
            <a:endParaRPr lang="en-US" altLang="zh-CN" dirty="0">
              <a:latin typeface="Microsoft YaHei" panose="020B0503020204020204" pitchFamily="34" charset="-122"/>
              <a:ea typeface="Microsoft YaHei" panose="020B0503020204020204" pitchFamily="34" charset="-122"/>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8375" y="1854880"/>
            <a:ext cx="182849" cy="172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1395" y="1815411"/>
            <a:ext cx="324549" cy="24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5863" y="2195830"/>
            <a:ext cx="272153" cy="199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8691" y="2178759"/>
            <a:ext cx="634365" cy="21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2"/>
          <p:cNvGrpSpPr/>
          <p:nvPr/>
        </p:nvGrpSpPr>
        <p:grpSpPr>
          <a:xfrm>
            <a:off x="718950" y="2565106"/>
            <a:ext cx="7937500" cy="2565401"/>
            <a:chOff x="718950" y="2565106"/>
            <a:chExt cx="7937500" cy="2565401"/>
          </a:xfrm>
        </p:grpSpPr>
        <p:sp>
          <p:nvSpPr>
            <p:cNvPr id="9" name="内容占位符 2"/>
            <p:cNvSpPr txBox="1">
              <a:spLocks/>
            </p:cNvSpPr>
            <p:nvPr/>
          </p:nvSpPr>
          <p:spPr>
            <a:xfrm>
              <a:off x="718950" y="2565106"/>
              <a:ext cx="7937500" cy="2565401"/>
            </a:xfrm>
            <a:prstGeom prst="rect">
              <a:avLst/>
            </a:prstGeom>
          </p:spPr>
          <p:txBody>
            <a:bodyPr vert="horz" lIns="91440" tIns="46800" rIns="91440" bIns="45720" rtlCol="0">
              <a:normAutofit fontScale="92500" lnSpcReduction="20000"/>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lang="zh-CN" altLang="en-US" dirty="0">
                  <a:latin typeface="Microsoft YaHei" panose="020B0503020204020204" pitchFamily="34" charset="-122"/>
                  <a:ea typeface="Microsoft YaHei" panose="020B0503020204020204" pitchFamily="34" charset="-122"/>
                </a:rPr>
                <a:t>实际模型与预期模型都使用    个训练样本</a:t>
              </a:r>
              <a:endParaRPr lang="en-US" altLang="zh-CN" dirty="0">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约有</a:t>
              </a:r>
              <a:r>
                <a:rPr lang="en-US" altLang="zh-CN" b="1" dirty="0">
                  <a:solidFill>
                    <a:schemeClr val="accent6">
                      <a:lumMod val="90000"/>
                      <a:lumOff val="10000"/>
                    </a:schemeClr>
                  </a:solidFill>
                  <a:latin typeface="Microsoft YaHei" panose="020B0503020204020204" pitchFamily="34" charset="-122"/>
                  <a:ea typeface="Microsoft YaHei" panose="020B0503020204020204" pitchFamily="34" charset="-122"/>
                </a:rPr>
                <a:t>1/3</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的样本</a:t>
              </a:r>
              <a:r>
                <a:rPr lang="zh-CN" altLang="en-US" dirty="0">
                  <a:latin typeface="Microsoft YaHei" panose="020B0503020204020204" pitchFamily="34" charset="-122"/>
                  <a:ea typeface="Microsoft YaHei" panose="020B0503020204020204" pitchFamily="34" charset="-122"/>
                </a:rPr>
                <a:t>没在训练集中出现 </a:t>
              </a:r>
              <a:endParaRPr lang="en-US" altLang="zh-CN" dirty="0">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从初始数据集中产生</a:t>
              </a:r>
              <a:r>
                <a:rPr lang="zh-CN" altLang="en-US" b="1" dirty="0">
                  <a:latin typeface="Microsoft YaHei" panose="020B0503020204020204" pitchFamily="34" charset="-122"/>
                  <a:ea typeface="Microsoft YaHei" panose="020B0503020204020204" pitchFamily="34" charset="-122"/>
                </a:rPr>
                <a:t>多个不同的训练集</a:t>
              </a:r>
              <a:r>
                <a:rPr lang="zh-CN" altLang="en-US" dirty="0">
                  <a:latin typeface="Microsoft YaHei" panose="020B0503020204020204" pitchFamily="34" charset="-122"/>
                  <a:ea typeface="Microsoft YaHei" panose="020B0503020204020204" pitchFamily="34" charset="-122"/>
                </a:rPr>
                <a:t>，对集成学习有很大的好处</a:t>
              </a:r>
              <a:endParaRPr lang="en-US" altLang="zh-CN" dirty="0">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自助法在数据集较小、难以有效划分训练</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测试集时很有用；</a:t>
              </a:r>
              <a:r>
                <a:rPr lang="zh-CN" altLang="en-US" b="1" dirty="0">
                  <a:solidFill>
                    <a:srgbClr val="C00000"/>
                  </a:solidFill>
                  <a:latin typeface="Microsoft YaHei" panose="020B0503020204020204" pitchFamily="34" charset="-122"/>
                  <a:ea typeface="Microsoft YaHei" panose="020B0503020204020204" pitchFamily="34" charset="-122"/>
                </a:rPr>
                <a:t>由于改变了数据集分布可能引入估计偏差</a:t>
              </a:r>
              <a:r>
                <a:rPr lang="zh-CN" altLang="en-US" dirty="0">
                  <a:latin typeface="Microsoft YaHei" panose="020B0503020204020204" pitchFamily="34" charset="-122"/>
                  <a:ea typeface="Microsoft YaHei" panose="020B0503020204020204" pitchFamily="34" charset="-122"/>
                </a:rPr>
                <a:t>，在数据量足够时，留出法和交叉验证法更常用。</a:t>
              </a:r>
              <a:endParaRPr lang="en-US" altLang="zh-CN" dirty="0">
                <a:latin typeface="Microsoft YaHei" panose="020B0503020204020204" pitchFamily="34" charset="-122"/>
                <a:ea typeface="Microsoft YaHei" panose="020B0503020204020204" pitchFamily="34" charset="-122"/>
              </a:endParaRPr>
            </a:p>
          </p:txBody>
        </p: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3662" y="2631615"/>
              <a:ext cx="292475" cy="22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622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大纲</a:t>
            </a:r>
          </a:p>
        </p:txBody>
      </p:sp>
      <p:sp>
        <p:nvSpPr>
          <p:cNvPr id="3" name="内容占位符 2"/>
          <p:cNvSpPr>
            <a:spLocks noGrp="1"/>
          </p:cNvSpPr>
          <p:nvPr>
            <p:ph idx="1"/>
          </p:nvPr>
        </p:nvSpPr>
        <p:spPr>
          <a:xfrm>
            <a:off x="260350" y="1158536"/>
            <a:ext cx="8616950" cy="4950163"/>
          </a:xfrm>
        </p:spPr>
        <p:txBody>
          <a:bodyPr>
            <a:noAutofit/>
          </a:bodyPr>
          <a:lstStyle/>
          <a:p>
            <a:r>
              <a:rPr lang="zh-CN" altLang="en-US" dirty="0">
                <a:solidFill>
                  <a:schemeClr val="bg1">
                    <a:lumMod val="85000"/>
                  </a:schemeClr>
                </a:solidFill>
                <a:latin typeface="Microsoft YaHei" panose="020B0503020204020204" pitchFamily="34" charset="-122"/>
                <a:ea typeface="Microsoft YaHei" panose="020B0503020204020204" pitchFamily="34" charset="-122"/>
              </a:rPr>
              <a:t>经验误差与过拟合</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评估方法</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latin typeface="Microsoft YaHei" panose="020B0503020204020204" pitchFamily="34" charset="-122"/>
                <a:ea typeface="Microsoft YaHei" panose="020B0503020204020204" pitchFamily="34" charset="-122"/>
              </a:rPr>
              <a:t>性能度量</a:t>
            </a:r>
            <a:endParaRPr lang="en-US" altLang="zh-CN" dirty="0">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比较检验</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偏差与方差</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阅读材料</a:t>
            </a:r>
          </a:p>
        </p:txBody>
      </p:sp>
    </p:spTree>
    <p:extLst>
      <p:ext uri="{BB962C8B-B14F-4D97-AF65-F5344CB8AC3E}">
        <p14:creationId xmlns:p14="http://schemas.microsoft.com/office/powerpoint/2010/main" val="417265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00000"/>
                </a:solidFill>
                <a:latin typeface="Microsoft YaHei" panose="020B0503020204020204" pitchFamily="34" charset="-122"/>
                <a:ea typeface="Microsoft YaHei" panose="020B0503020204020204" pitchFamily="34" charset="-122"/>
              </a:rPr>
              <a:t>性能度量</a:t>
            </a:r>
            <a:r>
              <a:rPr lang="en-US" altLang="zh-CN" dirty="0">
                <a:solidFill>
                  <a:srgbClr val="C00000"/>
                </a:solidFill>
                <a:latin typeface="Microsoft YaHei" panose="020B0503020204020204" pitchFamily="34" charset="-122"/>
                <a:ea typeface="Microsoft YaHei" panose="020B0503020204020204" pitchFamily="34" charset="-122"/>
              </a:rPr>
              <a:t>?</a:t>
            </a:r>
            <a:endParaRPr lang="zh-CN" altLang="en-US" dirty="0">
              <a:solidFill>
                <a:srgbClr val="C00000"/>
              </a:solidFill>
              <a:latin typeface="Microsoft YaHei" panose="020B0503020204020204" pitchFamily="34" charset="-122"/>
              <a:ea typeface="Microsoft YaHei" panose="020B0503020204020204" pitchFamily="34" charset="-122"/>
            </a:endParaRPr>
          </a:p>
        </p:txBody>
      </p:sp>
      <p:sp>
        <p:nvSpPr>
          <p:cNvPr id="13" name="内容占位符 2"/>
          <p:cNvSpPr txBox="1">
            <a:spLocks/>
          </p:cNvSpPr>
          <p:nvPr/>
        </p:nvSpPr>
        <p:spPr>
          <a:xfrm>
            <a:off x="766993" y="1486947"/>
            <a:ext cx="6973210" cy="738236"/>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dirty="0">
                <a:latin typeface="Microsoft YaHei" panose="020B0503020204020204" pitchFamily="34" charset="-122"/>
                <a:ea typeface="Microsoft YaHei" panose="020B0503020204020204" pitchFamily="34" charset="-122"/>
              </a:rPr>
              <a:t>性能度量是</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衡量模型泛化能力的评价标准</a:t>
            </a:r>
            <a:r>
              <a:rPr lang="zh-CN" altLang="en-US" dirty="0">
                <a:latin typeface="Microsoft YaHei" panose="020B0503020204020204" pitchFamily="34" charset="-122"/>
                <a:ea typeface="Microsoft YaHei" panose="020B0503020204020204" pitchFamily="34" charset="-122"/>
              </a:rPr>
              <a:t>，反映了任务需求；使用</a:t>
            </a:r>
            <a:r>
              <a:rPr lang="zh-CN" altLang="en-US" b="1" dirty="0">
                <a:solidFill>
                  <a:srgbClr val="C00000"/>
                </a:solidFill>
                <a:latin typeface="Microsoft YaHei" panose="020B0503020204020204" pitchFamily="34" charset="-122"/>
                <a:ea typeface="Microsoft YaHei" panose="020B0503020204020204" pitchFamily="34" charset="-122"/>
              </a:rPr>
              <a:t>不同的性能度量往往会导致不同的评判结果</a:t>
            </a:r>
          </a:p>
        </p:txBody>
      </p:sp>
      <p:grpSp>
        <p:nvGrpSpPr>
          <p:cNvPr id="4" name="组合 3"/>
          <p:cNvGrpSpPr/>
          <p:nvPr/>
        </p:nvGrpSpPr>
        <p:grpSpPr>
          <a:xfrm>
            <a:off x="733320" y="2607320"/>
            <a:ext cx="7127980" cy="738236"/>
            <a:chOff x="682520" y="2607320"/>
            <a:chExt cx="7127980" cy="738236"/>
          </a:xfrm>
        </p:grpSpPr>
        <p:sp>
          <p:nvSpPr>
            <p:cNvPr id="18" name="内容占位符 2"/>
            <p:cNvSpPr txBox="1">
              <a:spLocks/>
            </p:cNvSpPr>
            <p:nvPr/>
          </p:nvSpPr>
          <p:spPr>
            <a:xfrm>
              <a:off x="682520" y="2607320"/>
              <a:ext cx="7127980" cy="738236"/>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dirty="0">
                  <a:latin typeface="Microsoft YaHei" panose="020B0503020204020204" pitchFamily="34" charset="-122"/>
                  <a:ea typeface="Microsoft YaHei" panose="020B0503020204020204" pitchFamily="34" charset="-122"/>
                </a:rPr>
                <a:t>在预测任务中，给定样例集</a:t>
              </a:r>
              <a:endParaRPr lang="en-US" altLang="zh-CN" dirty="0">
                <a:latin typeface="Microsoft YaHei" panose="020B0503020204020204" pitchFamily="34" charset="-122"/>
                <a:ea typeface="Microsoft YaHei" panose="020B0503020204020204" pitchFamily="34" charset="-122"/>
              </a:endParaRPr>
            </a:p>
            <a:p>
              <a:pPr marL="457200" lvl="1" indent="0">
                <a:buNone/>
              </a:pPr>
              <a:r>
                <a:rPr lang="zh-CN" altLang="en-US" dirty="0">
                  <a:latin typeface="Microsoft YaHei" panose="020B0503020204020204" pitchFamily="34" charset="-122"/>
                  <a:ea typeface="Microsoft YaHei" panose="020B0503020204020204" pitchFamily="34" charset="-122"/>
                </a:rPr>
                <a:t>评估学习器的性能   也即把预测结果     和真实标记比较</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  </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2028" y="2687935"/>
              <a:ext cx="3136997" cy="23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9463" y="3019427"/>
              <a:ext cx="181313" cy="247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7012" y="3000108"/>
              <a:ext cx="428625" cy="224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 name="组合 2"/>
          <p:cNvGrpSpPr/>
          <p:nvPr/>
        </p:nvGrpSpPr>
        <p:grpSpPr>
          <a:xfrm>
            <a:off x="733320" y="3791473"/>
            <a:ext cx="6973210" cy="1184152"/>
            <a:chOff x="733320" y="3791473"/>
            <a:chExt cx="6973210" cy="1184152"/>
          </a:xfrm>
        </p:grpSpPr>
        <p:sp>
          <p:nvSpPr>
            <p:cNvPr id="19" name="内容占位符 2"/>
            <p:cNvSpPr txBox="1">
              <a:spLocks/>
            </p:cNvSpPr>
            <p:nvPr/>
          </p:nvSpPr>
          <p:spPr>
            <a:xfrm>
              <a:off x="733320" y="3791473"/>
              <a:ext cx="6973210" cy="738236"/>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b="1" dirty="0">
                  <a:latin typeface="Microsoft YaHei" panose="020B0503020204020204" pitchFamily="34" charset="-122"/>
                  <a:ea typeface="Microsoft YaHei" panose="020B0503020204020204" pitchFamily="34" charset="-122"/>
                </a:rPr>
                <a:t>回归任务</a:t>
              </a:r>
              <a:r>
                <a:rPr lang="zh-CN" altLang="en-US" dirty="0">
                  <a:latin typeface="Microsoft YaHei" panose="020B0503020204020204" pitchFamily="34" charset="-122"/>
                  <a:ea typeface="Microsoft YaHei" panose="020B0503020204020204" pitchFamily="34" charset="-122"/>
                </a:rPr>
                <a:t>最常用的性能度量是</a:t>
              </a:r>
              <a:r>
                <a:rPr lang="zh-CN" altLang="en-US" b="1" dirty="0">
                  <a:latin typeface="Microsoft YaHei" panose="020B0503020204020204" pitchFamily="34" charset="-122"/>
                  <a:ea typeface="Microsoft YaHei" panose="020B0503020204020204" pitchFamily="34" charset="-122"/>
                </a:rPr>
                <a:t>“均方误差”</a:t>
              </a:r>
              <a:r>
                <a:rPr lang="zh-CN" altLang="en-US" dirty="0">
                  <a:latin typeface="Microsoft YaHei" panose="020B0503020204020204" pitchFamily="34" charset="-122"/>
                  <a:ea typeface="Microsoft YaHei" panose="020B0503020204020204" pitchFamily="34" charset="-122"/>
                </a:rPr>
                <a:t>：</a:t>
              </a:r>
            </a:p>
          </p:txBody>
        </p:sp>
        <p:pic>
          <p:nvPicPr>
            <p:cNvPr id="1331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988" y="4151088"/>
              <a:ext cx="3735338" cy="82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54661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性能度量</a:t>
            </a:r>
          </a:p>
        </p:txBody>
      </p:sp>
      <p:sp>
        <p:nvSpPr>
          <p:cNvPr id="13" name="内容占位符 2"/>
          <p:cNvSpPr txBox="1">
            <a:spLocks/>
          </p:cNvSpPr>
          <p:nvPr/>
        </p:nvSpPr>
        <p:spPr>
          <a:xfrm>
            <a:off x="766993" y="1267453"/>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dirty="0">
                <a:latin typeface="Microsoft YaHei" panose="020B0503020204020204" pitchFamily="34" charset="-122"/>
                <a:ea typeface="Microsoft YaHei" panose="020B0503020204020204" pitchFamily="34" charset="-122"/>
              </a:rPr>
              <a:t>对于分类任务</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错误率和精度是最常用的两种性能度量：</a:t>
            </a:r>
            <a:endParaRPr lang="en-US" altLang="zh-CN" dirty="0">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错误率：</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分错样本</a:t>
            </a:r>
            <a:r>
              <a:rPr lang="zh-CN" altLang="en-US" dirty="0">
                <a:latin typeface="Microsoft YaHei" panose="020B0503020204020204" pitchFamily="34" charset="-122"/>
                <a:ea typeface="Microsoft YaHei" panose="020B0503020204020204" pitchFamily="34" charset="-122"/>
              </a:rPr>
              <a:t>占样本总数的比例</a:t>
            </a:r>
            <a:endParaRPr lang="en-US" altLang="zh-CN" dirty="0">
              <a:latin typeface="Microsoft YaHei" panose="020B0503020204020204" pitchFamily="34" charset="-122"/>
              <a:ea typeface="Microsoft YaHei" panose="020B0503020204020204" pitchFamily="34" charset="-122"/>
            </a:endParaRPr>
          </a:p>
          <a:p>
            <a:pPr lvl="1">
              <a:lnSpc>
                <a:spcPct val="150000"/>
              </a:lnSpc>
            </a:pPr>
            <a:r>
              <a:rPr lang="zh-CN" altLang="en-US" dirty="0">
                <a:latin typeface="Microsoft YaHei" panose="020B0503020204020204" pitchFamily="34" charset="-122"/>
                <a:ea typeface="Microsoft YaHei" panose="020B0503020204020204" pitchFamily="34" charset="-122"/>
              </a:rPr>
              <a:t>精度：</a:t>
            </a:r>
            <a:r>
              <a:rPr lang="zh-CN" altLang="en-US" b="1" dirty="0">
                <a:solidFill>
                  <a:schemeClr val="accent6">
                    <a:lumMod val="90000"/>
                    <a:lumOff val="10000"/>
                  </a:schemeClr>
                </a:solidFill>
                <a:latin typeface="Microsoft YaHei" panose="020B0503020204020204" pitchFamily="34" charset="-122"/>
                <a:ea typeface="Microsoft YaHei" panose="020B0503020204020204" pitchFamily="34" charset="-122"/>
              </a:rPr>
              <a:t>分对样本</a:t>
            </a:r>
            <a:r>
              <a:rPr lang="zh-CN" altLang="en-US" dirty="0">
                <a:latin typeface="Microsoft YaHei" panose="020B0503020204020204" pitchFamily="34" charset="-122"/>
                <a:ea typeface="Microsoft YaHei" panose="020B0503020204020204" pitchFamily="34" charset="-122"/>
              </a:rPr>
              <a:t>占样本总数的比例</a:t>
            </a:r>
            <a:endParaRPr lang="en-US" altLang="zh-CN" dirty="0">
              <a:latin typeface="Microsoft YaHei" panose="020B0503020204020204" pitchFamily="34" charset="-122"/>
              <a:ea typeface="Microsoft YaHei" panose="020B0503020204020204" pitchFamily="34" charset="-122"/>
            </a:endParaRPr>
          </a:p>
          <a:p>
            <a:pPr marL="457200" lvl="1" indent="0">
              <a:buNone/>
            </a:pPr>
            <a:endParaRPr lang="zh-CN" altLang="en-US" dirty="0">
              <a:latin typeface="Microsoft YaHei" panose="020B0503020204020204" pitchFamily="34" charset="-122"/>
              <a:ea typeface="Microsoft YaHei" panose="020B0503020204020204" pitchFamily="34" charset="-122"/>
            </a:endParaRPr>
          </a:p>
        </p:txBody>
      </p:sp>
      <p:pic>
        <p:nvPicPr>
          <p:cNvPr id="13319"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4937" y="3827845"/>
            <a:ext cx="2722563" cy="649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0"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4850" y="3815146"/>
            <a:ext cx="3524250" cy="1062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947068" y="3327400"/>
            <a:ext cx="1638300" cy="381000"/>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分类错误率</a:t>
            </a:r>
          </a:p>
        </p:txBody>
      </p:sp>
      <p:sp>
        <p:nvSpPr>
          <p:cNvPr id="28" name="TextBox 27"/>
          <p:cNvSpPr txBox="1"/>
          <p:nvPr/>
        </p:nvSpPr>
        <p:spPr>
          <a:xfrm>
            <a:off x="5744368" y="3340100"/>
            <a:ext cx="1638300" cy="381000"/>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精度</a:t>
            </a:r>
          </a:p>
        </p:txBody>
      </p:sp>
    </p:spTree>
    <p:extLst>
      <p:ext uri="{BB962C8B-B14F-4D97-AF65-F5344CB8AC3E}">
        <p14:creationId xmlns:p14="http://schemas.microsoft.com/office/powerpoint/2010/main" val="423916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fade">
                                      <p:cBhvr>
                                        <p:cTn id="7" dur="1000"/>
                                        <p:tgtEl>
                                          <p:spTgt spid="13319"/>
                                        </p:tgtEl>
                                      </p:cBhvr>
                                    </p:animEffect>
                                    <p:anim calcmode="lin" valueType="num">
                                      <p:cBhvr>
                                        <p:cTn id="8" dur="1000" fill="hold"/>
                                        <p:tgtEl>
                                          <p:spTgt spid="13319"/>
                                        </p:tgtEl>
                                        <p:attrNameLst>
                                          <p:attrName>ppt_x</p:attrName>
                                        </p:attrNameLst>
                                      </p:cBhvr>
                                      <p:tavLst>
                                        <p:tav tm="0">
                                          <p:val>
                                            <p:strVal val="#ppt_x"/>
                                          </p:val>
                                        </p:tav>
                                        <p:tav tm="100000">
                                          <p:val>
                                            <p:strVal val="#ppt_x"/>
                                          </p:val>
                                        </p:tav>
                                      </p:tavLst>
                                    </p:anim>
                                    <p:anim calcmode="lin" valueType="num">
                                      <p:cBhvr>
                                        <p:cTn id="9" dur="1000" fill="hold"/>
                                        <p:tgtEl>
                                          <p:spTgt spid="133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320"/>
                                        </p:tgtEl>
                                        <p:attrNameLst>
                                          <p:attrName>style.visibility</p:attrName>
                                        </p:attrNameLst>
                                      </p:cBhvr>
                                      <p:to>
                                        <p:strVal val="visible"/>
                                      </p:to>
                                    </p:set>
                                    <p:animEffect transition="in" filter="fade">
                                      <p:cBhvr>
                                        <p:cTn id="19" dur="1000"/>
                                        <p:tgtEl>
                                          <p:spTgt spid="13320"/>
                                        </p:tgtEl>
                                      </p:cBhvr>
                                    </p:animEffect>
                                    <p:anim calcmode="lin" valueType="num">
                                      <p:cBhvr>
                                        <p:cTn id="20" dur="1000" fill="hold"/>
                                        <p:tgtEl>
                                          <p:spTgt spid="13320"/>
                                        </p:tgtEl>
                                        <p:attrNameLst>
                                          <p:attrName>ppt_x</p:attrName>
                                        </p:attrNameLst>
                                      </p:cBhvr>
                                      <p:tavLst>
                                        <p:tav tm="0">
                                          <p:val>
                                            <p:strVal val="#ppt_x"/>
                                          </p:val>
                                        </p:tav>
                                        <p:tav tm="100000">
                                          <p:val>
                                            <p:strVal val="#ppt_x"/>
                                          </p:val>
                                        </p:tav>
                                      </p:tavLst>
                                    </p:anim>
                                    <p:anim calcmode="lin" valueType="num">
                                      <p:cBhvr>
                                        <p:cTn id="21" dur="1000" fill="hold"/>
                                        <p:tgtEl>
                                          <p:spTgt spid="1332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anim calcmode="lin" valueType="num">
                                      <p:cBhvr>
                                        <p:cTn id="25" dur="1000" fill="hold"/>
                                        <p:tgtEl>
                                          <p:spTgt spid="28"/>
                                        </p:tgtEl>
                                        <p:attrNameLst>
                                          <p:attrName>ppt_x</p:attrName>
                                        </p:attrNameLst>
                                      </p:cBhvr>
                                      <p:tavLst>
                                        <p:tav tm="0">
                                          <p:val>
                                            <p:strVal val="#ppt_x"/>
                                          </p:val>
                                        </p:tav>
                                        <p:tav tm="100000">
                                          <p:val>
                                            <p:strVal val="#ppt_x"/>
                                          </p:val>
                                        </p:tav>
                                      </p:tavLst>
                                    </p:anim>
                                    <p:anim calcmode="lin" valueType="num">
                                      <p:cBhvr>
                                        <p:cTn id="2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性能度量</a:t>
            </a:r>
          </a:p>
        </p:txBody>
      </p:sp>
      <p:sp>
        <p:nvSpPr>
          <p:cNvPr id="13" name="内容占位符 2"/>
          <p:cNvSpPr txBox="1">
            <a:spLocks/>
          </p:cNvSpPr>
          <p:nvPr/>
        </p:nvSpPr>
        <p:spPr>
          <a:xfrm>
            <a:off x="766993" y="1486947"/>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0"/>
              </a:spcBef>
              <a:buNone/>
            </a:pPr>
            <a:r>
              <a:rPr lang="zh-CN" altLang="en-US" b="1" dirty="0">
                <a:latin typeface="Microsoft YaHei" panose="020B0503020204020204" pitchFamily="34" charset="-122"/>
                <a:ea typeface="Microsoft YaHei" panose="020B0503020204020204" pitchFamily="34" charset="-122"/>
              </a:rPr>
              <a:t>信息检索、</a:t>
            </a:r>
            <a:r>
              <a:rPr lang="en-US" altLang="zh-CN" b="1" dirty="0">
                <a:latin typeface="Microsoft YaHei" panose="020B0503020204020204" pitchFamily="34" charset="-122"/>
                <a:ea typeface="Microsoft YaHei" panose="020B0503020204020204" pitchFamily="34" charset="-122"/>
              </a:rPr>
              <a:t>Web</a:t>
            </a:r>
            <a:r>
              <a:rPr lang="zh-CN" altLang="en-US" b="1" dirty="0">
                <a:latin typeface="Microsoft YaHei" panose="020B0503020204020204" pitchFamily="34" charset="-122"/>
                <a:ea typeface="Microsoft YaHei" panose="020B0503020204020204" pitchFamily="34" charset="-122"/>
              </a:rPr>
              <a:t>搜索</a:t>
            </a:r>
            <a:r>
              <a:rPr lang="zh-CN" altLang="en-US" dirty="0">
                <a:latin typeface="Microsoft YaHei" panose="020B0503020204020204" pitchFamily="34" charset="-122"/>
                <a:ea typeface="Microsoft YaHei" panose="020B0503020204020204" pitchFamily="34" charset="-122"/>
              </a:rPr>
              <a:t>等场景中经常需要衡量</a:t>
            </a:r>
            <a:r>
              <a:rPr lang="zh-CN" altLang="en-US" b="1" dirty="0">
                <a:solidFill>
                  <a:srgbClr val="2361AD"/>
                </a:solidFill>
                <a:latin typeface="Microsoft YaHei" panose="020B0503020204020204" pitchFamily="34" charset="-122"/>
                <a:ea typeface="Microsoft YaHei" panose="020B0503020204020204" pitchFamily="34" charset="-122"/>
              </a:rPr>
              <a:t>正例被预测出来的比率</a:t>
            </a:r>
            <a:r>
              <a:rPr lang="zh-CN" altLang="en-US" dirty="0">
                <a:latin typeface="Microsoft YaHei" panose="020B0503020204020204" pitchFamily="34" charset="-122"/>
                <a:ea typeface="Microsoft YaHei" panose="020B0503020204020204" pitchFamily="34" charset="-122"/>
              </a:rPr>
              <a:t>或者</a:t>
            </a:r>
            <a:r>
              <a:rPr lang="zh-CN" altLang="en-US" b="1" dirty="0">
                <a:solidFill>
                  <a:srgbClr val="2361AD"/>
                </a:solidFill>
                <a:latin typeface="Microsoft YaHei" panose="020B0503020204020204" pitchFamily="34" charset="-122"/>
                <a:ea typeface="Microsoft YaHei" panose="020B0503020204020204" pitchFamily="34" charset="-122"/>
              </a:rPr>
              <a:t>预测出来的正例中正确</a:t>
            </a:r>
            <a:r>
              <a:rPr lang="zh-CN" altLang="en-US" dirty="0">
                <a:latin typeface="Microsoft YaHei" panose="020B0503020204020204" pitchFamily="34" charset="-122"/>
                <a:ea typeface="Microsoft YaHei" panose="020B0503020204020204" pitchFamily="34" charset="-122"/>
              </a:rPr>
              <a:t>的比例，此时查准率和查全率比错误率和精度更适合</a:t>
            </a:r>
          </a:p>
        </p:txBody>
      </p:sp>
      <p:sp>
        <p:nvSpPr>
          <p:cNvPr id="8" name="内容占位符 2"/>
          <p:cNvSpPr txBox="1">
            <a:spLocks/>
          </p:cNvSpPr>
          <p:nvPr/>
        </p:nvSpPr>
        <p:spPr>
          <a:xfrm>
            <a:off x="766993" y="2909347"/>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dirty="0">
                <a:latin typeface="Microsoft YaHei" panose="020B0503020204020204" pitchFamily="34" charset="-122"/>
                <a:ea typeface="Microsoft YaHei" panose="020B0503020204020204" pitchFamily="34" charset="-122"/>
              </a:rPr>
              <a:t>统计真实标记和预测结果的组合可以得到“混淆矩阵”</a:t>
            </a:r>
          </a:p>
        </p:txBody>
      </p:sp>
      <p:pic>
        <p:nvPicPr>
          <p:cNvPr id="1434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8637" y="3594904"/>
            <a:ext cx="3975664" cy="142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5461000" y="3936643"/>
            <a:ext cx="942975" cy="369332"/>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查准率</a:t>
            </a:r>
          </a:p>
        </p:txBody>
      </p:sp>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975" y="3879353"/>
            <a:ext cx="12319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5486400" y="4571643"/>
            <a:ext cx="942975" cy="369332"/>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查全率</a:t>
            </a:r>
          </a:p>
        </p:txBody>
      </p:sp>
      <p:pic>
        <p:nvPicPr>
          <p:cNvPr id="14342"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44348" y="4563145"/>
            <a:ext cx="1204227" cy="429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627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fade">
                                      <p:cBhvr>
                                        <p:cTn id="12" dur="1000"/>
                                        <p:tgtEl>
                                          <p:spTgt spid="14340"/>
                                        </p:tgtEl>
                                      </p:cBhvr>
                                    </p:animEffect>
                                    <p:anim calcmode="lin" valueType="num">
                                      <p:cBhvr>
                                        <p:cTn id="13" dur="1000" fill="hold"/>
                                        <p:tgtEl>
                                          <p:spTgt spid="14340"/>
                                        </p:tgtEl>
                                        <p:attrNameLst>
                                          <p:attrName>ppt_x</p:attrName>
                                        </p:attrNameLst>
                                      </p:cBhvr>
                                      <p:tavLst>
                                        <p:tav tm="0">
                                          <p:val>
                                            <p:strVal val="#ppt_x"/>
                                          </p:val>
                                        </p:tav>
                                        <p:tav tm="100000">
                                          <p:val>
                                            <p:strVal val="#ppt_x"/>
                                          </p:val>
                                        </p:tav>
                                      </p:tavLst>
                                    </p:anim>
                                    <p:anim calcmode="lin" valueType="num">
                                      <p:cBhvr>
                                        <p:cTn id="14" dur="1000" fill="hold"/>
                                        <p:tgtEl>
                                          <p:spTgt spid="1434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341"/>
                                        </p:tgtEl>
                                        <p:attrNameLst>
                                          <p:attrName>style.visibility</p:attrName>
                                        </p:attrNameLst>
                                      </p:cBhvr>
                                      <p:to>
                                        <p:strVal val="visible"/>
                                      </p:to>
                                    </p:set>
                                    <p:animEffect transition="in" filter="fade">
                                      <p:cBhvr>
                                        <p:cTn id="22" dur="1000"/>
                                        <p:tgtEl>
                                          <p:spTgt spid="14341"/>
                                        </p:tgtEl>
                                      </p:cBhvr>
                                    </p:animEffect>
                                    <p:anim calcmode="lin" valueType="num">
                                      <p:cBhvr>
                                        <p:cTn id="23" dur="1000" fill="hold"/>
                                        <p:tgtEl>
                                          <p:spTgt spid="14341"/>
                                        </p:tgtEl>
                                        <p:attrNameLst>
                                          <p:attrName>ppt_x</p:attrName>
                                        </p:attrNameLst>
                                      </p:cBhvr>
                                      <p:tavLst>
                                        <p:tav tm="0">
                                          <p:val>
                                            <p:strVal val="#ppt_x"/>
                                          </p:val>
                                        </p:tav>
                                        <p:tav tm="100000">
                                          <p:val>
                                            <p:strVal val="#ppt_x"/>
                                          </p:val>
                                        </p:tav>
                                      </p:tavLst>
                                    </p:anim>
                                    <p:anim calcmode="lin" valueType="num">
                                      <p:cBhvr>
                                        <p:cTn id="24" dur="1000" fill="hold"/>
                                        <p:tgtEl>
                                          <p:spTgt spid="1434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4342"/>
                                        </p:tgtEl>
                                        <p:attrNameLst>
                                          <p:attrName>style.visibility</p:attrName>
                                        </p:attrNameLst>
                                      </p:cBhvr>
                                      <p:to>
                                        <p:strVal val="visible"/>
                                      </p:to>
                                    </p:set>
                                    <p:animEffect transition="in" filter="fade">
                                      <p:cBhvr>
                                        <p:cTn id="32" dur="1000"/>
                                        <p:tgtEl>
                                          <p:spTgt spid="14342"/>
                                        </p:tgtEl>
                                      </p:cBhvr>
                                    </p:animEffect>
                                    <p:anim calcmode="lin" valueType="num">
                                      <p:cBhvr>
                                        <p:cTn id="33" dur="1000" fill="hold"/>
                                        <p:tgtEl>
                                          <p:spTgt spid="14342"/>
                                        </p:tgtEl>
                                        <p:attrNameLst>
                                          <p:attrName>ppt_x</p:attrName>
                                        </p:attrNameLst>
                                      </p:cBhvr>
                                      <p:tavLst>
                                        <p:tav tm="0">
                                          <p:val>
                                            <p:strVal val="#ppt_x"/>
                                          </p:val>
                                        </p:tav>
                                        <p:tav tm="100000">
                                          <p:val>
                                            <p:strVal val="#ppt_x"/>
                                          </p:val>
                                        </p:tav>
                                      </p:tavLst>
                                    </p:anim>
                                    <p:anim calcmode="lin" valueType="num">
                                      <p:cBhvr>
                                        <p:cTn id="34" dur="1000" fill="hold"/>
                                        <p:tgtEl>
                                          <p:spTgt spid="143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性能度量</a:t>
            </a:r>
          </a:p>
        </p:txBody>
      </p:sp>
      <p:sp>
        <p:nvSpPr>
          <p:cNvPr id="13" name="内容占位符 2"/>
          <p:cNvSpPr txBox="1">
            <a:spLocks/>
          </p:cNvSpPr>
          <p:nvPr/>
        </p:nvSpPr>
        <p:spPr>
          <a:xfrm>
            <a:off x="766993" y="1486947"/>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0"/>
              </a:spcBef>
              <a:buNone/>
            </a:pPr>
            <a:r>
              <a:rPr lang="zh-CN" altLang="en-US" b="1" dirty="0">
                <a:latin typeface="Microsoft YaHei" panose="020B0503020204020204" pitchFamily="34" charset="-122"/>
                <a:ea typeface="Microsoft YaHei" panose="020B0503020204020204" pitchFamily="34" charset="-122"/>
              </a:rPr>
              <a:t>信息检索、</a:t>
            </a:r>
            <a:r>
              <a:rPr lang="en-US" altLang="zh-CN" b="1" dirty="0">
                <a:latin typeface="Microsoft YaHei" panose="020B0503020204020204" pitchFamily="34" charset="-122"/>
                <a:ea typeface="Microsoft YaHei" panose="020B0503020204020204" pitchFamily="34" charset="-122"/>
              </a:rPr>
              <a:t>Web</a:t>
            </a:r>
            <a:r>
              <a:rPr lang="zh-CN" altLang="en-US" b="1" dirty="0">
                <a:latin typeface="Microsoft YaHei" panose="020B0503020204020204" pitchFamily="34" charset="-122"/>
                <a:ea typeface="Microsoft YaHei" panose="020B0503020204020204" pitchFamily="34" charset="-122"/>
              </a:rPr>
              <a:t>搜索</a:t>
            </a:r>
            <a:r>
              <a:rPr lang="zh-CN" altLang="en-US" dirty="0">
                <a:latin typeface="Microsoft YaHei" panose="020B0503020204020204" pitchFamily="34" charset="-122"/>
                <a:ea typeface="Microsoft YaHei" panose="020B0503020204020204" pitchFamily="34" charset="-122"/>
              </a:rPr>
              <a:t>等场景中经常需要衡量</a:t>
            </a:r>
            <a:r>
              <a:rPr lang="zh-CN" altLang="en-US" b="1" dirty="0">
                <a:solidFill>
                  <a:srgbClr val="2361AD"/>
                </a:solidFill>
                <a:latin typeface="Microsoft YaHei" panose="020B0503020204020204" pitchFamily="34" charset="-122"/>
                <a:ea typeface="Microsoft YaHei" panose="020B0503020204020204" pitchFamily="34" charset="-122"/>
              </a:rPr>
              <a:t>正例被预测出来的比率</a:t>
            </a:r>
            <a:r>
              <a:rPr lang="zh-CN" altLang="en-US" dirty="0">
                <a:latin typeface="Microsoft YaHei" panose="020B0503020204020204" pitchFamily="34" charset="-122"/>
                <a:ea typeface="Microsoft YaHei" panose="020B0503020204020204" pitchFamily="34" charset="-122"/>
              </a:rPr>
              <a:t>或者</a:t>
            </a:r>
            <a:r>
              <a:rPr lang="zh-CN" altLang="en-US" b="1" dirty="0">
                <a:solidFill>
                  <a:srgbClr val="2361AD"/>
                </a:solidFill>
                <a:latin typeface="Microsoft YaHei" panose="020B0503020204020204" pitchFamily="34" charset="-122"/>
                <a:ea typeface="Microsoft YaHei" panose="020B0503020204020204" pitchFamily="34" charset="-122"/>
              </a:rPr>
              <a:t>预测出来的正例中正确</a:t>
            </a:r>
            <a:r>
              <a:rPr lang="zh-CN" altLang="en-US" dirty="0">
                <a:latin typeface="Microsoft YaHei" panose="020B0503020204020204" pitchFamily="34" charset="-122"/>
                <a:ea typeface="Microsoft YaHei" panose="020B0503020204020204" pitchFamily="34" charset="-122"/>
              </a:rPr>
              <a:t>的比例，此时查准率和查全率比错误率和精度更适合</a:t>
            </a:r>
            <a:endParaRPr lang="en-US" altLang="zh-CN" dirty="0">
              <a:latin typeface="Microsoft YaHei" panose="020B0503020204020204" pitchFamily="34" charset="-122"/>
              <a:ea typeface="Microsoft YaHei" panose="020B0503020204020204" pitchFamily="34" charset="-122"/>
            </a:endParaRPr>
          </a:p>
          <a:p>
            <a:pPr marL="457200" lvl="1" indent="0">
              <a:lnSpc>
                <a:spcPct val="120000"/>
              </a:lnSpc>
              <a:spcBef>
                <a:spcPts val="0"/>
              </a:spcBef>
              <a:buNone/>
            </a:pPr>
            <a:r>
              <a:rPr lang="zh-CN" altLang="en-US" b="1" dirty="0">
                <a:solidFill>
                  <a:srgbClr val="C00000"/>
                </a:solidFill>
                <a:latin typeface="Microsoft YaHei" panose="020B0503020204020204" pitchFamily="34" charset="-122"/>
                <a:ea typeface="Microsoft YaHei" panose="020B0503020204020204" pitchFamily="34" charset="-122"/>
              </a:rPr>
              <a:t>举例、支付宝搜索、猎头</a:t>
            </a:r>
            <a:endParaRPr lang="en-US" altLang="zh-CN" b="1" dirty="0">
              <a:solidFill>
                <a:srgbClr val="C00000"/>
              </a:solidFill>
              <a:latin typeface="Microsoft YaHei" panose="020B0503020204020204" pitchFamily="34" charset="-122"/>
              <a:ea typeface="Microsoft YaHei" panose="020B0503020204020204" pitchFamily="34" charset="-122"/>
            </a:endParaRPr>
          </a:p>
          <a:p>
            <a:pPr marL="457200" lvl="1" indent="0">
              <a:lnSpc>
                <a:spcPct val="120000"/>
              </a:lnSpc>
              <a:spcBef>
                <a:spcPts val="0"/>
              </a:spcBef>
              <a:buNone/>
            </a:pPr>
            <a:endParaRPr lang="en-US" altLang="zh-CN" dirty="0">
              <a:latin typeface="Microsoft YaHei" panose="020B0503020204020204" pitchFamily="34" charset="-122"/>
              <a:ea typeface="Microsoft YaHei" panose="020B0503020204020204" pitchFamily="34" charset="-122"/>
            </a:endParaRPr>
          </a:p>
          <a:p>
            <a:pPr marL="457200" lvl="1" indent="0">
              <a:lnSpc>
                <a:spcPct val="120000"/>
              </a:lnSpc>
              <a:spcBef>
                <a:spcPts val="0"/>
              </a:spcBef>
              <a:buNone/>
            </a:pPr>
            <a:endParaRPr lang="zh-CN" altLang="en-US" dirty="0">
              <a:latin typeface="Microsoft YaHei" panose="020B0503020204020204" pitchFamily="34" charset="-122"/>
              <a:ea typeface="Microsoft YaHei" panose="020B0503020204020204" pitchFamily="34" charset="-122"/>
            </a:endParaRPr>
          </a:p>
        </p:txBody>
      </p:sp>
      <p:sp>
        <p:nvSpPr>
          <p:cNvPr id="8" name="内容占位符 2"/>
          <p:cNvSpPr txBox="1">
            <a:spLocks/>
          </p:cNvSpPr>
          <p:nvPr/>
        </p:nvSpPr>
        <p:spPr>
          <a:xfrm>
            <a:off x="766993" y="3229323"/>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dirty="0">
                <a:latin typeface="Microsoft YaHei" panose="020B0503020204020204" pitchFamily="34" charset="-122"/>
                <a:ea typeface="Microsoft YaHei" panose="020B0503020204020204" pitchFamily="34" charset="-122"/>
              </a:rPr>
              <a:t>统计真实标记和预测结果的组合可以得到“混淆矩阵”</a:t>
            </a:r>
          </a:p>
        </p:txBody>
      </p:sp>
      <p:pic>
        <p:nvPicPr>
          <p:cNvPr id="1434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8637" y="3594904"/>
            <a:ext cx="3975664" cy="142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5461000" y="3936643"/>
            <a:ext cx="942975" cy="369332"/>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查准率</a:t>
            </a:r>
          </a:p>
        </p:txBody>
      </p:sp>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975" y="3879353"/>
            <a:ext cx="12319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5486400" y="4571643"/>
            <a:ext cx="942975" cy="369332"/>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查全率</a:t>
            </a:r>
          </a:p>
        </p:txBody>
      </p:sp>
      <p:pic>
        <p:nvPicPr>
          <p:cNvPr id="14342"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44348" y="4563145"/>
            <a:ext cx="1204227" cy="429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704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fade">
                                      <p:cBhvr>
                                        <p:cTn id="12" dur="1000"/>
                                        <p:tgtEl>
                                          <p:spTgt spid="14340"/>
                                        </p:tgtEl>
                                      </p:cBhvr>
                                    </p:animEffect>
                                    <p:anim calcmode="lin" valueType="num">
                                      <p:cBhvr>
                                        <p:cTn id="13" dur="1000" fill="hold"/>
                                        <p:tgtEl>
                                          <p:spTgt spid="14340"/>
                                        </p:tgtEl>
                                        <p:attrNameLst>
                                          <p:attrName>ppt_x</p:attrName>
                                        </p:attrNameLst>
                                      </p:cBhvr>
                                      <p:tavLst>
                                        <p:tav tm="0">
                                          <p:val>
                                            <p:strVal val="#ppt_x"/>
                                          </p:val>
                                        </p:tav>
                                        <p:tav tm="100000">
                                          <p:val>
                                            <p:strVal val="#ppt_x"/>
                                          </p:val>
                                        </p:tav>
                                      </p:tavLst>
                                    </p:anim>
                                    <p:anim calcmode="lin" valueType="num">
                                      <p:cBhvr>
                                        <p:cTn id="14" dur="1000" fill="hold"/>
                                        <p:tgtEl>
                                          <p:spTgt spid="1434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341"/>
                                        </p:tgtEl>
                                        <p:attrNameLst>
                                          <p:attrName>style.visibility</p:attrName>
                                        </p:attrNameLst>
                                      </p:cBhvr>
                                      <p:to>
                                        <p:strVal val="visible"/>
                                      </p:to>
                                    </p:set>
                                    <p:animEffect transition="in" filter="fade">
                                      <p:cBhvr>
                                        <p:cTn id="22" dur="1000"/>
                                        <p:tgtEl>
                                          <p:spTgt spid="14341"/>
                                        </p:tgtEl>
                                      </p:cBhvr>
                                    </p:animEffect>
                                    <p:anim calcmode="lin" valueType="num">
                                      <p:cBhvr>
                                        <p:cTn id="23" dur="1000" fill="hold"/>
                                        <p:tgtEl>
                                          <p:spTgt spid="14341"/>
                                        </p:tgtEl>
                                        <p:attrNameLst>
                                          <p:attrName>ppt_x</p:attrName>
                                        </p:attrNameLst>
                                      </p:cBhvr>
                                      <p:tavLst>
                                        <p:tav tm="0">
                                          <p:val>
                                            <p:strVal val="#ppt_x"/>
                                          </p:val>
                                        </p:tav>
                                        <p:tav tm="100000">
                                          <p:val>
                                            <p:strVal val="#ppt_x"/>
                                          </p:val>
                                        </p:tav>
                                      </p:tavLst>
                                    </p:anim>
                                    <p:anim calcmode="lin" valueType="num">
                                      <p:cBhvr>
                                        <p:cTn id="24" dur="1000" fill="hold"/>
                                        <p:tgtEl>
                                          <p:spTgt spid="1434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4342"/>
                                        </p:tgtEl>
                                        <p:attrNameLst>
                                          <p:attrName>style.visibility</p:attrName>
                                        </p:attrNameLst>
                                      </p:cBhvr>
                                      <p:to>
                                        <p:strVal val="visible"/>
                                      </p:to>
                                    </p:set>
                                    <p:animEffect transition="in" filter="fade">
                                      <p:cBhvr>
                                        <p:cTn id="32" dur="1000"/>
                                        <p:tgtEl>
                                          <p:spTgt spid="14342"/>
                                        </p:tgtEl>
                                      </p:cBhvr>
                                    </p:animEffect>
                                    <p:anim calcmode="lin" valueType="num">
                                      <p:cBhvr>
                                        <p:cTn id="33" dur="1000" fill="hold"/>
                                        <p:tgtEl>
                                          <p:spTgt spid="14342"/>
                                        </p:tgtEl>
                                        <p:attrNameLst>
                                          <p:attrName>ppt_x</p:attrName>
                                        </p:attrNameLst>
                                      </p:cBhvr>
                                      <p:tavLst>
                                        <p:tav tm="0">
                                          <p:val>
                                            <p:strVal val="#ppt_x"/>
                                          </p:val>
                                        </p:tav>
                                        <p:tav tm="100000">
                                          <p:val>
                                            <p:strVal val="#ppt_x"/>
                                          </p:val>
                                        </p:tav>
                                      </p:tavLst>
                                    </p:anim>
                                    <p:anim calcmode="lin" valueType="num">
                                      <p:cBhvr>
                                        <p:cTn id="34" dur="1000" fill="hold"/>
                                        <p:tgtEl>
                                          <p:spTgt spid="143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性能度量</a:t>
            </a:r>
          </a:p>
        </p:txBody>
      </p:sp>
      <p:sp>
        <p:nvSpPr>
          <p:cNvPr id="13" name="内容占位符 2"/>
          <p:cNvSpPr txBox="1">
            <a:spLocks/>
          </p:cNvSpPr>
          <p:nvPr/>
        </p:nvSpPr>
        <p:spPr>
          <a:xfrm>
            <a:off x="766993" y="1486947"/>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dirty="0">
                <a:latin typeface="Microsoft YaHei" panose="020B0503020204020204" pitchFamily="34" charset="-122"/>
                <a:ea typeface="Microsoft YaHei" panose="020B0503020204020204" pitchFamily="34" charset="-122"/>
              </a:rPr>
              <a:t>根据学习器的预测结果</a:t>
            </a:r>
            <a:r>
              <a:rPr lang="zh-CN" altLang="en-US" b="1" dirty="0">
                <a:solidFill>
                  <a:srgbClr val="013990"/>
                </a:solidFill>
                <a:latin typeface="Microsoft YaHei" panose="020B0503020204020204" pitchFamily="34" charset="-122"/>
                <a:ea typeface="Microsoft YaHei" panose="020B0503020204020204" pitchFamily="34" charset="-122"/>
              </a:rPr>
              <a:t>按正例可能性大小对样例进行排序</a:t>
            </a:r>
            <a:r>
              <a:rPr lang="zh-CN" altLang="en-US" dirty="0">
                <a:latin typeface="Microsoft YaHei" panose="020B0503020204020204" pitchFamily="34" charset="-122"/>
                <a:ea typeface="Microsoft YaHei" panose="020B0503020204020204" pitchFamily="34" charset="-122"/>
              </a:rPr>
              <a:t>，并</a:t>
            </a:r>
            <a:r>
              <a:rPr lang="zh-CN" altLang="en-US" b="1" dirty="0">
                <a:solidFill>
                  <a:srgbClr val="013990"/>
                </a:solidFill>
                <a:latin typeface="Microsoft YaHei" panose="020B0503020204020204" pitchFamily="34" charset="-122"/>
                <a:ea typeface="Microsoft YaHei" panose="020B0503020204020204" pitchFamily="34" charset="-122"/>
              </a:rPr>
              <a:t>逐个把样本作为正例进行预测</a:t>
            </a:r>
            <a:r>
              <a:rPr lang="zh-CN" altLang="en-US" dirty="0">
                <a:latin typeface="Microsoft YaHei" panose="020B0503020204020204" pitchFamily="34" charset="-122"/>
                <a:ea typeface="Microsoft YaHei" panose="020B0503020204020204" pitchFamily="34" charset="-122"/>
              </a:rPr>
              <a:t>，则可以得到查准率</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查全率曲线，简称“</a:t>
            </a:r>
            <a:r>
              <a:rPr lang="en-US" altLang="zh-CN" dirty="0">
                <a:latin typeface="Microsoft YaHei" panose="020B0503020204020204" pitchFamily="34" charset="-122"/>
                <a:ea typeface="Microsoft YaHei" panose="020B0503020204020204" pitchFamily="34" charset="-122"/>
              </a:rPr>
              <a:t>P-R</a:t>
            </a:r>
            <a:r>
              <a:rPr lang="zh-CN" altLang="en-US" dirty="0">
                <a:latin typeface="Microsoft YaHei" panose="020B0503020204020204" pitchFamily="34" charset="-122"/>
                <a:ea typeface="Microsoft YaHei" panose="020B0503020204020204" pitchFamily="34" charset="-122"/>
              </a:rPr>
              <a:t>曲线”</a:t>
            </a:r>
          </a:p>
        </p:txBody>
      </p:sp>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993" y="3071865"/>
            <a:ext cx="3708383" cy="313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sp>
        <p:nvSpPr>
          <p:cNvPr id="14" name="TextBox 13"/>
          <p:cNvSpPr txBox="1"/>
          <p:nvPr/>
        </p:nvSpPr>
        <p:spPr>
          <a:xfrm>
            <a:off x="5219042" y="3313192"/>
            <a:ext cx="2768600" cy="1393779"/>
          </a:xfrm>
          <a:prstGeom prst="rect">
            <a:avLst/>
          </a:prstGeom>
          <a:noFill/>
        </p:spPr>
        <p:txBody>
          <a:bodyPr wrap="square" rtlCol="0">
            <a:spAutoFit/>
          </a:bodyPr>
          <a:lstStyle/>
          <a:p>
            <a:pPr>
              <a:lnSpc>
                <a:spcPct val="120000"/>
              </a:lnSpc>
            </a:pPr>
            <a:r>
              <a:rPr lang="zh-CN" altLang="en-US" b="1" dirty="0">
                <a:solidFill>
                  <a:srgbClr val="C00000"/>
                </a:solidFill>
                <a:latin typeface="Microsoft YaHei" panose="020B0503020204020204" pitchFamily="34" charset="-122"/>
                <a:ea typeface="Microsoft YaHei" panose="020B0503020204020204" pitchFamily="34" charset="-122"/>
              </a:rPr>
              <a:t>平衡点</a:t>
            </a:r>
            <a:r>
              <a:rPr lang="zh-CN" altLang="en-US" dirty="0">
                <a:latin typeface="Microsoft YaHei" panose="020B0503020204020204" pitchFamily="34" charset="-122"/>
                <a:ea typeface="Microsoft YaHei" panose="020B0503020204020204" pitchFamily="34" charset="-122"/>
              </a:rPr>
              <a:t>是曲线上</a:t>
            </a:r>
            <a:r>
              <a:rPr lang="zh-CN" altLang="en-US" b="1" dirty="0">
                <a:solidFill>
                  <a:srgbClr val="C00000"/>
                </a:solidFill>
                <a:latin typeface="Microsoft YaHei" panose="020B0503020204020204" pitchFamily="34" charset="-122"/>
                <a:ea typeface="Microsoft YaHei" panose="020B0503020204020204" pitchFamily="34" charset="-122"/>
              </a:rPr>
              <a:t>“查准率</a:t>
            </a:r>
            <a:r>
              <a:rPr lang="en-US" altLang="zh-CN" b="1" dirty="0">
                <a:solidFill>
                  <a:srgbClr val="C00000"/>
                </a:solidFill>
                <a:latin typeface="Microsoft YaHei" panose="020B0503020204020204" pitchFamily="34" charset="-122"/>
                <a:ea typeface="Microsoft YaHei" panose="020B0503020204020204" pitchFamily="34" charset="-122"/>
              </a:rPr>
              <a:t>=</a:t>
            </a:r>
            <a:r>
              <a:rPr lang="zh-CN" altLang="en-US" b="1" dirty="0">
                <a:solidFill>
                  <a:srgbClr val="C00000"/>
                </a:solidFill>
                <a:latin typeface="Microsoft YaHei" panose="020B0503020204020204" pitchFamily="34" charset="-122"/>
                <a:ea typeface="Microsoft YaHei" panose="020B0503020204020204" pitchFamily="34" charset="-122"/>
              </a:rPr>
              <a:t>查全率”</a:t>
            </a:r>
            <a:r>
              <a:rPr lang="zh-CN" altLang="en-US" dirty="0">
                <a:latin typeface="Microsoft YaHei" panose="020B0503020204020204" pitchFamily="34" charset="-122"/>
                <a:ea typeface="Microsoft YaHei" panose="020B0503020204020204" pitchFamily="34" charset="-122"/>
              </a:rPr>
              <a:t>时的取值，可用来用于</a:t>
            </a:r>
            <a:r>
              <a:rPr lang="zh-CN" altLang="en-US" b="1" dirty="0">
                <a:latin typeface="Microsoft YaHei" panose="020B0503020204020204" pitchFamily="34" charset="-122"/>
                <a:ea typeface="Microsoft YaHei" panose="020B0503020204020204" pitchFamily="34" charset="-122"/>
              </a:rPr>
              <a:t>度量</a:t>
            </a:r>
            <a:r>
              <a:rPr lang="en-US" altLang="zh-CN" b="1" dirty="0">
                <a:latin typeface="Microsoft YaHei" panose="020B0503020204020204" pitchFamily="34" charset="-122"/>
                <a:ea typeface="Microsoft YaHei" panose="020B0503020204020204" pitchFamily="34" charset="-122"/>
              </a:rPr>
              <a:t>P-R</a:t>
            </a:r>
            <a:r>
              <a:rPr lang="zh-CN" altLang="en-US" b="1" dirty="0">
                <a:latin typeface="Microsoft YaHei" panose="020B0503020204020204" pitchFamily="34" charset="-122"/>
                <a:ea typeface="Microsoft YaHei" panose="020B0503020204020204" pitchFamily="34" charset="-122"/>
              </a:rPr>
              <a:t>曲线有交叉的分类器</a:t>
            </a:r>
            <a:r>
              <a:rPr lang="zh-CN" altLang="en-US" dirty="0">
                <a:latin typeface="Microsoft YaHei" panose="020B0503020204020204" pitchFamily="34" charset="-122"/>
                <a:ea typeface="Microsoft YaHei" panose="020B0503020204020204" pitchFamily="34" charset="-122"/>
              </a:rPr>
              <a:t>性能高低</a:t>
            </a:r>
          </a:p>
        </p:txBody>
      </p:sp>
      <p:sp>
        <p:nvSpPr>
          <p:cNvPr id="4" name="文本框 3">
            <a:extLst>
              <a:ext uri="{FF2B5EF4-FFF2-40B4-BE49-F238E27FC236}">
                <a16:creationId xmlns:a16="http://schemas.microsoft.com/office/drawing/2014/main" id="{1033655A-9AD2-D161-7CE7-51A135DC4B87}"/>
              </a:ext>
            </a:extLst>
          </p:cNvPr>
          <p:cNvSpPr txBox="1"/>
          <p:nvPr/>
        </p:nvSpPr>
        <p:spPr>
          <a:xfrm>
            <a:off x="356531" y="969176"/>
            <a:ext cx="7990114" cy="369332"/>
          </a:xfrm>
          <a:prstGeom prst="rect">
            <a:avLst/>
          </a:prstGeom>
          <a:noFill/>
        </p:spPr>
        <p:txBody>
          <a:bodyPr wrap="square">
            <a:spAutoFit/>
          </a:bodyPr>
          <a:lstStyle/>
          <a:p>
            <a:r>
              <a:rPr lang="zh-CN" altLang="en-US" dirty="0">
                <a:hlinkClick r:id="rId3"/>
              </a:rPr>
              <a:t>https://www.zhihu.com/question/348073311/answer/3102405037</a:t>
            </a:r>
            <a:r>
              <a:rPr lang="zh-CN" altLang="en-US" dirty="0"/>
              <a:t> </a:t>
            </a:r>
          </a:p>
        </p:txBody>
      </p:sp>
    </p:spTree>
    <p:extLst>
      <p:ext uri="{BB962C8B-B14F-4D97-AF65-F5344CB8AC3E}">
        <p14:creationId xmlns:p14="http://schemas.microsoft.com/office/powerpoint/2010/main" val="214552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性能度量</a:t>
            </a:r>
          </a:p>
        </p:txBody>
      </p:sp>
      <p:sp>
        <p:nvSpPr>
          <p:cNvPr id="13" name="内容占位符 2"/>
          <p:cNvSpPr txBox="1">
            <a:spLocks/>
          </p:cNvSpPr>
          <p:nvPr/>
        </p:nvSpPr>
        <p:spPr>
          <a:xfrm>
            <a:off x="830493" y="1486947"/>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dirty="0">
                <a:latin typeface="Microsoft YaHei" panose="020B0503020204020204" pitchFamily="34" charset="-122"/>
                <a:ea typeface="Microsoft YaHei" panose="020B0503020204020204" pitchFamily="34" charset="-122"/>
              </a:rPr>
              <a:t>比</a:t>
            </a:r>
            <a:r>
              <a:rPr lang="en-US" altLang="zh-CN" dirty="0">
                <a:latin typeface="Microsoft YaHei" panose="020B0503020204020204" pitchFamily="34" charset="-122"/>
                <a:ea typeface="Microsoft YaHei" panose="020B0503020204020204" pitchFamily="34" charset="-122"/>
              </a:rPr>
              <a:t>P-R</a:t>
            </a:r>
            <a:r>
              <a:rPr lang="zh-CN" altLang="en-US" dirty="0">
                <a:latin typeface="Microsoft YaHei" panose="020B0503020204020204" pitchFamily="34" charset="-122"/>
                <a:ea typeface="Microsoft YaHei" panose="020B0503020204020204" pitchFamily="34" charset="-122"/>
              </a:rPr>
              <a:t>曲线平衡点更用常用的</a:t>
            </a:r>
            <a:r>
              <a:rPr lang="zh-CN" altLang="en-US" b="1" dirty="0">
                <a:solidFill>
                  <a:srgbClr val="C00000"/>
                </a:solidFill>
                <a:latin typeface="Microsoft YaHei" panose="020B0503020204020204" pitchFamily="34" charset="-122"/>
                <a:ea typeface="Microsoft YaHei" panose="020B0503020204020204" pitchFamily="34" charset="-122"/>
              </a:rPr>
              <a:t>是</a:t>
            </a:r>
            <a:r>
              <a:rPr lang="en-US" altLang="zh-CN" b="1" dirty="0">
                <a:solidFill>
                  <a:srgbClr val="C00000"/>
                </a:solidFill>
                <a:latin typeface="Microsoft YaHei" panose="020B0503020204020204" pitchFamily="34" charset="-122"/>
                <a:ea typeface="Microsoft YaHei" panose="020B0503020204020204" pitchFamily="34" charset="-122"/>
              </a:rPr>
              <a:t>F1</a:t>
            </a:r>
            <a:r>
              <a:rPr lang="zh-CN" altLang="en-US" b="1" dirty="0">
                <a:solidFill>
                  <a:srgbClr val="C00000"/>
                </a:solidFill>
                <a:latin typeface="Microsoft YaHei" panose="020B0503020204020204" pitchFamily="34" charset="-122"/>
                <a:ea typeface="Microsoft YaHei" panose="020B0503020204020204" pitchFamily="34" charset="-122"/>
              </a:rPr>
              <a:t>度量</a:t>
            </a:r>
            <a:r>
              <a:rPr lang="zh-CN" altLang="en-US" dirty="0">
                <a:latin typeface="Microsoft YaHei" panose="020B0503020204020204" pitchFamily="34" charset="-122"/>
                <a:ea typeface="Microsoft YaHei" panose="020B0503020204020204" pitchFamily="34" charset="-122"/>
              </a:rPr>
              <a:t>：</a:t>
            </a: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9086" y="1924508"/>
            <a:ext cx="4387381" cy="59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a:spLocks/>
          </p:cNvSpPr>
          <p:nvPr/>
        </p:nvSpPr>
        <p:spPr>
          <a:xfrm>
            <a:off x="830493" y="2715429"/>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grpSp>
        <p:nvGrpSpPr>
          <p:cNvPr id="5" name="组合 4"/>
          <p:cNvGrpSpPr/>
          <p:nvPr/>
        </p:nvGrpSpPr>
        <p:grpSpPr>
          <a:xfrm>
            <a:off x="839133" y="2654667"/>
            <a:ext cx="6973210" cy="2450733"/>
            <a:chOff x="851833" y="2514967"/>
            <a:chExt cx="6973210" cy="2450733"/>
          </a:xfrm>
        </p:grpSpPr>
        <p:sp>
          <p:nvSpPr>
            <p:cNvPr id="10" name="内容占位符 2"/>
            <p:cNvSpPr txBox="1">
              <a:spLocks/>
            </p:cNvSpPr>
            <p:nvPr/>
          </p:nvSpPr>
          <p:spPr>
            <a:xfrm>
              <a:off x="851833" y="2514967"/>
              <a:ext cx="6973210" cy="2450733"/>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zh-CN" altLang="en-US" dirty="0">
                  <a:latin typeface="Microsoft YaHei" panose="020B0503020204020204" pitchFamily="34" charset="-122"/>
                  <a:ea typeface="Microsoft YaHei" panose="020B0503020204020204" pitchFamily="34" charset="-122"/>
                </a:rPr>
                <a:t>比</a:t>
              </a:r>
              <a:r>
                <a:rPr lang="en-US" altLang="zh-CN" dirty="0">
                  <a:latin typeface="Microsoft YaHei" panose="020B0503020204020204" pitchFamily="34" charset="-122"/>
                  <a:ea typeface="Microsoft YaHei" panose="020B0503020204020204" pitchFamily="34" charset="-122"/>
                </a:rPr>
                <a:t>F1</a:t>
              </a:r>
              <a:r>
                <a:rPr lang="zh-CN" altLang="en-US" b="1" dirty="0">
                  <a:latin typeface="Microsoft YaHei" panose="020B0503020204020204" pitchFamily="34" charset="-122"/>
                  <a:ea typeface="Microsoft YaHei" panose="020B0503020204020204" pitchFamily="34" charset="-122"/>
                </a:rPr>
                <a:t>更一般的形式    </a:t>
              </a:r>
              <a:r>
                <a:rPr lang="en-US" altLang="zh-CN" b="1" dirty="0">
                  <a:latin typeface="Microsoft YaHei" panose="020B0503020204020204" pitchFamily="34" charset="-122"/>
                  <a:ea typeface="Microsoft YaHei" panose="020B0503020204020204" pitchFamily="34" charset="-122"/>
                </a:rPr>
                <a:t>,</a:t>
              </a:r>
            </a:p>
            <a:p>
              <a:pPr marL="457200" lvl="1" indent="0">
                <a:buNone/>
              </a:pPr>
              <a:endParaRPr lang="en-US" altLang="zh-CN" dirty="0">
                <a:latin typeface="Microsoft YaHei" panose="020B0503020204020204" pitchFamily="34" charset="-122"/>
                <a:ea typeface="Microsoft YaHei" panose="020B0503020204020204" pitchFamily="34" charset="-122"/>
              </a:endParaRPr>
            </a:p>
            <a:p>
              <a:pPr marL="457200" lvl="1" indent="0">
                <a:buNone/>
              </a:pPr>
              <a:endParaRPr lang="en-US" altLang="zh-CN" dirty="0">
                <a:latin typeface="Microsoft YaHei" panose="020B0503020204020204" pitchFamily="34" charset="-122"/>
                <a:ea typeface="Microsoft YaHei" panose="020B0503020204020204" pitchFamily="34" charset="-122"/>
              </a:endParaRPr>
            </a:p>
            <a:p>
              <a:pPr marL="1240200" lvl="3" indent="0">
                <a:buNone/>
              </a:pPr>
              <a:endParaRPr lang="en-US" altLang="zh-CN" dirty="0">
                <a:latin typeface="Microsoft YaHei" panose="020B0503020204020204" pitchFamily="34" charset="-122"/>
                <a:ea typeface="Microsoft YaHei" panose="020B0503020204020204" pitchFamily="34" charset="-122"/>
              </a:endParaRPr>
            </a:p>
            <a:p>
              <a:pPr marL="1240200" lvl="3" indent="0">
                <a:buNone/>
              </a:pPr>
              <a:r>
                <a:rPr lang="en-US" altLang="zh-CN" dirty="0">
                  <a:latin typeface="Microsoft YaHei" panose="020B0503020204020204" pitchFamily="34" charset="-122"/>
                  <a:ea typeface="Microsoft YaHei" panose="020B0503020204020204" pitchFamily="34" charset="-122"/>
                </a:rPr>
                <a:t>	:  </a:t>
              </a:r>
              <a:r>
                <a:rPr lang="zh-CN" altLang="en-US" sz="1800" dirty="0">
                  <a:latin typeface="Microsoft YaHei" panose="020B0503020204020204" pitchFamily="34" charset="-122"/>
                  <a:ea typeface="Microsoft YaHei" panose="020B0503020204020204" pitchFamily="34" charset="-122"/>
                </a:rPr>
                <a:t>标准</a:t>
              </a:r>
              <a:r>
                <a:rPr lang="en-US" altLang="zh-CN" sz="1800" dirty="0">
                  <a:latin typeface="Microsoft YaHei" panose="020B0503020204020204" pitchFamily="34" charset="-122"/>
                  <a:ea typeface="Microsoft YaHei" panose="020B0503020204020204" pitchFamily="34" charset="-122"/>
                </a:rPr>
                <a:t>F1</a:t>
              </a:r>
            </a:p>
            <a:p>
              <a:pPr marL="1240200" lvl="3" indent="0">
                <a:buNone/>
              </a:pPr>
              <a:r>
                <a:rPr lang="en-US" altLang="zh-CN" sz="1800" dirty="0">
                  <a:latin typeface="Microsoft YaHei" panose="020B0503020204020204" pitchFamily="34" charset="-122"/>
                  <a:ea typeface="Microsoft YaHei" panose="020B0503020204020204" pitchFamily="34" charset="-122"/>
                </a:rPr>
                <a:t>	: </a:t>
              </a:r>
              <a:r>
                <a:rPr lang="zh-CN" altLang="en-US" sz="1800" dirty="0">
                  <a:latin typeface="Microsoft YaHei" panose="020B0503020204020204" pitchFamily="34" charset="-122"/>
                  <a:ea typeface="Microsoft YaHei" panose="020B0503020204020204" pitchFamily="34" charset="-122"/>
                </a:rPr>
                <a:t>偏重查全率</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逃犯信息检索</a:t>
              </a:r>
              <a:r>
                <a:rPr lang="en-US" altLang="zh-CN" sz="1800" dirty="0">
                  <a:latin typeface="Microsoft YaHei" panose="020B0503020204020204" pitchFamily="34" charset="-122"/>
                  <a:ea typeface="Microsoft YaHei" panose="020B0503020204020204" pitchFamily="34" charset="-122"/>
                </a:rPr>
                <a:t>)</a:t>
              </a:r>
            </a:p>
            <a:p>
              <a:pPr marL="1240200" lvl="3" indent="0">
                <a:buNone/>
              </a:pPr>
              <a:r>
                <a:rPr lang="en-US" altLang="zh-CN" sz="1800" dirty="0">
                  <a:latin typeface="Microsoft YaHei" panose="020B0503020204020204" pitchFamily="34" charset="-122"/>
                  <a:ea typeface="Microsoft YaHei" panose="020B0503020204020204" pitchFamily="34" charset="-122"/>
                </a:rPr>
                <a:t>	</a:t>
              </a:r>
              <a:r>
                <a:rPr lang="zh-CN" altLang="en-US" sz="1800" dirty="0">
                  <a:latin typeface="Microsoft YaHei" panose="020B0503020204020204" pitchFamily="34" charset="-122"/>
                  <a:ea typeface="Microsoft YaHei" panose="020B0503020204020204" pitchFamily="34" charset="-122"/>
                </a:rPr>
                <a:t>：偏重查准率</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商品推荐系统</a:t>
              </a:r>
              <a:r>
                <a:rPr lang="en-US" altLang="zh-CN" sz="1800" dirty="0">
                  <a:latin typeface="Microsoft YaHei" panose="020B0503020204020204" pitchFamily="34" charset="-122"/>
                  <a:ea typeface="Microsoft YaHei" panose="020B0503020204020204" pitchFamily="34" charset="-122"/>
                </a:rPr>
                <a:t>)</a:t>
              </a:r>
            </a:p>
            <a:p>
              <a:pPr marL="457200" lvl="1" indent="0">
                <a:buNone/>
              </a:pPr>
              <a:endParaRPr lang="en-US" altLang="zh-CN" dirty="0">
                <a:latin typeface="Microsoft YaHei" panose="020B0503020204020204" pitchFamily="34" charset="-122"/>
                <a:ea typeface="Microsoft YaHei" panose="020B0503020204020204" pitchFamily="34" charset="-122"/>
              </a:endParaRPr>
            </a:p>
            <a:p>
              <a:pPr marL="457200" lvl="1" indent="0">
                <a:buNone/>
              </a:pPr>
              <a:endParaRPr lang="zh-CN" altLang="en-US" dirty="0">
                <a:latin typeface="Microsoft YaHei" panose="020B0503020204020204" pitchFamily="34" charset="-122"/>
                <a:ea typeface="Microsoft YaHei" panose="020B0503020204020204" pitchFamily="34" charset="-122"/>
              </a:endParaRPr>
            </a:p>
          </p:txBody>
        </p:sp>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0600" y="2601460"/>
              <a:ext cx="304078" cy="27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8050" y="2975117"/>
              <a:ext cx="25622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02367" y="3903016"/>
              <a:ext cx="648101" cy="267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03060" y="4197354"/>
              <a:ext cx="647408" cy="246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83411" y="4521148"/>
              <a:ext cx="667057" cy="2409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247227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性能度量</a:t>
            </a:r>
          </a:p>
        </p:txBody>
      </p:sp>
      <p:sp>
        <p:nvSpPr>
          <p:cNvPr id="13" name="内容占位符 2"/>
          <p:cNvSpPr txBox="1">
            <a:spLocks/>
          </p:cNvSpPr>
          <p:nvPr/>
        </p:nvSpPr>
        <p:spPr>
          <a:xfrm>
            <a:off x="766993" y="1486947"/>
            <a:ext cx="6973210"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0"/>
              </a:spcBef>
              <a:buNone/>
            </a:pPr>
            <a:r>
              <a:rPr lang="zh-CN" altLang="en-US" dirty="0">
                <a:latin typeface="Microsoft YaHei" panose="020B0503020204020204" pitchFamily="34" charset="-122"/>
                <a:ea typeface="Microsoft YaHei" panose="020B0503020204020204" pitchFamily="34" charset="-122"/>
              </a:rPr>
              <a:t>类似</a:t>
            </a:r>
            <a:r>
              <a:rPr lang="en-US" altLang="zh-CN" dirty="0">
                <a:latin typeface="Microsoft YaHei" panose="020B0503020204020204" pitchFamily="34" charset="-122"/>
                <a:ea typeface="Microsoft YaHei" panose="020B0503020204020204" pitchFamily="34" charset="-122"/>
              </a:rPr>
              <a:t>P-R</a:t>
            </a:r>
            <a:r>
              <a:rPr lang="zh-CN" altLang="en-US" dirty="0">
                <a:latin typeface="Microsoft YaHei" panose="020B0503020204020204" pitchFamily="34" charset="-122"/>
                <a:ea typeface="Microsoft YaHei" panose="020B0503020204020204" pitchFamily="34" charset="-122"/>
              </a:rPr>
              <a:t>曲线，根据学习器的预测结果对样例排序，并逐个作为正例进行预测，以“假正例率”为横轴，“真正例率”为纵轴可得到</a:t>
            </a:r>
            <a:r>
              <a:rPr lang="en-US" altLang="zh-CN" b="1" dirty="0">
                <a:solidFill>
                  <a:srgbClr val="C00000"/>
                </a:solidFill>
                <a:latin typeface="Microsoft YaHei" panose="020B0503020204020204" pitchFamily="34" charset="-122"/>
                <a:ea typeface="Microsoft YaHei" panose="020B0503020204020204" pitchFamily="34" charset="-122"/>
              </a:rPr>
              <a:t>ROC</a:t>
            </a:r>
            <a:r>
              <a:rPr lang="zh-CN" altLang="en-US" b="1" dirty="0">
                <a:solidFill>
                  <a:srgbClr val="C00000"/>
                </a:solidFill>
                <a:latin typeface="Microsoft YaHei" panose="020B0503020204020204" pitchFamily="34" charset="-122"/>
                <a:ea typeface="Microsoft YaHei" panose="020B0503020204020204" pitchFamily="34" charset="-122"/>
              </a:rPr>
              <a:t>曲线</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全称“受试者工作特征</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6C30BF58-2E00-59B5-B374-7CD25D6DD06F}"/>
              </a:ext>
            </a:extLst>
          </p:cNvPr>
          <p:cNvSpPr txBox="1"/>
          <p:nvPr/>
        </p:nvSpPr>
        <p:spPr>
          <a:xfrm>
            <a:off x="1194731" y="3662110"/>
            <a:ext cx="7151914" cy="646331"/>
          </a:xfrm>
          <a:prstGeom prst="rect">
            <a:avLst/>
          </a:prstGeom>
          <a:noFill/>
        </p:spPr>
        <p:txBody>
          <a:bodyPr wrap="square">
            <a:spAutoFit/>
          </a:bodyPr>
          <a:lstStyle/>
          <a:p>
            <a:r>
              <a:rPr lang="zh-CN" altLang="en-US" dirty="0">
                <a:hlinkClick r:id="rId2"/>
              </a:rPr>
              <a:t>https://cloud.tencent.com/developer/article/2085927</a:t>
            </a:r>
            <a:endParaRPr lang="en-US" altLang="zh-CN" dirty="0"/>
          </a:p>
          <a:p>
            <a:endParaRPr lang="zh-CN" altLang="en-US" dirty="0"/>
          </a:p>
        </p:txBody>
      </p:sp>
    </p:spTree>
    <p:extLst>
      <p:ext uri="{BB962C8B-B14F-4D97-AF65-F5344CB8AC3E}">
        <p14:creationId xmlns:p14="http://schemas.microsoft.com/office/powerpoint/2010/main" val="83430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性能度量</a:t>
            </a:r>
          </a:p>
        </p:txBody>
      </p:sp>
      <p:sp>
        <p:nvSpPr>
          <p:cNvPr id="13" name="内容占位符 2"/>
          <p:cNvSpPr txBox="1">
            <a:spLocks/>
          </p:cNvSpPr>
          <p:nvPr/>
        </p:nvSpPr>
        <p:spPr>
          <a:xfrm>
            <a:off x="743782" y="1095307"/>
            <a:ext cx="7089516"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0"/>
              </a:spcBef>
              <a:buNone/>
            </a:pPr>
            <a:r>
              <a:rPr lang="zh-CN" altLang="en-US" dirty="0">
                <a:latin typeface="Microsoft YaHei" panose="020B0503020204020204" pitchFamily="34" charset="-122"/>
                <a:ea typeface="Microsoft YaHei" panose="020B0503020204020204" pitchFamily="34" charset="-122"/>
              </a:rPr>
              <a:t>若</a:t>
            </a:r>
            <a:r>
              <a:rPr lang="zh-CN" altLang="en-US" b="1" dirty="0">
                <a:latin typeface="Microsoft YaHei" panose="020B0503020204020204" pitchFamily="34" charset="-122"/>
                <a:ea typeface="Microsoft YaHei" panose="020B0503020204020204" pitchFamily="34" charset="-122"/>
              </a:rPr>
              <a:t>某个学习器的</a:t>
            </a:r>
            <a:r>
              <a:rPr lang="en-US" altLang="zh-CN" b="1" dirty="0">
                <a:latin typeface="Microsoft YaHei" panose="020B0503020204020204" pitchFamily="34" charset="-122"/>
                <a:ea typeface="Microsoft YaHei" panose="020B0503020204020204" pitchFamily="34" charset="-122"/>
              </a:rPr>
              <a:t>ROC</a:t>
            </a:r>
            <a:r>
              <a:rPr lang="zh-CN" altLang="en-US" b="1" dirty="0">
                <a:latin typeface="Microsoft YaHei" panose="020B0503020204020204" pitchFamily="34" charset="-122"/>
                <a:ea typeface="Microsoft YaHei" panose="020B0503020204020204" pitchFamily="34" charset="-122"/>
              </a:rPr>
              <a:t>曲线</a:t>
            </a:r>
            <a:r>
              <a:rPr lang="zh-CN" altLang="en-US" dirty="0">
                <a:latin typeface="Microsoft YaHei" panose="020B0503020204020204" pitchFamily="34" charset="-122"/>
                <a:ea typeface="Microsoft YaHei" panose="020B0503020204020204" pitchFamily="34" charset="-122"/>
              </a:rPr>
              <a:t>被另一个学习器的曲线“</a:t>
            </a:r>
            <a:r>
              <a:rPr lang="zh-CN" altLang="en-US" b="1" dirty="0">
                <a:latin typeface="Microsoft YaHei" panose="020B0503020204020204" pitchFamily="34" charset="-122"/>
                <a:ea typeface="Microsoft YaHei" panose="020B0503020204020204" pitchFamily="34" charset="-122"/>
              </a:rPr>
              <a:t>包住</a:t>
            </a:r>
            <a:r>
              <a:rPr lang="zh-CN" altLang="en-US" dirty="0">
                <a:latin typeface="Microsoft YaHei" panose="020B0503020204020204" pitchFamily="34" charset="-122"/>
                <a:ea typeface="Microsoft YaHei" panose="020B0503020204020204" pitchFamily="34" charset="-122"/>
              </a:rPr>
              <a:t>”，则后者性能优于前者；否则如果曲线交叉，可以根据</a:t>
            </a:r>
            <a:r>
              <a:rPr lang="en-US" altLang="zh-CN" dirty="0">
                <a:latin typeface="Microsoft YaHei" panose="020B0503020204020204" pitchFamily="34" charset="-122"/>
                <a:ea typeface="Microsoft YaHei" panose="020B0503020204020204" pitchFamily="34" charset="-122"/>
              </a:rPr>
              <a:t>ROC</a:t>
            </a:r>
            <a:r>
              <a:rPr lang="zh-CN" altLang="en-US" b="1" dirty="0">
                <a:solidFill>
                  <a:srgbClr val="013990"/>
                </a:solidFill>
                <a:latin typeface="Microsoft YaHei" panose="020B0503020204020204" pitchFamily="34" charset="-122"/>
                <a:ea typeface="Microsoft YaHei" panose="020B0503020204020204" pitchFamily="34" charset="-122"/>
              </a:rPr>
              <a:t>曲线下面积大小</a:t>
            </a:r>
            <a:r>
              <a:rPr lang="zh-CN" altLang="en-US" dirty="0">
                <a:latin typeface="Microsoft YaHei" panose="020B0503020204020204" pitchFamily="34" charset="-122"/>
                <a:ea typeface="Microsoft YaHei" panose="020B0503020204020204" pitchFamily="34" charset="-122"/>
              </a:rPr>
              <a:t>进行比较，也即</a:t>
            </a:r>
            <a:r>
              <a:rPr lang="en-US" altLang="zh-CN" b="1" dirty="0">
                <a:solidFill>
                  <a:srgbClr val="C00000"/>
                </a:solidFill>
                <a:latin typeface="Microsoft YaHei" panose="020B0503020204020204" pitchFamily="34" charset="-122"/>
                <a:ea typeface="Microsoft YaHei" panose="020B0503020204020204" pitchFamily="34" charset="-122"/>
              </a:rPr>
              <a:t>AUC</a:t>
            </a:r>
            <a:r>
              <a:rPr lang="zh-CN" altLang="en-US" b="1" dirty="0">
                <a:solidFill>
                  <a:srgbClr val="C00000"/>
                </a:solidFill>
                <a:latin typeface="Microsoft YaHei" panose="020B0503020204020204" pitchFamily="34" charset="-122"/>
                <a:ea typeface="Microsoft YaHei" panose="020B0503020204020204" pitchFamily="34" charset="-122"/>
              </a:rPr>
              <a:t>值</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sp>
        <p:nvSpPr>
          <p:cNvPr id="12" name="内容占位符 2"/>
          <p:cNvSpPr txBox="1">
            <a:spLocks/>
          </p:cNvSpPr>
          <p:nvPr/>
        </p:nvSpPr>
        <p:spPr>
          <a:xfrm>
            <a:off x="42885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25" y="2687935"/>
            <a:ext cx="3165475" cy="312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4110763" y="5179110"/>
            <a:ext cx="3970315" cy="1200329"/>
          </a:xfrm>
          <a:prstGeom prst="rect">
            <a:avLst/>
          </a:prstGeom>
          <a:noFill/>
        </p:spPr>
        <p:txBody>
          <a:bodyPr wrap="square" rtlCol="0">
            <a:spAutoFit/>
          </a:bodyPr>
          <a:lstStyle/>
          <a:p>
            <a:pPr algn="ctr">
              <a:lnSpc>
                <a:spcPct val="150000"/>
              </a:lnSpc>
            </a:pPr>
            <a:r>
              <a:rPr lang="en-US" altLang="zh-CN" b="1" dirty="0">
                <a:solidFill>
                  <a:srgbClr val="C00000"/>
                </a:solidFill>
                <a:latin typeface="Microsoft YaHei" panose="020B0503020204020204" pitchFamily="34" charset="-122"/>
                <a:ea typeface="Microsoft YaHei" panose="020B0503020204020204" pitchFamily="34" charset="-122"/>
              </a:rPr>
              <a:t>A</a:t>
            </a:r>
            <a:r>
              <a:rPr lang="zh-CN" altLang="en-US" b="1" dirty="0">
                <a:solidFill>
                  <a:srgbClr val="C00000"/>
                </a:solidFill>
                <a:latin typeface="Microsoft YaHei" panose="020B0503020204020204" pitchFamily="34" charset="-122"/>
                <a:ea typeface="Microsoft YaHei" panose="020B0503020204020204" pitchFamily="34" charset="-122"/>
              </a:rPr>
              <a:t>好还是</a:t>
            </a:r>
            <a:r>
              <a:rPr lang="en-US" altLang="zh-CN" b="1" dirty="0">
                <a:solidFill>
                  <a:srgbClr val="C00000"/>
                </a:solidFill>
                <a:latin typeface="Microsoft YaHei" panose="020B0503020204020204" pitchFamily="34" charset="-122"/>
                <a:ea typeface="Microsoft YaHei" panose="020B0503020204020204" pitchFamily="34" charset="-122"/>
              </a:rPr>
              <a:t>B</a:t>
            </a:r>
            <a:r>
              <a:rPr lang="zh-CN" altLang="en-US" b="1" dirty="0">
                <a:solidFill>
                  <a:srgbClr val="C00000"/>
                </a:solidFill>
                <a:latin typeface="Microsoft YaHei" panose="020B0503020204020204" pitchFamily="34" charset="-122"/>
                <a:ea typeface="Microsoft YaHei" panose="020B0503020204020204" pitchFamily="34" charset="-122"/>
              </a:rPr>
              <a:t>好？</a:t>
            </a:r>
            <a:endParaRPr lang="en-US" altLang="zh-CN" b="1" dirty="0">
              <a:solidFill>
                <a:srgbClr val="C00000"/>
              </a:solidFill>
              <a:latin typeface="Microsoft YaHei" panose="020B0503020204020204" pitchFamily="34" charset="-122"/>
              <a:ea typeface="Microsoft YaHei" panose="020B0503020204020204" pitchFamily="34" charset="-122"/>
            </a:endParaRPr>
          </a:p>
          <a:p>
            <a:pPr algn="ctr">
              <a:lnSpc>
                <a:spcPct val="150000"/>
              </a:lnSpc>
            </a:pPr>
            <a:r>
              <a:rPr lang="en-US" altLang="zh-CN" b="1" dirty="0">
                <a:latin typeface="Microsoft YaHei" panose="020B0503020204020204" pitchFamily="34" charset="-122"/>
                <a:ea typeface="Microsoft YaHei" panose="020B0503020204020204" pitchFamily="34" charset="-122"/>
              </a:rPr>
              <a:t>AUC</a:t>
            </a:r>
            <a:r>
              <a:rPr lang="zh-CN" altLang="en-US" b="1" dirty="0">
                <a:latin typeface="Microsoft YaHei" panose="020B0503020204020204" pitchFamily="34" charset="-122"/>
                <a:ea typeface="Microsoft YaHei" panose="020B0503020204020204" pitchFamily="34" charset="-122"/>
              </a:rPr>
              <a:t>衡量了样本预测的排序质量。</a:t>
            </a:r>
            <a:endParaRPr lang="en-US" altLang="zh-CN" b="1" dirty="0">
              <a:latin typeface="Microsoft YaHei" panose="020B0503020204020204" pitchFamily="34" charset="-122"/>
              <a:ea typeface="Microsoft YaHei" panose="020B0503020204020204" pitchFamily="34" charset="-122"/>
            </a:endParaRPr>
          </a:p>
          <a:p>
            <a:endParaRPr lang="zh-CN" altLang="en-US" dirty="0">
              <a:solidFill>
                <a:srgbClr val="FF0000"/>
              </a:solidFill>
              <a:latin typeface="Microsoft YaHei" panose="020B0503020204020204" pitchFamily="34" charset="-122"/>
              <a:ea typeface="Microsoft YaHei" panose="020B0503020204020204" pitchFamily="34" charset="-122"/>
            </a:endParaRPr>
          </a:p>
        </p:txBody>
      </p:sp>
      <p:pic>
        <p:nvPicPr>
          <p:cNvPr id="1026" name="Picture 2">
            <a:extLst>
              <a:ext uri="{FF2B5EF4-FFF2-40B4-BE49-F238E27FC236}">
                <a16:creationId xmlns:a16="http://schemas.microsoft.com/office/drawing/2014/main" id="{A61CDAD3-1D19-BA52-D2DD-5F4919D6D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0409" y="2570865"/>
            <a:ext cx="4296598" cy="2723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06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0" end="0"/>
                                            </p:txEl>
                                          </p:spTgt>
                                        </p:tgtEl>
                                        <p:attrNameLst>
                                          <p:attrName>style.visibility</p:attrName>
                                        </p:attrNameLst>
                                      </p:cBhvr>
                                      <p:to>
                                        <p:strVal val="visible"/>
                                      </p:to>
                                    </p:set>
                                    <p:animEffect transition="in" filter="fade">
                                      <p:cBhvr>
                                        <p:cTn id="14" dur="1000"/>
                                        <p:tgtEl>
                                          <p:spTgt spid="14">
                                            <p:txEl>
                                              <p:pRg st="0" end="0"/>
                                            </p:txEl>
                                          </p:spTgt>
                                        </p:tgtEl>
                                      </p:cBhvr>
                                    </p:animEffect>
                                    <p:anim calcmode="lin" valueType="num">
                                      <p:cBhvr>
                                        <p:cTn id="15"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代价敏感错误率</a:t>
            </a:r>
          </a:p>
        </p:txBody>
      </p:sp>
      <p:sp>
        <p:nvSpPr>
          <p:cNvPr id="13" name="内容占位符 2"/>
          <p:cNvSpPr txBox="1">
            <a:spLocks/>
          </p:cNvSpPr>
          <p:nvPr/>
        </p:nvSpPr>
        <p:spPr>
          <a:xfrm>
            <a:off x="766993" y="1486947"/>
            <a:ext cx="6622112"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0"/>
              </a:spcBef>
              <a:buNone/>
            </a:pPr>
            <a:r>
              <a:rPr lang="zh-CN" altLang="en-US" dirty="0">
                <a:latin typeface="Microsoft YaHei" panose="020B0503020204020204" pitchFamily="34" charset="-122"/>
                <a:ea typeface="Microsoft YaHei" panose="020B0503020204020204" pitchFamily="34" charset="-122"/>
              </a:rPr>
              <a:t>在分类问题中，</a:t>
            </a:r>
            <a:r>
              <a:rPr lang="zh-CN" altLang="en-US" b="1" dirty="0">
                <a:latin typeface="Microsoft YaHei" panose="020B0503020204020204" pitchFamily="34" charset="-122"/>
                <a:ea typeface="Microsoft YaHei" panose="020B0503020204020204" pitchFamily="34" charset="-122"/>
              </a:rPr>
              <a:t>不同类别的错误分类所造成的代价不同</a:t>
            </a:r>
            <a:r>
              <a:rPr lang="zh-CN" altLang="en-US" dirty="0">
                <a:latin typeface="Microsoft YaHei" panose="020B0503020204020204" pitchFamily="34" charset="-122"/>
                <a:ea typeface="Microsoft YaHei" panose="020B0503020204020204" pitchFamily="34" charset="-122"/>
              </a:rPr>
              <a:t>。在某些应用场景下，不同类别的错误分类可能会产生不同的代价。</a:t>
            </a:r>
            <a:r>
              <a:rPr lang="zh-CN" altLang="en-US" b="1" dirty="0">
                <a:solidFill>
                  <a:srgbClr val="013990"/>
                </a:solidFill>
                <a:latin typeface="Microsoft YaHei" panose="020B0503020204020204" pitchFamily="34" charset="-122"/>
                <a:ea typeface="Microsoft YaHei" panose="020B0503020204020204" pitchFamily="34" charset="-122"/>
              </a:rPr>
              <a:t>例如</a:t>
            </a:r>
            <a:r>
              <a:rPr lang="zh-CN" altLang="en-US" dirty="0">
                <a:latin typeface="Microsoft YaHei" panose="020B0503020204020204" pitchFamily="34" charset="-122"/>
                <a:ea typeface="Microsoft YaHei" panose="020B0503020204020204" pitchFamily="34" charset="-122"/>
              </a:rPr>
              <a:t>，在医学诊断中，</a:t>
            </a:r>
            <a:r>
              <a:rPr lang="zh-CN" altLang="en-US" b="1" dirty="0">
                <a:solidFill>
                  <a:srgbClr val="013990"/>
                </a:solidFill>
                <a:latin typeface="Microsoft YaHei" panose="020B0503020204020204" pitchFamily="34" charset="-122"/>
                <a:ea typeface="Microsoft YaHei" panose="020B0503020204020204" pitchFamily="34" charset="-122"/>
              </a:rPr>
              <a:t>将疾病患者错误地分类为健康人可能会带来严重的后果</a:t>
            </a:r>
            <a:r>
              <a:rPr lang="zh-CN" altLang="en-US" dirty="0">
                <a:latin typeface="Microsoft YaHei" panose="020B0503020204020204" pitchFamily="34" charset="-122"/>
                <a:ea typeface="Microsoft YaHei" panose="020B0503020204020204" pitchFamily="34" charset="-122"/>
              </a:rPr>
              <a:t>，而将</a:t>
            </a:r>
            <a:r>
              <a:rPr lang="zh-CN" altLang="en-US" b="1" dirty="0">
                <a:solidFill>
                  <a:srgbClr val="013990"/>
                </a:solidFill>
                <a:latin typeface="Microsoft YaHei" panose="020B0503020204020204" pitchFamily="34" charset="-122"/>
                <a:ea typeface="Microsoft YaHei" panose="020B0503020204020204" pitchFamily="34" charset="-122"/>
              </a:rPr>
              <a:t>健康人错误地分类为疾病患者的后果可能相对较轻</a:t>
            </a:r>
            <a:r>
              <a:rPr lang="zh-CN" altLang="en-US" dirty="0">
                <a:latin typeface="Microsoft YaHei" panose="020B0503020204020204" pitchFamily="34" charset="-122"/>
                <a:ea typeface="Microsoft YaHei" panose="020B0503020204020204" pitchFamily="34" charset="-122"/>
              </a:rPr>
              <a:t>。</a:t>
            </a:r>
          </a:p>
          <a:p>
            <a:pPr marL="457200" lvl="1" indent="0">
              <a:lnSpc>
                <a:spcPct val="120000"/>
              </a:lnSpc>
              <a:spcBef>
                <a:spcPts val="0"/>
              </a:spcBef>
              <a:buNone/>
            </a:pPr>
            <a:endParaRPr lang="zh-CN" altLang="en-US" dirty="0">
              <a:latin typeface="Microsoft YaHei" panose="020B0503020204020204" pitchFamily="34" charset="-122"/>
              <a:ea typeface="Microsoft YaHei" panose="020B0503020204020204" pitchFamily="34" charset="-122"/>
            </a:endParaRP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19F83EEB-01B4-B977-B98B-C9A50FE2D281}"/>
              </a:ext>
            </a:extLst>
          </p:cNvPr>
          <p:cNvSpPr txBox="1"/>
          <p:nvPr/>
        </p:nvSpPr>
        <p:spPr>
          <a:xfrm>
            <a:off x="797355" y="3831771"/>
            <a:ext cx="6591750" cy="1538306"/>
          </a:xfrm>
          <a:prstGeom prst="rect">
            <a:avLst/>
          </a:prstGeom>
          <a:noFill/>
        </p:spPr>
        <p:txBody>
          <a:bodyPr wrap="square">
            <a:spAutoFit/>
          </a:bodyPr>
          <a:lstStyle/>
          <a:p>
            <a:pPr marL="457200" lvl="1" indent="0">
              <a:lnSpc>
                <a:spcPct val="120000"/>
              </a:lnSpc>
              <a:spcBef>
                <a:spcPts val="0"/>
              </a:spcBef>
              <a:buNone/>
            </a:pPr>
            <a:r>
              <a:rPr lang="zh-CN" altLang="en-US" sz="2000" dirty="0">
                <a:latin typeface="Microsoft YaHei" panose="020B0503020204020204" pitchFamily="34" charset="-122"/>
                <a:ea typeface="Microsoft YaHei" panose="020B0503020204020204" pitchFamily="34" charset="-122"/>
              </a:rPr>
              <a:t>传统的分类算法</a:t>
            </a:r>
            <a:r>
              <a:rPr lang="zh-CN" altLang="en-US" sz="2000" b="1" dirty="0">
                <a:solidFill>
                  <a:srgbClr val="C00000"/>
                </a:solidFill>
                <a:latin typeface="Microsoft YaHei" panose="020B0503020204020204" pitchFamily="34" charset="-122"/>
                <a:ea typeface="Microsoft YaHei" panose="020B0503020204020204" pitchFamily="34" charset="-122"/>
              </a:rPr>
              <a:t>通常假设所有的错误分类代价是相同的</a:t>
            </a:r>
            <a:r>
              <a:rPr lang="zh-CN" altLang="en-US" sz="2000" dirty="0">
                <a:latin typeface="Microsoft YaHei" panose="020B0503020204020204" pitchFamily="34" charset="-122"/>
                <a:ea typeface="Microsoft YaHei" panose="020B0503020204020204" pitchFamily="34" charset="-122"/>
              </a:rPr>
              <a:t>，但在实际应用中，这种情况并不常见。</a:t>
            </a:r>
            <a:r>
              <a:rPr lang="zh-CN" altLang="en-US" sz="2000" b="1" u="sng" dirty="0">
                <a:solidFill>
                  <a:srgbClr val="013990"/>
                </a:solidFill>
                <a:latin typeface="Microsoft YaHei" panose="020B0503020204020204" pitchFamily="34" charset="-122"/>
                <a:ea typeface="Microsoft YaHei" panose="020B0503020204020204" pitchFamily="34" charset="-122"/>
              </a:rPr>
              <a:t>代价敏感错误率</a:t>
            </a:r>
            <a:r>
              <a:rPr lang="zh-CN" altLang="en-US" sz="2000" b="1" dirty="0">
                <a:latin typeface="Microsoft YaHei" panose="020B0503020204020204" pitchFamily="34" charset="-122"/>
                <a:ea typeface="Microsoft YaHei" panose="020B0503020204020204" pitchFamily="34" charset="-122"/>
              </a:rPr>
              <a:t>的目标是通过考虑不同类别的错误分类代价，使得模型在测试阶段能够最小化总体代价</a:t>
            </a:r>
            <a:r>
              <a:rPr lang="zh-CN" altLang="en-US" sz="2000" dirty="0">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3254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代价敏感错误率</a:t>
            </a:r>
          </a:p>
        </p:txBody>
      </p:sp>
      <p:sp>
        <p:nvSpPr>
          <p:cNvPr id="13" name="内容占位符 2"/>
          <p:cNvSpPr txBox="1">
            <a:spLocks/>
          </p:cNvSpPr>
          <p:nvPr/>
        </p:nvSpPr>
        <p:spPr>
          <a:xfrm>
            <a:off x="0" y="991331"/>
            <a:ext cx="8523514" cy="1512383"/>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0"/>
              </a:spcBef>
              <a:buNone/>
            </a:pPr>
            <a:r>
              <a:rPr lang="zh-CN" altLang="en-US" b="0" i="0" dirty="0">
                <a:effectLst/>
                <a:latin typeface="Microsoft YaHei" panose="020B0503020204020204" pitchFamily="34" charset="-122"/>
                <a:ea typeface="Microsoft YaHei" panose="020B0503020204020204" pitchFamily="34" charset="-122"/>
              </a:rPr>
              <a:t>在代价敏感错误率中，通常会</a:t>
            </a:r>
            <a:r>
              <a:rPr lang="zh-CN" altLang="en-US" b="1" i="0" dirty="0">
                <a:solidFill>
                  <a:srgbClr val="C00000"/>
                </a:solidFill>
                <a:effectLst/>
                <a:latin typeface="Microsoft YaHei" panose="020B0503020204020204" pitchFamily="34" charset="-122"/>
                <a:ea typeface="Microsoft YaHei" panose="020B0503020204020204" pitchFamily="34" charset="-122"/>
              </a:rPr>
              <a:t>引入代价矩阵（</a:t>
            </a:r>
            <a:r>
              <a:rPr lang="en" altLang="zh-CN" b="1" i="0" dirty="0">
                <a:solidFill>
                  <a:srgbClr val="C00000"/>
                </a:solidFill>
                <a:effectLst/>
                <a:latin typeface="Microsoft YaHei" panose="020B0503020204020204" pitchFamily="34" charset="-122"/>
                <a:ea typeface="Microsoft YaHei" panose="020B0503020204020204" pitchFamily="34" charset="-122"/>
              </a:rPr>
              <a:t>cost matrix</a:t>
            </a:r>
            <a:r>
              <a:rPr lang="zh-CN" altLang="en" b="1" i="0" dirty="0">
                <a:solidFill>
                  <a:srgbClr val="C00000"/>
                </a:solidFill>
                <a:effectLst/>
                <a:latin typeface="Microsoft YaHei" panose="020B0503020204020204" pitchFamily="34" charset="-122"/>
                <a:ea typeface="Microsoft YaHei" panose="020B0503020204020204" pitchFamily="34" charset="-122"/>
              </a:rPr>
              <a:t>）</a:t>
            </a:r>
            <a:r>
              <a:rPr lang="zh-CN" altLang="en-US" b="1" i="0" dirty="0">
                <a:solidFill>
                  <a:srgbClr val="C00000"/>
                </a:solidFill>
                <a:effectLst/>
                <a:latin typeface="Microsoft YaHei" panose="020B0503020204020204" pitchFamily="34" charset="-122"/>
                <a:ea typeface="Microsoft YaHei" panose="020B0503020204020204" pitchFamily="34" charset="-122"/>
              </a:rPr>
              <a:t>来描述不同类别之间的代价关系</a:t>
            </a:r>
            <a:r>
              <a:rPr lang="zh-CN" altLang="en-US" b="0" i="0" dirty="0">
                <a:effectLst/>
                <a:latin typeface="Microsoft YaHei" panose="020B0503020204020204" pitchFamily="34" charset="-122"/>
                <a:ea typeface="Microsoft YaHei" panose="020B0503020204020204" pitchFamily="34" charset="-122"/>
              </a:rPr>
              <a:t>。</a:t>
            </a:r>
            <a:r>
              <a:rPr lang="zh-CN" altLang="en-US" b="1" i="0" dirty="0">
                <a:effectLst/>
                <a:latin typeface="Microsoft YaHei" panose="020B0503020204020204" pitchFamily="34" charset="-122"/>
                <a:ea typeface="Microsoft YaHei" panose="020B0503020204020204" pitchFamily="34" charset="-122"/>
              </a:rPr>
              <a:t>代价矩阵是一个二维矩阵</a:t>
            </a:r>
            <a:r>
              <a:rPr lang="zh-CN" altLang="en-US" dirty="0">
                <a:latin typeface="Microsoft YaHei" panose="020B0503020204020204" pitchFamily="34" charset="-122"/>
                <a:ea typeface="Microsoft YaHei" panose="020B0503020204020204" pitchFamily="34" charset="-122"/>
              </a:rPr>
              <a:t>。</a:t>
            </a:r>
          </a:p>
          <a:p>
            <a:pPr marL="457200" lvl="1" indent="0">
              <a:lnSpc>
                <a:spcPct val="120000"/>
              </a:lnSpc>
              <a:spcBef>
                <a:spcPts val="0"/>
              </a:spcBef>
              <a:buNone/>
            </a:pPr>
            <a:endParaRPr lang="zh-CN" altLang="en-US" dirty="0">
              <a:latin typeface="Microsoft YaHei" panose="020B0503020204020204" pitchFamily="34" charset="-122"/>
              <a:ea typeface="Microsoft YaHei" panose="020B0503020204020204" pitchFamily="34" charset="-122"/>
            </a:endParaRP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26792580-4ECE-1D61-D6BE-C2312D9D6642}"/>
              </a:ext>
            </a:extLst>
          </p:cNvPr>
          <p:cNvPicPr>
            <a:picLocks noChangeAspect="1"/>
          </p:cNvPicPr>
          <p:nvPr/>
        </p:nvPicPr>
        <p:blipFill>
          <a:blip r:embed="rId2"/>
          <a:stretch>
            <a:fillRect/>
          </a:stretch>
        </p:blipFill>
        <p:spPr>
          <a:xfrm>
            <a:off x="574245" y="2152271"/>
            <a:ext cx="7772400" cy="1490846"/>
          </a:xfrm>
          <a:prstGeom prst="rect">
            <a:avLst/>
          </a:prstGeom>
        </p:spPr>
      </p:pic>
      <p:pic>
        <p:nvPicPr>
          <p:cNvPr id="4" name="图片 3">
            <a:extLst>
              <a:ext uri="{FF2B5EF4-FFF2-40B4-BE49-F238E27FC236}">
                <a16:creationId xmlns:a16="http://schemas.microsoft.com/office/drawing/2014/main" id="{BE40C074-6604-E746-408A-DC962C6376F3}"/>
              </a:ext>
            </a:extLst>
          </p:cNvPr>
          <p:cNvPicPr>
            <a:picLocks noChangeAspect="1"/>
          </p:cNvPicPr>
          <p:nvPr/>
        </p:nvPicPr>
        <p:blipFill>
          <a:blip r:embed="rId3"/>
          <a:stretch>
            <a:fillRect/>
          </a:stretch>
        </p:blipFill>
        <p:spPr>
          <a:xfrm>
            <a:off x="2825296" y="3905071"/>
            <a:ext cx="3493407" cy="1961598"/>
          </a:xfrm>
          <a:prstGeom prst="rect">
            <a:avLst/>
          </a:prstGeom>
        </p:spPr>
      </p:pic>
    </p:spTree>
    <p:extLst>
      <p:ext uri="{BB962C8B-B14F-4D97-AF65-F5344CB8AC3E}">
        <p14:creationId xmlns:p14="http://schemas.microsoft.com/office/powerpoint/2010/main" val="3546333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代价敏感错误率</a:t>
            </a:r>
          </a:p>
        </p:txBody>
      </p:sp>
      <p:sp>
        <p:nvSpPr>
          <p:cNvPr id="13" name="内容占位符 2"/>
          <p:cNvSpPr txBox="1">
            <a:spLocks/>
          </p:cNvSpPr>
          <p:nvPr/>
        </p:nvSpPr>
        <p:spPr>
          <a:xfrm>
            <a:off x="0" y="991331"/>
            <a:ext cx="8523514" cy="1512383"/>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0"/>
              </a:spcBef>
              <a:buNone/>
            </a:pPr>
            <a:r>
              <a:rPr lang="zh-CN" altLang="en-US" i="0" dirty="0">
                <a:effectLst/>
                <a:latin typeface="Microsoft YaHei" panose="020B0503020204020204" pitchFamily="34" charset="-122"/>
                <a:ea typeface="Microsoft YaHei" panose="020B0503020204020204" pitchFamily="34" charset="-122"/>
              </a:rPr>
              <a:t>在实际应用中，</a:t>
            </a:r>
            <a:r>
              <a:rPr lang="zh-CN" altLang="en-US" b="1" i="0" dirty="0">
                <a:effectLst/>
                <a:latin typeface="Microsoft YaHei" panose="020B0503020204020204" pitchFamily="34" charset="-122"/>
                <a:ea typeface="Microsoft YaHei" panose="020B0503020204020204" pitchFamily="34" charset="-122"/>
              </a:rPr>
              <a:t>代价敏感错误率</a:t>
            </a:r>
            <a:r>
              <a:rPr lang="zh-CN" altLang="en-US" i="0" dirty="0">
                <a:effectLst/>
                <a:latin typeface="Microsoft YaHei" panose="020B0503020204020204" pitchFamily="34" charset="-122"/>
                <a:ea typeface="Microsoft YaHei" panose="020B0503020204020204" pitchFamily="34" charset="-122"/>
              </a:rPr>
              <a:t>通常用于</a:t>
            </a:r>
            <a:r>
              <a:rPr lang="zh-CN" altLang="en-US" b="1" i="0" dirty="0">
                <a:solidFill>
                  <a:srgbClr val="013990"/>
                </a:solidFill>
                <a:effectLst/>
                <a:latin typeface="Microsoft YaHei" panose="020B0503020204020204" pitchFamily="34" charset="-122"/>
                <a:ea typeface="Microsoft YaHei" panose="020B0503020204020204" pitchFamily="34" charset="-122"/>
              </a:rPr>
              <a:t>处理那些不同类别错误分类代价差异较大的问题</a:t>
            </a:r>
            <a:r>
              <a:rPr lang="zh-CN" altLang="en-US" i="0" dirty="0">
                <a:effectLst/>
                <a:latin typeface="Microsoft YaHei" panose="020B0503020204020204" pitchFamily="34" charset="-122"/>
                <a:ea typeface="Microsoft YaHei" panose="020B0503020204020204" pitchFamily="34" charset="-122"/>
              </a:rPr>
              <a:t>，例如</a:t>
            </a:r>
            <a:r>
              <a:rPr lang="zh-CN" altLang="en-US" b="1" i="0" dirty="0">
                <a:solidFill>
                  <a:srgbClr val="013990"/>
                </a:solidFill>
                <a:effectLst/>
                <a:latin typeface="Microsoft YaHei" panose="020B0503020204020204" pitchFamily="34" charset="-122"/>
                <a:ea typeface="Microsoft YaHei" panose="020B0503020204020204" pitchFamily="34" charset="-122"/>
              </a:rPr>
              <a:t>欺诈检测、医学诊断</a:t>
            </a:r>
            <a:r>
              <a:rPr lang="zh-CN" altLang="en-US" i="0" dirty="0">
                <a:effectLst/>
                <a:latin typeface="Microsoft YaHei" panose="020B0503020204020204" pitchFamily="34" charset="-122"/>
                <a:ea typeface="Microsoft YaHei" panose="020B0503020204020204" pitchFamily="34" charset="-122"/>
              </a:rPr>
              <a:t>等领域。在训练分类模型时，引入代价矩阵可以帮助模型更好地适应不同类别的代价，从而提高模型在实际应用中的性能</a:t>
            </a:r>
            <a:endParaRPr lang="zh-CN" altLang="en-US" dirty="0">
              <a:latin typeface="Microsoft YaHei" panose="020B0503020204020204" pitchFamily="34" charset="-122"/>
              <a:ea typeface="Microsoft YaHei" panose="020B0503020204020204" pitchFamily="34" charset="-122"/>
            </a:endParaRP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4E99E62D-662B-2EF3-808C-39F31980C04C}"/>
              </a:ext>
            </a:extLst>
          </p:cNvPr>
          <p:cNvPicPr>
            <a:picLocks noChangeAspect="1"/>
          </p:cNvPicPr>
          <p:nvPr/>
        </p:nvPicPr>
        <p:blipFill>
          <a:blip r:embed="rId2"/>
          <a:stretch>
            <a:fillRect/>
          </a:stretch>
        </p:blipFill>
        <p:spPr>
          <a:xfrm>
            <a:off x="3298371" y="2592209"/>
            <a:ext cx="5225143" cy="2090058"/>
          </a:xfrm>
          <a:prstGeom prst="rect">
            <a:avLst/>
          </a:prstGeom>
        </p:spPr>
      </p:pic>
      <p:pic>
        <p:nvPicPr>
          <p:cNvPr id="7" name="图片 6">
            <a:extLst>
              <a:ext uri="{FF2B5EF4-FFF2-40B4-BE49-F238E27FC236}">
                <a16:creationId xmlns:a16="http://schemas.microsoft.com/office/drawing/2014/main" id="{7C23A1C9-672C-23C7-84CE-E0E1DE8DC201}"/>
              </a:ext>
            </a:extLst>
          </p:cNvPr>
          <p:cNvPicPr>
            <a:picLocks noChangeAspect="1"/>
          </p:cNvPicPr>
          <p:nvPr/>
        </p:nvPicPr>
        <p:blipFill>
          <a:blip r:embed="rId3"/>
          <a:stretch>
            <a:fillRect/>
          </a:stretch>
        </p:blipFill>
        <p:spPr>
          <a:xfrm>
            <a:off x="585798" y="3992156"/>
            <a:ext cx="3493407" cy="1961598"/>
          </a:xfrm>
          <a:prstGeom prst="rect">
            <a:avLst/>
          </a:prstGeom>
        </p:spPr>
      </p:pic>
      <p:sp>
        <p:nvSpPr>
          <p:cNvPr id="9" name="文本框 8">
            <a:extLst>
              <a:ext uri="{FF2B5EF4-FFF2-40B4-BE49-F238E27FC236}">
                <a16:creationId xmlns:a16="http://schemas.microsoft.com/office/drawing/2014/main" id="{0EA115B3-C406-F308-6184-50E74F63C230}"/>
              </a:ext>
            </a:extLst>
          </p:cNvPr>
          <p:cNvSpPr txBox="1"/>
          <p:nvPr/>
        </p:nvSpPr>
        <p:spPr>
          <a:xfrm>
            <a:off x="4317342" y="5220338"/>
            <a:ext cx="4572000" cy="646331"/>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hlinkClick r:id="rId4"/>
              </a:rPr>
              <a:t>https://blog.csdn.net/Don_t_always_ail/article/details/134067717</a:t>
            </a:r>
            <a:endParaRPr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854112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代价曲线</a:t>
            </a: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90F28761-C6A0-64BA-9CE5-C57EEC62B063}"/>
              </a:ext>
            </a:extLst>
          </p:cNvPr>
          <p:cNvSpPr txBox="1"/>
          <p:nvPr/>
        </p:nvSpPr>
        <p:spPr>
          <a:xfrm>
            <a:off x="381000" y="1109808"/>
            <a:ext cx="7886700" cy="727635"/>
          </a:xfrm>
          <a:prstGeom prst="rect">
            <a:avLst/>
          </a:prstGeom>
          <a:noFill/>
        </p:spPr>
        <p:txBody>
          <a:bodyPr wrap="square">
            <a:spAutoFit/>
          </a:bodyPr>
          <a:lstStyle/>
          <a:p>
            <a:pPr>
              <a:lnSpc>
                <a:spcPct val="120000"/>
              </a:lnSpc>
            </a:pPr>
            <a:r>
              <a:rPr lang="zh-CN" altLang="en-US" b="0" i="0" dirty="0">
                <a:effectLst/>
                <a:latin typeface="Microsoft YaHei" panose="020B0503020204020204" pitchFamily="34" charset="-122"/>
                <a:ea typeface="Microsoft YaHei" panose="020B0503020204020204" pitchFamily="34" charset="-122"/>
              </a:rPr>
              <a:t>代价曲线（</a:t>
            </a:r>
            <a:r>
              <a:rPr lang="en" altLang="zh-CN" b="0" i="0" dirty="0">
                <a:effectLst/>
                <a:latin typeface="Microsoft YaHei" panose="020B0503020204020204" pitchFamily="34" charset="-122"/>
                <a:ea typeface="Microsoft YaHei" panose="020B0503020204020204" pitchFamily="34" charset="-122"/>
              </a:rPr>
              <a:t>Cost Curve</a:t>
            </a:r>
            <a:r>
              <a:rPr lang="zh-CN" altLang="en" b="0" i="0" dirty="0">
                <a:effectLst/>
                <a:latin typeface="Microsoft YaHei" panose="020B0503020204020204" pitchFamily="34" charset="-122"/>
                <a:ea typeface="Microsoft YaHei" panose="020B0503020204020204" pitchFamily="34" charset="-122"/>
              </a:rPr>
              <a:t>）</a:t>
            </a:r>
            <a:r>
              <a:rPr lang="zh-CN" altLang="en-US" b="0" i="0" dirty="0">
                <a:effectLst/>
                <a:latin typeface="Microsoft YaHei" panose="020B0503020204020204" pitchFamily="34" charset="-122"/>
                <a:ea typeface="Microsoft YaHei" panose="020B0503020204020204" pitchFamily="34" charset="-122"/>
              </a:rPr>
              <a:t>是一个用于</a:t>
            </a:r>
            <a:r>
              <a:rPr lang="zh-CN" altLang="en-US" b="1" i="0" dirty="0">
                <a:effectLst/>
                <a:latin typeface="Microsoft YaHei" panose="020B0503020204020204" pitchFamily="34" charset="-122"/>
                <a:ea typeface="Microsoft YaHei" panose="020B0503020204020204" pitchFamily="34" charset="-122"/>
              </a:rPr>
              <a:t>评估代价敏感学习算法性能</a:t>
            </a:r>
            <a:r>
              <a:rPr lang="zh-CN" altLang="en-US" b="0" i="0" dirty="0">
                <a:effectLst/>
                <a:latin typeface="Microsoft YaHei" panose="020B0503020204020204" pitchFamily="34" charset="-122"/>
                <a:ea typeface="Microsoft YaHei" panose="020B0503020204020204" pitchFamily="34" charset="-122"/>
              </a:rPr>
              <a:t>的工具。在许多实际问题中，不同类别的错误分类可能导致不同的代价。</a:t>
            </a:r>
            <a:endParaRPr lang="zh-CN" altLang="en-US" dirty="0">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A044F1F3-90E8-9AD4-15CB-10269FAB2811}"/>
              </a:ext>
            </a:extLst>
          </p:cNvPr>
          <p:cNvSpPr txBox="1"/>
          <p:nvPr/>
        </p:nvSpPr>
        <p:spPr>
          <a:xfrm>
            <a:off x="381000" y="1999485"/>
            <a:ext cx="8425543" cy="1705403"/>
          </a:xfrm>
          <a:prstGeom prst="rect">
            <a:avLst/>
          </a:prstGeom>
          <a:noFill/>
        </p:spPr>
        <p:txBody>
          <a:bodyPr wrap="square">
            <a:spAutoFit/>
          </a:bodyPr>
          <a:lstStyle/>
          <a:p>
            <a:pPr>
              <a:lnSpc>
                <a:spcPct val="150000"/>
              </a:lnSpc>
            </a:pPr>
            <a:r>
              <a:rPr lang="zh-CN" altLang="en-US" b="1" dirty="0">
                <a:latin typeface="Microsoft YaHei" panose="020B0503020204020204" pitchFamily="34" charset="-122"/>
                <a:ea typeface="Microsoft YaHei" panose="020B0503020204020204" pitchFamily="34" charset="-122"/>
              </a:rPr>
              <a:t>代价曲线的意义和应用</a:t>
            </a:r>
            <a:r>
              <a:rPr lang="zh-CN" altLang="en-US" dirty="0">
                <a:latin typeface="Microsoft YaHei" panose="020B0503020204020204" pitchFamily="34" charset="-122"/>
                <a:ea typeface="Microsoft YaHei" panose="020B0503020204020204" pitchFamily="34" charset="-122"/>
              </a:rPr>
              <a:t>包括以下几点：</a:t>
            </a:r>
          </a:p>
          <a:p>
            <a:pPr marL="285750" indent="-285750">
              <a:lnSpc>
                <a:spcPct val="150000"/>
              </a:lnSpc>
              <a:buFont typeface="Wingdings" pitchFamily="2" charset="2"/>
              <a:buChar char="Ø"/>
            </a:pPr>
            <a:r>
              <a:rPr lang="zh-CN" altLang="en-US" b="1" dirty="0">
                <a:solidFill>
                  <a:srgbClr val="C00000"/>
                </a:solidFill>
                <a:latin typeface="Microsoft YaHei" panose="020B0503020204020204" pitchFamily="34" charset="-122"/>
                <a:ea typeface="Microsoft YaHei" panose="020B0503020204020204" pitchFamily="34" charset="-122"/>
              </a:rPr>
              <a:t>选择最优分类阈值</a:t>
            </a:r>
            <a:r>
              <a:rPr lang="zh-CN" altLang="en-US" dirty="0">
                <a:latin typeface="Microsoft YaHei" panose="020B0503020204020204" pitchFamily="34" charset="-122"/>
                <a:ea typeface="Microsoft YaHei" panose="020B0503020204020204" pitchFamily="34" charset="-122"/>
              </a:rPr>
              <a:t>： 代价曲线可以帮助你选择一个最适合的分类阈值，使得在考虑不同类别错误分类代价的情况下，</a:t>
            </a:r>
            <a:r>
              <a:rPr lang="zh-CN" altLang="en-US" b="1" dirty="0">
                <a:latin typeface="Microsoft YaHei" panose="020B0503020204020204" pitchFamily="34" charset="-122"/>
                <a:ea typeface="Microsoft YaHei" panose="020B0503020204020204" pitchFamily="34" charset="-122"/>
              </a:rPr>
              <a:t>总代价最小化</a:t>
            </a:r>
            <a:r>
              <a:rPr lang="zh-CN" altLang="en-US" dirty="0">
                <a:latin typeface="Microsoft YaHei" panose="020B0503020204020204" pitchFamily="34" charset="-122"/>
                <a:ea typeface="Microsoft YaHei" panose="020B0503020204020204" pitchFamily="34" charset="-122"/>
              </a:rPr>
              <a:t>。通过</a:t>
            </a:r>
            <a:r>
              <a:rPr lang="zh-CN" altLang="en-US" b="1" dirty="0">
                <a:latin typeface="Microsoft YaHei" panose="020B0503020204020204" pitchFamily="34" charset="-122"/>
                <a:ea typeface="Microsoft YaHei" panose="020B0503020204020204" pitchFamily="34" charset="-122"/>
              </a:rPr>
              <a:t>观察代价曲线</a:t>
            </a:r>
            <a:r>
              <a:rPr lang="zh-CN" altLang="en-US" dirty="0">
                <a:latin typeface="Microsoft YaHei" panose="020B0503020204020204" pitchFamily="34" charset="-122"/>
                <a:ea typeface="Microsoft YaHei" panose="020B0503020204020204" pitchFamily="34" charset="-122"/>
              </a:rPr>
              <a:t>，你可以</a:t>
            </a:r>
            <a:r>
              <a:rPr lang="zh-CN" altLang="en-US" b="1" dirty="0">
                <a:latin typeface="Microsoft YaHei" panose="020B0503020204020204" pitchFamily="34" charset="-122"/>
                <a:ea typeface="Microsoft YaHei" panose="020B0503020204020204" pitchFamily="34" charset="-122"/>
              </a:rPr>
              <a:t>选择使得总代价最小的分类阈值</a:t>
            </a:r>
            <a:r>
              <a:rPr lang="zh-CN" altLang="en-US" dirty="0">
                <a:latin typeface="Microsoft YaHei" panose="020B0503020204020204" pitchFamily="34" charset="-122"/>
                <a:ea typeface="Microsoft YaHei" panose="020B0503020204020204" pitchFamily="34" charset="-122"/>
              </a:rPr>
              <a:t>，从而在实际应用中取得更好的性能。</a:t>
            </a:r>
          </a:p>
        </p:txBody>
      </p:sp>
    </p:spTree>
    <p:extLst>
      <p:ext uri="{BB962C8B-B14F-4D97-AF65-F5344CB8AC3E}">
        <p14:creationId xmlns:p14="http://schemas.microsoft.com/office/powerpoint/2010/main" val="36383221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代价曲线</a:t>
            </a: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90F28761-C6A0-64BA-9CE5-C57EEC62B063}"/>
              </a:ext>
            </a:extLst>
          </p:cNvPr>
          <p:cNvSpPr txBox="1"/>
          <p:nvPr/>
        </p:nvSpPr>
        <p:spPr>
          <a:xfrm>
            <a:off x="381000" y="1109808"/>
            <a:ext cx="7886700" cy="727635"/>
          </a:xfrm>
          <a:prstGeom prst="rect">
            <a:avLst/>
          </a:prstGeom>
          <a:noFill/>
        </p:spPr>
        <p:txBody>
          <a:bodyPr wrap="square">
            <a:spAutoFit/>
          </a:bodyPr>
          <a:lstStyle/>
          <a:p>
            <a:pPr>
              <a:lnSpc>
                <a:spcPct val="120000"/>
              </a:lnSpc>
            </a:pPr>
            <a:r>
              <a:rPr lang="zh-CN" altLang="en-US" b="0" i="0" dirty="0">
                <a:effectLst/>
                <a:latin typeface="Microsoft YaHei" panose="020B0503020204020204" pitchFamily="34" charset="-122"/>
                <a:ea typeface="Microsoft YaHei" panose="020B0503020204020204" pitchFamily="34" charset="-122"/>
              </a:rPr>
              <a:t>代价曲线（</a:t>
            </a:r>
            <a:r>
              <a:rPr lang="en" altLang="zh-CN" b="0" i="0" dirty="0">
                <a:effectLst/>
                <a:latin typeface="Microsoft YaHei" panose="020B0503020204020204" pitchFamily="34" charset="-122"/>
                <a:ea typeface="Microsoft YaHei" panose="020B0503020204020204" pitchFamily="34" charset="-122"/>
              </a:rPr>
              <a:t>Cost Curve</a:t>
            </a:r>
            <a:r>
              <a:rPr lang="zh-CN" altLang="en" b="0" i="0" dirty="0">
                <a:effectLst/>
                <a:latin typeface="Microsoft YaHei" panose="020B0503020204020204" pitchFamily="34" charset="-122"/>
                <a:ea typeface="Microsoft YaHei" panose="020B0503020204020204" pitchFamily="34" charset="-122"/>
              </a:rPr>
              <a:t>）</a:t>
            </a:r>
            <a:r>
              <a:rPr lang="zh-CN" altLang="en-US" b="0" i="0" dirty="0">
                <a:effectLst/>
                <a:latin typeface="Microsoft YaHei" panose="020B0503020204020204" pitchFamily="34" charset="-122"/>
                <a:ea typeface="Microsoft YaHei" panose="020B0503020204020204" pitchFamily="34" charset="-122"/>
              </a:rPr>
              <a:t>是一个用于</a:t>
            </a:r>
            <a:r>
              <a:rPr lang="zh-CN" altLang="en-US" b="1" i="0" dirty="0">
                <a:effectLst/>
                <a:latin typeface="Microsoft YaHei" panose="020B0503020204020204" pitchFamily="34" charset="-122"/>
                <a:ea typeface="Microsoft YaHei" panose="020B0503020204020204" pitchFamily="34" charset="-122"/>
              </a:rPr>
              <a:t>评估代价敏感学习算法性能</a:t>
            </a:r>
            <a:r>
              <a:rPr lang="zh-CN" altLang="en-US" b="0" i="0" dirty="0">
                <a:effectLst/>
                <a:latin typeface="Microsoft YaHei" panose="020B0503020204020204" pitchFamily="34" charset="-122"/>
                <a:ea typeface="Microsoft YaHei" panose="020B0503020204020204" pitchFamily="34" charset="-122"/>
              </a:rPr>
              <a:t>的工具。在许多实际问题中，不同类别的错误分类可能导致不同的代价。</a:t>
            </a:r>
            <a:endParaRPr lang="zh-CN" altLang="en-US" dirty="0">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A044F1F3-90E8-9AD4-15CB-10269FAB2811}"/>
              </a:ext>
            </a:extLst>
          </p:cNvPr>
          <p:cNvSpPr txBox="1"/>
          <p:nvPr/>
        </p:nvSpPr>
        <p:spPr>
          <a:xfrm>
            <a:off x="381000" y="1999485"/>
            <a:ext cx="8425543" cy="2536400"/>
          </a:xfrm>
          <a:prstGeom prst="rect">
            <a:avLst/>
          </a:prstGeom>
          <a:noFill/>
        </p:spPr>
        <p:txBody>
          <a:bodyPr wrap="square">
            <a:spAutoFit/>
          </a:bodyPr>
          <a:lstStyle/>
          <a:p>
            <a:pPr>
              <a:lnSpc>
                <a:spcPct val="150000"/>
              </a:lnSpc>
            </a:pPr>
            <a:r>
              <a:rPr lang="zh-CN" altLang="en-US" b="1" dirty="0">
                <a:latin typeface="Microsoft YaHei" panose="020B0503020204020204" pitchFamily="34" charset="-122"/>
                <a:ea typeface="Microsoft YaHei" panose="020B0503020204020204" pitchFamily="34" charset="-122"/>
              </a:rPr>
              <a:t>代价曲线的意义和应用</a:t>
            </a:r>
            <a:r>
              <a:rPr lang="zh-CN" altLang="en-US" dirty="0">
                <a:latin typeface="Microsoft YaHei" panose="020B0503020204020204" pitchFamily="34" charset="-122"/>
                <a:ea typeface="Microsoft YaHei" panose="020B0503020204020204" pitchFamily="34" charset="-122"/>
              </a:rPr>
              <a:t>包括以下几点：</a:t>
            </a:r>
          </a:p>
          <a:p>
            <a:pPr marL="285750" indent="-285750">
              <a:lnSpc>
                <a:spcPct val="150000"/>
              </a:lnSpc>
              <a:buFont typeface="Wingdings" pitchFamily="2" charset="2"/>
              <a:buChar char="Ø"/>
            </a:pPr>
            <a:r>
              <a:rPr lang="zh-CN" altLang="en-US" b="1" dirty="0">
                <a:solidFill>
                  <a:schemeClr val="bg1">
                    <a:lumMod val="95000"/>
                  </a:schemeClr>
                </a:solidFill>
                <a:latin typeface="Microsoft YaHei" panose="020B0503020204020204" pitchFamily="34" charset="-122"/>
                <a:ea typeface="Microsoft YaHei" panose="020B0503020204020204" pitchFamily="34" charset="-122"/>
              </a:rPr>
              <a:t>选择最优分类阈值</a:t>
            </a:r>
            <a:r>
              <a:rPr lang="zh-CN" altLang="en-US" dirty="0">
                <a:solidFill>
                  <a:schemeClr val="bg1">
                    <a:lumMod val="95000"/>
                  </a:schemeClr>
                </a:solidFill>
                <a:latin typeface="Microsoft YaHei" panose="020B0503020204020204" pitchFamily="34" charset="-122"/>
                <a:ea typeface="Microsoft YaHei" panose="020B0503020204020204" pitchFamily="34" charset="-122"/>
              </a:rPr>
              <a:t>： 代价曲线可以帮助你选择一个最适合的分类阈值，使得在考虑不同类别错误分类代价的情况下，总代价最小化。通过观察代价曲线，你可以选择使得总代价最小的分类阈值，从而在实际应用中取得更好的性能。</a:t>
            </a:r>
          </a:p>
          <a:p>
            <a:pPr marL="285750" indent="-285750">
              <a:lnSpc>
                <a:spcPct val="150000"/>
              </a:lnSpc>
              <a:buFont typeface="Wingdings" pitchFamily="2" charset="2"/>
              <a:buChar char="Ø"/>
            </a:pPr>
            <a:r>
              <a:rPr lang="zh-CN" altLang="en-US" b="1" dirty="0">
                <a:solidFill>
                  <a:srgbClr val="C00000"/>
                </a:solidFill>
                <a:latin typeface="Microsoft YaHei" panose="020B0503020204020204" pitchFamily="34" charset="-122"/>
                <a:ea typeface="Microsoft YaHei" panose="020B0503020204020204" pitchFamily="34" charset="-122"/>
              </a:rPr>
              <a:t>模型选择和比较</a:t>
            </a:r>
            <a:r>
              <a:rPr lang="zh-CN" altLang="en-US" dirty="0">
                <a:latin typeface="Microsoft YaHei" panose="020B0503020204020204" pitchFamily="34" charset="-122"/>
                <a:ea typeface="Microsoft YaHei" panose="020B0503020204020204" pitchFamily="34" charset="-122"/>
              </a:rPr>
              <a:t>： 代价曲线可以用于比较不同模型在代价敏感情况下的性能。通过比较不同模型在代价曲线上的表现，你可以选择最适合你问题的模型。</a:t>
            </a:r>
          </a:p>
        </p:txBody>
      </p:sp>
    </p:spTree>
    <p:extLst>
      <p:ext uri="{BB962C8B-B14F-4D97-AF65-F5344CB8AC3E}">
        <p14:creationId xmlns:p14="http://schemas.microsoft.com/office/powerpoint/2010/main" val="1789503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代价曲线</a:t>
            </a: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90F28761-C6A0-64BA-9CE5-C57EEC62B063}"/>
              </a:ext>
            </a:extLst>
          </p:cNvPr>
          <p:cNvSpPr txBox="1"/>
          <p:nvPr/>
        </p:nvSpPr>
        <p:spPr>
          <a:xfrm>
            <a:off x="381000" y="1109808"/>
            <a:ext cx="7886700" cy="727635"/>
          </a:xfrm>
          <a:prstGeom prst="rect">
            <a:avLst/>
          </a:prstGeom>
          <a:noFill/>
        </p:spPr>
        <p:txBody>
          <a:bodyPr wrap="square">
            <a:spAutoFit/>
          </a:bodyPr>
          <a:lstStyle/>
          <a:p>
            <a:pPr>
              <a:lnSpc>
                <a:spcPct val="120000"/>
              </a:lnSpc>
            </a:pPr>
            <a:r>
              <a:rPr lang="zh-CN" altLang="en-US" b="0" i="0" dirty="0">
                <a:effectLst/>
                <a:latin typeface="Microsoft YaHei" panose="020B0503020204020204" pitchFamily="34" charset="-122"/>
                <a:ea typeface="Microsoft YaHei" panose="020B0503020204020204" pitchFamily="34" charset="-122"/>
              </a:rPr>
              <a:t>代价曲线（</a:t>
            </a:r>
            <a:r>
              <a:rPr lang="en" altLang="zh-CN" b="0" i="0" dirty="0">
                <a:effectLst/>
                <a:latin typeface="Microsoft YaHei" panose="020B0503020204020204" pitchFamily="34" charset="-122"/>
                <a:ea typeface="Microsoft YaHei" panose="020B0503020204020204" pitchFamily="34" charset="-122"/>
              </a:rPr>
              <a:t>Cost Curve</a:t>
            </a:r>
            <a:r>
              <a:rPr lang="zh-CN" altLang="en" b="0" i="0" dirty="0">
                <a:effectLst/>
                <a:latin typeface="Microsoft YaHei" panose="020B0503020204020204" pitchFamily="34" charset="-122"/>
                <a:ea typeface="Microsoft YaHei" panose="020B0503020204020204" pitchFamily="34" charset="-122"/>
              </a:rPr>
              <a:t>）</a:t>
            </a:r>
            <a:r>
              <a:rPr lang="zh-CN" altLang="en-US" b="0" i="0" dirty="0">
                <a:effectLst/>
                <a:latin typeface="Microsoft YaHei" panose="020B0503020204020204" pitchFamily="34" charset="-122"/>
                <a:ea typeface="Microsoft YaHei" panose="020B0503020204020204" pitchFamily="34" charset="-122"/>
              </a:rPr>
              <a:t>是一个用于</a:t>
            </a:r>
            <a:r>
              <a:rPr lang="zh-CN" altLang="en-US" b="1" i="0" dirty="0">
                <a:effectLst/>
                <a:latin typeface="Microsoft YaHei" panose="020B0503020204020204" pitchFamily="34" charset="-122"/>
                <a:ea typeface="Microsoft YaHei" panose="020B0503020204020204" pitchFamily="34" charset="-122"/>
              </a:rPr>
              <a:t>评估代价敏感学习算法性能</a:t>
            </a:r>
            <a:r>
              <a:rPr lang="zh-CN" altLang="en-US" b="0" i="0" dirty="0">
                <a:effectLst/>
                <a:latin typeface="Microsoft YaHei" panose="020B0503020204020204" pitchFamily="34" charset="-122"/>
                <a:ea typeface="Microsoft YaHei" panose="020B0503020204020204" pitchFamily="34" charset="-122"/>
              </a:rPr>
              <a:t>的工具。在许多实际问题中，不同类别的错误分类可能导致不同的代价。</a:t>
            </a:r>
            <a:endParaRPr lang="zh-CN" altLang="en-US" dirty="0">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A044F1F3-90E8-9AD4-15CB-10269FAB2811}"/>
              </a:ext>
            </a:extLst>
          </p:cNvPr>
          <p:cNvSpPr txBox="1"/>
          <p:nvPr/>
        </p:nvSpPr>
        <p:spPr>
          <a:xfrm>
            <a:off x="381000" y="1999485"/>
            <a:ext cx="8425543" cy="4198393"/>
          </a:xfrm>
          <a:prstGeom prst="rect">
            <a:avLst/>
          </a:prstGeom>
          <a:noFill/>
        </p:spPr>
        <p:txBody>
          <a:bodyPr wrap="square">
            <a:spAutoFit/>
          </a:bodyPr>
          <a:lstStyle/>
          <a:p>
            <a:pPr>
              <a:lnSpc>
                <a:spcPct val="150000"/>
              </a:lnSpc>
            </a:pPr>
            <a:r>
              <a:rPr lang="zh-CN" altLang="en-US" b="1" dirty="0">
                <a:latin typeface="Microsoft YaHei" panose="020B0503020204020204" pitchFamily="34" charset="-122"/>
                <a:ea typeface="Microsoft YaHei" panose="020B0503020204020204" pitchFamily="34" charset="-122"/>
              </a:rPr>
              <a:t>代价曲线的意义和应用</a:t>
            </a:r>
            <a:r>
              <a:rPr lang="zh-CN" altLang="en-US" dirty="0">
                <a:latin typeface="Microsoft YaHei" panose="020B0503020204020204" pitchFamily="34" charset="-122"/>
                <a:ea typeface="Microsoft YaHei" panose="020B0503020204020204" pitchFamily="34" charset="-122"/>
              </a:rPr>
              <a:t>包括以下几点：</a:t>
            </a:r>
          </a:p>
          <a:p>
            <a:pPr marL="285750" indent="-285750">
              <a:lnSpc>
                <a:spcPct val="150000"/>
              </a:lnSpc>
              <a:buFont typeface="Wingdings" pitchFamily="2" charset="2"/>
              <a:buChar char="Ø"/>
            </a:pPr>
            <a:r>
              <a:rPr lang="zh-CN" altLang="en-US" b="1" dirty="0">
                <a:solidFill>
                  <a:schemeClr val="bg1">
                    <a:lumMod val="95000"/>
                  </a:schemeClr>
                </a:solidFill>
                <a:latin typeface="Microsoft YaHei" panose="020B0503020204020204" pitchFamily="34" charset="-122"/>
                <a:ea typeface="Microsoft YaHei" panose="020B0503020204020204" pitchFamily="34" charset="-122"/>
              </a:rPr>
              <a:t>选择最优分类阈值</a:t>
            </a:r>
            <a:r>
              <a:rPr lang="zh-CN" altLang="en-US" dirty="0">
                <a:solidFill>
                  <a:schemeClr val="bg1">
                    <a:lumMod val="95000"/>
                  </a:schemeClr>
                </a:solidFill>
                <a:latin typeface="Microsoft YaHei" panose="020B0503020204020204" pitchFamily="34" charset="-122"/>
                <a:ea typeface="Microsoft YaHei" panose="020B0503020204020204" pitchFamily="34" charset="-122"/>
              </a:rPr>
              <a:t>： 代价曲线可以帮助你选择一个最适合的分类阈值，使得在考虑不同类别错误分类代价的情况下，总代价最小化。通过观察代价曲线，你可以选择使得总代价最小的分类阈值，从而在实际应用中取得更好的性能。</a:t>
            </a:r>
          </a:p>
          <a:p>
            <a:pPr marL="285750" indent="-285750">
              <a:lnSpc>
                <a:spcPct val="150000"/>
              </a:lnSpc>
              <a:buFont typeface="Wingdings" pitchFamily="2" charset="2"/>
              <a:buChar char="Ø"/>
            </a:pPr>
            <a:r>
              <a:rPr lang="zh-CN" altLang="en-US" dirty="0">
                <a:solidFill>
                  <a:schemeClr val="bg1">
                    <a:lumMod val="95000"/>
                  </a:schemeClr>
                </a:solidFill>
                <a:latin typeface="Microsoft YaHei" panose="020B0503020204020204" pitchFamily="34" charset="-122"/>
                <a:ea typeface="Microsoft YaHei" panose="020B0503020204020204" pitchFamily="34" charset="-122"/>
              </a:rPr>
              <a:t>模型选择和比较： 代价曲线可以用于比较不同模型在代价敏感情况下的性能。通过比较不同模型在代价曲线上的表现，你可以选择最适合你问题的模型。</a:t>
            </a:r>
          </a:p>
          <a:p>
            <a:pPr marL="285750" indent="-285750">
              <a:lnSpc>
                <a:spcPct val="150000"/>
              </a:lnSpc>
              <a:buFont typeface="Wingdings" pitchFamily="2" charset="2"/>
              <a:buChar char="Ø"/>
            </a:pPr>
            <a:r>
              <a:rPr lang="zh-CN" altLang="en-US" b="1" dirty="0">
                <a:solidFill>
                  <a:srgbClr val="C00000"/>
                </a:solidFill>
                <a:latin typeface="Microsoft YaHei" panose="020B0503020204020204" pitchFamily="34" charset="-122"/>
                <a:ea typeface="Microsoft YaHei" panose="020B0503020204020204" pitchFamily="34" charset="-122"/>
              </a:rPr>
              <a:t>业务决策支持</a:t>
            </a:r>
            <a:r>
              <a:rPr lang="zh-CN" altLang="en-US" dirty="0">
                <a:latin typeface="Microsoft YaHei" panose="020B0503020204020204" pitchFamily="34" charset="-122"/>
                <a:ea typeface="Microsoft YaHei" panose="020B0503020204020204" pitchFamily="34" charset="-122"/>
              </a:rPr>
              <a:t>： 在许多业务场景中，不同类型的错误可能具有不同的后果。例如，在信用卡欺诈检测中，将一个正常交易误判为欺诈交易的代价可能比将一个欺诈交易误判为正常交易的代价大得多。代价曲线可以帮助业务决策者理解模型的性能，并根据业务需求调整模型的阈值。</a:t>
            </a:r>
          </a:p>
        </p:txBody>
      </p:sp>
    </p:spTree>
    <p:extLst>
      <p:ext uri="{BB962C8B-B14F-4D97-AF65-F5344CB8AC3E}">
        <p14:creationId xmlns:p14="http://schemas.microsoft.com/office/powerpoint/2010/main" val="1670499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代价曲线</a:t>
            </a: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5716" y="3672084"/>
            <a:ext cx="3612568" cy="2563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a:extLst>
              <a:ext uri="{FF2B5EF4-FFF2-40B4-BE49-F238E27FC236}">
                <a16:creationId xmlns:a16="http://schemas.microsoft.com/office/drawing/2014/main" id="{C6D4FEE0-64AD-4702-74E0-9DBD056BD608}"/>
              </a:ext>
            </a:extLst>
          </p:cNvPr>
          <p:cNvPicPr>
            <a:picLocks noChangeAspect="1"/>
          </p:cNvPicPr>
          <p:nvPr/>
        </p:nvPicPr>
        <p:blipFill>
          <a:blip r:embed="rId3"/>
          <a:stretch>
            <a:fillRect/>
          </a:stretch>
        </p:blipFill>
        <p:spPr>
          <a:xfrm>
            <a:off x="526416" y="1070834"/>
            <a:ext cx="7772400" cy="2503554"/>
          </a:xfrm>
          <a:prstGeom prst="rect">
            <a:avLst/>
          </a:prstGeom>
        </p:spPr>
      </p:pic>
    </p:spTree>
    <p:extLst>
      <p:ext uri="{BB962C8B-B14F-4D97-AF65-F5344CB8AC3E}">
        <p14:creationId xmlns:p14="http://schemas.microsoft.com/office/powerpoint/2010/main" val="3145380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机器学习模型性能评估</a:t>
            </a:r>
          </a:p>
        </p:txBody>
      </p:sp>
      <p:sp>
        <p:nvSpPr>
          <p:cNvPr id="12" name="内容占位符 2"/>
          <p:cNvSpPr txBox="1">
            <a:spLocks/>
          </p:cNvSpPr>
          <p:nvPr/>
        </p:nvSpPr>
        <p:spPr>
          <a:xfrm>
            <a:off x="4860040" y="2897694"/>
            <a:ext cx="3486605" cy="1200988"/>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dirty="0">
              <a:latin typeface="Microsoft YaHei" panose="020B0503020204020204" pitchFamily="34" charset="-122"/>
              <a:ea typeface="Microsoft YaHei" panose="020B0503020204020204" pitchFamily="34" charset="-122"/>
            </a:endParaRPr>
          </a:p>
        </p:txBody>
      </p:sp>
      <p:pic>
        <p:nvPicPr>
          <p:cNvPr id="3074" name="Picture 2" descr="机器学习模型性能评估二：代价曲线与性能评估方法总结">
            <a:extLst>
              <a:ext uri="{FF2B5EF4-FFF2-40B4-BE49-F238E27FC236}">
                <a16:creationId xmlns:a16="http://schemas.microsoft.com/office/drawing/2014/main" id="{123FCDFF-3DB7-2ABA-725C-3C76038BE0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6824" y="1048435"/>
            <a:ext cx="5904388" cy="519807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ABF4F63-5201-1322-4A0D-C1A68B1F078E}"/>
              </a:ext>
            </a:extLst>
          </p:cNvPr>
          <p:cNvSpPr txBox="1"/>
          <p:nvPr/>
        </p:nvSpPr>
        <p:spPr>
          <a:xfrm>
            <a:off x="141514" y="983119"/>
            <a:ext cx="4718525" cy="646331"/>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hlinkClick r:id="rId3"/>
              </a:rPr>
              <a:t>https://zhuanlan.zhihu.com/p/53781144</a:t>
            </a:r>
            <a:endParaRPr lang="en-US" altLang="zh-CN" dirty="0">
              <a:latin typeface="Microsoft YaHei" panose="020B0503020204020204" pitchFamily="34" charset="-122"/>
              <a:ea typeface="Microsoft YaHei" panose="020B0503020204020204" pitchFamily="34" charset="-122"/>
            </a:endParaRPr>
          </a:p>
          <a:p>
            <a:endParaRPr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53756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大纲</a:t>
            </a:r>
          </a:p>
        </p:txBody>
      </p:sp>
      <p:sp>
        <p:nvSpPr>
          <p:cNvPr id="3" name="内容占位符 2"/>
          <p:cNvSpPr>
            <a:spLocks noGrp="1"/>
          </p:cNvSpPr>
          <p:nvPr>
            <p:ph idx="1"/>
          </p:nvPr>
        </p:nvSpPr>
        <p:spPr>
          <a:xfrm>
            <a:off x="260350" y="1158536"/>
            <a:ext cx="8616950" cy="4950163"/>
          </a:xfrm>
        </p:spPr>
        <p:txBody>
          <a:bodyPr>
            <a:noAutofit/>
          </a:bodyPr>
          <a:lstStyle/>
          <a:p>
            <a:r>
              <a:rPr lang="zh-CN" altLang="en-US" dirty="0">
                <a:solidFill>
                  <a:schemeClr val="bg1">
                    <a:lumMod val="85000"/>
                  </a:schemeClr>
                </a:solidFill>
                <a:latin typeface="Microsoft YaHei" panose="020B0503020204020204" pitchFamily="34" charset="-122"/>
                <a:ea typeface="Microsoft YaHei" panose="020B0503020204020204" pitchFamily="34" charset="-122"/>
              </a:rPr>
              <a:t>经验误差与过拟合</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评估方法</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性能度量</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latin typeface="Microsoft YaHei" panose="020B0503020204020204" pitchFamily="34" charset="-122"/>
                <a:ea typeface="Microsoft YaHei" panose="020B0503020204020204" pitchFamily="34" charset="-122"/>
              </a:rPr>
              <a:t>比较检验</a:t>
            </a:r>
            <a:endParaRPr lang="en-US" altLang="zh-CN" dirty="0">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偏差与方差</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阅读材料</a:t>
            </a:r>
          </a:p>
        </p:txBody>
      </p:sp>
    </p:spTree>
    <p:extLst>
      <p:ext uri="{BB962C8B-B14F-4D97-AF65-F5344CB8AC3E}">
        <p14:creationId xmlns:p14="http://schemas.microsoft.com/office/powerpoint/2010/main" val="3359361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性能评估</a:t>
            </a:r>
          </a:p>
        </p:txBody>
      </p:sp>
      <p:sp>
        <p:nvSpPr>
          <p:cNvPr id="3" name="内容占位符 2"/>
          <p:cNvSpPr>
            <a:spLocks noGrp="1"/>
          </p:cNvSpPr>
          <p:nvPr>
            <p:ph idx="1"/>
          </p:nvPr>
        </p:nvSpPr>
        <p:spPr>
          <a:xfrm>
            <a:off x="273050" y="1158537"/>
            <a:ext cx="8616950" cy="2092664"/>
          </a:xfrm>
        </p:spPr>
        <p:txBody>
          <a:bodyPr>
            <a:normAutofit lnSpcReduction="10000"/>
          </a:bodyPr>
          <a:lstStyle/>
          <a:p>
            <a:pPr>
              <a:lnSpc>
                <a:spcPct val="120000"/>
              </a:lnSpc>
              <a:spcBef>
                <a:spcPts val="0"/>
              </a:spcBef>
            </a:pPr>
            <a:r>
              <a:rPr lang="zh-CN" altLang="en-US" dirty="0">
                <a:latin typeface="Microsoft YaHei" panose="020B0503020204020204" pitchFamily="34" charset="-122"/>
                <a:ea typeface="Microsoft YaHei" panose="020B0503020204020204" pitchFamily="34" charset="-122"/>
              </a:rPr>
              <a:t>关于性能比较：</a:t>
            </a:r>
            <a:endParaRPr lang="en-US" altLang="zh-CN" dirty="0">
              <a:latin typeface="Microsoft YaHei" panose="020B0503020204020204" pitchFamily="34" charset="-122"/>
              <a:ea typeface="Microsoft YaHei" panose="020B0503020204020204" pitchFamily="34" charset="-122"/>
            </a:endParaRPr>
          </a:p>
          <a:p>
            <a:pPr lvl="1">
              <a:lnSpc>
                <a:spcPct val="120000"/>
              </a:lnSpc>
              <a:spcBef>
                <a:spcPts val="0"/>
              </a:spcBef>
            </a:pPr>
            <a:r>
              <a:rPr lang="zh-CN" altLang="en-US" dirty="0">
                <a:latin typeface="Microsoft YaHei" panose="020B0503020204020204" pitchFamily="34" charset="-122"/>
                <a:ea typeface="Microsoft YaHei" panose="020B0503020204020204" pitchFamily="34" charset="-122"/>
              </a:rPr>
              <a:t>测试性能并不等于泛化性能</a:t>
            </a:r>
            <a:endParaRPr lang="en-US" altLang="zh-CN" dirty="0">
              <a:latin typeface="Microsoft YaHei" panose="020B0503020204020204" pitchFamily="34" charset="-122"/>
              <a:ea typeface="Microsoft YaHei" panose="020B0503020204020204" pitchFamily="34" charset="-122"/>
            </a:endParaRPr>
          </a:p>
          <a:p>
            <a:pPr lvl="1">
              <a:lnSpc>
                <a:spcPct val="120000"/>
              </a:lnSpc>
              <a:spcBef>
                <a:spcPts val="0"/>
              </a:spcBef>
            </a:pPr>
            <a:r>
              <a:rPr lang="zh-CN" altLang="en-US" dirty="0">
                <a:latin typeface="Microsoft YaHei" panose="020B0503020204020204" pitchFamily="34" charset="-122"/>
                <a:ea typeface="Microsoft YaHei" panose="020B0503020204020204" pitchFamily="34" charset="-122"/>
              </a:rPr>
              <a:t>测试性能随着测试集的变化而变化</a:t>
            </a:r>
            <a:endParaRPr lang="en-US" altLang="zh-CN" dirty="0">
              <a:latin typeface="Microsoft YaHei" panose="020B0503020204020204" pitchFamily="34" charset="-122"/>
              <a:ea typeface="Microsoft YaHei" panose="020B0503020204020204" pitchFamily="34" charset="-122"/>
            </a:endParaRPr>
          </a:p>
          <a:p>
            <a:pPr lvl="1">
              <a:lnSpc>
                <a:spcPct val="120000"/>
              </a:lnSpc>
              <a:spcBef>
                <a:spcPts val="0"/>
              </a:spcBef>
            </a:pPr>
            <a:r>
              <a:rPr lang="zh-CN" altLang="en-US" dirty="0">
                <a:latin typeface="Microsoft YaHei" panose="020B0503020204020204" pitchFamily="34" charset="-122"/>
                <a:ea typeface="Microsoft YaHei" panose="020B0503020204020204" pitchFamily="34" charset="-122"/>
              </a:rPr>
              <a:t>很多机器学习算法本身有一定的随机性</a:t>
            </a:r>
            <a:endParaRPr lang="en-US" altLang="zh-CN" dirty="0">
              <a:latin typeface="Microsoft YaHei" panose="020B0503020204020204" pitchFamily="34" charset="-122"/>
              <a:ea typeface="Microsoft YaHei" panose="020B0503020204020204" pitchFamily="34" charset="-122"/>
            </a:endParaRPr>
          </a:p>
          <a:p>
            <a:pPr lvl="1"/>
            <a:endParaRPr lang="en-US" altLang="zh-CN" dirty="0">
              <a:latin typeface="Microsoft YaHei" panose="020B0503020204020204" pitchFamily="34" charset="-122"/>
              <a:ea typeface="Microsoft YaHei" panose="020B0503020204020204" pitchFamily="34" charset="-122"/>
            </a:endParaRPr>
          </a:p>
          <a:p>
            <a:pPr marL="325800" lvl="1" indent="0">
              <a:buNone/>
            </a:pPr>
            <a:r>
              <a:rPr lang="en-US" altLang="zh-CN" b="1" dirty="0">
                <a:latin typeface="Microsoft YaHei" panose="020B0503020204020204" pitchFamily="34" charset="-122"/>
                <a:ea typeface="Microsoft YaHei" panose="020B0503020204020204" pitchFamily="34" charset="-122"/>
              </a:rPr>
              <a:t>	</a:t>
            </a:r>
            <a:r>
              <a:rPr lang="zh-CN" altLang="en-US" b="1" dirty="0">
                <a:solidFill>
                  <a:srgbClr val="FF0000"/>
                </a:solidFill>
                <a:latin typeface="Microsoft YaHei" panose="020B0503020204020204" pitchFamily="34" charset="-122"/>
                <a:ea typeface="Microsoft YaHei" panose="020B0503020204020204" pitchFamily="34" charset="-122"/>
              </a:rPr>
              <a:t>直接选取相应评估方法在相应度量下比大小的方法不可取！</a:t>
            </a:r>
            <a:endParaRPr lang="en-US" altLang="zh-CN" b="1" dirty="0">
              <a:solidFill>
                <a:srgbClr val="FF0000"/>
              </a:solidFill>
              <a:latin typeface="Microsoft YaHei" panose="020B0503020204020204" pitchFamily="34" charset="-122"/>
              <a:ea typeface="Microsoft YaHei" panose="020B0503020204020204" pitchFamily="34" charset="-122"/>
            </a:endParaRPr>
          </a:p>
        </p:txBody>
      </p:sp>
      <p:sp>
        <p:nvSpPr>
          <p:cNvPr id="4" name="内容占位符 2"/>
          <p:cNvSpPr txBox="1">
            <a:spLocks/>
          </p:cNvSpPr>
          <p:nvPr/>
        </p:nvSpPr>
        <p:spPr>
          <a:xfrm>
            <a:off x="717094" y="3704004"/>
            <a:ext cx="7429955" cy="1390510"/>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0"/>
              </a:spcBef>
              <a:buNone/>
            </a:pPr>
            <a:r>
              <a:rPr lang="zh-CN" altLang="en-US" dirty="0">
                <a:latin typeface="Microsoft YaHei" panose="020B0503020204020204" pitchFamily="34" charset="-122"/>
                <a:ea typeface="Microsoft YaHei" panose="020B0503020204020204" pitchFamily="34" charset="-122"/>
              </a:rPr>
              <a:t>假设检验为学习器性能比较提供了重要依据，基于其结果我们可以推断出若在测试集上观察到学习器</a:t>
            </a:r>
            <a:r>
              <a:rPr lang="en-US" altLang="zh-CN" dirty="0">
                <a:latin typeface="Microsoft YaHei" panose="020B0503020204020204" pitchFamily="34" charset="-122"/>
                <a:ea typeface="Microsoft YaHei" panose="020B0503020204020204" pitchFamily="34" charset="-122"/>
              </a:rPr>
              <a:t>A</a:t>
            </a:r>
            <a:r>
              <a:rPr lang="zh-CN" altLang="en-US" dirty="0">
                <a:latin typeface="Microsoft YaHei" panose="020B0503020204020204" pitchFamily="34" charset="-122"/>
                <a:ea typeface="Microsoft YaHei" panose="020B0503020204020204" pitchFamily="34" charset="-122"/>
              </a:rPr>
              <a:t>比</a:t>
            </a:r>
            <a:r>
              <a:rPr lang="en-US" altLang="zh-CN" dirty="0">
                <a:latin typeface="Microsoft YaHei" panose="020B0503020204020204" pitchFamily="34" charset="-122"/>
                <a:ea typeface="Microsoft YaHei" panose="020B0503020204020204" pitchFamily="34" charset="-122"/>
              </a:rPr>
              <a:t>B</a:t>
            </a:r>
            <a:r>
              <a:rPr lang="zh-CN" altLang="en-US" dirty="0">
                <a:latin typeface="Microsoft YaHei" panose="020B0503020204020204" pitchFamily="34" charset="-122"/>
                <a:ea typeface="Microsoft YaHei" panose="020B0503020204020204" pitchFamily="34" charset="-122"/>
              </a:rPr>
              <a:t>好，则</a:t>
            </a:r>
            <a:r>
              <a:rPr lang="en-US" altLang="zh-CN" dirty="0">
                <a:latin typeface="Microsoft YaHei" panose="020B0503020204020204" pitchFamily="34" charset="-122"/>
                <a:ea typeface="Microsoft YaHei" panose="020B0503020204020204" pitchFamily="34" charset="-122"/>
              </a:rPr>
              <a:t>A</a:t>
            </a:r>
            <a:r>
              <a:rPr lang="zh-CN" altLang="en-US" dirty="0">
                <a:latin typeface="Microsoft YaHei" panose="020B0503020204020204" pitchFamily="34" charset="-122"/>
                <a:ea typeface="Microsoft YaHei" panose="020B0503020204020204" pitchFamily="34" charset="-122"/>
              </a:rPr>
              <a:t>的泛化</a:t>
            </a:r>
            <a:r>
              <a:rPr lang="zh-CN" altLang="en-US" b="1" dirty="0">
                <a:latin typeface="Microsoft YaHei" panose="020B0503020204020204" pitchFamily="34" charset="-122"/>
                <a:ea typeface="Microsoft YaHei" panose="020B0503020204020204" pitchFamily="34" charset="-122"/>
              </a:rPr>
              <a:t>性能是否在统计意义上优于</a:t>
            </a:r>
            <a:r>
              <a:rPr lang="en-US" altLang="zh-CN" b="1" dirty="0">
                <a:latin typeface="Microsoft YaHei" panose="020B0503020204020204" pitchFamily="34" charset="-122"/>
                <a:ea typeface="Microsoft YaHei" panose="020B0503020204020204" pitchFamily="34" charset="-122"/>
              </a:rPr>
              <a:t>B</a:t>
            </a:r>
            <a:r>
              <a:rPr lang="zh-CN" altLang="en-US" dirty="0">
                <a:latin typeface="Microsoft YaHei" panose="020B0503020204020204" pitchFamily="34" charset="-122"/>
                <a:ea typeface="Microsoft YaHei" panose="020B0503020204020204" pitchFamily="34" charset="-122"/>
              </a:rPr>
              <a:t>，以及</a:t>
            </a:r>
            <a:r>
              <a:rPr lang="zh-CN" altLang="en-US" b="1" dirty="0">
                <a:latin typeface="Microsoft YaHei" panose="020B0503020204020204" pitchFamily="34" charset="-122"/>
                <a:ea typeface="Microsoft YaHei" panose="020B0503020204020204" pitchFamily="34" charset="-122"/>
              </a:rPr>
              <a:t>这个结论的把握有多大</a:t>
            </a:r>
            <a:r>
              <a:rPr lang="zh-CN" altLang="en-US" dirty="0">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158646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二项检验</a:t>
            </a:r>
          </a:p>
        </p:txBody>
      </p:sp>
      <p:pic>
        <p:nvPicPr>
          <p:cNvPr id="3" name="图片 2">
            <a:extLst>
              <a:ext uri="{FF2B5EF4-FFF2-40B4-BE49-F238E27FC236}">
                <a16:creationId xmlns:a16="http://schemas.microsoft.com/office/drawing/2014/main" id="{C4470E92-F7A1-9F87-7C0E-E435D8F383EB}"/>
              </a:ext>
            </a:extLst>
          </p:cNvPr>
          <p:cNvPicPr>
            <a:picLocks noChangeAspect="1"/>
          </p:cNvPicPr>
          <p:nvPr/>
        </p:nvPicPr>
        <p:blipFill>
          <a:blip r:embed="rId2"/>
          <a:stretch>
            <a:fillRect/>
          </a:stretch>
        </p:blipFill>
        <p:spPr>
          <a:xfrm>
            <a:off x="174171" y="1119802"/>
            <a:ext cx="8508770" cy="4889112"/>
          </a:xfrm>
          <a:prstGeom prst="rect">
            <a:avLst/>
          </a:prstGeom>
        </p:spPr>
      </p:pic>
    </p:spTree>
    <p:extLst>
      <p:ext uri="{BB962C8B-B14F-4D97-AF65-F5344CB8AC3E}">
        <p14:creationId xmlns:p14="http://schemas.microsoft.com/office/powerpoint/2010/main" val="3378532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二项检验</a:t>
            </a:r>
          </a:p>
        </p:txBody>
      </p:sp>
      <p:pic>
        <p:nvPicPr>
          <p:cNvPr id="4" name="图片 3">
            <a:extLst>
              <a:ext uri="{FF2B5EF4-FFF2-40B4-BE49-F238E27FC236}">
                <a16:creationId xmlns:a16="http://schemas.microsoft.com/office/drawing/2014/main" id="{441A3D86-1998-EE0C-ADB4-5D119BE43042}"/>
              </a:ext>
            </a:extLst>
          </p:cNvPr>
          <p:cNvPicPr>
            <a:picLocks noChangeAspect="1"/>
          </p:cNvPicPr>
          <p:nvPr/>
        </p:nvPicPr>
        <p:blipFill>
          <a:blip r:embed="rId2"/>
          <a:stretch>
            <a:fillRect/>
          </a:stretch>
        </p:blipFill>
        <p:spPr>
          <a:xfrm>
            <a:off x="317499" y="1081418"/>
            <a:ext cx="8571473" cy="5177868"/>
          </a:xfrm>
          <a:prstGeom prst="rect">
            <a:avLst/>
          </a:prstGeom>
        </p:spPr>
      </p:pic>
    </p:spTree>
    <p:extLst>
      <p:ext uri="{BB962C8B-B14F-4D97-AF65-F5344CB8AC3E}">
        <p14:creationId xmlns:p14="http://schemas.microsoft.com/office/powerpoint/2010/main" val="3651676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t</a:t>
            </a:r>
            <a:r>
              <a:rPr lang="zh-CN" altLang="en-US" dirty="0">
                <a:latin typeface="Microsoft YaHei" panose="020B0503020204020204" pitchFamily="34" charset="-122"/>
                <a:ea typeface="Microsoft YaHei" panose="020B0503020204020204" pitchFamily="34" charset="-122"/>
              </a:rPr>
              <a:t>检验</a:t>
            </a:r>
          </a:p>
        </p:txBody>
      </p:sp>
      <p:sp>
        <p:nvSpPr>
          <p:cNvPr id="4" name="内容占位符 2"/>
          <p:cNvSpPr txBox="1">
            <a:spLocks/>
          </p:cNvSpPr>
          <p:nvPr/>
        </p:nvSpPr>
        <p:spPr>
          <a:xfrm>
            <a:off x="260349" y="1003256"/>
            <a:ext cx="8328479" cy="1914115"/>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sz="2000" b="0" i="0" dirty="0">
                <a:solidFill>
                  <a:srgbClr val="191B1F"/>
                </a:solidFill>
                <a:effectLst/>
                <a:latin typeface="Microsoft YaHei" panose="020B0503020204020204" pitchFamily="34" charset="-122"/>
                <a:ea typeface="Microsoft YaHei" panose="020B0503020204020204" pitchFamily="34" charset="-122"/>
              </a:rPr>
              <a:t>对于单学习器，很多时候会进行”多次留出法”或者“</a:t>
            </a:r>
            <a:r>
              <a:rPr lang="en" altLang="zh-CN" sz="2000" b="0" i="0" dirty="0">
                <a:solidFill>
                  <a:srgbClr val="191B1F"/>
                </a:solidFill>
                <a:effectLst/>
                <a:latin typeface="Microsoft YaHei" panose="020B0503020204020204" pitchFamily="34" charset="-122"/>
                <a:ea typeface="Microsoft YaHei" panose="020B0503020204020204" pitchFamily="34" charset="-122"/>
              </a:rPr>
              <a:t>K</a:t>
            </a:r>
            <a:r>
              <a:rPr lang="zh-CN" altLang="en-US" sz="2000" b="0" i="0" dirty="0">
                <a:solidFill>
                  <a:srgbClr val="191B1F"/>
                </a:solidFill>
                <a:effectLst/>
                <a:latin typeface="Microsoft YaHei" panose="020B0503020204020204" pitchFamily="34" charset="-122"/>
                <a:ea typeface="Microsoft YaHei" panose="020B0503020204020204" pitchFamily="34" charset="-122"/>
              </a:rPr>
              <a:t>折</a:t>
            </a:r>
            <a:r>
              <a:rPr lang="zh-CN" altLang="en-US" sz="2000" b="0" i="0" u="none" strike="noStrike" dirty="0">
                <a:solidFill>
                  <a:srgbClr val="09408E"/>
                </a:solidFill>
                <a:effectLst/>
                <a:latin typeface="Microsoft YaHei" panose="020B0503020204020204" pitchFamily="34" charset="-122"/>
                <a:ea typeface="Microsoft YaHei" panose="020B0503020204020204" pitchFamily="34" charset="-122"/>
              </a:rPr>
              <a:t>交叉验证</a:t>
            </a:r>
            <a:r>
              <a:rPr lang="zh-CN" altLang="en-US" sz="2000" b="0" i="0" dirty="0">
                <a:solidFill>
                  <a:srgbClr val="191B1F"/>
                </a:solidFill>
                <a:effectLst/>
                <a:latin typeface="Microsoft YaHei" panose="020B0503020204020204" pitchFamily="34" charset="-122"/>
                <a:ea typeface="Microsoft YaHei" panose="020B0503020204020204" pitchFamily="34" charset="-122"/>
              </a:rPr>
              <a:t>“获得多个“测试性能”（假设错误率是性能指标），并把多次测试性能进行平均作为最终的测试性能，</a:t>
            </a:r>
            <a:r>
              <a:rPr lang="zh-CN" altLang="en-US" sz="2000" b="1" i="0" dirty="0">
                <a:solidFill>
                  <a:srgbClr val="C00000"/>
                </a:solidFill>
                <a:effectLst/>
                <a:latin typeface="Microsoft YaHei" panose="020B0503020204020204" pitchFamily="34" charset="-122"/>
                <a:ea typeface="Microsoft YaHei" panose="020B0503020204020204" pitchFamily="34" charset="-122"/>
              </a:rPr>
              <a:t>这个时候“二项检验”方法就不再合适</a:t>
            </a:r>
            <a:r>
              <a:rPr lang="zh-CN" altLang="en-US" sz="2000" b="0" i="0" dirty="0">
                <a:solidFill>
                  <a:srgbClr val="191B1F"/>
                </a:solidFill>
                <a:effectLst/>
                <a:latin typeface="Microsoft YaHei" panose="020B0503020204020204" pitchFamily="34" charset="-122"/>
                <a:ea typeface="Microsoft YaHei" panose="020B0503020204020204" pitchFamily="34" charset="-122"/>
              </a:rPr>
              <a:t>。</a:t>
            </a:r>
            <a:endParaRPr lang="zh-CN" altLang="en-US" sz="2000" dirty="0">
              <a:latin typeface="Microsoft YaHei" panose="020B0503020204020204" pitchFamily="34" charset="-122"/>
              <a:ea typeface="Microsoft YaHei" panose="020B0503020204020204" pitchFamily="34" charset="-122"/>
            </a:endParaRPr>
          </a:p>
        </p:txBody>
      </p:sp>
      <p:pic>
        <p:nvPicPr>
          <p:cNvPr id="4098" name="Picture 2">
            <a:extLst>
              <a:ext uri="{FF2B5EF4-FFF2-40B4-BE49-F238E27FC236}">
                <a16:creationId xmlns:a16="http://schemas.microsoft.com/office/drawing/2014/main" id="{D53EF5D8-3C8A-713A-0C81-76A284EB3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172" y="2236443"/>
            <a:ext cx="6489248" cy="412225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999C0B91-9924-39AF-E107-BD3409BCD9DC}"/>
              </a:ext>
            </a:extLst>
          </p:cNvPr>
          <p:cNvSpPr txBox="1"/>
          <p:nvPr/>
        </p:nvSpPr>
        <p:spPr>
          <a:xfrm>
            <a:off x="3940629" y="5989361"/>
            <a:ext cx="5203371" cy="369332"/>
          </a:xfrm>
          <a:prstGeom prst="rect">
            <a:avLst/>
          </a:prstGeom>
          <a:noFill/>
        </p:spPr>
        <p:txBody>
          <a:bodyPr wrap="square">
            <a:spAutoFit/>
          </a:bodyPr>
          <a:lstStyle/>
          <a:p>
            <a:r>
              <a:rPr lang="zh-CN" altLang="en-US" dirty="0">
                <a:hlinkClick r:id="rId3"/>
              </a:rPr>
              <a:t>https://zhuanlan.zhihu.com/p/379098227</a:t>
            </a:r>
            <a:endParaRPr lang="en-US" altLang="zh-CN" dirty="0"/>
          </a:p>
        </p:txBody>
      </p:sp>
    </p:spTree>
    <p:extLst>
      <p:ext uri="{BB962C8B-B14F-4D97-AF65-F5344CB8AC3E}">
        <p14:creationId xmlns:p14="http://schemas.microsoft.com/office/powerpoint/2010/main" val="1540958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深入阅读</a:t>
            </a:r>
          </a:p>
        </p:txBody>
      </p:sp>
      <p:sp>
        <p:nvSpPr>
          <p:cNvPr id="4" name="内容占位符 2"/>
          <p:cNvSpPr txBox="1">
            <a:spLocks/>
          </p:cNvSpPr>
          <p:nvPr/>
        </p:nvSpPr>
        <p:spPr>
          <a:xfrm>
            <a:off x="608058" y="1271047"/>
            <a:ext cx="7576908" cy="481553"/>
          </a:xfrm>
          <a:prstGeom prst="rect">
            <a:avLst/>
          </a:prstGeom>
        </p:spPr>
        <p:txBody>
          <a:bodyPr vert="horz" lIns="91440" tIns="46800" rIns="91440" bIns="45720" rtlCol="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latin typeface="Microsoft YaHei" panose="020B0503020204020204" pitchFamily="34" charset="-122"/>
              <a:ea typeface="Microsoft YaHei" panose="020B0503020204020204" pitchFamily="34" charset="-122"/>
            </a:endParaRPr>
          </a:p>
        </p:txBody>
      </p:sp>
      <p:sp>
        <p:nvSpPr>
          <p:cNvPr id="3" name="文本框 2">
            <a:extLst>
              <a:ext uri="{FF2B5EF4-FFF2-40B4-BE49-F238E27FC236}">
                <a16:creationId xmlns:a16="http://schemas.microsoft.com/office/drawing/2014/main" id="{8BE1EAFB-F5BB-D7BE-CE84-EF8D3084A2D0}"/>
              </a:ext>
            </a:extLst>
          </p:cNvPr>
          <p:cNvSpPr txBox="1"/>
          <p:nvPr/>
        </p:nvSpPr>
        <p:spPr>
          <a:xfrm>
            <a:off x="295458" y="1083408"/>
            <a:ext cx="8240484" cy="3877985"/>
          </a:xfrm>
          <a:prstGeom prst="rect">
            <a:avLst/>
          </a:prstGeom>
          <a:noFill/>
        </p:spPr>
        <p:txBody>
          <a:bodyPr wrap="square" rtlCol="0">
            <a:spAutoFit/>
          </a:bodyPr>
          <a:lstStyle/>
          <a:p>
            <a:pPr marL="457200" indent="-457200">
              <a:lnSpc>
                <a:spcPct val="150000"/>
              </a:lnSpc>
              <a:buFont typeface="+mj-ea"/>
              <a:buAutoNum type="circleNumDbPlain"/>
            </a:pPr>
            <a:r>
              <a:rPr lang="zh-CN" altLang="en-US" sz="2000" b="1" dirty="0">
                <a:latin typeface="Microsoft YaHei" panose="020B0503020204020204" pitchFamily="34" charset="-122"/>
                <a:ea typeface="Microsoft YaHei" panose="020B0503020204020204" pitchFamily="34" charset="-122"/>
              </a:rPr>
              <a:t>交叉验证</a:t>
            </a:r>
            <a:r>
              <a:rPr lang="en-US" altLang="zh-CN" sz="2000" b="1" dirty="0">
                <a:latin typeface="Microsoft YaHei" panose="020B0503020204020204" pitchFamily="34" charset="-122"/>
                <a:ea typeface="Microsoft YaHei" panose="020B0503020204020204" pitchFamily="34" charset="-122"/>
              </a:rPr>
              <a:t>t</a:t>
            </a:r>
            <a:r>
              <a:rPr lang="zh-CN" altLang="en-US" sz="2000" b="1" dirty="0">
                <a:latin typeface="Microsoft YaHei" panose="020B0503020204020204" pitchFamily="34" charset="-122"/>
                <a:ea typeface="Microsoft YaHei" panose="020B0503020204020204" pitchFamily="34" charset="-122"/>
              </a:rPr>
              <a:t>检验、</a:t>
            </a:r>
            <a:r>
              <a:rPr lang="en-US" altLang="zh-CN" sz="2000" b="1" dirty="0" err="1">
                <a:latin typeface="Microsoft YaHei" panose="020B0503020204020204" pitchFamily="34" charset="-122"/>
                <a:ea typeface="Microsoft YaHei" panose="020B0503020204020204" pitchFamily="34" charset="-122"/>
              </a:rPr>
              <a:t>McNemar</a:t>
            </a:r>
            <a:r>
              <a:rPr lang="zh-CN" altLang="en-US" sz="2000" b="1" dirty="0">
                <a:latin typeface="Microsoft YaHei" panose="020B0503020204020204" pitchFamily="34" charset="-122"/>
                <a:ea typeface="Microsoft YaHei" panose="020B0503020204020204" pitchFamily="34" charset="-122"/>
              </a:rPr>
              <a:t>检验</a:t>
            </a:r>
            <a:r>
              <a:rPr lang="zh-CN" altLang="en-US" sz="2000" dirty="0">
                <a:latin typeface="Microsoft YaHei" panose="020B0503020204020204" pitchFamily="34" charset="-122"/>
                <a:ea typeface="Microsoft YaHei" panose="020B0503020204020204" pitchFamily="34" charset="-122"/>
              </a:rPr>
              <a:t>都是在一</a:t>
            </a:r>
            <a:r>
              <a:rPr lang="zh-CN" altLang="en-US" sz="2000" b="1" dirty="0">
                <a:latin typeface="Microsoft YaHei" panose="020B0503020204020204" pitchFamily="34" charset="-122"/>
                <a:ea typeface="Microsoft YaHei" panose="020B0503020204020204" pitchFamily="34" charset="-122"/>
              </a:rPr>
              <a:t>个数据集上比较两个算法的性能</a:t>
            </a:r>
            <a:endParaRPr lang="en-US" altLang="zh-CN" sz="2000" b="1" dirty="0">
              <a:latin typeface="Microsoft YaHei" panose="020B0503020204020204" pitchFamily="34" charset="-122"/>
              <a:ea typeface="Microsoft YaHei" panose="020B0503020204020204" pitchFamily="34" charset="-122"/>
            </a:endParaRPr>
          </a:p>
          <a:p>
            <a:pPr marL="457200" indent="-457200">
              <a:lnSpc>
                <a:spcPct val="150000"/>
              </a:lnSpc>
              <a:buFont typeface="+mj-ea"/>
              <a:buAutoNum type="circleNumDbPlain"/>
            </a:pPr>
            <a:endParaRPr lang="en-US" altLang="zh-CN" sz="2000" dirty="0">
              <a:latin typeface="Microsoft YaHei" panose="020B0503020204020204" pitchFamily="34" charset="-122"/>
              <a:ea typeface="Microsoft YaHei" panose="020B0503020204020204" pitchFamily="34" charset="-122"/>
            </a:endParaRPr>
          </a:p>
          <a:p>
            <a:pPr marL="457200" indent="-457200">
              <a:lnSpc>
                <a:spcPct val="150000"/>
              </a:lnSpc>
              <a:buFont typeface="+mj-ea"/>
              <a:buAutoNum type="circleNumDbPlain"/>
            </a:pPr>
            <a:r>
              <a:rPr lang="zh-CN" altLang="en-US" sz="2000" dirty="0">
                <a:latin typeface="Microsoft YaHei" panose="020B0503020204020204" pitchFamily="34" charset="-122"/>
                <a:ea typeface="Microsoft YaHei" panose="020B0503020204020204" pitchFamily="34" charset="-122"/>
              </a:rPr>
              <a:t>用</a:t>
            </a:r>
            <a:r>
              <a:rPr lang="en-US" altLang="zh-CN" sz="2000" dirty="0">
                <a:latin typeface="Microsoft YaHei" panose="020B0503020204020204" pitchFamily="34" charset="-122"/>
                <a:ea typeface="Microsoft YaHei" panose="020B0503020204020204" pitchFamily="34" charset="-122"/>
              </a:rPr>
              <a:t>Friedman</a:t>
            </a:r>
            <a:r>
              <a:rPr lang="zh-CN" altLang="en-US" sz="2000" dirty="0">
                <a:latin typeface="Microsoft YaHei" panose="020B0503020204020204" pitchFamily="34" charset="-122"/>
                <a:ea typeface="Microsoft YaHei" panose="020B0503020204020204" pitchFamily="34" charset="-122"/>
              </a:rPr>
              <a:t>检验在</a:t>
            </a:r>
            <a:r>
              <a:rPr lang="zh-CN" altLang="en-US" sz="2000" b="1" dirty="0">
                <a:latin typeface="Microsoft YaHei" panose="020B0503020204020204" pitchFamily="34" charset="-122"/>
                <a:ea typeface="Microsoft YaHei" panose="020B0503020204020204" pitchFamily="34" charset="-122"/>
              </a:rPr>
              <a:t>一组数据集上对多个算法</a:t>
            </a:r>
            <a:r>
              <a:rPr lang="zh-CN" altLang="en-US" sz="2000" dirty="0">
                <a:latin typeface="Microsoft YaHei" panose="020B0503020204020204" pitchFamily="34" charset="-122"/>
                <a:ea typeface="Microsoft YaHei" panose="020B0503020204020204" pitchFamily="34" charset="-122"/>
              </a:rPr>
              <a:t>进行比较</a:t>
            </a:r>
            <a:endParaRPr lang="en-US" altLang="zh-CN" sz="2000" dirty="0">
              <a:latin typeface="Microsoft YaHei" panose="020B0503020204020204" pitchFamily="34" charset="-122"/>
              <a:ea typeface="Microsoft YaHei" panose="020B0503020204020204" pitchFamily="34" charset="-122"/>
            </a:endParaRPr>
          </a:p>
          <a:p>
            <a:pPr marL="457200" indent="-457200">
              <a:lnSpc>
                <a:spcPct val="150000"/>
              </a:lnSpc>
              <a:buFont typeface="+mj-ea"/>
              <a:buAutoNum type="circleNumDbPlain"/>
            </a:pPr>
            <a:endParaRPr lang="en-US" altLang="zh-CN" sz="2000" dirty="0">
              <a:latin typeface="Microsoft YaHei" panose="020B0503020204020204" pitchFamily="34" charset="-122"/>
              <a:ea typeface="Microsoft YaHei" panose="020B0503020204020204" pitchFamily="34" charset="-122"/>
            </a:endParaRPr>
          </a:p>
          <a:p>
            <a:pPr marL="457200" indent="-457200">
              <a:lnSpc>
                <a:spcPct val="150000"/>
              </a:lnSpc>
              <a:buFont typeface="+mj-ea"/>
              <a:buAutoNum type="circleNumDbPlain"/>
            </a:pPr>
            <a:r>
              <a:rPr lang="zh-CN" altLang="en-US" sz="2000" dirty="0">
                <a:latin typeface="Microsoft YaHei" panose="020B0503020204020204" pitchFamily="34" charset="-122"/>
                <a:ea typeface="Microsoft YaHei" panose="020B0503020204020204" pitchFamily="34" charset="-122"/>
              </a:rPr>
              <a:t>若“所有算法的性能相同”这个假设被拒绝，说明</a:t>
            </a:r>
            <a:r>
              <a:rPr lang="zh-CN" altLang="en-US" sz="2000" dirty="0">
                <a:solidFill>
                  <a:srgbClr val="C00000"/>
                </a:solidFill>
                <a:latin typeface="Microsoft YaHei" panose="020B0503020204020204" pitchFamily="34" charset="-122"/>
                <a:ea typeface="Microsoft YaHei" panose="020B0503020204020204" pitchFamily="34" charset="-122"/>
              </a:rPr>
              <a:t>算法的性能显著不同</a:t>
            </a:r>
            <a:r>
              <a:rPr lang="zh-CN" altLang="en-US" sz="2000" dirty="0">
                <a:latin typeface="Microsoft YaHei" panose="020B0503020204020204" pitchFamily="34" charset="-122"/>
                <a:ea typeface="Microsoft YaHei" panose="020B0503020204020204" pitchFamily="34" charset="-122"/>
              </a:rPr>
              <a:t>，此时</a:t>
            </a:r>
            <a:r>
              <a:rPr lang="zh-CN" altLang="en-US" sz="2000" b="1" dirty="0">
                <a:latin typeface="Microsoft YaHei" panose="020B0503020204020204" pitchFamily="34" charset="-122"/>
                <a:ea typeface="Microsoft YaHei" panose="020B0503020204020204" pitchFamily="34" charset="-122"/>
              </a:rPr>
              <a:t>可用</a:t>
            </a:r>
            <a:r>
              <a:rPr lang="en-US" altLang="zh-CN" sz="2000" b="1" dirty="0" err="1">
                <a:latin typeface="Microsoft YaHei" panose="020B0503020204020204" pitchFamily="34" charset="-122"/>
                <a:ea typeface="Microsoft YaHei" panose="020B0503020204020204" pitchFamily="34" charset="-122"/>
              </a:rPr>
              <a:t>Nemenyi</a:t>
            </a:r>
            <a:r>
              <a:rPr lang="zh-CN" altLang="en-US" sz="2000" b="1" dirty="0">
                <a:latin typeface="Microsoft YaHei" panose="020B0503020204020204" pitchFamily="34" charset="-122"/>
                <a:ea typeface="Microsoft YaHei" panose="020B0503020204020204" pitchFamily="34" charset="-122"/>
              </a:rPr>
              <a:t>后续检验进一步区分算法</a:t>
            </a:r>
            <a:endParaRPr lang="en-US" altLang="zh-CN" sz="2000" b="1" dirty="0">
              <a:latin typeface="Microsoft YaHei" panose="020B0503020204020204" pitchFamily="34" charset="-122"/>
              <a:ea typeface="Microsoft YaHei" panose="020B0503020204020204" pitchFamily="34" charset="-122"/>
            </a:endParaRPr>
          </a:p>
          <a:p>
            <a:pPr marL="342900" indent="-342900">
              <a:buFont typeface="+mj-ea"/>
              <a:buAutoNum type="circleNumDbPlain"/>
            </a:pPr>
            <a:endParaRPr lang="en-US" altLang="zh-CN" dirty="0">
              <a:latin typeface="Microsoft YaHei" panose="020B0503020204020204" pitchFamily="34" charset="-122"/>
              <a:ea typeface="Microsoft YaHei" panose="020B0503020204020204" pitchFamily="34" charset="-122"/>
            </a:endParaRPr>
          </a:p>
          <a:p>
            <a:pPr marL="342900" indent="-342900">
              <a:buFont typeface="+mj-ea"/>
              <a:buAutoNum type="circleNumDbPlain"/>
            </a:pPr>
            <a:endParaRPr kumimoji="1" lang="zh-CN" altLang="en-US" dirty="0"/>
          </a:p>
        </p:txBody>
      </p:sp>
    </p:spTree>
    <p:extLst>
      <p:ext uri="{BB962C8B-B14F-4D97-AF65-F5344CB8AC3E}">
        <p14:creationId xmlns:p14="http://schemas.microsoft.com/office/powerpoint/2010/main" val="2976105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大纲</a:t>
            </a:r>
          </a:p>
        </p:txBody>
      </p:sp>
      <p:sp>
        <p:nvSpPr>
          <p:cNvPr id="3" name="内容占位符 2"/>
          <p:cNvSpPr>
            <a:spLocks noGrp="1"/>
          </p:cNvSpPr>
          <p:nvPr>
            <p:ph idx="1"/>
          </p:nvPr>
        </p:nvSpPr>
        <p:spPr>
          <a:xfrm>
            <a:off x="260350" y="1158536"/>
            <a:ext cx="8616950" cy="4950163"/>
          </a:xfrm>
        </p:spPr>
        <p:txBody>
          <a:bodyPr>
            <a:noAutofit/>
          </a:bodyPr>
          <a:lstStyle/>
          <a:p>
            <a:r>
              <a:rPr lang="zh-CN" altLang="en-US" dirty="0">
                <a:solidFill>
                  <a:schemeClr val="bg1">
                    <a:lumMod val="85000"/>
                  </a:schemeClr>
                </a:solidFill>
                <a:latin typeface="Microsoft YaHei" panose="020B0503020204020204" pitchFamily="34" charset="-122"/>
                <a:ea typeface="Microsoft YaHei" panose="020B0503020204020204" pitchFamily="34" charset="-122"/>
              </a:rPr>
              <a:t>经验误差与过拟合</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评估方法</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性能度量</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比较检验</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latin typeface="Microsoft YaHei" panose="020B0503020204020204" pitchFamily="34" charset="-122"/>
                <a:ea typeface="Microsoft YaHei" panose="020B0503020204020204" pitchFamily="34" charset="-122"/>
              </a:rPr>
              <a:t>偏差与方差</a:t>
            </a:r>
            <a:endParaRPr lang="en-US" altLang="zh-CN" dirty="0">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阅读材料</a:t>
            </a:r>
          </a:p>
        </p:txBody>
      </p:sp>
    </p:spTree>
    <p:extLst>
      <p:ext uri="{BB962C8B-B14F-4D97-AF65-F5344CB8AC3E}">
        <p14:creationId xmlns:p14="http://schemas.microsoft.com/office/powerpoint/2010/main" val="32409230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icrosoft YaHei" panose="020B0503020204020204" pitchFamily="34" charset="-122"/>
                <a:ea typeface="Microsoft YaHei" panose="020B0503020204020204" pitchFamily="34" charset="-122"/>
              </a:rPr>
              <a:t>偏差与方差</a:t>
            </a:r>
          </a:p>
        </p:txBody>
      </p:sp>
      <p:sp>
        <p:nvSpPr>
          <p:cNvPr id="3" name="内容占位符 2"/>
          <p:cNvSpPr>
            <a:spLocks noGrp="1"/>
          </p:cNvSpPr>
          <p:nvPr>
            <p:ph idx="1"/>
          </p:nvPr>
        </p:nvSpPr>
        <p:spPr>
          <a:xfrm>
            <a:off x="260350" y="1158537"/>
            <a:ext cx="8616950" cy="873463"/>
          </a:xfrm>
        </p:spPr>
        <p:txBody>
          <a:bodyPr>
            <a:normAutofit fontScale="85000" lnSpcReduction="10000"/>
          </a:bodyPr>
          <a:lstStyle/>
          <a:p>
            <a:pPr marL="0" indent="0">
              <a:lnSpc>
                <a:spcPct val="110000"/>
              </a:lnSpc>
              <a:buNone/>
            </a:pPr>
            <a:r>
              <a:rPr lang="zh-CN" altLang="en-US" dirty="0">
                <a:latin typeface="Microsoft YaHei" panose="020B0503020204020204" pitchFamily="34" charset="-122"/>
                <a:ea typeface="Microsoft YaHei" panose="020B0503020204020204" pitchFamily="34" charset="-122"/>
              </a:rPr>
              <a:t>通过实验可以估计学习算法的泛化性能，而“偏差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方差分解”可以用来帮助解释泛化性能。偏差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方差分解试图对学习算法期望的泛华错误率进行拆解。</a:t>
            </a:r>
            <a:endParaRPr lang="en-US" altLang="zh-CN" dirty="0">
              <a:latin typeface="Microsoft YaHei" panose="020B0503020204020204" pitchFamily="34" charset="-122"/>
              <a:ea typeface="Microsoft YaHei" panose="020B0503020204020204" pitchFamily="34" charset="-122"/>
            </a:endParaRPr>
          </a:p>
          <a:p>
            <a:pPr marL="0" indent="0">
              <a:buNone/>
            </a:pPr>
            <a:endParaRPr lang="zh-CN" altLang="en-US" dirty="0">
              <a:latin typeface="Microsoft YaHei" panose="020B0503020204020204" pitchFamily="34" charset="-122"/>
              <a:ea typeface="Microsoft YaHei" panose="020B0503020204020204" pitchFamily="34" charset="-122"/>
            </a:endParaRPr>
          </a:p>
        </p:txBody>
      </p:sp>
      <p:grpSp>
        <p:nvGrpSpPr>
          <p:cNvPr id="13" name="组合 12"/>
          <p:cNvGrpSpPr/>
          <p:nvPr/>
        </p:nvGrpSpPr>
        <p:grpSpPr>
          <a:xfrm>
            <a:off x="260350" y="2352337"/>
            <a:ext cx="8616950" cy="3835521"/>
            <a:chOff x="260350" y="2352337"/>
            <a:chExt cx="8616950" cy="3835521"/>
          </a:xfrm>
        </p:grpSpPr>
        <p:sp>
          <p:nvSpPr>
            <p:cNvPr id="5" name="内容占位符 2"/>
            <p:cNvSpPr txBox="1">
              <a:spLocks/>
            </p:cNvSpPr>
            <p:nvPr/>
          </p:nvSpPr>
          <p:spPr>
            <a:xfrm>
              <a:off x="260350" y="2352337"/>
              <a:ext cx="8616950" cy="3835521"/>
            </a:xfrm>
            <a:prstGeom prst="rect">
              <a:avLst/>
            </a:prstGeom>
          </p:spPr>
          <p:txBody>
            <a:bodyPr vert="horz" lIns="91440" tIns="46800" rIns="91440" bIns="45720" rtlCol="0">
              <a:norm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sz="2000" dirty="0">
                  <a:latin typeface="Microsoft YaHei" panose="020B0503020204020204" pitchFamily="34" charset="-122"/>
                  <a:ea typeface="Microsoft YaHei" panose="020B0503020204020204" pitchFamily="34" charset="-122"/>
                </a:rPr>
                <a:t>对测试样本  </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令    为   在数据集中的标记， 为   的真实标记，</a:t>
              </a:r>
              <a:endParaRPr lang="en-US" altLang="zh-CN" sz="2000" dirty="0">
                <a:latin typeface="Microsoft YaHei" panose="020B0503020204020204" pitchFamily="34" charset="-122"/>
                <a:ea typeface="Microsoft YaHei" panose="020B0503020204020204" pitchFamily="34" charset="-122"/>
              </a:endParaRPr>
            </a:p>
            <a:p>
              <a:pPr marL="0" indent="0">
                <a:buFont typeface="Wingdings" panose="05000000000000000000" pitchFamily="2" charset="2"/>
                <a:buNone/>
              </a:pPr>
              <a:r>
                <a:rPr lang="zh-CN" altLang="en-US" sz="2000" dirty="0">
                  <a:latin typeface="Microsoft YaHei" panose="020B0503020204020204" pitchFamily="34" charset="-122"/>
                  <a:ea typeface="Microsoft YaHei" panose="020B0503020204020204" pitchFamily="34" charset="-122"/>
                </a:rPr>
                <a:t>为训练集   上学得模型   在   上的预测输出。以回归任务为例：学习</a:t>
              </a:r>
              <a:endParaRPr lang="en-US" altLang="zh-CN" sz="2000" dirty="0">
                <a:latin typeface="Microsoft YaHei" panose="020B0503020204020204" pitchFamily="34" charset="-122"/>
                <a:ea typeface="Microsoft YaHei" panose="020B0503020204020204" pitchFamily="34" charset="-122"/>
              </a:endParaRPr>
            </a:p>
            <a:p>
              <a:pPr marL="0" indent="0">
                <a:buFont typeface="Wingdings" panose="05000000000000000000" pitchFamily="2" charset="2"/>
                <a:buNone/>
              </a:pPr>
              <a:r>
                <a:rPr lang="zh-CN" altLang="en-US" sz="2000" dirty="0">
                  <a:latin typeface="Microsoft YaHei" panose="020B0503020204020204" pitchFamily="34" charset="-122"/>
                  <a:ea typeface="Microsoft YaHei" panose="020B0503020204020204" pitchFamily="34" charset="-122"/>
                </a:rPr>
                <a:t>算法的期望预期为：</a:t>
              </a:r>
              <a:endParaRPr lang="en-US" altLang="zh-CN" sz="2000" dirty="0">
                <a:latin typeface="Microsoft YaHei" panose="020B0503020204020204" pitchFamily="34" charset="-122"/>
                <a:ea typeface="Microsoft YaHei" panose="020B0503020204020204" pitchFamily="34" charset="-122"/>
              </a:endParaRPr>
            </a:p>
            <a:p>
              <a:pPr marL="0" indent="0">
                <a:buFont typeface="Wingdings" panose="05000000000000000000" pitchFamily="2" charset="2"/>
                <a:buNone/>
              </a:pPr>
              <a:endParaRPr lang="en-US" altLang="zh-CN" sz="2000" dirty="0">
                <a:latin typeface="Microsoft YaHei" panose="020B0503020204020204" pitchFamily="34" charset="-122"/>
                <a:ea typeface="Microsoft YaHei" panose="020B0503020204020204" pitchFamily="34" charset="-122"/>
              </a:endParaRPr>
            </a:p>
            <a:p>
              <a:pPr marL="0" indent="0">
                <a:buFont typeface="Wingdings" panose="05000000000000000000" pitchFamily="2" charset="2"/>
                <a:buNone/>
              </a:pPr>
              <a:r>
                <a:rPr lang="zh-CN" altLang="en-US" sz="2000" dirty="0">
                  <a:latin typeface="Microsoft YaHei" panose="020B0503020204020204" pitchFamily="34" charset="-122"/>
                  <a:ea typeface="Microsoft YaHei" panose="020B0503020204020204" pitchFamily="34" charset="-122"/>
                </a:rPr>
                <a:t>使用样本数目相同的不同训练集产生的方差为</a:t>
              </a:r>
              <a:endParaRPr lang="en-US" altLang="zh-CN" sz="2000" dirty="0">
                <a:latin typeface="Microsoft YaHei" panose="020B0503020204020204" pitchFamily="34" charset="-122"/>
                <a:ea typeface="Microsoft YaHei" panose="020B0503020204020204" pitchFamily="34" charset="-122"/>
              </a:endParaRPr>
            </a:p>
            <a:p>
              <a:pPr marL="0" indent="0">
                <a:buFont typeface="Wingdings" panose="05000000000000000000" pitchFamily="2" charset="2"/>
                <a:buNone/>
              </a:pPr>
              <a:endParaRPr lang="en-US" altLang="zh-CN" sz="2000" dirty="0">
                <a:latin typeface="Microsoft YaHei" panose="020B0503020204020204" pitchFamily="34" charset="-122"/>
                <a:ea typeface="Microsoft YaHei" panose="020B0503020204020204" pitchFamily="34" charset="-122"/>
              </a:endParaRPr>
            </a:p>
            <a:p>
              <a:pPr marL="0" indent="0">
                <a:buFont typeface="Wingdings" panose="05000000000000000000" pitchFamily="2" charset="2"/>
                <a:buNone/>
              </a:pPr>
              <a:endParaRPr lang="en-US" altLang="zh-CN" sz="2000" dirty="0">
                <a:latin typeface="Microsoft YaHei" panose="020B0503020204020204" pitchFamily="34" charset="-122"/>
                <a:ea typeface="Microsoft YaHei" panose="020B0503020204020204" pitchFamily="34" charset="-122"/>
              </a:endParaRPr>
            </a:p>
            <a:p>
              <a:pPr marL="0" indent="0">
                <a:buFont typeface="Wingdings" panose="05000000000000000000" pitchFamily="2" charset="2"/>
                <a:buNone/>
              </a:pPr>
              <a:r>
                <a:rPr lang="zh-CN" altLang="en-US" sz="2000" dirty="0">
                  <a:latin typeface="Microsoft YaHei" panose="020B0503020204020204" pitchFamily="34" charset="-122"/>
                  <a:ea typeface="Microsoft YaHei" panose="020B0503020204020204" pitchFamily="34" charset="-122"/>
                </a:rPr>
                <a:t>噪声为</a:t>
              </a:r>
            </a:p>
          </p:txBody>
        </p:sp>
        <p:graphicFrame>
          <p:nvGraphicFramePr>
            <p:cNvPr id="4" name="对象 3"/>
            <p:cNvGraphicFramePr>
              <a:graphicFrameLocks noChangeAspect="1"/>
            </p:cNvGraphicFramePr>
            <p:nvPr>
              <p:extLst>
                <p:ext uri="{D42A27DB-BD31-4B8C-83A1-F6EECF244321}">
                  <p14:modId xmlns:p14="http://schemas.microsoft.com/office/powerpoint/2010/main" val="2016638990"/>
                </p:ext>
              </p:extLst>
            </p:nvPr>
          </p:nvGraphicFramePr>
          <p:xfrm>
            <a:off x="1614488" y="2446338"/>
            <a:ext cx="173037" cy="236537"/>
          </p:xfrm>
          <a:graphic>
            <a:graphicData uri="http://schemas.openxmlformats.org/presentationml/2006/ole">
              <mc:AlternateContent xmlns:mc="http://schemas.openxmlformats.org/markup-compatibility/2006">
                <mc:Choice xmlns:v="urn:schemas-microsoft-com:vml" Requires="v">
                  <p:oleObj name="Formula" r:id="rId2" imgW="87840" imgH="119520" progId="Equation.Ribbit">
                    <p:embed/>
                  </p:oleObj>
                </mc:Choice>
                <mc:Fallback>
                  <p:oleObj name="Formula" r:id="rId2" imgW="87840" imgH="119520" progId="Equation.Ribbit">
                    <p:embed/>
                    <p:pic>
                      <p:nvPicPr>
                        <p:cNvPr id="0" name=""/>
                        <p:cNvPicPr/>
                        <p:nvPr/>
                      </p:nvPicPr>
                      <p:blipFill>
                        <a:blip r:embed="rId3"/>
                        <a:stretch>
                          <a:fillRect/>
                        </a:stretch>
                      </p:blipFill>
                      <p:spPr>
                        <a:xfrm>
                          <a:off x="1614488" y="2446338"/>
                          <a:ext cx="173037" cy="23653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22140632"/>
                </p:ext>
              </p:extLst>
            </p:nvPr>
          </p:nvGraphicFramePr>
          <p:xfrm>
            <a:off x="2046288" y="2414300"/>
            <a:ext cx="333375" cy="239713"/>
          </p:xfrm>
          <a:graphic>
            <a:graphicData uri="http://schemas.openxmlformats.org/presentationml/2006/ole">
              <mc:AlternateContent xmlns:mc="http://schemas.openxmlformats.org/markup-compatibility/2006">
                <mc:Choice xmlns:v="urn:schemas-microsoft-com:vml" Requires="v">
                  <p:oleObj name="Formula" r:id="rId4" imgW="167760" imgH="120960" progId="Equation.Ribbit">
                    <p:embed/>
                  </p:oleObj>
                </mc:Choice>
                <mc:Fallback>
                  <p:oleObj name="Formula" r:id="rId4" imgW="167760" imgH="120960" progId="Equation.Ribbit">
                    <p:embed/>
                    <p:pic>
                      <p:nvPicPr>
                        <p:cNvPr id="0" name=""/>
                        <p:cNvPicPr/>
                        <p:nvPr/>
                      </p:nvPicPr>
                      <p:blipFill>
                        <a:blip r:embed="rId5"/>
                        <a:stretch>
                          <a:fillRect/>
                        </a:stretch>
                      </p:blipFill>
                      <p:spPr>
                        <a:xfrm>
                          <a:off x="2046288" y="2414300"/>
                          <a:ext cx="333375" cy="23971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30957312"/>
                </p:ext>
              </p:extLst>
            </p:nvPr>
          </p:nvGraphicFramePr>
          <p:xfrm>
            <a:off x="2652713" y="2442548"/>
            <a:ext cx="173037" cy="236537"/>
          </p:xfrm>
          <a:graphic>
            <a:graphicData uri="http://schemas.openxmlformats.org/presentationml/2006/ole">
              <mc:AlternateContent xmlns:mc="http://schemas.openxmlformats.org/markup-compatibility/2006">
                <mc:Choice xmlns:v="urn:schemas-microsoft-com:vml" Requires="v">
                  <p:oleObj name="Formula" r:id="rId6" imgW="87840" imgH="119520" progId="Equation.Ribbit">
                    <p:embed/>
                  </p:oleObj>
                </mc:Choice>
                <mc:Fallback>
                  <p:oleObj name="Formula" r:id="rId6" imgW="87840" imgH="119520" progId="Equation.Ribbit">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2713" y="2442548"/>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722284606"/>
                </p:ext>
              </p:extLst>
            </p:nvPr>
          </p:nvGraphicFramePr>
          <p:xfrm>
            <a:off x="5021718" y="2425055"/>
            <a:ext cx="163513" cy="239713"/>
          </p:xfrm>
          <a:graphic>
            <a:graphicData uri="http://schemas.openxmlformats.org/presentationml/2006/ole">
              <mc:AlternateContent xmlns:mc="http://schemas.openxmlformats.org/markup-compatibility/2006">
                <mc:Choice xmlns:v="urn:schemas-microsoft-com:vml" Requires="v">
                  <p:oleObj name="Formula" r:id="rId8" imgW="82800" imgH="120960" progId="Equation.Ribbit">
                    <p:embed/>
                  </p:oleObj>
                </mc:Choice>
                <mc:Fallback>
                  <p:oleObj name="Formula" r:id="rId8" imgW="82800" imgH="120960" progId="Equation.Ribbit">
                    <p:embed/>
                    <p:pic>
                      <p:nvPicPr>
                        <p:cNvPr id="0" name=""/>
                        <p:cNvPicPr/>
                        <p:nvPr/>
                      </p:nvPicPr>
                      <p:blipFill>
                        <a:blip r:embed="rId9"/>
                        <a:stretch>
                          <a:fillRect/>
                        </a:stretch>
                      </p:blipFill>
                      <p:spPr>
                        <a:xfrm>
                          <a:off x="5021718" y="2425055"/>
                          <a:ext cx="163513" cy="23971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222254235"/>
                </p:ext>
              </p:extLst>
            </p:nvPr>
          </p:nvGraphicFramePr>
          <p:xfrm>
            <a:off x="5528468" y="2442548"/>
            <a:ext cx="173037" cy="236537"/>
          </p:xfrm>
          <a:graphic>
            <a:graphicData uri="http://schemas.openxmlformats.org/presentationml/2006/ole">
              <mc:AlternateContent xmlns:mc="http://schemas.openxmlformats.org/markup-compatibility/2006">
                <mc:Choice xmlns:v="urn:schemas-microsoft-com:vml" Requires="v">
                  <p:oleObj name="Formula" r:id="rId10" imgW="87840" imgH="119520" progId="Equation.Ribbit">
                    <p:embed/>
                  </p:oleObj>
                </mc:Choice>
                <mc:Fallback>
                  <p:oleObj name="Formula" r:id="rId10" imgW="87840" imgH="119520" progId="Equation.Ribbit">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28468" y="2442548"/>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2778"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97739" y="2389230"/>
              <a:ext cx="830261" cy="289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 name="对象 9"/>
            <p:cNvGraphicFramePr>
              <a:graphicFrameLocks noChangeAspect="1"/>
            </p:cNvGraphicFramePr>
            <p:nvPr>
              <p:extLst>
                <p:ext uri="{D42A27DB-BD31-4B8C-83A1-F6EECF244321}">
                  <p14:modId xmlns:p14="http://schemas.microsoft.com/office/powerpoint/2010/main" val="2446727230"/>
                </p:ext>
              </p:extLst>
            </p:nvPr>
          </p:nvGraphicFramePr>
          <p:xfrm>
            <a:off x="1423988" y="2837649"/>
            <a:ext cx="195261" cy="239751"/>
          </p:xfrm>
          <a:graphic>
            <a:graphicData uri="http://schemas.openxmlformats.org/presentationml/2006/ole">
              <mc:AlternateContent xmlns:mc="http://schemas.openxmlformats.org/markup-compatibility/2006">
                <mc:Choice xmlns:v="urn:schemas-microsoft-com:vml" Requires="v">
                  <p:oleObj name="Formula" r:id="rId12" imgW="127080" imgH="155160" progId="Equation.Ribbit">
                    <p:embed/>
                  </p:oleObj>
                </mc:Choice>
                <mc:Fallback>
                  <p:oleObj name="Formula" r:id="rId12" imgW="127080" imgH="155160" progId="Equation.Ribbit">
                    <p:embed/>
                    <p:pic>
                      <p:nvPicPr>
                        <p:cNvPr id="0" name=""/>
                        <p:cNvPicPr/>
                        <p:nvPr/>
                      </p:nvPicPr>
                      <p:blipFill>
                        <a:blip r:embed="rId13"/>
                        <a:stretch>
                          <a:fillRect/>
                        </a:stretch>
                      </p:blipFill>
                      <p:spPr>
                        <a:xfrm>
                          <a:off x="1423988" y="2837649"/>
                          <a:ext cx="195261" cy="239751"/>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396594649"/>
                </p:ext>
              </p:extLst>
            </p:nvPr>
          </p:nvGraphicFramePr>
          <p:xfrm>
            <a:off x="2893059" y="2805396"/>
            <a:ext cx="127000" cy="228828"/>
          </p:xfrm>
          <a:graphic>
            <a:graphicData uri="http://schemas.openxmlformats.org/presentationml/2006/ole">
              <mc:AlternateContent xmlns:mc="http://schemas.openxmlformats.org/markup-compatibility/2006">
                <mc:Choice xmlns:v="urn:schemas-microsoft-com:vml" Requires="v">
                  <p:oleObj name="Formula" r:id="rId14" imgW="88920" imgH="160200" progId="Equation.Ribbit">
                    <p:embed/>
                  </p:oleObj>
                </mc:Choice>
                <mc:Fallback>
                  <p:oleObj name="Formula" r:id="rId14" imgW="88920" imgH="160200" progId="Equation.Ribbit">
                    <p:embed/>
                    <p:pic>
                      <p:nvPicPr>
                        <p:cNvPr id="0" name=""/>
                        <p:cNvPicPr/>
                        <p:nvPr/>
                      </p:nvPicPr>
                      <p:blipFill>
                        <a:blip r:embed="rId15"/>
                        <a:stretch>
                          <a:fillRect/>
                        </a:stretch>
                      </p:blipFill>
                      <p:spPr>
                        <a:xfrm>
                          <a:off x="2893059" y="2805396"/>
                          <a:ext cx="127000" cy="228828"/>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184910797"/>
                </p:ext>
              </p:extLst>
            </p:nvPr>
          </p:nvGraphicFramePr>
          <p:xfrm>
            <a:off x="3376335" y="2850198"/>
            <a:ext cx="173037" cy="236537"/>
          </p:xfrm>
          <a:graphic>
            <a:graphicData uri="http://schemas.openxmlformats.org/presentationml/2006/ole">
              <mc:AlternateContent xmlns:mc="http://schemas.openxmlformats.org/markup-compatibility/2006">
                <mc:Choice xmlns:v="urn:schemas-microsoft-com:vml" Requires="v">
                  <p:oleObj name="Formula" r:id="rId16" imgW="87840" imgH="119520" progId="Equation.Ribbit">
                    <p:embed/>
                  </p:oleObj>
                </mc:Choice>
                <mc:Fallback>
                  <p:oleObj name="Formula" r:id="rId16" imgW="87840" imgH="119520" progId="Equation.Ribbit">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6335" y="2850198"/>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2781" name="Picture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14074" y="3462925"/>
              <a:ext cx="2384642" cy="39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82" name="Picture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32423" y="4352820"/>
              <a:ext cx="3755851" cy="493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83" name="Picture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05708" y="5479812"/>
              <a:ext cx="2209279" cy="483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68192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icrosoft YaHei" panose="020B0503020204020204" pitchFamily="34" charset="-122"/>
                <a:ea typeface="Microsoft YaHei" panose="020B0503020204020204" pitchFamily="34" charset="-122"/>
              </a:rPr>
              <a:t>偏差与方差</a:t>
            </a:r>
          </a:p>
        </p:txBody>
      </p:sp>
      <p:sp>
        <p:nvSpPr>
          <p:cNvPr id="3" name="内容占位符 2"/>
          <p:cNvSpPr>
            <a:spLocks noGrp="1"/>
          </p:cNvSpPr>
          <p:nvPr>
            <p:ph idx="1"/>
          </p:nvPr>
        </p:nvSpPr>
        <p:spPr>
          <a:xfrm>
            <a:off x="260350" y="1158537"/>
            <a:ext cx="8616950" cy="873463"/>
          </a:xfrm>
        </p:spPr>
        <p:txBody>
          <a:bodyPr>
            <a:normAutofit/>
          </a:bodyPr>
          <a:lstStyle/>
          <a:p>
            <a:pPr marL="0" indent="0">
              <a:buNone/>
            </a:pPr>
            <a:r>
              <a:rPr lang="zh-CN" altLang="en-US" sz="2000" dirty="0">
                <a:latin typeface="Microsoft YaHei" panose="020B0503020204020204" pitchFamily="34" charset="-122"/>
                <a:ea typeface="Microsoft YaHei" panose="020B0503020204020204" pitchFamily="34" charset="-122"/>
              </a:rPr>
              <a:t>期望输出与真实标记的差别称为偏差，即</a:t>
            </a:r>
            <a:endParaRPr lang="en-US" altLang="zh-CN" sz="2000" dirty="0">
              <a:latin typeface="Microsoft YaHei" panose="020B0503020204020204" pitchFamily="34" charset="-122"/>
              <a:ea typeface="Microsoft YaHei" panose="020B0503020204020204" pitchFamily="34" charset="-122"/>
            </a:endParaRPr>
          </a:p>
          <a:p>
            <a:pPr marL="0" indent="0">
              <a:buNone/>
            </a:pPr>
            <a:r>
              <a:rPr lang="zh-CN" altLang="en-US" sz="2000" dirty="0">
                <a:latin typeface="Microsoft YaHei" panose="020B0503020204020204" pitchFamily="34" charset="-122"/>
                <a:ea typeface="Microsoft YaHei" panose="020B0503020204020204" pitchFamily="34" charset="-122"/>
              </a:rPr>
              <a:t>为便与讨论，假定噪声期望为</a:t>
            </a:r>
            <a:r>
              <a:rPr lang="en-US" altLang="zh-CN" sz="2000" dirty="0">
                <a:latin typeface="Microsoft YaHei" panose="020B0503020204020204" pitchFamily="34" charset="-122"/>
                <a:ea typeface="Microsoft YaHei" panose="020B0503020204020204" pitchFamily="34" charset="-122"/>
              </a:rPr>
              <a:t>0</a:t>
            </a:r>
            <a:r>
              <a:rPr lang="zh-CN" altLang="en-US" sz="2000" dirty="0">
                <a:latin typeface="Microsoft YaHei" panose="020B0503020204020204" pitchFamily="34" charset="-122"/>
                <a:ea typeface="Microsoft YaHei" panose="020B0503020204020204" pitchFamily="34" charset="-122"/>
              </a:rPr>
              <a:t>，也即                        </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对泛化误差分解</a:t>
            </a:r>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2473" y="1109687"/>
            <a:ext cx="2815738" cy="456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8825" y="1615477"/>
            <a:ext cx="1757036" cy="26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026" y="2331799"/>
            <a:ext cx="7081185" cy="2938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57202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icrosoft YaHei" panose="020B0503020204020204" pitchFamily="34" charset="-122"/>
                <a:ea typeface="Microsoft YaHei" panose="020B0503020204020204" pitchFamily="34" charset="-122"/>
              </a:rPr>
              <a:t>偏差与方差</a:t>
            </a:r>
          </a:p>
        </p:txBody>
      </p:sp>
      <p:sp>
        <p:nvSpPr>
          <p:cNvPr id="3" name="内容占位符 2"/>
          <p:cNvSpPr>
            <a:spLocks noGrp="1"/>
          </p:cNvSpPr>
          <p:nvPr>
            <p:ph idx="1"/>
          </p:nvPr>
        </p:nvSpPr>
        <p:spPr>
          <a:xfrm>
            <a:off x="473292" y="3038159"/>
            <a:ext cx="8616950" cy="2392470"/>
          </a:xfrm>
        </p:spPr>
        <p:txBody>
          <a:bodyPr>
            <a:normAutofit/>
          </a:bodyPr>
          <a:lstStyle/>
          <a:p>
            <a:pPr marL="0" indent="0">
              <a:buNone/>
            </a:pPr>
            <a:r>
              <a:rPr lang="zh-CN" altLang="en-US" dirty="0">
                <a:latin typeface="Microsoft YaHei" panose="020B0503020204020204" pitchFamily="34" charset="-122"/>
                <a:ea typeface="Microsoft YaHei" panose="020B0503020204020204" pitchFamily="34" charset="-122"/>
              </a:rPr>
              <a:t>又由假设中噪声期望为</a:t>
            </a:r>
            <a:r>
              <a:rPr lang="en-US" altLang="zh-CN" dirty="0">
                <a:latin typeface="Microsoft YaHei" panose="020B0503020204020204" pitchFamily="34" charset="-122"/>
                <a:ea typeface="Microsoft YaHei" panose="020B0503020204020204" pitchFamily="34" charset="-122"/>
              </a:rPr>
              <a:t>0</a:t>
            </a:r>
            <a:r>
              <a:rPr lang="zh-CN" altLang="en-US" dirty="0">
                <a:latin typeface="Microsoft YaHei" panose="020B0503020204020204" pitchFamily="34" charset="-122"/>
                <a:ea typeface="Microsoft YaHei" panose="020B0503020204020204" pitchFamily="34" charset="-122"/>
              </a:rPr>
              <a:t>，可得</a:t>
            </a:r>
            <a:endParaRPr lang="en-US" altLang="zh-CN" dirty="0">
              <a:latin typeface="Microsoft YaHei" panose="020B0503020204020204" pitchFamily="34" charset="-122"/>
              <a:ea typeface="Microsoft YaHei" panose="020B0503020204020204" pitchFamily="34" charset="-122"/>
            </a:endParaRPr>
          </a:p>
          <a:p>
            <a:pPr marL="0" indent="0">
              <a:buNone/>
            </a:pPr>
            <a:endParaRPr lang="en-US" altLang="zh-CN" dirty="0">
              <a:latin typeface="Microsoft YaHei" panose="020B0503020204020204" pitchFamily="34" charset="-122"/>
              <a:ea typeface="Microsoft YaHei" panose="020B0503020204020204" pitchFamily="34" charset="-122"/>
            </a:endParaRPr>
          </a:p>
          <a:p>
            <a:pPr marL="0" indent="0">
              <a:buNone/>
            </a:pPr>
            <a:endParaRPr lang="en-US" altLang="zh-CN" dirty="0">
              <a:latin typeface="Microsoft YaHei" panose="020B0503020204020204" pitchFamily="34" charset="-122"/>
              <a:ea typeface="Microsoft YaHei" panose="020B0503020204020204" pitchFamily="34" charset="-122"/>
            </a:endParaRPr>
          </a:p>
          <a:p>
            <a:pPr marL="0" indent="0">
              <a:buNone/>
            </a:pPr>
            <a:r>
              <a:rPr lang="zh-CN" altLang="en-US" dirty="0">
                <a:latin typeface="Microsoft YaHei" panose="020B0503020204020204" pitchFamily="34" charset="-122"/>
                <a:ea typeface="Microsoft YaHei" panose="020B0503020204020204" pitchFamily="34" charset="-122"/>
              </a:rPr>
              <a:t>于是：</a:t>
            </a:r>
            <a:r>
              <a:rPr lang="en-US" altLang="zh-CN" dirty="0">
                <a:latin typeface="Microsoft YaHei" panose="020B0503020204020204" pitchFamily="34" charset="-122"/>
                <a:ea typeface="Microsoft YaHei" panose="020B0503020204020204" pitchFamily="34" charset="-122"/>
              </a:rPr>
              <a:t>                                         </a:t>
            </a:r>
          </a:p>
          <a:p>
            <a:pPr marL="0" indent="0">
              <a:buNone/>
            </a:pPr>
            <a:r>
              <a:rPr lang="zh-CN" altLang="en-US" dirty="0">
                <a:latin typeface="Microsoft YaHei" panose="020B0503020204020204" pitchFamily="34" charset="-122"/>
                <a:ea typeface="Microsoft YaHei" panose="020B0503020204020204" pitchFamily="34" charset="-122"/>
              </a:rPr>
              <a:t>也即泛化误差可分解为偏差、方差与噪声之和</a:t>
            </a:r>
            <a:endParaRPr lang="en-US" altLang="zh-CN" dirty="0">
              <a:latin typeface="Microsoft YaHei" panose="020B0503020204020204" pitchFamily="34" charset="-122"/>
              <a:ea typeface="Microsoft YaHei" panose="020B0503020204020204" pitchFamily="34" charset="-122"/>
            </a:endParaRPr>
          </a:p>
          <a:p>
            <a:pPr marL="0" indent="0">
              <a:buNone/>
            </a:pPr>
            <a:endParaRPr lang="en-US" altLang="zh-CN" dirty="0">
              <a:latin typeface="Microsoft YaHei" panose="020B0503020204020204" pitchFamily="34" charset="-122"/>
              <a:ea typeface="Microsoft YaHei" panose="020B0503020204020204" pitchFamily="34" charset="-122"/>
            </a:endParaRPr>
          </a:p>
          <a:p>
            <a:pPr marL="0" indent="0">
              <a:buNone/>
            </a:pPr>
            <a:endParaRPr lang="en-US" altLang="zh-CN" dirty="0">
              <a:latin typeface="Microsoft YaHei" panose="020B0503020204020204" pitchFamily="34" charset="-122"/>
              <a:ea typeface="Microsoft YaHei" panose="020B0503020204020204" pitchFamily="34" charset="-122"/>
            </a:endParaRPr>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125" y="3553142"/>
            <a:ext cx="6543121" cy="4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822" y="4334463"/>
            <a:ext cx="4188260" cy="344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036" y="1244774"/>
            <a:ext cx="6505966" cy="1517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53758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icrosoft YaHei" panose="020B0503020204020204" pitchFamily="34" charset="-122"/>
                <a:ea typeface="Microsoft YaHei" panose="020B0503020204020204" pitchFamily="34" charset="-122"/>
              </a:rPr>
              <a:t>偏差与方差</a:t>
            </a:r>
          </a:p>
        </p:txBody>
      </p:sp>
      <p:sp>
        <p:nvSpPr>
          <p:cNvPr id="3" name="内容占位符 2"/>
          <p:cNvSpPr>
            <a:spLocks noGrp="1"/>
          </p:cNvSpPr>
          <p:nvPr>
            <p:ph idx="1"/>
          </p:nvPr>
        </p:nvSpPr>
        <p:spPr>
          <a:xfrm>
            <a:off x="184150" y="1214964"/>
            <a:ext cx="8616950" cy="4428071"/>
          </a:xfrm>
        </p:spPr>
        <p:txBody>
          <a:bodyPr>
            <a:normAutofit/>
          </a:bodyPr>
          <a:lstStyle/>
          <a:p>
            <a:pPr lvl="1">
              <a:lnSpc>
                <a:spcPct val="120000"/>
              </a:lnSpc>
              <a:spcBef>
                <a:spcPts val="0"/>
              </a:spcBef>
            </a:pPr>
            <a:r>
              <a:rPr lang="zh-CN" altLang="en-US" sz="2100" b="1" dirty="0">
                <a:solidFill>
                  <a:srgbClr val="C00000"/>
                </a:solidFill>
                <a:latin typeface="Microsoft YaHei" panose="020B0503020204020204" pitchFamily="34" charset="-122"/>
                <a:ea typeface="Microsoft YaHei" panose="020B0503020204020204" pitchFamily="34" charset="-122"/>
              </a:rPr>
              <a:t>偏差</a:t>
            </a:r>
            <a:r>
              <a:rPr lang="zh-CN" altLang="en-US" sz="2100" dirty="0">
                <a:latin typeface="Microsoft YaHei" panose="020B0503020204020204" pitchFamily="34" charset="-122"/>
                <a:ea typeface="Microsoft YaHei" panose="020B0503020204020204" pitchFamily="34" charset="-122"/>
              </a:rPr>
              <a:t>度量了学习算法期望预测与真实结果的偏离程度；即刻画了学习算法本身的拟合能力；</a:t>
            </a:r>
            <a:endParaRPr lang="en-US" altLang="zh-CN" sz="2100" dirty="0">
              <a:latin typeface="Microsoft YaHei" panose="020B0503020204020204" pitchFamily="34" charset="-122"/>
              <a:ea typeface="Microsoft YaHei" panose="020B0503020204020204" pitchFamily="34" charset="-122"/>
            </a:endParaRPr>
          </a:p>
          <a:p>
            <a:pPr lvl="1">
              <a:lnSpc>
                <a:spcPct val="120000"/>
              </a:lnSpc>
              <a:spcBef>
                <a:spcPts val="0"/>
              </a:spcBef>
            </a:pPr>
            <a:r>
              <a:rPr lang="zh-CN" altLang="en-US" sz="2100" b="1" dirty="0">
                <a:solidFill>
                  <a:srgbClr val="C00000"/>
                </a:solidFill>
                <a:latin typeface="Microsoft YaHei" panose="020B0503020204020204" pitchFamily="34" charset="-122"/>
                <a:ea typeface="Microsoft YaHei" panose="020B0503020204020204" pitchFamily="34" charset="-122"/>
              </a:rPr>
              <a:t>方差</a:t>
            </a:r>
            <a:r>
              <a:rPr lang="zh-CN" altLang="en-US" sz="2100" dirty="0">
                <a:latin typeface="Microsoft YaHei" panose="020B0503020204020204" pitchFamily="34" charset="-122"/>
                <a:ea typeface="Microsoft YaHei" panose="020B0503020204020204" pitchFamily="34" charset="-122"/>
              </a:rPr>
              <a:t>度量了同样大小训练集的变动所导致的学习性能的变化；即刻画了数据扰动所造成的影响；</a:t>
            </a:r>
            <a:endParaRPr lang="en-US" altLang="zh-CN" sz="2100" dirty="0">
              <a:latin typeface="Microsoft YaHei" panose="020B0503020204020204" pitchFamily="34" charset="-122"/>
              <a:ea typeface="Microsoft YaHei" panose="020B0503020204020204" pitchFamily="34" charset="-122"/>
            </a:endParaRPr>
          </a:p>
          <a:p>
            <a:pPr lvl="1">
              <a:lnSpc>
                <a:spcPct val="120000"/>
              </a:lnSpc>
              <a:spcBef>
                <a:spcPts val="0"/>
              </a:spcBef>
            </a:pPr>
            <a:r>
              <a:rPr lang="zh-CN" altLang="en-US" sz="2100" b="1" dirty="0">
                <a:solidFill>
                  <a:srgbClr val="C00000"/>
                </a:solidFill>
                <a:latin typeface="Microsoft YaHei" panose="020B0503020204020204" pitchFamily="34" charset="-122"/>
                <a:ea typeface="Microsoft YaHei" panose="020B0503020204020204" pitchFamily="34" charset="-122"/>
              </a:rPr>
              <a:t>噪声</a:t>
            </a:r>
            <a:r>
              <a:rPr lang="zh-CN" altLang="en-US" sz="2100" dirty="0">
                <a:latin typeface="Microsoft YaHei" panose="020B0503020204020204" pitchFamily="34" charset="-122"/>
                <a:ea typeface="Microsoft YaHei" panose="020B0503020204020204" pitchFamily="34" charset="-122"/>
              </a:rPr>
              <a:t>表达了在当前任务上任何学习算法所能达到的期望泛化误差的下界；即刻画了学习问题本身的难度。</a:t>
            </a:r>
            <a:endParaRPr lang="en-US" altLang="zh-CN" sz="2100" dirty="0">
              <a:latin typeface="Microsoft YaHei" panose="020B0503020204020204" pitchFamily="34" charset="-122"/>
              <a:ea typeface="Microsoft YaHei" panose="020B0503020204020204" pitchFamily="34" charset="-122"/>
            </a:endParaRPr>
          </a:p>
          <a:p>
            <a:pPr marL="0" indent="0">
              <a:lnSpc>
                <a:spcPct val="120000"/>
              </a:lnSpc>
              <a:spcBef>
                <a:spcPts val="0"/>
              </a:spcBef>
              <a:buNone/>
            </a:pPr>
            <a:endParaRPr lang="en-US" altLang="zh-CN" dirty="0">
              <a:latin typeface="Microsoft YaHei" panose="020B0503020204020204" pitchFamily="34" charset="-122"/>
              <a:ea typeface="Microsoft YaHei" panose="020B0503020204020204" pitchFamily="34" charset="-122"/>
            </a:endParaRPr>
          </a:p>
          <a:p>
            <a:pPr marL="457200" lvl="1" indent="0">
              <a:lnSpc>
                <a:spcPct val="150000"/>
              </a:lnSpc>
              <a:spcBef>
                <a:spcPts val="0"/>
              </a:spcBef>
              <a:buNone/>
            </a:pPr>
            <a:r>
              <a:rPr lang="zh-CN" altLang="en-US" b="1" dirty="0">
                <a:latin typeface="Microsoft YaHei" panose="020B0503020204020204" pitchFamily="34" charset="-122"/>
                <a:ea typeface="Microsoft YaHei" panose="020B0503020204020204" pitchFamily="34" charset="-122"/>
              </a:rPr>
              <a:t>泛化性能是由学习算法的能力、数据的充分性以及学习任务本身的难度所共同决定的</a:t>
            </a:r>
            <a:r>
              <a:rPr lang="zh-CN" altLang="en-US" dirty="0">
                <a:latin typeface="Microsoft YaHei" panose="020B0503020204020204" pitchFamily="34" charset="-122"/>
                <a:ea typeface="Microsoft YaHei" panose="020B0503020204020204" pitchFamily="34" charset="-122"/>
              </a:rPr>
              <a:t>。给定学习任务为了取得好的泛化性能，需要使偏差小</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充分拟合数据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而且方差较小</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减少数据扰动产生的影响</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a:t>
            </a:r>
            <a:endParaRPr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664699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icrosoft YaHei" panose="020B0503020204020204" pitchFamily="34" charset="-122"/>
                <a:ea typeface="Microsoft YaHei" panose="020B0503020204020204" pitchFamily="34" charset="-122"/>
              </a:rPr>
              <a:t>偏差与方差</a:t>
            </a:r>
          </a:p>
        </p:txBody>
      </p:sp>
      <p:sp>
        <p:nvSpPr>
          <p:cNvPr id="3" name="内容占位符 2"/>
          <p:cNvSpPr>
            <a:spLocks noGrp="1"/>
          </p:cNvSpPr>
          <p:nvPr>
            <p:ph idx="1"/>
          </p:nvPr>
        </p:nvSpPr>
        <p:spPr>
          <a:xfrm>
            <a:off x="260350" y="1158536"/>
            <a:ext cx="8370083" cy="1196357"/>
          </a:xfrm>
        </p:spPr>
        <p:txBody>
          <a:bodyPr>
            <a:normAutofit/>
          </a:bodyPr>
          <a:lstStyle/>
          <a:p>
            <a:pPr marL="325800" lvl="1" indent="0">
              <a:lnSpc>
                <a:spcPct val="120000"/>
              </a:lnSpc>
              <a:spcBef>
                <a:spcPts val="0"/>
              </a:spcBef>
              <a:buNone/>
            </a:pPr>
            <a:r>
              <a:rPr lang="zh-CN" altLang="en-US" dirty="0">
                <a:latin typeface="Microsoft YaHei" panose="020B0503020204020204" pitchFamily="34" charset="-122"/>
                <a:ea typeface="Microsoft YaHei" panose="020B0503020204020204" pitchFamily="34" charset="-122"/>
              </a:rPr>
              <a:t>一般来说，偏差与方差是有冲突的，称为偏差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方差窘境。</a:t>
            </a:r>
            <a:endParaRPr lang="en-US" altLang="zh-CN" dirty="0">
              <a:latin typeface="Microsoft YaHei" panose="020B0503020204020204" pitchFamily="34" charset="-122"/>
              <a:ea typeface="Microsoft YaHei" panose="020B0503020204020204" pitchFamily="34" charset="-122"/>
            </a:endParaRPr>
          </a:p>
          <a:p>
            <a:pPr marL="325800" lvl="1" indent="0">
              <a:lnSpc>
                <a:spcPct val="120000"/>
              </a:lnSpc>
              <a:spcBef>
                <a:spcPts val="0"/>
              </a:spcBef>
              <a:buNone/>
            </a:pPr>
            <a:r>
              <a:rPr lang="zh-CN" altLang="en-US" dirty="0">
                <a:latin typeface="Microsoft YaHei" panose="020B0503020204020204" pitchFamily="34" charset="-122"/>
                <a:ea typeface="Microsoft YaHei" panose="020B0503020204020204" pitchFamily="34" charset="-122"/>
              </a:rPr>
              <a:t>如右图所示，假如我们能控制算法的训练程度：</a:t>
            </a:r>
            <a:endParaRPr lang="en-US" altLang="zh-CN" dirty="0">
              <a:latin typeface="Microsoft YaHei" panose="020B0503020204020204" pitchFamily="34" charset="-122"/>
              <a:ea typeface="Microsoft YaHei" panose="020B0503020204020204" pitchFamily="34" charset="-122"/>
            </a:endParaRPr>
          </a:p>
        </p:txBody>
      </p:sp>
      <p:sp>
        <p:nvSpPr>
          <p:cNvPr id="4" name="内容占位符 2"/>
          <p:cNvSpPr txBox="1">
            <a:spLocks/>
          </p:cNvSpPr>
          <p:nvPr/>
        </p:nvSpPr>
        <p:spPr>
          <a:xfrm>
            <a:off x="260350" y="2259484"/>
            <a:ext cx="4900373" cy="3712001"/>
          </a:xfrm>
          <a:prstGeom prst="rect">
            <a:avLst/>
          </a:prstGeom>
        </p:spPr>
        <p:txBody>
          <a:bodyPr vert="horz" lIns="91440" tIns="46800" rIns="91440" bIns="45720" rtlCol="0">
            <a:normAutofit fontScale="92500"/>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spcBef>
                <a:spcPts val="0"/>
              </a:spcBef>
            </a:pPr>
            <a:r>
              <a:rPr lang="zh-CN" altLang="en-US" sz="2100" b="1" dirty="0">
                <a:solidFill>
                  <a:srgbClr val="C00000"/>
                </a:solidFill>
                <a:latin typeface="Microsoft YaHei" panose="020B0503020204020204" pitchFamily="34" charset="-122"/>
                <a:ea typeface="Microsoft YaHei" panose="020B0503020204020204" pitchFamily="34" charset="-122"/>
              </a:rPr>
              <a:t>在训练不足时</a:t>
            </a:r>
            <a:r>
              <a:rPr lang="zh-CN" altLang="en-US" sz="2100" dirty="0">
                <a:latin typeface="Microsoft YaHei" panose="020B0503020204020204" pitchFamily="34" charset="-122"/>
                <a:ea typeface="Microsoft YaHei" panose="020B0503020204020204" pitchFamily="34" charset="-122"/>
              </a:rPr>
              <a:t>，学习器拟合能力不强，训练数据的扰动不足以使学习器的拟合能力产生显著变化，此时偏差主导泛化错误率；</a:t>
            </a:r>
            <a:endParaRPr lang="en-US" altLang="zh-CN" sz="2100" dirty="0">
              <a:latin typeface="Microsoft YaHei" panose="020B0503020204020204" pitchFamily="34" charset="-122"/>
              <a:ea typeface="Microsoft YaHei" panose="020B0503020204020204" pitchFamily="34" charset="-122"/>
            </a:endParaRPr>
          </a:p>
          <a:p>
            <a:pPr lvl="1">
              <a:lnSpc>
                <a:spcPct val="120000"/>
              </a:lnSpc>
              <a:spcBef>
                <a:spcPts val="0"/>
              </a:spcBef>
            </a:pPr>
            <a:r>
              <a:rPr lang="zh-CN" altLang="en-US" sz="2100" dirty="0">
                <a:latin typeface="Microsoft YaHei" panose="020B0503020204020204" pitchFamily="34" charset="-122"/>
                <a:ea typeface="Microsoft YaHei" panose="020B0503020204020204" pitchFamily="34" charset="-122"/>
              </a:rPr>
              <a:t>随着</a:t>
            </a:r>
            <a:r>
              <a:rPr lang="zh-CN" altLang="en-US" sz="2100" b="1" dirty="0">
                <a:solidFill>
                  <a:srgbClr val="C00000"/>
                </a:solidFill>
                <a:latin typeface="Microsoft YaHei" panose="020B0503020204020204" pitchFamily="34" charset="-122"/>
                <a:ea typeface="Microsoft YaHei" panose="020B0503020204020204" pitchFamily="34" charset="-122"/>
              </a:rPr>
              <a:t>训练程度加深</a:t>
            </a:r>
            <a:r>
              <a:rPr lang="zh-CN" altLang="en-US" sz="2100" dirty="0">
                <a:latin typeface="Microsoft YaHei" panose="020B0503020204020204" pitchFamily="34" charset="-122"/>
                <a:ea typeface="Microsoft YaHei" panose="020B0503020204020204" pitchFamily="34" charset="-122"/>
              </a:rPr>
              <a:t>，学习器拟合能力逐渐增强，方差逐渐主导泛化错误率；</a:t>
            </a:r>
            <a:endParaRPr lang="en-US" altLang="zh-CN" sz="2100" dirty="0">
              <a:latin typeface="Microsoft YaHei" panose="020B0503020204020204" pitchFamily="34" charset="-122"/>
              <a:ea typeface="Microsoft YaHei" panose="020B0503020204020204" pitchFamily="34" charset="-122"/>
            </a:endParaRPr>
          </a:p>
          <a:p>
            <a:pPr lvl="1">
              <a:lnSpc>
                <a:spcPct val="120000"/>
              </a:lnSpc>
              <a:spcBef>
                <a:spcPts val="0"/>
              </a:spcBef>
            </a:pPr>
            <a:r>
              <a:rPr lang="zh-CN" altLang="en-US" sz="2100" b="1" dirty="0">
                <a:solidFill>
                  <a:srgbClr val="C00000"/>
                </a:solidFill>
                <a:latin typeface="Microsoft YaHei" panose="020B0503020204020204" pitchFamily="34" charset="-122"/>
                <a:ea typeface="Microsoft YaHei" panose="020B0503020204020204" pitchFamily="34" charset="-122"/>
              </a:rPr>
              <a:t>训练充足后</a:t>
            </a:r>
            <a:r>
              <a:rPr lang="zh-CN" altLang="en-US" sz="2100" dirty="0">
                <a:latin typeface="Microsoft YaHei" panose="020B0503020204020204" pitchFamily="34" charset="-122"/>
                <a:ea typeface="Microsoft YaHei" panose="020B0503020204020204" pitchFamily="34" charset="-122"/>
              </a:rPr>
              <a:t>，学习器的拟合能力非常强，训练数据的轻微扰动都会导致学习器的显著变化，若训练数据自身非全局特性被学到则会发生过拟合。</a:t>
            </a:r>
            <a:endParaRPr lang="en-US" altLang="zh-CN" sz="2100" dirty="0">
              <a:latin typeface="Microsoft YaHei" panose="020B0503020204020204" pitchFamily="34" charset="-122"/>
              <a:ea typeface="Microsoft YaHei" panose="020B0503020204020204" pitchFamily="34" charset="-122"/>
            </a:endParaRPr>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3227" y="2561769"/>
            <a:ext cx="3341097" cy="2461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164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大纲</a:t>
            </a:r>
          </a:p>
        </p:txBody>
      </p:sp>
      <p:sp>
        <p:nvSpPr>
          <p:cNvPr id="3" name="内容占位符 2"/>
          <p:cNvSpPr>
            <a:spLocks noGrp="1"/>
          </p:cNvSpPr>
          <p:nvPr>
            <p:ph idx="1"/>
          </p:nvPr>
        </p:nvSpPr>
        <p:spPr>
          <a:xfrm>
            <a:off x="260350" y="1158536"/>
            <a:ext cx="8616950" cy="4950163"/>
          </a:xfrm>
        </p:spPr>
        <p:txBody>
          <a:bodyPr>
            <a:noAutofit/>
          </a:bodyPr>
          <a:lstStyle/>
          <a:p>
            <a:r>
              <a:rPr lang="zh-CN" altLang="en-US" dirty="0">
                <a:solidFill>
                  <a:schemeClr val="bg1">
                    <a:lumMod val="85000"/>
                  </a:schemeClr>
                </a:solidFill>
                <a:latin typeface="Microsoft YaHei" panose="020B0503020204020204" pitchFamily="34" charset="-122"/>
                <a:ea typeface="Microsoft YaHei" panose="020B0503020204020204" pitchFamily="34" charset="-122"/>
              </a:rPr>
              <a:t>经验误差与过拟合</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评估方法</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性能度量</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比较检验</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r>
              <a:rPr lang="zh-CN" altLang="en-US" dirty="0">
                <a:solidFill>
                  <a:schemeClr val="bg1">
                    <a:lumMod val="85000"/>
                  </a:schemeClr>
                </a:solidFill>
                <a:latin typeface="Microsoft YaHei" panose="020B0503020204020204" pitchFamily="34" charset="-122"/>
                <a:ea typeface="Microsoft YaHei" panose="020B0503020204020204" pitchFamily="34" charset="-122"/>
              </a:rPr>
              <a:t>偏差与方差</a:t>
            </a:r>
            <a:endParaRPr lang="en-US" altLang="zh-CN" dirty="0">
              <a:solidFill>
                <a:schemeClr val="bg1">
                  <a:lumMod val="85000"/>
                </a:schemeClr>
              </a:solidFill>
              <a:latin typeface="Microsoft YaHei" panose="020B0503020204020204" pitchFamily="34" charset="-122"/>
              <a:ea typeface="Microsoft YaHei" panose="020B0503020204020204" pitchFamily="34" charset="-122"/>
            </a:endParaRPr>
          </a:p>
          <a:p>
            <a:pPr>
              <a:lnSpc>
                <a:spcPct val="100000"/>
              </a:lnSpc>
            </a:pPr>
            <a:endParaRPr lang="en-US" altLang="zh-CN" dirty="0">
              <a:latin typeface="Microsoft YaHei" panose="020B0503020204020204" pitchFamily="34" charset="-122"/>
              <a:ea typeface="Microsoft YaHei" panose="020B0503020204020204" pitchFamily="34" charset="-122"/>
            </a:endParaRPr>
          </a:p>
          <a:p>
            <a:pPr>
              <a:lnSpc>
                <a:spcPct val="100000"/>
              </a:lnSpc>
            </a:pPr>
            <a:r>
              <a:rPr lang="zh-CN" altLang="en-US" dirty="0">
                <a:latin typeface="Microsoft YaHei" panose="020B0503020204020204" pitchFamily="34" charset="-122"/>
                <a:ea typeface="Microsoft YaHei" panose="020B0503020204020204" pitchFamily="34" charset="-122"/>
              </a:rPr>
              <a:t>阅读材料</a:t>
            </a:r>
          </a:p>
        </p:txBody>
      </p:sp>
    </p:spTree>
    <p:extLst>
      <p:ext uri="{BB962C8B-B14F-4D97-AF65-F5344CB8AC3E}">
        <p14:creationId xmlns:p14="http://schemas.microsoft.com/office/powerpoint/2010/main" val="28774604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Microsoft YaHei" panose="020B0503020204020204" pitchFamily="34" charset="-122"/>
                <a:ea typeface="Microsoft YaHei" panose="020B0503020204020204" pitchFamily="34" charset="-122"/>
              </a:rPr>
              <a:t>阅读材料</a:t>
            </a:r>
            <a:endParaRPr lang="zh-CN" altLang="en-US" dirty="0">
              <a:latin typeface="Microsoft YaHei" panose="020B0503020204020204" pitchFamily="34" charset="-122"/>
              <a:ea typeface="Microsoft YaHei" panose="020B0503020204020204" pitchFamily="34" charset="-122"/>
            </a:endParaRPr>
          </a:p>
        </p:txBody>
      </p:sp>
      <p:sp>
        <p:nvSpPr>
          <p:cNvPr id="3" name="内容占位符 2"/>
          <p:cNvSpPr>
            <a:spLocks noGrp="1"/>
          </p:cNvSpPr>
          <p:nvPr>
            <p:ph idx="1"/>
          </p:nvPr>
        </p:nvSpPr>
        <p:spPr/>
        <p:txBody>
          <a:bodyPr>
            <a:normAutofit/>
          </a:bodyPr>
          <a:lstStyle/>
          <a:p>
            <a:r>
              <a:rPr lang="zh-CN" altLang="en-US" dirty="0">
                <a:latin typeface="Microsoft YaHei" panose="020B0503020204020204" pitchFamily="34" charset="-122"/>
                <a:ea typeface="Microsoft YaHei" panose="020B0503020204020204" pitchFamily="34" charset="-122"/>
              </a:rPr>
              <a:t>自助采样法在机器学习中有重要用途</a:t>
            </a:r>
            <a:r>
              <a:rPr lang="en-US" altLang="zh-CN" dirty="0">
                <a:latin typeface="Microsoft YaHei" panose="020B0503020204020204" pitchFamily="34" charset="-122"/>
                <a:ea typeface="Microsoft YaHei" panose="020B0503020204020204" pitchFamily="34" charset="-122"/>
              </a:rPr>
              <a:t>,[Efron and Tibshirani, 1993]</a:t>
            </a:r>
            <a:r>
              <a:rPr lang="zh-CN" altLang="en-US" dirty="0">
                <a:latin typeface="Microsoft YaHei" panose="020B0503020204020204" pitchFamily="34" charset="-122"/>
                <a:ea typeface="Microsoft YaHei" panose="020B0503020204020204" pitchFamily="34" charset="-122"/>
              </a:rPr>
              <a:t>对此有详细讨论。</a:t>
            </a:r>
            <a:br>
              <a:rPr lang="en-US" altLang="zh-CN" dirty="0">
                <a:latin typeface="Microsoft YaHei" panose="020B0503020204020204" pitchFamily="34" charset="-122"/>
                <a:ea typeface="Microsoft YaHei" panose="020B0503020204020204" pitchFamily="34" charset="-122"/>
              </a:rPr>
            </a:br>
            <a:endParaRPr lang="en-US" altLang="zh-CN" dirty="0">
              <a:latin typeface="Microsoft YaHei" panose="020B0503020204020204" pitchFamily="34" charset="-122"/>
              <a:ea typeface="Microsoft YaHei" panose="020B0503020204020204" pitchFamily="34" charset="-122"/>
            </a:endParaRPr>
          </a:p>
          <a:p>
            <a:r>
              <a:rPr lang="en-US" altLang="zh-CN" dirty="0">
                <a:latin typeface="Microsoft YaHei" panose="020B0503020204020204" pitchFamily="34" charset="-122"/>
                <a:ea typeface="Microsoft YaHei" panose="020B0503020204020204" pitchFamily="34" charset="-122"/>
              </a:rPr>
              <a:t>ROC</a:t>
            </a:r>
            <a:r>
              <a:rPr lang="zh-CN" altLang="en-US" dirty="0">
                <a:latin typeface="Microsoft YaHei" panose="020B0503020204020204" pitchFamily="34" charset="-122"/>
                <a:ea typeface="Microsoft YaHei" panose="020B0503020204020204" pitchFamily="34" charset="-122"/>
              </a:rPr>
              <a:t>曲线在二十世纪八十年代后期被引入机器学习</a:t>
            </a:r>
            <a:r>
              <a:rPr lang="en-US" altLang="zh-CN" dirty="0">
                <a:latin typeface="Microsoft YaHei" panose="020B0503020204020204" pitchFamily="34" charset="-122"/>
                <a:ea typeface="Microsoft YaHei" panose="020B0503020204020204" pitchFamily="34" charset="-122"/>
              </a:rPr>
              <a:t>[Spackman, 1989],AUC</a:t>
            </a:r>
            <a:r>
              <a:rPr lang="zh-CN" altLang="en-US" dirty="0">
                <a:latin typeface="Microsoft YaHei" panose="020B0503020204020204" pitchFamily="34" charset="-122"/>
                <a:ea typeface="Microsoft YaHei" panose="020B0503020204020204" pitchFamily="34" charset="-122"/>
              </a:rPr>
              <a:t>则是从九十年代中期起在机器学习领域广为使用</a:t>
            </a:r>
            <a:r>
              <a:rPr lang="en-US" altLang="zh-CN" dirty="0">
                <a:latin typeface="Microsoft YaHei" panose="020B0503020204020204" pitchFamily="34" charset="-122"/>
                <a:ea typeface="Microsoft YaHei" panose="020B0503020204020204" pitchFamily="34" charset="-122"/>
              </a:rPr>
              <a:t>[Bradley,1997].[Hand and Till,2001]</a:t>
            </a:r>
            <a:r>
              <a:rPr lang="zh-CN" altLang="en-US" dirty="0">
                <a:latin typeface="Microsoft YaHei" panose="020B0503020204020204" pitchFamily="34" charset="-122"/>
                <a:ea typeface="Microsoft YaHei" panose="020B0503020204020204" pitchFamily="34" charset="-122"/>
              </a:rPr>
              <a:t>将</a:t>
            </a:r>
            <a:r>
              <a:rPr lang="en-US" altLang="zh-CN" dirty="0">
                <a:latin typeface="Microsoft YaHei" panose="020B0503020204020204" pitchFamily="34" charset="-122"/>
                <a:ea typeface="Microsoft YaHei" panose="020B0503020204020204" pitchFamily="34" charset="-122"/>
              </a:rPr>
              <a:t>ROC</a:t>
            </a:r>
            <a:r>
              <a:rPr lang="zh-CN" altLang="en-US" dirty="0">
                <a:latin typeface="Microsoft YaHei" panose="020B0503020204020204" pitchFamily="34" charset="-122"/>
                <a:ea typeface="Microsoft YaHei" panose="020B0503020204020204" pitchFamily="34" charset="-122"/>
              </a:rPr>
              <a:t>曲线从二分类任务推广到多分类任务</a:t>
            </a:r>
            <a:r>
              <a:rPr lang="en-US" altLang="zh-CN" dirty="0">
                <a:latin typeface="Microsoft YaHei" panose="020B0503020204020204" pitchFamily="34" charset="-122"/>
                <a:ea typeface="Microsoft YaHei" panose="020B0503020204020204" pitchFamily="34" charset="-122"/>
              </a:rPr>
              <a:t>.[Fawcett,2006]</a:t>
            </a:r>
            <a:r>
              <a:rPr lang="zh-CN" altLang="en-US" dirty="0">
                <a:latin typeface="Microsoft YaHei" panose="020B0503020204020204" pitchFamily="34" charset="-122"/>
                <a:ea typeface="Microsoft YaHei" panose="020B0503020204020204" pitchFamily="34" charset="-122"/>
              </a:rPr>
              <a:t>综述了</a:t>
            </a:r>
            <a:r>
              <a:rPr lang="en-US" altLang="zh-CN" dirty="0">
                <a:latin typeface="Microsoft YaHei" panose="020B0503020204020204" pitchFamily="34" charset="-122"/>
                <a:ea typeface="Microsoft YaHei" panose="020B0503020204020204" pitchFamily="34" charset="-122"/>
              </a:rPr>
              <a:t>ROC</a:t>
            </a:r>
            <a:r>
              <a:rPr lang="zh-CN" altLang="en-US" dirty="0">
                <a:latin typeface="Microsoft YaHei" panose="020B0503020204020204" pitchFamily="34" charset="-122"/>
                <a:ea typeface="Microsoft YaHei" panose="020B0503020204020204" pitchFamily="34" charset="-122"/>
              </a:rPr>
              <a:t>曲线的用途</a:t>
            </a:r>
            <a:r>
              <a:rPr lang="en-US" altLang="zh-CN" dirty="0">
                <a:latin typeface="Microsoft YaHei" panose="020B0503020204020204" pitchFamily="34" charset="-122"/>
                <a:ea typeface="Microsoft YaHei" panose="020B0503020204020204" pitchFamily="34" charset="-122"/>
              </a:rPr>
              <a:t>.</a:t>
            </a:r>
          </a:p>
          <a:p>
            <a:endParaRPr lang="en-US" altLang="zh-CN" dirty="0">
              <a:latin typeface="Microsoft YaHei" panose="020B0503020204020204" pitchFamily="34" charset="-122"/>
              <a:ea typeface="Microsoft YaHei" panose="020B0503020204020204" pitchFamily="34" charset="-122"/>
            </a:endParaRPr>
          </a:p>
          <a:p>
            <a:r>
              <a:rPr lang="en-US" altLang="zh-CN" dirty="0">
                <a:latin typeface="Microsoft YaHei" panose="020B0503020204020204" pitchFamily="34" charset="-122"/>
                <a:ea typeface="Microsoft YaHei" panose="020B0503020204020204" pitchFamily="34" charset="-122"/>
              </a:rPr>
              <a:t>[Drummond and Holte,2006]</a:t>
            </a:r>
            <a:r>
              <a:rPr lang="zh-CN" altLang="en-US" dirty="0">
                <a:latin typeface="Microsoft YaHei" panose="020B0503020204020204" pitchFamily="34" charset="-122"/>
                <a:ea typeface="Microsoft YaHei" panose="020B0503020204020204" pitchFamily="34" charset="-122"/>
              </a:rPr>
              <a:t>发明了代价曲线</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代价敏感学习</a:t>
            </a:r>
            <a:r>
              <a:rPr lang="en-US" altLang="zh-CN" dirty="0">
                <a:latin typeface="Microsoft YaHei" panose="020B0503020204020204" pitchFamily="34" charset="-122"/>
                <a:ea typeface="Microsoft YaHei" panose="020B0503020204020204" pitchFamily="34" charset="-122"/>
              </a:rPr>
              <a:t>[Elkan,2001;Zhou and Liu,2006]</a:t>
            </a:r>
            <a:r>
              <a:rPr lang="zh-CN" altLang="en-US" dirty="0">
                <a:latin typeface="Microsoft YaHei" panose="020B0503020204020204" pitchFamily="34" charset="-122"/>
                <a:ea typeface="Microsoft YaHei" panose="020B0503020204020204" pitchFamily="34" charset="-122"/>
              </a:rPr>
              <a:t>专门研究非均等代价下的学习。</a:t>
            </a:r>
            <a:br>
              <a:rPr lang="en-US" altLang="zh-CN" dirty="0">
                <a:latin typeface="Microsoft YaHei" panose="020B0503020204020204" pitchFamily="34" charset="-122"/>
                <a:ea typeface="Microsoft YaHei" panose="020B0503020204020204" pitchFamily="34" charset="-122"/>
              </a:rPr>
            </a:br>
            <a:br>
              <a:rPr lang="en-US" altLang="zh-CN" dirty="0">
                <a:latin typeface="Microsoft YaHei" panose="020B0503020204020204" pitchFamily="34" charset="-122"/>
                <a:ea typeface="Microsoft YaHei" panose="020B0503020204020204" pitchFamily="34" charset="-122"/>
              </a:rPr>
            </a:br>
            <a:br>
              <a:rPr lang="en-US" altLang="zh-CN" dirty="0">
                <a:latin typeface="Microsoft YaHei" panose="020B0503020204020204" pitchFamily="34" charset="-122"/>
                <a:ea typeface="Microsoft YaHei" panose="020B0503020204020204" pitchFamily="34" charset="-122"/>
              </a:rPr>
            </a:b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6688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latin typeface="Microsoft YaHei" panose="020B0503020204020204" pitchFamily="34" charset="-122"/>
                <a:ea typeface="Microsoft YaHei" panose="020B0503020204020204" pitchFamily="34" charset="-122"/>
              </a:rPr>
              <a:t>阅读材料</a:t>
            </a:r>
            <a:endParaRPr lang="zh-CN" altLang="en-US" dirty="0">
              <a:latin typeface="Microsoft YaHei" panose="020B0503020204020204" pitchFamily="34" charset="-122"/>
              <a:ea typeface="Microsoft YaHei" panose="020B0503020204020204" pitchFamily="34" charset="-122"/>
            </a:endParaRPr>
          </a:p>
        </p:txBody>
      </p:sp>
      <p:sp>
        <p:nvSpPr>
          <p:cNvPr id="3" name="内容占位符 2"/>
          <p:cNvSpPr>
            <a:spLocks noGrp="1"/>
          </p:cNvSpPr>
          <p:nvPr>
            <p:ph idx="1"/>
          </p:nvPr>
        </p:nvSpPr>
        <p:spPr/>
        <p:txBody>
          <a:bodyPr>
            <a:normAutofit/>
          </a:bodyPr>
          <a:lstStyle/>
          <a:p>
            <a:r>
              <a:rPr lang="en-US" altLang="zh-CN" dirty="0">
                <a:latin typeface="Microsoft YaHei" panose="020B0503020204020204" pitchFamily="34" charset="-122"/>
                <a:ea typeface="Microsoft YaHei" panose="020B0503020204020204" pitchFamily="34" charset="-122"/>
              </a:rPr>
              <a:t>[Dietterich,1998]</a:t>
            </a:r>
            <a:r>
              <a:rPr lang="zh-CN" altLang="en-US" dirty="0">
                <a:latin typeface="Microsoft YaHei" panose="020B0503020204020204" pitchFamily="34" charset="-122"/>
                <a:ea typeface="Microsoft YaHei" panose="020B0503020204020204" pitchFamily="34" charset="-122"/>
              </a:rPr>
              <a:t>指出了常规</a:t>
            </a:r>
            <a:r>
              <a:rPr lang="en-US" altLang="zh-CN" dirty="0">
                <a:latin typeface="Microsoft YaHei" panose="020B0503020204020204" pitchFamily="34" charset="-122"/>
                <a:ea typeface="Microsoft YaHei" panose="020B0503020204020204" pitchFamily="34" charset="-122"/>
              </a:rPr>
              <a:t>k</a:t>
            </a:r>
            <a:r>
              <a:rPr lang="zh-CN" altLang="en-US" dirty="0">
                <a:latin typeface="Microsoft YaHei" panose="020B0503020204020204" pitchFamily="34" charset="-122"/>
                <a:ea typeface="Microsoft YaHei" panose="020B0503020204020204" pitchFamily="34" charset="-122"/>
              </a:rPr>
              <a:t>折交叉验证法存在的风险</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并提出了</a:t>
            </a:r>
            <a:r>
              <a:rPr lang="en-US" altLang="zh-CN" dirty="0">
                <a:latin typeface="Microsoft YaHei" panose="020B0503020204020204" pitchFamily="34" charset="-122"/>
                <a:ea typeface="Microsoft YaHei" panose="020B0503020204020204" pitchFamily="34" charset="-122"/>
              </a:rPr>
              <a:t>5*2</a:t>
            </a:r>
            <a:r>
              <a:rPr lang="zh-CN" altLang="en-US" dirty="0">
                <a:latin typeface="Microsoft YaHei" panose="020B0503020204020204" pitchFamily="34" charset="-122"/>
                <a:ea typeface="Microsoft YaHei" panose="020B0503020204020204" pitchFamily="34" charset="-122"/>
              </a:rPr>
              <a:t>折交叉验证法</a:t>
            </a:r>
            <a:r>
              <a:rPr lang="en-US" altLang="zh-CN" dirty="0">
                <a:latin typeface="Microsoft YaHei" panose="020B0503020204020204" pitchFamily="34" charset="-122"/>
                <a:ea typeface="Microsoft YaHei" panose="020B0503020204020204" pitchFamily="34" charset="-122"/>
              </a:rPr>
              <a:t>.[</a:t>
            </a:r>
            <a:r>
              <a:rPr lang="en-US" altLang="zh-CN" dirty="0" err="1">
                <a:latin typeface="Microsoft YaHei" panose="020B0503020204020204" pitchFamily="34" charset="-122"/>
                <a:ea typeface="Microsoft YaHei" panose="020B0503020204020204" pitchFamily="34" charset="-122"/>
              </a:rPr>
              <a:t>Demsar</a:t>
            </a:r>
            <a:r>
              <a:rPr lang="en-US" altLang="zh-CN" dirty="0">
                <a:latin typeface="Microsoft YaHei" panose="020B0503020204020204" pitchFamily="34" charset="-122"/>
                <a:ea typeface="Microsoft YaHei" panose="020B0503020204020204" pitchFamily="34" charset="-122"/>
              </a:rPr>
              <a:t>, 2006]</a:t>
            </a:r>
            <a:r>
              <a:rPr lang="zh-CN" altLang="en-US" dirty="0">
                <a:latin typeface="Microsoft YaHei" panose="020B0503020204020204" pitchFamily="34" charset="-122"/>
                <a:ea typeface="Microsoft YaHei" panose="020B0503020204020204" pitchFamily="34" charset="-122"/>
              </a:rPr>
              <a:t>讨论了对多个算法进行比较检验的方法</a:t>
            </a:r>
            <a:r>
              <a:rPr lang="en-US" altLang="zh-CN" dirty="0">
                <a:latin typeface="Microsoft YaHei" panose="020B0503020204020204" pitchFamily="34" charset="-122"/>
                <a:ea typeface="Microsoft YaHei" panose="020B0503020204020204" pitchFamily="34" charset="-122"/>
              </a:rPr>
              <a:t>.</a:t>
            </a:r>
            <a:br>
              <a:rPr lang="en-US" altLang="zh-CN" dirty="0">
                <a:latin typeface="Microsoft YaHei" panose="020B0503020204020204" pitchFamily="34" charset="-122"/>
                <a:ea typeface="Microsoft YaHei" panose="020B0503020204020204" pitchFamily="34" charset="-122"/>
              </a:rPr>
            </a:br>
            <a:endParaRPr lang="en-US" altLang="zh-CN" dirty="0">
              <a:latin typeface="Microsoft YaHei" panose="020B0503020204020204" pitchFamily="34" charset="-122"/>
              <a:ea typeface="Microsoft YaHei" panose="020B0503020204020204" pitchFamily="34" charset="-122"/>
            </a:endParaRPr>
          </a:p>
          <a:p>
            <a:r>
              <a:rPr lang="en-US" altLang="zh-CN" dirty="0">
                <a:latin typeface="Microsoft YaHei" panose="020B0503020204020204" pitchFamily="34" charset="-122"/>
                <a:ea typeface="Microsoft YaHei" panose="020B0503020204020204" pitchFamily="34" charset="-122"/>
              </a:rPr>
              <a:t>[Geman et al.,1992]</a:t>
            </a:r>
            <a:r>
              <a:rPr lang="zh-CN" altLang="en-US" dirty="0">
                <a:latin typeface="Microsoft YaHei" panose="020B0503020204020204" pitchFamily="34" charset="-122"/>
                <a:ea typeface="Microsoft YaHei" panose="020B0503020204020204" pitchFamily="34" charset="-122"/>
              </a:rPr>
              <a:t>针对回归任务给出了偏差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协方差分解，后来被简称为偏差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方差分解。但仅基于均方误差的回归任务中推导，对分类任务，由于</a:t>
            </a:r>
            <a:r>
              <a:rPr lang="en-US" altLang="zh-CN" dirty="0">
                <a:latin typeface="Microsoft YaHei" panose="020B0503020204020204" pitchFamily="34" charset="-122"/>
                <a:ea typeface="Microsoft YaHei" panose="020B0503020204020204" pitchFamily="34" charset="-122"/>
              </a:rPr>
              <a:t>0/1</a:t>
            </a:r>
            <a:r>
              <a:rPr lang="zh-CN" altLang="en-US" dirty="0">
                <a:latin typeface="Microsoft YaHei" panose="020B0503020204020204" pitchFamily="34" charset="-122"/>
                <a:ea typeface="Microsoft YaHei" panose="020B0503020204020204" pitchFamily="34" charset="-122"/>
              </a:rPr>
              <a:t>损失函数的跳变性</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理论上推导出偏差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方差分解很困难。已有多种方法可通过实验对偏差和方差进行估计</a:t>
            </a:r>
            <a:r>
              <a:rPr lang="en-US" altLang="zh-CN" dirty="0">
                <a:latin typeface="Microsoft YaHei" panose="020B0503020204020204" pitchFamily="34" charset="-122"/>
                <a:ea typeface="Microsoft YaHei" panose="020B0503020204020204" pitchFamily="34" charset="-122"/>
              </a:rPr>
              <a:t>[Kong and Dietterich,1995;Kohavi and Wolpert,</a:t>
            </a:r>
            <a:br>
              <a:rPr lang="en-US" altLang="zh-CN" dirty="0">
                <a:latin typeface="Microsoft YaHei" panose="020B0503020204020204" pitchFamily="34" charset="-122"/>
                <a:ea typeface="Microsoft YaHei" panose="020B0503020204020204" pitchFamily="34" charset="-122"/>
              </a:rPr>
            </a:br>
            <a:r>
              <a:rPr lang="en-US" altLang="zh-CN" dirty="0">
                <a:latin typeface="Microsoft YaHei" panose="020B0503020204020204" pitchFamily="34" charset="-122"/>
                <a:ea typeface="Microsoft YaHei" panose="020B0503020204020204" pitchFamily="34" charset="-122"/>
              </a:rPr>
              <a:t>1996; Breiman,1996;Friedman,1997;Domingos,2000].</a:t>
            </a:r>
            <a:br>
              <a:rPr lang="en-US" altLang="zh-CN" dirty="0">
                <a:latin typeface="Microsoft YaHei" panose="020B0503020204020204" pitchFamily="34" charset="-122"/>
                <a:ea typeface="Microsoft YaHei" panose="020B0503020204020204" pitchFamily="34" charset="-122"/>
              </a:rPr>
            </a:b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5797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机器学习v2.1rgb" id="{EEBC26C2-D188-4AC0-8846-32FF974952E7}" vid="{5872C309-9AD6-4384-AB1E-DDF89DAEFE71}"/>
    </a:ext>
  </a:extLst>
</a:theme>
</file>

<file path=docProps/app.xml><?xml version="1.0" encoding="utf-8"?>
<Properties xmlns="http://schemas.openxmlformats.org/officeDocument/2006/extended-properties" xmlns:vt="http://schemas.openxmlformats.org/officeDocument/2006/docPropsVTypes">
  <Template>机器学习v2.1rgb</Template>
  <TotalTime>14619</TotalTime>
  <Words>3238</Words>
  <Application>Microsoft Macintosh PowerPoint</Application>
  <PresentationFormat>全屏显示(4:3)</PresentationFormat>
  <Paragraphs>271</Paragraphs>
  <Slides>48</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48</vt:i4>
      </vt:variant>
    </vt:vector>
  </HeadingPairs>
  <TitlesOfParts>
    <vt:vector size="57" baseType="lpstr">
      <vt:lpstr>华文仿宋</vt:lpstr>
      <vt:lpstr>Microsoft YaHei</vt:lpstr>
      <vt:lpstr>幼圆</vt:lpstr>
      <vt:lpstr>Arial</vt:lpstr>
      <vt:lpstr>Verdana</vt:lpstr>
      <vt:lpstr>Wingdings</vt:lpstr>
      <vt:lpstr>机器学习v2.1rgb</vt:lpstr>
      <vt:lpstr>工作表</vt:lpstr>
      <vt:lpstr>Formula</vt:lpstr>
      <vt:lpstr>PowerPoint 演示文稿</vt:lpstr>
      <vt:lpstr>第一章内容回顾</vt:lpstr>
      <vt:lpstr>机器学习其它定义</vt:lpstr>
      <vt:lpstr>典型的机器学习过程</vt:lpstr>
      <vt:lpstr>基本术语-泛化能力</vt:lpstr>
      <vt:lpstr>第二章 模型评估与选择</vt:lpstr>
      <vt:lpstr>大纲</vt:lpstr>
      <vt:lpstr>经验误差与过拟合</vt:lpstr>
      <vt:lpstr>经验误差与过拟合</vt:lpstr>
      <vt:lpstr>经验误差与过拟合</vt:lpstr>
      <vt:lpstr>大纲</vt:lpstr>
      <vt:lpstr>评估方法</vt:lpstr>
      <vt:lpstr>评估方法</vt:lpstr>
      <vt:lpstr>评估方法?</vt:lpstr>
      <vt:lpstr>评估方法</vt:lpstr>
      <vt:lpstr>评估方法</vt:lpstr>
      <vt:lpstr>大纲</vt:lpstr>
      <vt:lpstr>性能度量?</vt:lpstr>
      <vt:lpstr>性能度量</vt:lpstr>
      <vt:lpstr>性能度量</vt:lpstr>
      <vt:lpstr>性能度量</vt:lpstr>
      <vt:lpstr>性能度量</vt:lpstr>
      <vt:lpstr>性能度量</vt:lpstr>
      <vt:lpstr>性能度量</vt:lpstr>
      <vt:lpstr>性能度量</vt:lpstr>
      <vt:lpstr>代价敏感错误率</vt:lpstr>
      <vt:lpstr>代价敏感错误率</vt:lpstr>
      <vt:lpstr>代价敏感错误率</vt:lpstr>
      <vt:lpstr>代价曲线</vt:lpstr>
      <vt:lpstr>代价曲线</vt:lpstr>
      <vt:lpstr>代价曲线</vt:lpstr>
      <vt:lpstr>代价曲线</vt:lpstr>
      <vt:lpstr>机器学习模型性能评估</vt:lpstr>
      <vt:lpstr>大纲</vt:lpstr>
      <vt:lpstr>性能评估</vt:lpstr>
      <vt:lpstr>二项检验</vt:lpstr>
      <vt:lpstr>二项检验</vt:lpstr>
      <vt:lpstr>t检验</vt:lpstr>
      <vt:lpstr>深入阅读</vt:lpstr>
      <vt:lpstr>大纲</vt:lpstr>
      <vt:lpstr>偏差与方差</vt:lpstr>
      <vt:lpstr>偏差与方差</vt:lpstr>
      <vt:lpstr>偏差与方差</vt:lpstr>
      <vt:lpstr>偏差与方差</vt:lpstr>
      <vt:lpstr>偏差与方差</vt:lpstr>
      <vt:lpstr>大纲</vt:lpstr>
      <vt:lpstr>阅读材料</vt:lpstr>
      <vt:lpstr>阅读材料</vt:lpstr>
    </vt:vector>
  </TitlesOfParts>
  <Company>LAMDA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机器学习-第二章</dc:title>
  <dc:creator>LAMDA Group</dc:creator>
  <cp:lastModifiedBy>李 俊涛</cp:lastModifiedBy>
  <cp:revision>137</cp:revision>
  <dcterms:created xsi:type="dcterms:W3CDTF">2015-12-30T14:22:19Z</dcterms:created>
  <dcterms:modified xsi:type="dcterms:W3CDTF">2025-09-08T11:41:15Z</dcterms:modified>
</cp:coreProperties>
</file>